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19"/>
  </p:notesMasterIdLst>
  <p:sldIdLst>
    <p:sldId id="333" r:id="rId2"/>
    <p:sldId id="511"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Lst>
  <p:sldSz cx="9906000" cy="6858000" type="A4"/>
  <p:notesSz cx="6799263" cy="9875838"/>
  <p:defaultTextStyle>
    <a:defPPr>
      <a:defRPr lang="en-US"/>
    </a:defPPr>
    <a:lvl1pPr marL="0" algn="l" defTabSz="957816" rtl="0" eaLnBrk="1" latinLnBrk="0" hangingPunct="1">
      <a:defRPr sz="1870" kern="1200">
        <a:solidFill>
          <a:schemeClr val="tx1"/>
        </a:solidFill>
        <a:latin typeface="+mn-lt"/>
        <a:ea typeface="+mn-ea"/>
        <a:cs typeface="+mn-cs"/>
      </a:defRPr>
    </a:lvl1pPr>
    <a:lvl2pPr marL="478908" algn="l" defTabSz="957816" rtl="0" eaLnBrk="1" latinLnBrk="0" hangingPunct="1">
      <a:defRPr sz="1870" kern="1200">
        <a:solidFill>
          <a:schemeClr val="tx1"/>
        </a:solidFill>
        <a:latin typeface="+mn-lt"/>
        <a:ea typeface="+mn-ea"/>
        <a:cs typeface="+mn-cs"/>
      </a:defRPr>
    </a:lvl2pPr>
    <a:lvl3pPr marL="957816" algn="l" defTabSz="957816" rtl="0" eaLnBrk="1" latinLnBrk="0" hangingPunct="1">
      <a:defRPr sz="1870" kern="1200">
        <a:solidFill>
          <a:schemeClr val="tx1"/>
        </a:solidFill>
        <a:latin typeface="+mn-lt"/>
        <a:ea typeface="+mn-ea"/>
        <a:cs typeface="+mn-cs"/>
      </a:defRPr>
    </a:lvl3pPr>
    <a:lvl4pPr marL="1436724" algn="l" defTabSz="957816" rtl="0" eaLnBrk="1" latinLnBrk="0" hangingPunct="1">
      <a:defRPr sz="1870" kern="1200">
        <a:solidFill>
          <a:schemeClr val="tx1"/>
        </a:solidFill>
        <a:latin typeface="+mn-lt"/>
        <a:ea typeface="+mn-ea"/>
        <a:cs typeface="+mn-cs"/>
      </a:defRPr>
    </a:lvl4pPr>
    <a:lvl5pPr marL="1915631" algn="l" defTabSz="957816" rtl="0" eaLnBrk="1" latinLnBrk="0" hangingPunct="1">
      <a:defRPr sz="1870" kern="1200">
        <a:solidFill>
          <a:schemeClr val="tx1"/>
        </a:solidFill>
        <a:latin typeface="+mn-lt"/>
        <a:ea typeface="+mn-ea"/>
        <a:cs typeface="+mn-cs"/>
      </a:defRPr>
    </a:lvl5pPr>
    <a:lvl6pPr marL="2394539" algn="l" defTabSz="957816" rtl="0" eaLnBrk="1" latinLnBrk="0" hangingPunct="1">
      <a:defRPr sz="1870" kern="1200">
        <a:solidFill>
          <a:schemeClr val="tx1"/>
        </a:solidFill>
        <a:latin typeface="+mn-lt"/>
        <a:ea typeface="+mn-ea"/>
        <a:cs typeface="+mn-cs"/>
      </a:defRPr>
    </a:lvl6pPr>
    <a:lvl7pPr marL="2873447" algn="l" defTabSz="957816" rtl="0" eaLnBrk="1" latinLnBrk="0" hangingPunct="1">
      <a:defRPr sz="1870" kern="1200">
        <a:solidFill>
          <a:schemeClr val="tx1"/>
        </a:solidFill>
        <a:latin typeface="+mn-lt"/>
        <a:ea typeface="+mn-ea"/>
        <a:cs typeface="+mn-cs"/>
      </a:defRPr>
    </a:lvl7pPr>
    <a:lvl8pPr marL="3352355" algn="l" defTabSz="957816" rtl="0" eaLnBrk="1" latinLnBrk="0" hangingPunct="1">
      <a:defRPr sz="1870" kern="1200">
        <a:solidFill>
          <a:schemeClr val="tx1"/>
        </a:solidFill>
        <a:latin typeface="+mn-lt"/>
        <a:ea typeface="+mn-ea"/>
        <a:cs typeface="+mn-cs"/>
      </a:defRPr>
    </a:lvl8pPr>
    <a:lvl9pPr marL="3831263" algn="l" defTabSz="957816" rtl="0" eaLnBrk="1" latinLnBrk="0" hangingPunct="1">
      <a:defRPr sz="1870" kern="1200">
        <a:solidFill>
          <a:schemeClr val="tx1"/>
        </a:solidFill>
        <a:latin typeface="+mn-lt"/>
        <a:ea typeface="+mn-ea"/>
        <a:cs typeface="+mn-cs"/>
      </a:defRPr>
    </a:lvl9pPr>
  </p:defaultTextStyle>
  <p:extLst>
    <p:ext uri="{521415D9-36F7-43E2-AB2F-B90AF26B5E84}">
      <p14:sectionLst xmlns:p14="http://schemas.microsoft.com/office/powerpoint/2010/main">
        <p14:section name="Основной раздел" id="{EA80D418-5AAE-4044-B9E2-EAE208BA9033}">
          <p14:sldIdLst>
            <p14:sldId id="333"/>
            <p14:sldId id="511"/>
            <p14:sldId id="512"/>
            <p14:sldId id="513"/>
            <p14:sldId id="514"/>
            <p14:sldId id="515"/>
            <p14:sldId id="516"/>
            <p14:sldId id="517"/>
            <p14:sldId id="518"/>
            <p14:sldId id="519"/>
            <p14:sldId id="520"/>
            <p14:sldId id="521"/>
            <p14:sldId id="522"/>
            <p14:sldId id="523"/>
            <p14:sldId id="524"/>
            <p14:sldId id="525"/>
            <p14:sldId id="526"/>
          </p14:sldIdLst>
        </p14:section>
      </p14:sectionLst>
    </p:ext>
    <p:ext uri="{EFAFB233-063F-42B5-8137-9DF3F51BA10A}">
      <p15:sldGuideLst xmlns:p15="http://schemas.microsoft.com/office/powerpoint/2012/main">
        <p15:guide id="9" pos="172" userDrawn="1">
          <p15:clr>
            <a:srgbClr val="A4A3A4"/>
          </p15:clr>
        </p15:guide>
        <p15:guide id="10" pos="2848" userDrawn="1">
          <p15:clr>
            <a:srgbClr val="A4A3A4"/>
          </p15:clr>
        </p15:guide>
        <p15:guide id="11" pos="1170" userDrawn="1">
          <p15:clr>
            <a:srgbClr val="A4A3A4"/>
          </p15:clr>
        </p15:guide>
        <p15:guide id="12" pos="353" userDrawn="1">
          <p15:clr>
            <a:srgbClr val="A4A3A4"/>
          </p15:clr>
        </p15:guide>
        <p15:guide id="13" pos="1306" userDrawn="1">
          <p15:clr>
            <a:srgbClr val="A4A3A4"/>
          </p15:clr>
        </p15:guide>
        <p15:guide id="14" pos="535" userDrawn="1">
          <p15:clr>
            <a:srgbClr val="A4A3A4"/>
          </p15:clr>
        </p15:guide>
        <p15:guide id="15" pos="4435" userDrawn="1">
          <p15:clr>
            <a:srgbClr val="A4A3A4"/>
          </p15:clr>
        </p15:guide>
        <p15:guide id="16" orient="horz" pos="98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Pavel" initials="P" lastIdx="52" clrIdx="0">
    <p:extLst>
      <p:ext uri="{19B8F6BF-5375-455C-9EA6-DF929625EA0E}">
        <p15:presenceInfo xmlns:p15="http://schemas.microsoft.com/office/powerpoint/2012/main" userId="8f0f8d3ef7570760" providerId="Windows Live"/>
      </p:ext>
    </p:extLst>
  </p:cmAuthor>
  <p:cmAuthor id="10" name="Олейник Полина Васильевна" initials="ОПВ" lastIdx="7" clrIdx="1">
    <p:extLst>
      <p:ext uri="{19B8F6BF-5375-455C-9EA6-DF929625EA0E}">
        <p15:presenceInfo xmlns:p15="http://schemas.microsoft.com/office/powerpoint/2012/main" userId="S-1-5-21-3571934758-2157307691-923571841-54338" providerId="AD"/>
      </p:ext>
    </p:extLst>
  </p:cmAuthor>
  <p:cmAuthor id="11" name="Лебедь Александра Александровна" initials="ЛАА" lastIdx="17" clrIdx="2">
    <p:extLst>
      <p:ext uri="{19B8F6BF-5375-455C-9EA6-DF929625EA0E}">
        <p15:presenceInfo xmlns:p15="http://schemas.microsoft.com/office/powerpoint/2012/main" userId="S-1-5-21-3571934758-2157307691-923571841-24689" providerId="AD"/>
      </p:ext>
    </p:extLst>
  </p:cmAuthor>
  <p:cmAuthor id="12" name="Агеев Максим Андреевич" initials="АМА" lastIdx="29" clrIdx="3">
    <p:extLst>
      <p:ext uri="{19B8F6BF-5375-455C-9EA6-DF929625EA0E}">
        <p15:presenceInfo xmlns:p15="http://schemas.microsoft.com/office/powerpoint/2012/main" userId="S-1-5-21-3571934758-2157307691-923571841-6836" providerId="AD"/>
      </p:ext>
    </p:extLst>
  </p:cmAuthor>
  <p:cmAuthor id="13" name="Давыдов Денис Алексеевич" initials="ДДА" lastIdx="2" clrIdx="4">
    <p:extLst>
      <p:ext uri="{19B8F6BF-5375-455C-9EA6-DF929625EA0E}">
        <p15:presenceInfo xmlns:p15="http://schemas.microsoft.com/office/powerpoint/2012/main" userId="S-1-5-21-2950832418-2341634981-4040681116-282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75B79"/>
    <a:srgbClr val="B2B2B2"/>
    <a:srgbClr val="E2E2E2"/>
    <a:srgbClr val="6985AF"/>
    <a:srgbClr val="EF6B01"/>
    <a:srgbClr val="FCAF17"/>
    <a:srgbClr val="FFFF6B"/>
    <a:srgbClr val="FFD200"/>
    <a:srgbClr val="FFE8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46F890A9-2807-4EBB-B81D-B2AA78EC7F39}" styleName="Темный стиль 2 — акцент 5/акцент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Темный стиль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Светлый стиль 1 — акцент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8" autoAdjust="0"/>
    <p:restoredTop sz="85270" autoAdjust="0"/>
  </p:normalViewPr>
  <p:slideViewPr>
    <p:cSldViewPr>
      <p:cViewPr>
        <p:scale>
          <a:sx n="100" d="100"/>
          <a:sy n="100" d="100"/>
        </p:scale>
        <p:origin x="1518" y="366"/>
      </p:cViewPr>
      <p:guideLst>
        <p:guide pos="172"/>
        <p:guide pos="2848"/>
        <p:guide pos="1170"/>
        <p:guide pos="353"/>
        <p:guide pos="1306"/>
        <p:guide pos="535"/>
        <p:guide pos="4435"/>
        <p:guide orient="horz" pos="981"/>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9" d="100"/>
          <a:sy n="79" d="100"/>
        </p:scale>
        <p:origin x="299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51275" y="0"/>
            <a:ext cx="2946400" cy="493713"/>
          </a:xfrm>
          <a:prstGeom prst="rect">
            <a:avLst/>
          </a:prstGeom>
        </p:spPr>
        <p:txBody>
          <a:bodyPr vert="horz" lIns="91440" tIns="45720" rIns="91440" bIns="45720" rtlCol="0"/>
          <a:lstStyle>
            <a:lvl1pPr algn="r">
              <a:defRPr sz="1200"/>
            </a:lvl1pPr>
          </a:lstStyle>
          <a:p>
            <a:fld id="{3A72A622-403F-4945-8BA0-203018680BFA}" type="datetimeFigureOut">
              <a:rPr lang="ru-RU" smtClean="0"/>
              <a:t>06.05.2025</a:t>
            </a:fld>
            <a:endParaRPr lang="ru-RU" dirty="0"/>
          </a:p>
        </p:txBody>
      </p:sp>
      <p:sp>
        <p:nvSpPr>
          <p:cNvPr id="4" name="Образ слайда 3"/>
          <p:cNvSpPr>
            <a:spLocks noGrp="1" noRot="1" noChangeAspect="1"/>
          </p:cNvSpPr>
          <p:nvPr>
            <p:ph type="sldImg" idx="2"/>
          </p:nvPr>
        </p:nvSpPr>
        <p:spPr>
          <a:xfrm>
            <a:off x="727075" y="741363"/>
            <a:ext cx="5345113" cy="370205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79450" y="4691063"/>
            <a:ext cx="5440363" cy="4443412"/>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380538"/>
            <a:ext cx="2946400" cy="493712"/>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51275" y="9380538"/>
            <a:ext cx="2946400" cy="493712"/>
          </a:xfrm>
          <a:prstGeom prst="rect">
            <a:avLst/>
          </a:prstGeom>
        </p:spPr>
        <p:txBody>
          <a:bodyPr vert="horz" lIns="91440" tIns="45720" rIns="91440" bIns="45720" rtlCol="0" anchor="b"/>
          <a:lstStyle>
            <a:lvl1pPr algn="r">
              <a:defRPr sz="1200"/>
            </a:lvl1pPr>
          </a:lstStyle>
          <a:p>
            <a:fld id="{AE8D92D3-DECF-43BB-B33D-FC1A8E976108}" type="slidenum">
              <a:rPr lang="ru-RU" smtClean="0"/>
              <a:t>‹#›</a:t>
            </a:fld>
            <a:endParaRPr lang="ru-RU" dirty="0"/>
          </a:p>
        </p:txBody>
      </p:sp>
    </p:spTree>
    <p:extLst>
      <p:ext uri="{BB962C8B-B14F-4D97-AF65-F5344CB8AC3E}">
        <p14:creationId xmlns:p14="http://schemas.microsoft.com/office/powerpoint/2010/main" val="2870212378"/>
      </p:ext>
    </p:extLst>
  </p:cSld>
  <p:clrMap bg1="lt1" tx1="dk1" bg2="lt2" tx2="dk2" accent1="accent1" accent2="accent2" accent3="accent3" accent4="accent4" accent5="accent5" accent6="accent6" hlink="hlink" folHlink="folHlink"/>
  <p:notesStyle>
    <a:lvl1pPr marL="0" algn="l" defTabSz="684154" rtl="0" eaLnBrk="1" latinLnBrk="0" hangingPunct="1">
      <a:defRPr sz="898" kern="1200">
        <a:solidFill>
          <a:schemeClr val="tx1"/>
        </a:solidFill>
        <a:latin typeface="+mn-lt"/>
        <a:ea typeface="+mn-ea"/>
        <a:cs typeface="+mn-cs"/>
      </a:defRPr>
    </a:lvl1pPr>
    <a:lvl2pPr marL="342077" algn="l" defTabSz="684154" rtl="0" eaLnBrk="1" latinLnBrk="0" hangingPunct="1">
      <a:defRPr sz="898" kern="1200">
        <a:solidFill>
          <a:schemeClr val="tx1"/>
        </a:solidFill>
        <a:latin typeface="+mn-lt"/>
        <a:ea typeface="+mn-ea"/>
        <a:cs typeface="+mn-cs"/>
      </a:defRPr>
    </a:lvl2pPr>
    <a:lvl3pPr marL="684154" algn="l" defTabSz="684154" rtl="0" eaLnBrk="1" latinLnBrk="0" hangingPunct="1">
      <a:defRPr sz="898" kern="1200">
        <a:solidFill>
          <a:schemeClr val="tx1"/>
        </a:solidFill>
        <a:latin typeface="+mn-lt"/>
        <a:ea typeface="+mn-ea"/>
        <a:cs typeface="+mn-cs"/>
      </a:defRPr>
    </a:lvl3pPr>
    <a:lvl4pPr marL="1026231" algn="l" defTabSz="684154" rtl="0" eaLnBrk="1" latinLnBrk="0" hangingPunct="1">
      <a:defRPr sz="898" kern="1200">
        <a:solidFill>
          <a:schemeClr val="tx1"/>
        </a:solidFill>
        <a:latin typeface="+mn-lt"/>
        <a:ea typeface="+mn-ea"/>
        <a:cs typeface="+mn-cs"/>
      </a:defRPr>
    </a:lvl4pPr>
    <a:lvl5pPr marL="1368308" algn="l" defTabSz="684154" rtl="0" eaLnBrk="1" latinLnBrk="0" hangingPunct="1">
      <a:defRPr sz="898" kern="1200">
        <a:solidFill>
          <a:schemeClr val="tx1"/>
        </a:solidFill>
        <a:latin typeface="+mn-lt"/>
        <a:ea typeface="+mn-ea"/>
        <a:cs typeface="+mn-cs"/>
      </a:defRPr>
    </a:lvl5pPr>
    <a:lvl6pPr marL="1710385" algn="l" defTabSz="684154" rtl="0" eaLnBrk="1" latinLnBrk="0" hangingPunct="1">
      <a:defRPr sz="898" kern="1200">
        <a:solidFill>
          <a:schemeClr val="tx1"/>
        </a:solidFill>
        <a:latin typeface="+mn-lt"/>
        <a:ea typeface="+mn-ea"/>
        <a:cs typeface="+mn-cs"/>
      </a:defRPr>
    </a:lvl6pPr>
    <a:lvl7pPr marL="2052462" algn="l" defTabSz="684154" rtl="0" eaLnBrk="1" latinLnBrk="0" hangingPunct="1">
      <a:defRPr sz="898" kern="1200">
        <a:solidFill>
          <a:schemeClr val="tx1"/>
        </a:solidFill>
        <a:latin typeface="+mn-lt"/>
        <a:ea typeface="+mn-ea"/>
        <a:cs typeface="+mn-cs"/>
      </a:defRPr>
    </a:lvl7pPr>
    <a:lvl8pPr marL="2394539" algn="l" defTabSz="684154" rtl="0" eaLnBrk="1" latinLnBrk="0" hangingPunct="1">
      <a:defRPr sz="898" kern="1200">
        <a:solidFill>
          <a:schemeClr val="tx1"/>
        </a:solidFill>
        <a:latin typeface="+mn-lt"/>
        <a:ea typeface="+mn-ea"/>
        <a:cs typeface="+mn-cs"/>
      </a:defRPr>
    </a:lvl8pPr>
    <a:lvl9pPr marL="2736616" algn="l" defTabSz="684154" rtl="0" eaLnBrk="1" latinLnBrk="0" hangingPunct="1">
      <a:defRPr sz="8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purrweb.com/ru/uslugi/razrabotka-erp-siste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kern="1200" dirty="0" smtClean="0">
                <a:solidFill>
                  <a:schemeClr val="tx1"/>
                </a:solidFill>
                <a:effectLst/>
                <a:latin typeface="+mn-lt"/>
                <a:ea typeface="+mn-ea"/>
                <a:cs typeface="+mn-cs"/>
              </a:rPr>
              <a:t>Нефтедобыча и нефтепереработка в нашей стране - это очень крупный сектор экономики. </a:t>
            </a:r>
          </a:p>
          <a:p>
            <a:r>
              <a:rPr lang="ru-RU" sz="900" kern="1200" dirty="0" smtClean="0">
                <a:solidFill>
                  <a:schemeClr val="tx1"/>
                </a:solidFill>
                <a:effectLst/>
                <a:latin typeface="+mn-lt"/>
                <a:ea typeface="+mn-ea"/>
                <a:cs typeface="+mn-cs"/>
              </a:rPr>
              <a:t>Заводы Роснефти расположены во многих крупных городах</a:t>
            </a:r>
            <a:r>
              <a:rPr lang="en-US" sz="900" kern="1200" dirty="0" smtClean="0">
                <a:solidFill>
                  <a:schemeClr val="tx1"/>
                </a:solidFill>
                <a:effectLst/>
                <a:latin typeface="+mn-lt"/>
                <a:ea typeface="+mn-ea"/>
                <a:cs typeface="+mn-cs"/>
              </a:rPr>
              <a:t> </a:t>
            </a:r>
            <a:r>
              <a:rPr lang="ru-RU" sz="900" kern="1200" dirty="0" smtClean="0">
                <a:solidFill>
                  <a:schemeClr val="tx1"/>
                </a:solidFill>
                <a:effectLst/>
                <a:latin typeface="+mn-lt"/>
                <a:ea typeface="+mn-ea"/>
                <a:cs typeface="+mn-cs"/>
              </a:rPr>
              <a:t>России: Туапсе, Рязань, Комсомольск, </a:t>
            </a:r>
            <a:r>
              <a:rPr lang="ru-RU" sz="900" kern="1200" dirty="0" err="1" smtClean="0">
                <a:solidFill>
                  <a:schemeClr val="tx1"/>
                </a:solidFill>
                <a:effectLst/>
                <a:latin typeface="+mn-lt"/>
                <a:ea typeface="+mn-ea"/>
                <a:cs typeface="+mn-cs"/>
              </a:rPr>
              <a:t>Куйбышевск</a:t>
            </a:r>
            <a:r>
              <a:rPr lang="ru-RU" sz="900" kern="1200" dirty="0" smtClean="0">
                <a:solidFill>
                  <a:schemeClr val="tx1"/>
                </a:solidFill>
                <a:effectLst/>
                <a:latin typeface="+mn-lt"/>
                <a:ea typeface="+mn-ea"/>
                <a:cs typeface="+mn-cs"/>
              </a:rPr>
              <a:t>, Сызрань, Ачинск, Ангарск, Рязань, Саратов и многие другие…</a:t>
            </a:r>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И для каждого из этих заводов спутником прикреплён офис компаний </a:t>
            </a:r>
            <a:r>
              <a:rPr lang="ru-RU" sz="900" kern="1200" dirty="0" err="1" smtClean="0">
                <a:solidFill>
                  <a:schemeClr val="tx1"/>
                </a:solidFill>
                <a:effectLst/>
                <a:latin typeface="+mn-lt"/>
                <a:ea typeface="+mn-ea"/>
                <a:cs typeface="+mn-cs"/>
              </a:rPr>
              <a:t>Сибинтек</a:t>
            </a:r>
            <a:r>
              <a:rPr lang="ru-RU" sz="900" kern="1200" baseline="0" dirty="0" smtClean="0">
                <a:solidFill>
                  <a:schemeClr val="tx1"/>
                </a:solidFill>
                <a:effectLst/>
                <a:latin typeface="+mn-lt"/>
                <a:ea typeface="+mn-ea"/>
                <a:cs typeface="+mn-cs"/>
              </a:rPr>
              <a:t> и </a:t>
            </a:r>
            <a:r>
              <a:rPr lang="ru-RU" sz="900" kern="1200" baseline="0" dirty="0" err="1" smtClean="0">
                <a:solidFill>
                  <a:schemeClr val="tx1"/>
                </a:solidFill>
                <a:effectLst/>
                <a:latin typeface="+mn-lt"/>
                <a:ea typeface="+mn-ea"/>
                <a:cs typeface="+mn-cs"/>
              </a:rPr>
              <a:t>Сибинтек</a:t>
            </a:r>
            <a:r>
              <a:rPr lang="ru-RU" sz="900" kern="1200" baseline="0" dirty="0" smtClean="0">
                <a:solidFill>
                  <a:schemeClr val="tx1"/>
                </a:solidFill>
                <a:effectLst/>
                <a:latin typeface="+mn-lt"/>
                <a:ea typeface="+mn-ea"/>
                <a:cs typeface="+mn-cs"/>
              </a:rPr>
              <a:t>-Софт</a:t>
            </a:r>
            <a:r>
              <a:rPr lang="ru-RU" sz="900" kern="1200" dirty="0" smtClean="0">
                <a:solidFill>
                  <a:schemeClr val="tx1"/>
                </a:solidFill>
                <a:effectLst/>
                <a:latin typeface="+mn-lt"/>
                <a:ea typeface="+mn-ea"/>
                <a:cs typeface="+mn-cs"/>
              </a:rPr>
              <a:t>. </a:t>
            </a:r>
          </a:p>
          <a:p>
            <a:r>
              <a:rPr lang="ru-RU" sz="900" kern="1200" dirty="0" smtClean="0">
                <a:solidFill>
                  <a:schemeClr val="tx1"/>
                </a:solidFill>
                <a:effectLst/>
                <a:latin typeface="+mn-lt"/>
                <a:ea typeface="+mn-ea"/>
                <a:cs typeface="+mn-cs"/>
              </a:rPr>
              <a:t>Мы занимаемся информационными технологиями на данных предприятиях. В 1999 году было принято решение, что сотрудники заводов должны заниматься технологическими процессами, а </a:t>
            </a:r>
            <a:r>
              <a:rPr lang="en-US" sz="900" kern="1200" dirty="0" smtClean="0">
                <a:solidFill>
                  <a:schemeClr val="tx1"/>
                </a:solidFill>
                <a:effectLst/>
                <a:latin typeface="+mn-lt"/>
                <a:ea typeface="+mn-ea"/>
                <a:cs typeface="+mn-cs"/>
              </a:rPr>
              <a:t>IT</a:t>
            </a:r>
            <a:r>
              <a:rPr lang="ru-RU" sz="900" kern="1200" dirty="0" smtClean="0">
                <a:solidFill>
                  <a:schemeClr val="tx1"/>
                </a:solidFill>
                <a:effectLst/>
                <a:latin typeface="+mn-lt"/>
                <a:ea typeface="+mn-ea"/>
                <a:cs typeface="+mn-cs"/>
              </a:rPr>
              <a:t> – сегмент поручить отдельной компании, которая централизованно будет оказывать сопровождение ИТ процессов для всех предприятий компании. </a:t>
            </a:r>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Таким образом мы уже 25 лет на рынке и постоянно растём.</a:t>
            </a:r>
          </a:p>
          <a:p>
            <a:endParaRPr lang="ru-R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sz="900" kern="1200" dirty="0" smtClean="0">
                <a:solidFill>
                  <a:schemeClr val="tx1"/>
                </a:solidFill>
                <a:effectLst/>
                <a:latin typeface="+mn-lt"/>
                <a:ea typeface="+mn-ea"/>
                <a:cs typeface="+mn-cs"/>
              </a:rPr>
              <a:t>Но для начала нужно понимать, что СИБИНТЕК и СИБИНТЕК–СОФТ – это дочерние компании Роснефти.</a:t>
            </a:r>
          </a:p>
          <a:p>
            <a:pPr marL="0" marR="0" indent="0" algn="l" defTabSz="914400" rtl="0" eaLnBrk="1" fontAlgn="auto" latinLnBrk="0" hangingPunct="1">
              <a:lnSpc>
                <a:spcPct val="100000"/>
              </a:lnSpc>
              <a:spcBef>
                <a:spcPts val="0"/>
              </a:spcBef>
              <a:spcAft>
                <a:spcPts val="0"/>
              </a:spcAft>
              <a:buClrTx/>
              <a:buSzTx/>
              <a:buFontTx/>
              <a:buNone/>
              <a:tabLst/>
              <a:defRPr/>
            </a:pPr>
            <a:r>
              <a:rPr lang="ru-RU" sz="900" kern="1200" dirty="0" smtClean="0">
                <a:solidFill>
                  <a:schemeClr val="tx1"/>
                </a:solidFill>
                <a:effectLst/>
                <a:latin typeface="+mn-lt"/>
                <a:ea typeface="+mn-ea"/>
                <a:cs typeface="+mn-cs"/>
              </a:rPr>
              <a:t>Для полного понимания системы, о которой сегодня пойдёт речь </a:t>
            </a:r>
            <a:r>
              <a:rPr lang="ru-RU" sz="900" u="sng" kern="1200" dirty="0" smtClean="0">
                <a:solidFill>
                  <a:schemeClr val="tx1"/>
                </a:solidFill>
                <a:effectLst/>
                <a:latin typeface="+mn-lt"/>
                <a:ea typeface="+mn-ea"/>
                <a:cs typeface="+mn-cs"/>
              </a:rPr>
              <a:t>нужно немного углубиться в прикладную область, а именно в нефтепереработку. </a:t>
            </a: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2</a:t>
            </a:fld>
            <a:endParaRPr lang="ru-RU" dirty="0"/>
          </a:p>
        </p:txBody>
      </p:sp>
    </p:spTree>
    <p:extLst>
      <p:ext uri="{BB962C8B-B14F-4D97-AF65-F5344CB8AC3E}">
        <p14:creationId xmlns:p14="http://schemas.microsoft.com/office/powerpoint/2010/main" val="3647488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smtClean="0">
                <a:solidFill>
                  <a:srgbClr val="FFD032"/>
                </a:solidFill>
                <a:latin typeface="Arial" panose="020B0604020202020204" pitchFamily="34" charset="0"/>
                <a:ea typeface="Times New Roman" panose="02020603050405020304" pitchFamily="18" charset="0"/>
              </a:rPr>
              <a:t>Структура технической поддержки производственных систем</a:t>
            </a:r>
          </a:p>
          <a:p>
            <a:endParaRPr lang="ru-RU" b="1" dirty="0" smtClean="0">
              <a:solidFill>
                <a:srgbClr val="FFD032"/>
              </a:solidFill>
              <a:latin typeface="Arial" panose="020B0604020202020204" pitchFamily="34" charset="0"/>
            </a:endParaRPr>
          </a:p>
          <a:p>
            <a:r>
              <a:rPr lang="ru-RU" b="1" dirty="0" smtClean="0">
                <a:solidFill>
                  <a:srgbClr val="FFD032"/>
                </a:solidFill>
                <a:latin typeface="Arial" panose="020B0604020202020204" pitchFamily="34" charset="0"/>
              </a:rPr>
              <a:t>Вся</a:t>
            </a:r>
            <a:r>
              <a:rPr lang="ru-RU" b="1" baseline="0" dirty="0" smtClean="0">
                <a:solidFill>
                  <a:srgbClr val="FFD032"/>
                </a:solidFill>
                <a:latin typeface="Arial" panose="020B0604020202020204" pitchFamily="34" charset="0"/>
              </a:rPr>
              <a:t> поддержка всегда крутится вокруг заказчика, а точнее вокруг системы, которой он пользуется.</a:t>
            </a:r>
          </a:p>
          <a:p>
            <a:endParaRPr lang="ru-RU" b="1" dirty="0" smtClean="0">
              <a:solidFill>
                <a:srgbClr val="FFD032"/>
              </a:solidFill>
              <a:latin typeface="Arial" panose="020B0604020202020204" pitchFamily="34" charset="0"/>
            </a:endParaRPr>
          </a:p>
          <a:p>
            <a:r>
              <a:rPr lang="ru-RU" b="0" dirty="0" smtClean="0">
                <a:solidFill>
                  <a:srgbClr val="FFD032"/>
                </a:solidFill>
                <a:latin typeface="Arial" panose="020B0604020202020204" pitchFamily="34" charset="0"/>
              </a:rPr>
              <a:t>И если</a:t>
            </a:r>
            <a:r>
              <a:rPr lang="ru-RU" b="0" baseline="0" dirty="0" smtClean="0">
                <a:solidFill>
                  <a:srgbClr val="FFD032"/>
                </a:solidFill>
                <a:latin typeface="Arial" panose="020B0604020202020204" pitchFamily="34" charset="0"/>
              </a:rPr>
              <a:t> рассматривать наше место в с</a:t>
            </a:r>
            <a:r>
              <a:rPr lang="ru-RU" b="0" dirty="0" smtClean="0">
                <a:solidFill>
                  <a:srgbClr val="FFD032"/>
                </a:solidFill>
                <a:latin typeface="Arial" panose="020B0604020202020204" pitchFamily="34" charset="0"/>
                <a:ea typeface="Times New Roman" panose="02020603050405020304" pitchFamily="18" charset="0"/>
              </a:rPr>
              <a:t>труктуре технической поддержки производственных систем, то мы относимся к 2-ой, </a:t>
            </a:r>
            <a:r>
              <a:rPr lang="ru-RU" b="0" dirty="0" smtClean="0"/>
              <a:t>3-линия</a:t>
            </a:r>
            <a:r>
              <a:rPr lang="ru-RU" b="0" baseline="0" dirty="0" smtClean="0"/>
              <a:t>м</a:t>
            </a:r>
            <a:r>
              <a:rPr lang="ru-RU" b="0" baseline="0" dirty="0" smtClean="0">
                <a:solidFill>
                  <a:srgbClr val="FFD032"/>
                </a:solidFill>
                <a:latin typeface="Arial" panose="020B0604020202020204" pitchFamily="34" charset="0"/>
                <a:ea typeface="Times New Roman" panose="02020603050405020304" pitchFamily="18" charset="0"/>
              </a:rPr>
              <a:t> поддержки.</a:t>
            </a:r>
          </a:p>
          <a:p>
            <a:endParaRPr lang="ru-RU" b="0" dirty="0" smtClean="0"/>
          </a:p>
          <a:p>
            <a:r>
              <a:rPr lang="ru-RU" b="0" dirty="0" smtClean="0"/>
              <a:t>1-</a:t>
            </a:r>
            <a:r>
              <a:rPr lang="ru-RU" b="0" baseline="0" dirty="0" smtClean="0"/>
              <a:t>линия поддержки занимается решением простых задач (консультации) и распределением, маршрутизацией обращений от пользователя по различным проблемам ИТ. </a:t>
            </a:r>
          </a:p>
          <a:p>
            <a:endParaRPr lang="ru-RU" b="0" baseline="0" dirty="0" smtClean="0"/>
          </a:p>
          <a:p>
            <a:r>
              <a:rPr lang="ru-RU" b="0" baseline="0" dirty="0" smtClean="0"/>
              <a:t>2-линия поддержки это наше управление. Мы занимаемся сопровождением и внедрением продуктов, которые уже находятся в промышленной эксплуатации. Мы отвечаем за решение задач, которые прямо сейчас волнуют пользователя. </a:t>
            </a:r>
          </a:p>
          <a:p>
            <a:endParaRPr lang="ru-RU" b="0" dirty="0" smtClean="0"/>
          </a:p>
          <a:p>
            <a:r>
              <a:rPr lang="ru-RU" b="0" dirty="0" smtClean="0"/>
              <a:t>3-линия</a:t>
            </a:r>
            <a:r>
              <a:rPr lang="ru-RU" b="0" baseline="0" dirty="0" smtClean="0"/>
              <a:t> поддержки - это эксперты в части знаний работы системы и бизнес процессов, которые общаются с заказчиками, формируют </a:t>
            </a:r>
            <a:r>
              <a:rPr lang="ru-RU" b="0" baseline="0" dirty="0" err="1" smtClean="0"/>
              <a:t>тз</a:t>
            </a:r>
            <a:r>
              <a:rPr lang="ru-RU" b="0" baseline="0" dirty="0" smtClean="0"/>
              <a:t> для разработчиков, решают задачи сложного уровня. Также они занимаются формированием пакетов обновления информационных систем. Непосредственно само обновление и необходимые доп. настройки осуществляет 2-линия.</a:t>
            </a:r>
          </a:p>
          <a:p>
            <a:endParaRPr lang="ru-RU" b="0" baseline="0" dirty="0" smtClean="0"/>
          </a:p>
          <a:p>
            <a:r>
              <a:rPr lang="ru-RU" b="0" dirty="0" smtClean="0"/>
              <a:t>4-Поддержка</a:t>
            </a:r>
            <a:r>
              <a:rPr lang="ru-RU" b="0" baseline="0" dirty="0" smtClean="0"/>
              <a:t> от разработчика. Это люди, которые общаются только с 3-ей линией. «Больше людей они не видят». Сидят и пишут код по ТЗ, которое им было сформировано. </a:t>
            </a:r>
          </a:p>
          <a:p>
            <a:endParaRPr lang="ru-RU" b="0" baseline="0" dirty="0" smtClean="0"/>
          </a:p>
          <a:p>
            <a:r>
              <a:rPr lang="ru-RU" b="0" baseline="0" dirty="0" smtClean="0"/>
              <a:t>5-Далее отдел безопасности, который контролирует защищенность всех и вся. Отдельный отдел, которого боятся все, ведь если нарушать их правила, то могут уволить) </a:t>
            </a:r>
          </a:p>
          <a:p>
            <a:endParaRPr lang="ru-RU" b="0" baseline="0" dirty="0" smtClean="0"/>
          </a:p>
          <a:p>
            <a:r>
              <a:rPr lang="ru-RU" b="0" baseline="0" dirty="0" smtClean="0"/>
              <a:t>6-Поддержка серверов и серверного оборудования – это, так называемые, </a:t>
            </a:r>
            <a:r>
              <a:rPr lang="ru-RU" b="0" baseline="0" dirty="0" err="1" smtClean="0"/>
              <a:t>сетевики</a:t>
            </a:r>
            <a:r>
              <a:rPr lang="ru-RU" b="0" baseline="0" dirty="0" smtClean="0"/>
              <a:t> и системные администраторы, которые всё знают об межсетевых экранах, шлюзах, коммутаторах, серверах и т.п. </a:t>
            </a:r>
          </a:p>
          <a:p>
            <a:endParaRPr lang="ru-RU" b="0" baseline="0" dirty="0" smtClean="0"/>
          </a:p>
          <a:p>
            <a:r>
              <a:rPr lang="ru-RU" b="0" baseline="0" dirty="0" smtClean="0"/>
              <a:t>7-Выполнение нетиповых запросов на изменение делают абсолютно все выше сказанные группы поддержки. Это то, что не входит в их стандартный функционал и является дополнительным объемом работы. </a:t>
            </a:r>
          </a:p>
          <a:p>
            <a:endParaRPr lang="ru-RU" b="0" baseline="0" dirty="0" smtClean="0"/>
          </a:p>
          <a:p>
            <a:r>
              <a:rPr lang="ru-RU" b="0" baseline="0" dirty="0" smtClean="0"/>
              <a:t>8- За управление сервисом и организацией работ по развитию системы отвечает отдельное подразделение, но частично его функции ложатся на плечи всех линий поддержки, ведь эта работа всегда комплексная и требует изменение на всех уровнях поддержки.</a:t>
            </a:r>
            <a:endParaRPr lang="ru-RU" b="0"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3</a:t>
            </a:fld>
            <a:endParaRPr lang="ru-RU" dirty="0"/>
          </a:p>
        </p:txBody>
      </p:sp>
    </p:spTree>
    <p:extLst>
      <p:ext uri="{BB962C8B-B14F-4D97-AF65-F5344CB8AC3E}">
        <p14:creationId xmlns:p14="http://schemas.microsoft.com/office/powerpoint/2010/main" val="75159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kern="1200" dirty="0" smtClean="0">
                <a:solidFill>
                  <a:schemeClr val="tx1"/>
                </a:solidFill>
                <a:effectLst/>
                <a:latin typeface="+mn-lt"/>
                <a:ea typeface="+mn-ea"/>
                <a:cs typeface="+mn-cs"/>
              </a:rPr>
              <a:t>Предметной частью для нашей производственной системы является нефтепереработка. </a:t>
            </a:r>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Сразу скажу, что я составлю для Вас общую картину не вдаваясь в подробности. </a:t>
            </a:r>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Если вы уже интересуетесь нефтепереработкой, либо химическими, технологическими процессами производства, то тут вы сможете реализовать полностью свой потенциал совмещая его с </a:t>
            </a:r>
            <a:r>
              <a:rPr lang="en-US" sz="900" kern="1200" dirty="0" smtClean="0">
                <a:solidFill>
                  <a:schemeClr val="tx1"/>
                </a:solidFill>
                <a:effectLst/>
                <a:latin typeface="+mn-lt"/>
                <a:ea typeface="+mn-ea"/>
                <a:cs typeface="+mn-cs"/>
              </a:rPr>
              <a:t>IT</a:t>
            </a:r>
            <a:r>
              <a:rPr lang="ru-RU" sz="900" kern="1200" dirty="0" smtClean="0">
                <a:solidFill>
                  <a:schemeClr val="tx1"/>
                </a:solidFill>
                <a:effectLst/>
                <a:latin typeface="+mn-lt"/>
                <a:ea typeface="+mn-ea"/>
                <a:cs typeface="+mn-cs"/>
              </a:rPr>
              <a:t> технологиями. </a:t>
            </a:r>
          </a:p>
          <a:p>
            <a:r>
              <a:rPr lang="ru-RU" sz="900" kern="1200" dirty="0" smtClean="0">
                <a:solidFill>
                  <a:schemeClr val="tx1"/>
                </a:solidFill>
                <a:effectLst/>
                <a:latin typeface="+mn-lt"/>
                <a:ea typeface="+mn-ea"/>
                <a:cs typeface="+mn-cs"/>
              </a:rPr>
              <a:t>Но если вы далеки от этого, то в ходе работы вы сами всё узнаете т.к. мы много взаимодействуем со специалистами завода, а они очень любят рассказывать о своей работе).</a:t>
            </a:r>
          </a:p>
          <a:p>
            <a:endParaRPr lang="ru-RU" sz="900" kern="1200" dirty="0" smtClean="0">
              <a:solidFill>
                <a:schemeClr val="tx1"/>
              </a:solidFill>
              <a:effectLst/>
              <a:latin typeface="+mn-lt"/>
              <a:ea typeface="+mn-ea"/>
              <a:cs typeface="+mn-cs"/>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Представьте завод, как огромную производственную цепочку, где каждая установка — это отдельный цех со своей специализацией. </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Вот как это работает:</a:t>
            </a:r>
          </a:p>
          <a:p>
            <a:pPr>
              <a:lnSpc>
                <a:spcPct val="107000"/>
              </a:lnSpc>
              <a:spcAft>
                <a:spcPts val="800"/>
              </a:spcAft>
            </a:pP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Началом производства является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база нефти</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где принимается сырая нефть, поступающая по трубопроводу, либо после отгрузки танкера и ЖД цистерн.</a:t>
            </a:r>
          </a:p>
          <a:p>
            <a:pPr marL="342900" lvl="0" indent="-342900">
              <a:lnSpc>
                <a:spcPct val="107000"/>
              </a:lnSpc>
              <a:spcAft>
                <a:spcPts val="0"/>
              </a:spcAft>
              <a:buFont typeface="+mj-lt"/>
              <a:buAutoNum type="arabicPeriod"/>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Начинается нефтепереработка с установки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ЭЛОУ-АВТ-6</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которая предназначена для обессоливания и обезвоживания сырой нефти, атмосферной перегонки обессоленной нефти, вакуумной перегонки мазута, стабилизации бензина с целью получения сырья для других установок. Из сырой нефти, поступающей на установку ЭЛОУ-АВТ-6, на блоке обессоливания удаляются хлористые соли, вода и механические примеси. Обессоленная и обезвоженная нефть с блока ЭЛОУ поступает на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атмосферный</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блок установки, где отбираются светлые фракции бензина, керосина и дизельного топлива, а мазут подается на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вакуумный</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блок для получения вакуумного газойля и гудрона. Отбираемые на блоке АТ (атмосферная трубчатка) бензиновые фракции направляются на блок стабилизации.</a:t>
            </a:r>
          </a:p>
          <a:p>
            <a:pPr marL="457200">
              <a:lnSpc>
                <a:spcPct val="107000"/>
              </a:lnSpc>
              <a:spcAft>
                <a:spcPts val="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Затем на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АВТ</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(атмосферно-вакуумная трубчатка) нефть нагревают до 350°C и разделяют в 65-метровой колонне.</a:t>
            </a:r>
          </a:p>
          <a:p>
            <a:pPr marL="457200">
              <a:lnSpc>
                <a:spcPct val="107000"/>
              </a:lnSpc>
              <a:spcAft>
                <a:spcPts val="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Вверх поднимаются легкие фракции (бензиновые).</a:t>
            </a:r>
          </a:p>
          <a:p>
            <a:pPr marL="457200">
              <a:lnSpc>
                <a:spcPct val="107000"/>
              </a:lnSpc>
              <a:spcAft>
                <a:spcPts val="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В середине — дизельные.</a:t>
            </a:r>
          </a:p>
          <a:p>
            <a:pPr marL="457200">
              <a:lnSpc>
                <a:spcPct val="107000"/>
              </a:lnSpc>
              <a:spcAft>
                <a:spcPts val="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Внизу остается мазут.</a:t>
            </a:r>
          </a:p>
          <a:p>
            <a:pPr marL="0" lvl="0" indent="0">
              <a:lnSpc>
                <a:spcPct val="107000"/>
              </a:lnSpc>
              <a:spcAft>
                <a:spcPts val="0"/>
              </a:spcAft>
              <a:buFont typeface="+mj-lt"/>
              <a:buNone/>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3.</a:t>
            </a:r>
            <a:r>
              <a:rPr lang="ru-RU" sz="900" b="1" baseline="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УПЭС </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Предназначена для производства элементарной серы из сероводородного газа и регенерации насыщенного раствора МЭА.</a:t>
            </a:r>
          </a:p>
          <a:p>
            <a:pPr marL="0" lvl="0" indent="0">
              <a:lnSpc>
                <a:spcPct val="107000"/>
              </a:lnSpc>
              <a:spcAft>
                <a:spcPts val="0"/>
              </a:spcAft>
              <a:buFont typeface="+mj-lt"/>
              <a:buNone/>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4.</a:t>
            </a:r>
            <a:r>
              <a:rPr lang="ru-RU" sz="900" b="1" baseline="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УПБ</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Предназначена для получения битумов строительных, дорожных и кровельных марок посредством окислительных емкостей.</a:t>
            </a:r>
          </a:p>
          <a:p>
            <a:pPr marL="0" lvl="0" indent="0">
              <a:lnSpc>
                <a:spcPct val="107000"/>
              </a:lnSpc>
              <a:spcAft>
                <a:spcPts val="0"/>
              </a:spcAft>
              <a:buFont typeface="+mj-lt"/>
              <a:buNone/>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5.</a:t>
            </a:r>
            <a:r>
              <a:rPr lang="ru-RU" sz="900" b="1" baseline="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Л-35/100-300</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и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Л-35/100-600 – </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принимает прямогонную бензиновую фракцию и посредством реакторных блоков гидроочистки, блоков стабилизации и каталитического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риформинга</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происходит приготовление высокооктановых бензинов. </a:t>
            </a:r>
          </a:p>
          <a:p>
            <a:pPr marL="0" lvl="0" indent="0">
              <a:lnSpc>
                <a:spcPct val="107000"/>
              </a:lnSpc>
              <a:spcAft>
                <a:spcPts val="0"/>
              </a:spcAft>
              <a:buFont typeface="+mj-lt"/>
              <a:buNone/>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6.</a:t>
            </a:r>
            <a:r>
              <a:rPr lang="ru-RU" sz="900" b="1" baseline="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Л-24-6</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Предназначен для повышения качества дизельной фракции с установки ЭЛОУ АВТ.</a:t>
            </a:r>
          </a:p>
          <a:p>
            <a:pPr marL="0" lvl="0" indent="0">
              <a:lnSpc>
                <a:spcPct val="107000"/>
              </a:lnSpc>
              <a:spcAft>
                <a:spcPts val="0"/>
              </a:spcAft>
              <a:buFont typeface="+mj-lt"/>
              <a:buNone/>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7.</a:t>
            </a:r>
            <a:r>
              <a:rPr lang="ru-RU" sz="900" baseline="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Изомеризацию не рассказываем, но если есть вопрос (Входит в состав комплекса изомеризации и предназначена для переработки пентан-</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гексановой</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фракции высокооктановый компонент товарного бензина по технологии низкотемпературной изомеризации «Изомалк-2».)</a:t>
            </a:r>
          </a:p>
          <a:p>
            <a:pPr marL="0" lvl="0" indent="0">
              <a:lnSpc>
                <a:spcPct val="107000"/>
              </a:lnSpc>
              <a:spcAft>
                <a:spcPts val="800"/>
              </a:spcAft>
              <a:buFont typeface="+mj-lt"/>
              <a:buNone/>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8.      Отгрузка</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Финальная часть производства, где готовая продукция с паспортом качества отгружается в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жд</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/авто/танкер/трубопровод и направляется к потребителям.</a:t>
            </a:r>
          </a:p>
          <a:p>
            <a:endParaRPr lang="ru-RU" sz="900" kern="1200" dirty="0" smtClean="0">
              <a:solidFill>
                <a:schemeClr val="tx1"/>
              </a:solidFill>
              <a:effectLst/>
              <a:latin typeface="+mn-lt"/>
              <a:ea typeface="+mn-ea"/>
              <a:cs typeface="+mn-cs"/>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4</a:t>
            </a:fld>
            <a:endParaRPr lang="ru-RU" dirty="0"/>
          </a:p>
        </p:txBody>
      </p:sp>
    </p:spTree>
    <p:extLst>
      <p:ext uri="{BB962C8B-B14F-4D97-AF65-F5344CB8AC3E}">
        <p14:creationId xmlns:p14="http://schemas.microsoft.com/office/powerpoint/2010/main" val="3223093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В соответствии с моделью CIM все информационные системы предприятия делятся на уровни по двум критериям: дискретность оси времени, в единицах которой функционируют информационные системы, и объемы данных, обрабатываемых на каждом уровне модели. В рамках концепции CIM информационные системы образуют пирамиду. Системы верхнего уровня оперируют данными на относительно больших временных промежутках, а нижнего — имеют дело с большим потоком данных реального времени. Каждое сечение пирамиды имеет площадь, пропорциональную объему обрабатываемых данных. На вершине этот объем минимален, в основании — максимален. Для связи дискретной оси времени наверху пирамиды с событиями реального времени в ее основании используются промежуточные системы цехового уровня,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Production</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Control</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или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Manufacturing</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Execution</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Systems</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a:t>
            </a:r>
            <a:r>
              <a:rPr lang="ru-RU" sz="900" u="none" strike="noStrike" dirty="0"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rPr>
              <a:t>MES</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0 уровень – полевая автоматика</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На этом уровне находятся датчики, сенсоры, клапаны, приводы и другие исполнительные устройства. Они фиксируют и передают данные на следующие уровни.</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1 уровень – управление оборудованием в PLC/PAC</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PLC (программируемые логические контроллеры) и PAC (программируемые автоматизированные контроллеры) управляют логикой процессов локально. Например, если температура опустилась ниже заданного уровня, контроллер включает нагреватель.</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2 уровень — диспетчерское управление и сбор данных в SCADA</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8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SCADA-система (</a:t>
            </a:r>
            <a:r>
              <a:rPr lang="ru-RU" sz="800" dirty="0" err="1"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Supervisory</a:t>
            </a:r>
            <a:r>
              <a:rPr lang="ru-RU" sz="8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ru-RU" sz="800" dirty="0" err="1"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Control</a:t>
            </a:r>
            <a:r>
              <a:rPr lang="ru-RU" sz="8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ru-RU" sz="800" dirty="0" err="1"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And</a:t>
            </a:r>
            <a:r>
              <a:rPr lang="ru-RU" sz="8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ru-RU" sz="800" dirty="0" err="1"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Data</a:t>
            </a:r>
            <a:r>
              <a:rPr lang="ru-RU" sz="8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ru-RU" sz="800" dirty="0" err="1"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Acquisition</a:t>
            </a:r>
            <a:r>
              <a:rPr lang="ru-RU" sz="8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помогает контролировать и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мониторить</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показатели в реальном времени. Система собирает данные с PLC/PAC и передает их на устройство, где операторы отслеживают статус оборудования. MES, в свою очередь, использует данные из SCADA для дальнейшего анализа, планирования, координации и управления производством.</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С развитием интернета вещей, MES может получать информацию напрямую от датчиков. Это возможно с помощью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IoT</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-платформ. </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3 уровень — управление процессами в MES </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MES-система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Manufacturing</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Execution</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System</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это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комплекс программных средств для управления производственными процессами на предприятиях</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a:t>
            </a:r>
            <a:endParaRPr lang="ru-RU" sz="1000" dirty="0" smtClean="0">
              <a:effectLst/>
              <a:latin typeface="Times New Roman" panose="02020603050405020304" pitchFamily="18" charset="0"/>
              <a:ea typeface="Times New Roman" panose="02020603050405020304" pitchFamily="18" charset="0"/>
            </a:endParaRPr>
          </a:p>
          <a:p>
            <a:pPr algn="l">
              <a:lnSpc>
                <a:spcPts val="1650"/>
              </a:lnSpc>
              <a:spcAft>
                <a:spcPts val="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Она служит мостом между планированием на уровне предприятия и фактическим производством, обеспечивая эффективное выполнение производственных операций в реальном времени. MES получает данные из SCADA или напрямую от датчиков.</a:t>
            </a:r>
            <a:endParaRPr lang="ru-RU" sz="1000" dirty="0" smtClean="0">
              <a:effectLst/>
              <a:latin typeface="Times New Roman" panose="02020603050405020304" pitchFamily="18" charset="0"/>
              <a:ea typeface="Times New Roman" panose="02020603050405020304" pitchFamily="18" charset="0"/>
            </a:endParaRPr>
          </a:p>
          <a:p>
            <a:pPr algn="l">
              <a:lnSpc>
                <a:spcPts val="1650"/>
              </a:lnSpc>
              <a:spcAft>
                <a:spcPts val="6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Основные функции MES-систем</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a:t>
            </a:r>
            <a:endParaRPr lang="ru-RU" sz="1000" dirty="0" smtClean="0">
              <a:effectLst/>
              <a:latin typeface="Times New Roman" panose="02020603050405020304" pitchFamily="18" charset="0"/>
              <a:ea typeface="Times New Roman" panose="02020603050405020304" pitchFamily="18" charset="0"/>
            </a:endParaRPr>
          </a:p>
          <a:p>
            <a:pPr marL="342900" lvl="0" indent="-342900">
              <a:lnSpc>
                <a:spcPts val="1650"/>
              </a:lnSpc>
              <a:spcAft>
                <a:spcPts val="0"/>
              </a:spcAft>
              <a:buSzPts val="1000"/>
              <a:buFont typeface="Symbol" panose="05050102010706020507" pitchFamily="18" charset="2"/>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Контроль производственных операций</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Система позволяет в режиме реального времени следить за выполнением производственных заданий, отслеживать отклонения от плана и оценивать загрузку оборудования.</a:t>
            </a:r>
          </a:p>
          <a:p>
            <a:pPr marL="342900" lvl="0" indent="-342900">
              <a:lnSpc>
                <a:spcPts val="1650"/>
              </a:lnSpc>
              <a:spcAft>
                <a:spcPts val="0"/>
              </a:spcAft>
              <a:buSzPts val="1000"/>
              <a:buFont typeface="Symbol" panose="05050102010706020507" pitchFamily="18" charset="2"/>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Сбор и обработка данных</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Системы фиксируют ключевые параметры: от производительности оборудования до объёмов продукции и расхода ресурсов. Это помогает выявлять проблемные участки, оптимизировать процессы и повышать эффективность.  </a:t>
            </a:r>
          </a:p>
          <a:p>
            <a:pPr marL="342900" lvl="0" indent="-342900">
              <a:lnSpc>
                <a:spcPts val="1650"/>
              </a:lnSpc>
              <a:spcAft>
                <a:spcPts val="0"/>
              </a:spcAft>
              <a:buSzPts val="1000"/>
              <a:buFont typeface="Symbol" panose="05050102010706020507" pitchFamily="18" charset="2"/>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Контроль качества</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MES интегрируют инструменты проверки качества, позволяя оперативно выявлять и устранять дефекты. Чаще всего по средствам диспетчеризации. </a:t>
            </a:r>
          </a:p>
          <a:p>
            <a:pPr marL="342900" lvl="0" indent="-342900">
              <a:lnSpc>
                <a:spcPts val="1650"/>
              </a:lnSpc>
              <a:spcAft>
                <a:spcPts val="0"/>
              </a:spcAft>
              <a:buSzPts val="1000"/>
              <a:buFont typeface="Symbol" panose="05050102010706020507" pitchFamily="18" charset="2"/>
              <a:buChar char=""/>
              <a:tabLst>
                <a:tab pos="457200" algn="l"/>
              </a:tabLst>
            </a:pP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Прослеживаемость</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 производства</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Системы хранят полную историю создания продукции: от использованных материалов до этапов сборки. Это упрощает решение вопросов с клиентами и помогает соответствовать требованиям законодательства.  </a:t>
            </a:r>
          </a:p>
          <a:p>
            <a:pPr marL="342900" lvl="0" indent="-342900">
              <a:lnSpc>
                <a:spcPts val="1650"/>
              </a:lnSpc>
              <a:spcAft>
                <a:spcPts val="600"/>
              </a:spcAft>
              <a:buSzPts val="1000"/>
              <a:buFont typeface="Symbol" panose="05050102010706020507" pitchFamily="18" charset="2"/>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Интеграция с другими системами</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MES становятся частью общей цифровой экосистемы предприятия, эффективно взаимодействуя с ERP, APS и другими инструментами</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4 уровень — управление бизнес-процессами в ERP </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u="sng" dirty="0"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ERP (</a:t>
            </a:r>
            <a:r>
              <a:rPr lang="ru-RU" sz="900" u="sng" dirty="0" err="1"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enterprise</a:t>
            </a:r>
            <a:r>
              <a:rPr lang="ru-RU" sz="900" u="sng" dirty="0"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 </a:t>
            </a:r>
            <a:r>
              <a:rPr lang="ru-RU" sz="900" u="sng" dirty="0" err="1"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resource</a:t>
            </a:r>
            <a:r>
              <a:rPr lang="ru-RU" sz="900" u="sng" dirty="0"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 </a:t>
            </a:r>
            <a:r>
              <a:rPr lang="ru-RU" sz="900" u="sng" dirty="0" err="1"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planning</a:t>
            </a:r>
            <a:r>
              <a:rPr lang="ru-RU" sz="900" u="sng" dirty="0" smtClean="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это софт для контроля бизнес-процессов компании. Система объединяет управление финансами, закупками, продажами, заказами, отчетностью и персоналом. ERP-системы не управляют производством напрямую. Они передают данные в MES, чтобы корректировать планы на выпуск продукции.</a:t>
            </a:r>
          </a:p>
          <a:p>
            <a:endParaRPr lang="ru-RU" b="0" dirty="0" smtClean="0">
              <a:effectLst/>
            </a:endParaRPr>
          </a:p>
          <a:p>
            <a:endParaRPr lang="ru-RU" b="0" dirty="0" smtClean="0">
              <a:effectLst/>
            </a:endParaRPr>
          </a:p>
          <a:p>
            <a:endParaRPr lang="ru-RU" b="0" dirty="0" smtClean="0">
              <a:effectLst/>
            </a:endParaRPr>
          </a:p>
          <a:p>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5</a:t>
            </a:fld>
            <a:endParaRPr lang="ru-RU" dirty="0"/>
          </a:p>
        </p:txBody>
      </p:sp>
    </p:spTree>
    <p:extLst>
      <p:ext uri="{BB962C8B-B14F-4D97-AF65-F5344CB8AC3E}">
        <p14:creationId xmlns:p14="http://schemas.microsoft.com/office/powerpoint/2010/main" val="2511012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1" kern="1200" dirty="0" smtClean="0">
                <a:solidFill>
                  <a:schemeClr val="tx1"/>
                </a:solidFill>
                <a:effectLst/>
                <a:latin typeface="+mn-lt"/>
                <a:ea typeface="+mn-ea"/>
                <a:cs typeface="+mn-cs"/>
              </a:rPr>
              <a:t>Одной из наиболее важных </a:t>
            </a:r>
            <a:r>
              <a:rPr lang="en-US" sz="900" b="1" kern="1200" dirty="0" smtClean="0">
                <a:solidFill>
                  <a:schemeClr val="tx1"/>
                </a:solidFill>
                <a:effectLst/>
                <a:latin typeface="+mn-lt"/>
                <a:ea typeface="+mn-ea"/>
                <a:cs typeface="+mn-cs"/>
              </a:rPr>
              <a:t>MES</a:t>
            </a:r>
            <a:r>
              <a:rPr lang="ru-RU" sz="900" b="1" kern="1200" dirty="0" smtClean="0">
                <a:solidFill>
                  <a:schemeClr val="tx1"/>
                </a:solidFill>
                <a:effectLst/>
                <a:latin typeface="+mn-lt"/>
                <a:ea typeface="+mn-ea"/>
                <a:cs typeface="+mn-cs"/>
              </a:rPr>
              <a:t> систем является АСОДУ (Автоматизированная система оперативно-диспетчерского управления).</a:t>
            </a:r>
            <a:r>
              <a:rPr lang="ru-RU" sz="900" kern="1200" dirty="0" smtClean="0">
                <a:solidFill>
                  <a:schemeClr val="tx1"/>
                </a:solidFill>
                <a:effectLst/>
                <a:latin typeface="+mn-lt"/>
                <a:ea typeface="+mn-ea"/>
                <a:cs typeface="+mn-cs"/>
              </a:rPr>
              <a:t/>
            </a:r>
            <a:br>
              <a:rPr lang="ru-RU" sz="900" kern="1200" dirty="0" smtClean="0">
                <a:solidFill>
                  <a:schemeClr val="tx1"/>
                </a:solidFill>
                <a:effectLst/>
                <a:latin typeface="+mn-lt"/>
                <a:ea typeface="+mn-ea"/>
                <a:cs typeface="+mn-cs"/>
              </a:rPr>
            </a:br>
            <a:r>
              <a:rPr lang="ru-RU" sz="900" kern="1200" dirty="0" smtClean="0">
                <a:solidFill>
                  <a:schemeClr val="tx1"/>
                </a:solidFill>
                <a:effectLst/>
                <a:latin typeface="+mn-lt"/>
                <a:ea typeface="+mn-ea"/>
                <a:cs typeface="+mn-cs"/>
              </a:rPr>
              <a:t>АСОДУ — это комплекс приложений для сбора, анализа, представления и архивирования информации, поступающей с разных цехов и участков предприятия или локальных подсистем АСУТП (например, на нефтеперерабатывающих заводах). </a:t>
            </a:r>
          </a:p>
          <a:p>
            <a:r>
              <a:rPr lang="ru-RU" sz="900" b="1" kern="1200" dirty="0" smtClean="0">
                <a:solidFill>
                  <a:schemeClr val="tx1"/>
                </a:solidFill>
                <a:effectLst/>
                <a:latin typeface="+mn-lt"/>
                <a:ea typeface="+mn-ea"/>
                <a:cs typeface="+mn-cs"/>
              </a:rPr>
              <a:t>Основные функции</a:t>
            </a:r>
            <a:r>
              <a:rPr lang="ru-RU" sz="900" kern="1200" dirty="0" smtClean="0">
                <a:solidFill>
                  <a:schemeClr val="tx1"/>
                </a:solidFill>
                <a:effectLst/>
                <a:latin typeface="+mn-lt"/>
                <a:ea typeface="+mn-ea"/>
                <a:cs typeface="+mn-cs"/>
              </a:rPr>
              <a:t>:</a:t>
            </a:r>
          </a:p>
          <a:p>
            <a:r>
              <a:rPr lang="ru-RU" sz="900" kern="1200" dirty="0" smtClean="0">
                <a:solidFill>
                  <a:schemeClr val="tx1"/>
                </a:solidFill>
                <a:effectLst/>
                <a:latin typeface="+mn-lt"/>
                <a:ea typeface="+mn-ea"/>
                <a:cs typeface="+mn-cs"/>
              </a:rPr>
              <a:t>Сбор данных с датчиков и оборудования в реальном времени.</a:t>
            </a:r>
          </a:p>
          <a:p>
            <a:r>
              <a:rPr lang="ru-RU" sz="900" kern="1200" dirty="0" smtClean="0">
                <a:solidFill>
                  <a:schemeClr val="tx1"/>
                </a:solidFill>
                <a:effectLst/>
                <a:latin typeface="+mn-lt"/>
                <a:ea typeface="+mn-ea"/>
                <a:cs typeface="+mn-cs"/>
              </a:rPr>
              <a:t>Визуализация процессов (например, через мнемосхемы).</a:t>
            </a:r>
          </a:p>
          <a:p>
            <a:r>
              <a:rPr lang="ru-RU" sz="900" kern="1200" dirty="0" smtClean="0">
                <a:solidFill>
                  <a:schemeClr val="tx1"/>
                </a:solidFill>
                <a:effectLst/>
                <a:latin typeface="+mn-lt"/>
                <a:ea typeface="+mn-ea"/>
                <a:cs typeface="+mn-cs"/>
              </a:rPr>
              <a:t>Контроль аварийных ситуаций и формирование отчетов.</a:t>
            </a:r>
          </a:p>
          <a:p>
            <a:r>
              <a:rPr lang="ru-RU" sz="900" kern="1200" dirty="0" smtClean="0">
                <a:solidFill>
                  <a:schemeClr val="tx1"/>
                </a:solidFill>
                <a:effectLst/>
                <a:latin typeface="+mn-lt"/>
                <a:ea typeface="+mn-ea"/>
                <a:cs typeface="+mn-cs"/>
              </a:rPr>
              <a:t>Отображение расчётных данных по метрологическим методикам.</a:t>
            </a:r>
          </a:p>
          <a:p>
            <a:r>
              <a:rPr lang="ru-RU" sz="900" kern="1200" dirty="0" smtClean="0">
                <a:solidFill>
                  <a:schemeClr val="tx1"/>
                </a:solidFill>
                <a:effectLst/>
                <a:latin typeface="+mn-lt"/>
                <a:ea typeface="+mn-ea"/>
                <a:cs typeface="+mn-cs"/>
              </a:rPr>
              <a:t>Управление производством посредством контроля движения нефтепродуктов.</a:t>
            </a:r>
          </a:p>
          <a:p>
            <a:r>
              <a:rPr lang="ru-RU" sz="900" b="1" kern="1200" dirty="0" smtClean="0">
                <a:solidFill>
                  <a:schemeClr val="tx1"/>
                </a:solidFill>
                <a:effectLst/>
                <a:latin typeface="+mn-lt"/>
                <a:ea typeface="+mn-ea"/>
                <a:cs typeface="+mn-cs"/>
              </a:rPr>
              <a:t>Почему это важно?</a:t>
            </a:r>
            <a:r>
              <a:rPr lang="ru-RU" sz="900" kern="1200" dirty="0" smtClean="0">
                <a:solidFill>
                  <a:schemeClr val="tx1"/>
                </a:solidFill>
                <a:effectLst/>
                <a:latin typeface="+mn-lt"/>
                <a:ea typeface="+mn-ea"/>
                <a:cs typeface="+mn-cs"/>
              </a:rPr>
              <a:t/>
            </a:r>
            <a:br>
              <a:rPr lang="ru-RU" sz="900" kern="1200" dirty="0" smtClean="0">
                <a:solidFill>
                  <a:schemeClr val="tx1"/>
                </a:solidFill>
                <a:effectLst/>
                <a:latin typeface="+mn-lt"/>
                <a:ea typeface="+mn-ea"/>
                <a:cs typeface="+mn-cs"/>
              </a:rPr>
            </a:br>
            <a:r>
              <a:rPr lang="ru-RU" sz="900" kern="1200" dirty="0" smtClean="0">
                <a:solidFill>
                  <a:schemeClr val="tx1"/>
                </a:solidFill>
                <a:effectLst/>
                <a:latin typeface="+mn-lt"/>
                <a:ea typeface="+mn-ea"/>
                <a:cs typeface="+mn-cs"/>
              </a:rPr>
              <a:t>Без АСОДУ управление сложными производствами было бы медленным и рискованным. </a:t>
            </a:r>
          </a:p>
          <a:p>
            <a:r>
              <a:rPr lang="ru-RU" sz="900" kern="1200" dirty="0" smtClean="0">
                <a:solidFill>
                  <a:schemeClr val="tx1"/>
                </a:solidFill>
                <a:effectLst/>
                <a:latin typeface="+mn-lt"/>
                <a:ea typeface="+mn-ea"/>
                <a:cs typeface="+mn-cs"/>
              </a:rPr>
              <a:t>Также у нас теперь весь завод может уместиться на одном сайте, который получает оперативные данные с каждого датчика, с каждой смежной информационной системы.</a:t>
            </a:r>
          </a:p>
          <a:p>
            <a:endParaRPr lang="ru-RU" dirty="0" smtClean="0"/>
          </a:p>
          <a:p>
            <a:r>
              <a:rPr lang="ru-RU" b="1" dirty="0" smtClean="0"/>
              <a:t>Почему без АСОДУ невозможно современное производство?</a:t>
            </a:r>
          </a:p>
          <a:p>
            <a:r>
              <a:rPr lang="ru-RU" b="1" dirty="0" smtClean="0"/>
              <a:t>Ручной сбор данных устарел</a:t>
            </a:r>
            <a:r>
              <a:rPr lang="ru-RU" dirty="0" smtClean="0"/>
              <a:t>:</a:t>
            </a:r>
            <a:br>
              <a:rPr lang="ru-RU" dirty="0" smtClean="0"/>
            </a:br>
            <a:r>
              <a:rPr lang="ru-RU" dirty="0" smtClean="0"/>
              <a:t>Раньше инженеры тратили часы на обход оборудования с блокнотами. Теперь АСОДУ делает это автоматически — без ошибок и задержек.</a:t>
            </a:r>
          </a:p>
          <a:p>
            <a:r>
              <a:rPr lang="ru-RU" b="1" dirty="0" smtClean="0"/>
              <a:t>Человеческий фактор</a:t>
            </a:r>
            <a:r>
              <a:rPr lang="ru-RU" dirty="0" smtClean="0"/>
              <a:t>:</a:t>
            </a:r>
            <a:br>
              <a:rPr lang="ru-RU" dirty="0" smtClean="0"/>
            </a:br>
            <a:r>
              <a:rPr lang="ru-RU" dirty="0" smtClean="0"/>
              <a:t>Оператор физически не может отслеживать сотни параметров одновременно. АСОДУ </a:t>
            </a:r>
            <a:r>
              <a:rPr lang="ru-RU" b="1" dirty="0" smtClean="0"/>
              <a:t>фиксирует все отклонения</a:t>
            </a:r>
            <a:r>
              <a:rPr lang="ru-RU" dirty="0" smtClean="0"/>
              <a:t> и выделяет самые важные.</a:t>
            </a:r>
          </a:p>
          <a:p>
            <a:r>
              <a:rPr lang="ru-RU" b="1" dirty="0" smtClean="0"/>
              <a:t>Экономический эффект</a:t>
            </a:r>
            <a:r>
              <a:rPr lang="ru-RU" dirty="0" smtClean="0"/>
              <a:t>:</a:t>
            </a:r>
            <a:br>
              <a:rPr lang="ru-RU" dirty="0" smtClean="0"/>
            </a:br>
            <a:r>
              <a:rPr lang="ru-RU" dirty="0" smtClean="0"/>
              <a:t>Внедрение АСОДУ на НПЗ может дать </a:t>
            </a:r>
            <a:r>
              <a:rPr lang="ru-RU" b="1" dirty="0" smtClean="0"/>
              <a:t>до 20% снижения аварийности</a:t>
            </a:r>
            <a:r>
              <a:rPr lang="ru-RU" dirty="0" smtClean="0"/>
              <a:t> и </a:t>
            </a:r>
            <a:r>
              <a:rPr lang="ru-RU" b="1" dirty="0" smtClean="0"/>
              <a:t>5–15% экономии ресурсов</a:t>
            </a:r>
            <a:r>
              <a:rPr lang="ru-RU" dirty="0" smtClean="0"/>
              <a:t> за счёт оптимизации процессов.</a:t>
            </a:r>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6</a:t>
            </a:fld>
            <a:endParaRPr lang="ru-RU" dirty="0"/>
          </a:p>
        </p:txBody>
      </p:sp>
    </p:spTree>
    <p:extLst>
      <p:ext uri="{BB962C8B-B14F-4D97-AF65-F5344CB8AC3E}">
        <p14:creationId xmlns:p14="http://schemas.microsoft.com/office/powerpoint/2010/main" val="481502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800" b="1" dirty="0" smtClean="0">
                <a:effectLst/>
                <a:latin typeface="Calibri" panose="020F0502020204030204" pitchFamily="34" charset="0"/>
                <a:ea typeface="Calibri" panose="020F0502020204030204" pitchFamily="34" charset="0"/>
                <a:cs typeface="Times New Roman" panose="02020603050405020304" pitchFamily="18" charset="0"/>
              </a:rPr>
              <a:t>Но для корректного отображения с обработки данных для системы АСОДУ необходим очень мощный инструмент. </a:t>
            </a:r>
            <a:r>
              <a:rPr lang="ru-RU" sz="800" dirty="0" smtClean="0">
                <a:effectLst/>
                <a:latin typeface="Calibri" panose="020F0502020204030204" pitchFamily="34" charset="0"/>
                <a:ea typeface="Calibri" panose="020F0502020204030204" pitchFamily="34" charset="0"/>
                <a:cs typeface="Times New Roman" panose="02020603050405020304" pitchFamily="18" charset="0"/>
              </a:rPr>
              <a:t>Надо понимать, что современные заводы, такие как нефтеперерабатывающие, оснащены тысячами датчиков, которые непрерывно собирают данные о температуре, давлении, расходе и других критически важных параметрах.</a:t>
            </a:r>
          </a:p>
          <a:p>
            <a:pPr>
              <a:lnSpc>
                <a:spcPct val="107000"/>
              </a:lnSpc>
              <a:spcAft>
                <a:spcPts val="800"/>
              </a:spcAft>
            </a:pPr>
            <a:r>
              <a:rPr lang="ru-RU" sz="800" b="1" dirty="0" smtClean="0">
                <a:effectLst/>
                <a:latin typeface="Calibri" panose="020F0502020204030204" pitchFamily="34" charset="0"/>
                <a:ea typeface="Calibri" panose="020F0502020204030204" pitchFamily="34" charset="0"/>
                <a:cs typeface="Times New Roman" panose="02020603050405020304" pitchFamily="18" charset="0"/>
              </a:rPr>
              <a:t>Проблема:</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800" dirty="0" smtClean="0">
                <a:effectLst/>
                <a:latin typeface="Calibri" panose="020F0502020204030204" pitchFamily="34" charset="0"/>
                <a:ea typeface="Calibri" panose="020F0502020204030204" pitchFamily="34" charset="0"/>
                <a:cs typeface="Times New Roman" panose="02020603050405020304" pitchFamily="18" charset="0"/>
              </a:rPr>
              <a:t>Данные поступают в режиме реального времени и в огромных объемах.</a:t>
            </a:r>
          </a:p>
          <a:p>
            <a:pPr>
              <a:lnSpc>
                <a:spcPct val="107000"/>
              </a:lnSpc>
              <a:spcAft>
                <a:spcPts val="800"/>
              </a:spcAft>
            </a:pPr>
            <a:r>
              <a:rPr lang="ru-RU" sz="800" dirty="0" smtClean="0">
                <a:effectLst/>
                <a:latin typeface="Calibri" panose="020F0502020204030204" pitchFamily="34" charset="0"/>
                <a:ea typeface="Calibri" panose="020F0502020204030204" pitchFamily="34" charset="0"/>
                <a:cs typeface="Times New Roman" panose="02020603050405020304" pitchFamily="18" charset="0"/>
              </a:rPr>
              <a:t>Если их просто накапливать, они превращаются в «информационный шум», который сложно анализировать и использовать.</a:t>
            </a:r>
          </a:p>
          <a:p>
            <a:pPr>
              <a:lnSpc>
                <a:spcPct val="107000"/>
              </a:lnSpc>
              <a:spcAft>
                <a:spcPts val="800"/>
              </a:spcAft>
            </a:pPr>
            <a:r>
              <a:rPr lang="ru-RU" sz="800" b="1" dirty="0" smtClean="0">
                <a:effectLst/>
                <a:latin typeface="Calibri" panose="020F0502020204030204" pitchFamily="34" charset="0"/>
                <a:ea typeface="Calibri" panose="020F0502020204030204" pitchFamily="34" charset="0"/>
                <a:cs typeface="Times New Roman" panose="02020603050405020304" pitchFamily="18" charset="0"/>
              </a:rPr>
              <a:t>Решение:</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ru-RU" sz="900" dirty="0" smtClean="0">
                <a:effectLst/>
                <a:latin typeface="Times New Roman" panose="02020603050405020304" pitchFamily="18" charset="0"/>
                <a:ea typeface="Times New Roman" panose="02020603050405020304" pitchFamily="18" charset="0"/>
              </a:rPr>
              <a:t>БДРВ - Базы данных временных рядов</a:t>
            </a:r>
          </a:p>
          <a:p>
            <a:pPr>
              <a:lnSpc>
                <a:spcPct val="107000"/>
              </a:lnSpc>
              <a:spcBef>
                <a:spcPts val="900"/>
              </a:spcBef>
              <a:spcAft>
                <a:spcPts val="800"/>
              </a:spcAf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Если у вас есть упорядоченные по времени данные с временными метками, такие как метрики от инфраструктуры или данные датчиков, может быть полезно использовать одну из баз данных временных рядов.</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Принцип хранения данных в базе данных временных рядов. Как мы видим, важной особенностью является наличие столбца соответствующего времени события.</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400"/>
              </a:spcBef>
              <a:spcAft>
                <a:spcPts val="800"/>
              </a:spcAf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Общие характеристики баз данных временных рядов:</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SzPts val="1000"/>
              <a:buFont typeface="Symbol" panose="05050102010706020507" pitchFamily="18" charset="2"/>
              <a:buChar char=""/>
              <a:tabLst>
                <a:tab pos="45720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Данные временных рядов всегда собираются на протяжении определенного периода времени.</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SzPts val="1000"/>
              <a:buFont typeface="Symbol" panose="05050102010706020507" pitchFamily="18" charset="2"/>
              <a:buChar char=""/>
              <a:tabLst>
                <a:tab pos="45720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Данные из рабочих нагрузок являются новыми и записываются как вставки. Уже существующие данные не обновляются путем замены.</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SzPts val="1000"/>
              <a:buFont typeface="Symbol" panose="05050102010706020507" pitchFamily="18" charset="2"/>
              <a:buChar char=""/>
              <a:tabLst>
                <a:tab pos="45720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Когда данные записываются, они автоматически назначаются последнему интервалу времени.</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Базы данных временных рядов часто используются для осуществления мониторинга различных метрик (будь то загрузка CPU, или показатели работы какого-либо датчика).</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7</a:t>
            </a:fld>
            <a:endParaRPr lang="ru-RU" dirty="0"/>
          </a:p>
        </p:txBody>
      </p:sp>
    </p:spTree>
    <p:extLst>
      <p:ext uri="{BB962C8B-B14F-4D97-AF65-F5344CB8AC3E}">
        <p14:creationId xmlns:p14="http://schemas.microsoft.com/office/powerpoint/2010/main" val="44158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БДРВ, которое используем мы:</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r>
            <a:br>
              <a:rPr lang="ru-RU" sz="900" dirty="0" smtClean="0">
                <a:effectLst/>
                <a:latin typeface="Calibri" panose="020F0502020204030204" pitchFamily="34" charset="0"/>
                <a:ea typeface="Calibri" panose="020F0502020204030204" pitchFamily="34" charset="0"/>
                <a:cs typeface="Times New Roman" panose="02020603050405020304" pitchFamily="18" charset="0"/>
              </a:rPr>
            </a:b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PI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System</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 это интеллектуальная платформа, которая:</a:t>
            </a:r>
          </a:p>
          <a:p>
            <a:pPr marL="342900" lvl="0" indent="-342900">
              <a:lnSpc>
                <a:spcPct val="107000"/>
              </a:lnSpc>
              <a:spcAft>
                <a:spcPts val="800"/>
              </a:spcAft>
              <a:buFont typeface="Arial" panose="020B0604020202020204" pitchFamily="34" charset="0"/>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Собирает данные</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с датчиков, оборудования и других систем. (Таких как система отгрузки причал/</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жд</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/авто, лаборатория и т.п.)</a:t>
            </a:r>
          </a:p>
          <a:p>
            <a:pPr marL="342900" lvl="0" indent="-342900">
              <a:lnSpc>
                <a:spcPct val="107000"/>
              </a:lnSpc>
              <a:spcAft>
                <a:spcPts val="800"/>
              </a:spcAft>
              <a:buFont typeface="Arial" panose="020B0604020202020204" pitchFamily="34" charset="0"/>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Структурирует и хранит</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их в удобном для анализа виде.</a:t>
            </a:r>
          </a:p>
          <a:p>
            <a:pPr marL="342900" lvl="0" indent="-342900">
              <a:lnSpc>
                <a:spcPct val="107000"/>
              </a:lnSpc>
              <a:spcAft>
                <a:spcPts val="800"/>
              </a:spcAft>
              <a:buFont typeface="Arial" panose="020B0604020202020204" pitchFamily="34" charset="0"/>
              <a:buChar char="•"/>
              <a:tabLst>
                <a:tab pos="457200" algn="l"/>
              </a:tabLs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Предоставляет данные</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в реальном времени, чтобы инженеры и операторы могли быстро принимать решения.</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PI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System</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 — это «мозг» предприятия, который превращает данные в полезные знания.</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Сердцем этой системы является специализированное хранилище — PI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Data</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Archive</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Чем оно отличается от обычных баз данных?</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Специализация под временные ряды</a:t>
            </a:r>
            <a:r>
              <a:rPr lang="en-US" sz="900" b="1" dirty="0" smtClean="0">
                <a:effectLst/>
                <a:latin typeface="Calibri" panose="020F0502020204030204" pitchFamily="34" charset="0"/>
                <a:ea typeface="Calibri" panose="020F0502020204030204" pitchFamily="34" charset="0"/>
                <a:cs typeface="Times New Roman" panose="02020603050405020304" pitchFamily="18" charset="0"/>
              </a:rPr>
              <a:t>:</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Оптимизирована для записи и чтения данных с временными метками (температура, давление и т.д.).</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Поддерживает микросекундное разрешение времени.</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Эффективное хранение</a:t>
            </a:r>
            <a:r>
              <a:rPr lang="en-US" sz="900" b="1" dirty="0" smtClean="0">
                <a:effectLst/>
                <a:latin typeface="Calibri" panose="020F0502020204030204" pitchFamily="34" charset="0"/>
                <a:ea typeface="Calibri" panose="020F0502020204030204" pitchFamily="34" charset="0"/>
                <a:cs typeface="Times New Roman" panose="02020603050405020304" pitchFamily="18" charset="0"/>
              </a:rPr>
              <a:t>:</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Сжатие данных до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90%</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без потери точности.</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Хранение истории за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10+ лет</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без снижения производительности.</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Высокая производительность</a:t>
            </a:r>
            <a:r>
              <a:rPr lang="en-US" sz="900" b="1" dirty="0" smtClean="0">
                <a:effectLst/>
                <a:latin typeface="Calibri" panose="020F0502020204030204" pitchFamily="34" charset="0"/>
                <a:ea typeface="Calibri" panose="020F0502020204030204" pitchFamily="34" charset="0"/>
                <a:cs typeface="Times New Roman" panose="02020603050405020304" pitchFamily="18" charset="0"/>
              </a:rPr>
              <a:t>:</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Запись до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500,000 значений в секунду</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Мгновенный доступ к данным за любой период.</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Преимущества для промышленности:</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Segoe UI Symbol" panose="020B0502040204020203" pitchFamily="34" charset="0"/>
                <a:ea typeface="Calibri" panose="020F0502020204030204" pitchFamily="34" charset="0"/>
                <a:cs typeface="Segoe UI Symbol" panose="020B0502040204020203" pitchFamily="34" charset="0"/>
              </a:rPr>
              <a:t>✅</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Надёжность</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Автоматическая буферизация данных при обрывах связи.</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Резервирование и восстановление без потерь.</a:t>
            </a:r>
          </a:p>
          <a:p>
            <a:pPr>
              <a:lnSpc>
                <a:spcPct val="107000"/>
              </a:lnSpc>
              <a:spcAft>
                <a:spcPts val="800"/>
              </a:spcAft>
            </a:pPr>
            <a:r>
              <a:rPr lang="ru-RU" sz="900" dirty="0" smtClean="0">
                <a:effectLst/>
                <a:latin typeface="Segoe UI Symbol" panose="020B0502040204020203" pitchFamily="34" charset="0"/>
                <a:ea typeface="Calibri" panose="020F0502020204030204" pitchFamily="34" charset="0"/>
                <a:cs typeface="Segoe UI Symbol" panose="020B0502040204020203" pitchFamily="34" charset="0"/>
              </a:rPr>
              <a:t>✅</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Интеграция</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Совместимость с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Grafana</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Power</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 BI</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и другими инструментами.</a:t>
            </a:r>
          </a:p>
          <a:p>
            <a:pPr>
              <a:lnSpc>
                <a:spcPct val="107000"/>
              </a:lnSpc>
              <a:spcAft>
                <a:spcPts val="800"/>
              </a:spcAft>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Поддержка </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SQL-запросов</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через PI ODBC.</a:t>
            </a:r>
          </a:p>
          <a:p>
            <a:pPr>
              <a:lnSpc>
                <a:spcPct val="107000"/>
              </a:lnSpc>
              <a:spcAft>
                <a:spcPts val="800"/>
              </a:spcAft>
            </a:pP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Номер слайда 3"/>
          <p:cNvSpPr>
            <a:spLocks noGrp="1"/>
          </p:cNvSpPr>
          <p:nvPr>
            <p:ph type="sldNum" sz="quarter" idx="10"/>
          </p:nvPr>
        </p:nvSpPr>
        <p:spPr/>
        <p:txBody>
          <a:bodyPr/>
          <a:lstStyle/>
          <a:p>
            <a:fld id="{AE8D92D3-DECF-43BB-B33D-FC1A8E976108}" type="slidenum">
              <a:rPr lang="ru-RU" smtClean="0"/>
              <a:t>8</a:t>
            </a:fld>
            <a:endParaRPr lang="ru-RU" dirty="0"/>
          </a:p>
        </p:txBody>
      </p:sp>
    </p:spTree>
    <p:extLst>
      <p:ext uri="{BB962C8B-B14F-4D97-AF65-F5344CB8AC3E}">
        <p14:creationId xmlns:p14="http://schemas.microsoft.com/office/powerpoint/2010/main" val="3510670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b="1" dirty="0" err="1" smtClean="0">
                <a:effectLst/>
                <a:latin typeface="Times New Roman" panose="02020603050405020304" pitchFamily="18" charset="0"/>
                <a:ea typeface="Times New Roman" panose="02020603050405020304" pitchFamily="18" charset="0"/>
              </a:rPr>
              <a:t>Plant</a:t>
            </a:r>
            <a:r>
              <a:rPr lang="ru-RU" sz="900" b="1" dirty="0" smtClean="0">
                <a:effectLst/>
                <a:latin typeface="Times New Roman" panose="02020603050405020304" pitchFamily="18" charset="0"/>
                <a:ea typeface="Times New Roman" panose="02020603050405020304" pitchFamily="18" charset="0"/>
              </a:rPr>
              <a:t> </a:t>
            </a:r>
            <a:r>
              <a:rPr lang="ru-RU" sz="900" b="1" dirty="0" err="1" smtClean="0">
                <a:effectLst/>
                <a:latin typeface="Times New Roman" panose="02020603050405020304" pitchFamily="18" charset="0"/>
                <a:ea typeface="Times New Roman" panose="02020603050405020304" pitchFamily="18" charset="0"/>
              </a:rPr>
              <a:t>Information</a:t>
            </a:r>
            <a:r>
              <a:rPr lang="ru-RU" sz="900" b="1" dirty="0" smtClean="0">
                <a:effectLst/>
                <a:latin typeface="Times New Roman" panose="02020603050405020304" pitchFamily="18" charset="0"/>
                <a:ea typeface="Times New Roman" panose="02020603050405020304" pitchFamily="18" charset="0"/>
              </a:rPr>
              <a:t> </a:t>
            </a:r>
            <a:r>
              <a:rPr lang="ru-RU" sz="900" b="1" dirty="0" err="1" smtClean="0">
                <a:effectLst/>
                <a:latin typeface="Times New Roman" panose="02020603050405020304" pitchFamily="18" charset="0"/>
                <a:ea typeface="Times New Roman" panose="02020603050405020304" pitchFamily="18" charset="0"/>
              </a:rPr>
              <a:t>System</a:t>
            </a:r>
            <a:r>
              <a:rPr lang="ru-RU" sz="900" b="1" dirty="0" smtClean="0">
                <a:effectLst/>
                <a:latin typeface="Times New Roman" panose="02020603050405020304" pitchFamily="18" charset="0"/>
                <a:ea typeface="Times New Roman" panose="02020603050405020304" pitchFamily="18" charset="0"/>
              </a:rPr>
              <a:t> (PI </a:t>
            </a:r>
            <a:r>
              <a:rPr lang="ru-RU" sz="900" b="1" dirty="0" err="1" smtClean="0">
                <a:effectLst/>
                <a:latin typeface="Times New Roman" panose="02020603050405020304" pitchFamily="18" charset="0"/>
                <a:ea typeface="Times New Roman" panose="02020603050405020304" pitchFamily="18" charset="0"/>
              </a:rPr>
              <a:t>System</a:t>
            </a:r>
            <a:r>
              <a:rPr lang="ru-RU" sz="900" b="1" dirty="0" smtClean="0">
                <a:effectLst/>
                <a:latin typeface="Times New Roman" panose="02020603050405020304" pitchFamily="18" charset="0"/>
                <a:ea typeface="Times New Roman" panose="02020603050405020304" pitchFamily="18" charset="0"/>
              </a:rPr>
              <a:t>)</a:t>
            </a:r>
            <a:r>
              <a:rPr lang="ru-RU" sz="900" dirty="0" smtClean="0">
                <a:effectLst/>
                <a:latin typeface="Times New Roman" panose="02020603050405020304" pitchFamily="18" charset="0"/>
                <a:ea typeface="Times New Roman" panose="02020603050405020304" pitchFamily="18" charset="0"/>
              </a:rPr>
              <a:t> – комплекс программного обеспечения, обеспечивающий управление данными, включая сбор, хранение, обработку и их представление по компании, предприятиям и отдельным процессам. PI </a:t>
            </a:r>
            <a:r>
              <a:rPr lang="ru-RU" sz="900" dirty="0" err="1" smtClean="0">
                <a:effectLst/>
                <a:latin typeface="Times New Roman" panose="02020603050405020304" pitchFamily="18" charset="0"/>
                <a:ea typeface="Times New Roman" panose="02020603050405020304" pitchFamily="18" charset="0"/>
              </a:rPr>
              <a:t>System</a:t>
            </a:r>
            <a:r>
              <a:rPr lang="ru-RU" sz="900" dirty="0" smtClean="0">
                <a:effectLst/>
                <a:latin typeface="Times New Roman" panose="02020603050405020304" pitchFamily="18" charset="0"/>
                <a:ea typeface="Times New Roman" panose="02020603050405020304" pitchFamily="18" charset="0"/>
              </a:rPr>
              <a:t> состоит из следующих компонентов: </a:t>
            </a:r>
          </a:p>
          <a:p>
            <a:pPr marL="342900" lvl="0" indent="-342900">
              <a:lnSpc>
                <a:spcPct val="107000"/>
              </a:lnSpc>
              <a:spcAft>
                <a:spcPts val="800"/>
              </a:spcAft>
              <a:buSzPts val="1000"/>
              <a:buFont typeface="Symbol" panose="05050102010706020507" pitchFamily="18" charset="2"/>
              <a:buChar char=""/>
              <a:tabLst>
                <a:tab pos="457200" algn="l"/>
              </a:tabLst>
            </a:pP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Источники данных:</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программное обеспечение, генерирующее данные. Они могут быть разнообразными и подключаться к узлам интерфейса несколькими способами. Серверные приложения обработки данных PI ACE и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Totalizer</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также являются источниками данных, хотя и могут располагаться на компьютере, где установлены PI сервера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Интерфейсы:</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программное обеспечение, получающее данные от источников данных и отправляющее их на PI сервера. Каждому типу источников данных необходим соответствующий интерфейс PI, который может его интерпретировать. В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OSIsoft</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имеется более 400 различных интерфейсов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Сервера PI:</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служат для хранения данных и выступают в качестве серверов данных для клиентских приложений на основе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Microsoft</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Windows</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Server</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можно также применять для взаимодействия с данными, сохраненными во внешних системах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Серверные приложения PI:</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в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включены многие продукты так называемого среднего слоя, которые выступают в роли серверных приложений. В их число входят: PI ACE,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Notifications</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объектные базы данных PI-AF и веб-порталы на основе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Microsoft</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SharePoint</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и SAP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NetWeaver</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Клиентские приложения:</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операторы, инженеры, менеджеры и другой персонал компании используют разнообразные клиентские приложения для подключения к серверам PI и серверам приложений PI для просмотра интересующих данных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228600"/>
            <a:r>
              <a:rPr lang="en-US" sz="900" dirty="0" smtClean="0">
                <a:effectLst/>
                <a:latin typeface="Times New Roman" panose="02020603050405020304" pitchFamily="18" charset="0"/>
                <a:ea typeface="Times New Roman" panose="02020603050405020304" pitchFamily="18" charset="0"/>
              </a:rPr>
              <a:t>Pi System </a:t>
            </a:r>
            <a:r>
              <a:rPr lang="ru-RU" sz="900" dirty="0" smtClean="0">
                <a:effectLst/>
                <a:latin typeface="Times New Roman" panose="02020603050405020304" pitchFamily="18" charset="0"/>
                <a:ea typeface="Times New Roman" panose="02020603050405020304" pitchFamily="18" charset="0"/>
              </a:rPr>
              <a:t>представляет из себя систему </a:t>
            </a:r>
            <a:r>
              <a:rPr lang="en-US" sz="900" dirty="0" smtClean="0">
                <a:effectLst/>
                <a:latin typeface="Times New Roman" panose="02020603050405020304" pitchFamily="18" charset="0"/>
                <a:ea typeface="Times New Roman" panose="02020603050405020304" pitchFamily="18" charset="0"/>
              </a:rPr>
              <a:t>MES </a:t>
            </a:r>
            <a:r>
              <a:rPr lang="ru-RU" sz="900" dirty="0" smtClean="0">
                <a:effectLst/>
                <a:latin typeface="Times New Roman" panose="02020603050405020304" pitchFamily="18" charset="0"/>
                <a:ea typeface="Times New Roman" panose="02020603050405020304" pitchFamily="18" charset="0"/>
              </a:rPr>
              <a:t>уровня, необходимую для диспетчерского управления техническим процессом. Она обеспечивает сбор, хранение, анализ и визуализацию данных из таких источников, как: АСУТП, средств ручного ввода, лабораторного и интегрированного с </a:t>
            </a:r>
            <a:r>
              <a:rPr lang="en-US" sz="900" dirty="0" smtClean="0">
                <a:effectLst/>
                <a:latin typeface="Times New Roman" panose="02020603050405020304" pitchFamily="18" charset="0"/>
                <a:ea typeface="Times New Roman" panose="02020603050405020304" pitchFamily="18" charset="0"/>
              </a:rPr>
              <a:t>PI </a:t>
            </a:r>
            <a:r>
              <a:rPr lang="ru-RU" sz="900" dirty="0" smtClean="0">
                <a:effectLst/>
                <a:latin typeface="Times New Roman" panose="02020603050405020304" pitchFamily="18" charset="0"/>
                <a:ea typeface="Times New Roman" panose="02020603050405020304" pitchFamily="18" charset="0"/>
              </a:rPr>
              <a:t>программного обеспечения. На Саратовском НПЗ система представлена такими компонентами, как</a:t>
            </a:r>
            <a:r>
              <a:rPr lang="en-US" sz="900" dirty="0" smtClean="0">
                <a:effectLst/>
                <a:latin typeface="Times New Roman" panose="02020603050405020304" pitchFamily="18" charset="0"/>
                <a:ea typeface="Times New Roman" panose="02020603050405020304" pitchFamily="18" charset="0"/>
              </a:rPr>
              <a:t>:</a:t>
            </a:r>
            <a:endParaRPr lang="ru-RU" sz="900" dirty="0" smtClean="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900" b="1" dirty="0" smtClean="0">
                <a:effectLst/>
                <a:latin typeface="Times New Roman" panose="02020603050405020304" pitchFamily="18" charset="0"/>
                <a:ea typeface="Times New Roman" panose="02020603050405020304" pitchFamily="18" charset="0"/>
              </a:rPr>
              <a:t>PI Server</a:t>
            </a:r>
            <a:r>
              <a:rPr lang="en-US" sz="900" dirty="0" smtClean="0">
                <a:effectLst/>
                <a:latin typeface="Times New Roman" panose="02020603050405020304" pitchFamily="18" charset="0"/>
                <a:ea typeface="Times New Roman" panose="02020603050405020304" pitchFamily="18" charset="0"/>
              </a:rPr>
              <a:t> – </a:t>
            </a:r>
            <a:r>
              <a:rPr lang="ru-RU" sz="900" dirty="0" smtClean="0">
                <a:effectLst/>
                <a:latin typeface="Times New Roman" panose="02020603050405020304" pitchFamily="18" charset="0"/>
                <a:ea typeface="Times New Roman" panose="02020603050405020304" pitchFamily="18" charset="0"/>
              </a:rPr>
              <a:t>ядро системы</a:t>
            </a:r>
            <a:r>
              <a:rPr lang="en-US" sz="900" dirty="0" smtClean="0">
                <a:effectLst/>
                <a:latin typeface="Times New Roman" panose="02020603050405020304" pitchFamily="18" charset="0"/>
                <a:ea typeface="Times New Roman" panose="02020603050405020304" pitchFamily="18" charset="0"/>
              </a:rPr>
              <a:t> PI System. </a:t>
            </a:r>
            <a:r>
              <a:rPr lang="ru-RU" sz="900" dirty="0" smtClean="0">
                <a:effectLst/>
                <a:latin typeface="Times New Roman" panose="02020603050405020304" pitchFamily="18" charset="0"/>
                <a:ea typeface="Times New Roman" panose="02020603050405020304" pitchFamily="18" charset="0"/>
              </a:rPr>
              <a:t>Он получает данные и распределяет их в реальном времени с помощью компонентов PI </a:t>
            </a:r>
            <a:r>
              <a:rPr lang="ru-RU" sz="900" dirty="0" err="1" smtClean="0">
                <a:effectLst/>
                <a:latin typeface="Times New Roman" panose="02020603050405020304" pitchFamily="18" charset="0"/>
                <a:ea typeface="Times New Roman" panose="02020603050405020304" pitchFamily="18" charset="0"/>
              </a:rPr>
              <a:t>System</a:t>
            </a:r>
            <a:r>
              <a:rPr lang="ru-RU" sz="900" dirty="0" smtClean="0">
                <a:effectLst/>
                <a:latin typeface="Times New Roman" panose="02020603050405020304" pitchFamily="18" charset="0"/>
                <a:ea typeface="Times New Roman" panose="02020603050405020304" pitchFamily="18" charset="0"/>
              </a:rPr>
              <a:t> и всей информационной инфраструктуры. </a:t>
            </a:r>
          </a:p>
          <a:p>
            <a:pPr marL="342900" lvl="0" indent="-342900">
              <a:buFont typeface="Symbol" panose="05050102010706020507" pitchFamily="18" charset="2"/>
              <a:buChar char=""/>
            </a:pPr>
            <a:r>
              <a:rPr lang="ru-RU" sz="900" b="1" dirty="0" smtClean="0">
                <a:effectLst/>
                <a:latin typeface="Times New Roman" panose="02020603050405020304" pitchFamily="18" charset="0"/>
                <a:ea typeface="Times New Roman" panose="02020603050405020304" pitchFamily="18" charset="0"/>
              </a:rPr>
              <a:t>PI </a:t>
            </a:r>
            <a:r>
              <a:rPr lang="ru-RU" sz="900" b="1" dirty="0" err="1" smtClean="0">
                <a:effectLst/>
                <a:latin typeface="Times New Roman" panose="02020603050405020304" pitchFamily="18" charset="0"/>
                <a:ea typeface="Times New Roman" panose="02020603050405020304" pitchFamily="18" charset="0"/>
              </a:rPr>
              <a:t>Data</a:t>
            </a:r>
            <a:r>
              <a:rPr lang="ru-RU" sz="900" b="1" dirty="0" smtClean="0">
                <a:effectLst/>
                <a:latin typeface="Times New Roman" panose="02020603050405020304" pitchFamily="18" charset="0"/>
                <a:ea typeface="Times New Roman" panose="02020603050405020304" pitchFamily="18" charset="0"/>
              </a:rPr>
              <a:t> </a:t>
            </a:r>
            <a:r>
              <a:rPr lang="ru-RU" sz="900" b="1" dirty="0" err="1" smtClean="0">
                <a:effectLst/>
                <a:latin typeface="Times New Roman" panose="02020603050405020304" pitchFamily="18" charset="0"/>
                <a:ea typeface="Times New Roman" panose="02020603050405020304" pitchFamily="18" charset="0"/>
              </a:rPr>
              <a:t>Archive</a:t>
            </a:r>
            <a:r>
              <a:rPr lang="ru-RU" sz="900" b="1" dirty="0" smtClean="0">
                <a:effectLst/>
                <a:latin typeface="Times New Roman" panose="02020603050405020304" pitchFamily="18" charset="0"/>
                <a:ea typeface="Times New Roman" panose="02020603050405020304" pitchFamily="18" charset="0"/>
              </a:rPr>
              <a:t> </a:t>
            </a:r>
            <a:r>
              <a:rPr lang="ru-RU" sz="900" dirty="0" smtClean="0">
                <a:effectLst/>
                <a:latin typeface="Times New Roman" panose="02020603050405020304" pitchFamily="18" charset="0"/>
                <a:ea typeface="Times New Roman" panose="02020603050405020304" pitchFamily="18" charset="0"/>
              </a:rPr>
              <a:t>– специализированная БД для хранения данных временных рядов, с уникальным алгоритмом сжатия и скоростью восстановления данных. PI </a:t>
            </a:r>
            <a:r>
              <a:rPr lang="ru-RU" sz="900" dirty="0" err="1" smtClean="0">
                <a:effectLst/>
                <a:latin typeface="Times New Roman" panose="02020603050405020304" pitchFamily="18" charset="0"/>
                <a:ea typeface="Times New Roman" panose="02020603050405020304" pitchFamily="18" charset="0"/>
              </a:rPr>
              <a:t>Data</a:t>
            </a:r>
            <a:r>
              <a:rPr lang="ru-RU" sz="900" dirty="0" smtClean="0">
                <a:effectLst/>
                <a:latin typeface="Times New Roman" panose="02020603050405020304" pitchFamily="18" charset="0"/>
                <a:ea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rPr>
              <a:t>Archive</a:t>
            </a:r>
            <a:r>
              <a:rPr lang="ru-RU" sz="900" dirty="0" smtClean="0">
                <a:effectLst/>
                <a:latin typeface="Times New Roman" panose="02020603050405020304" pitchFamily="18" charset="0"/>
                <a:ea typeface="Times New Roman" panose="02020603050405020304" pitchFamily="18" charset="0"/>
              </a:rPr>
              <a:t> был специально спроектирован для обработки и хранения данных реального времени и, в отличие от реляционных хранилищ, является базой данных временных рядов. Благодаря этому он легко масштабируется и может хранить огромное количество точных, согласованных производственных данных за много лет, с разрешением времени вплоть до микросекунд, доступных оперативно и без потери точности. </a:t>
            </a:r>
          </a:p>
          <a:p>
            <a:pPr marL="342900" lvl="0" indent="-342900">
              <a:buFont typeface="Symbol" panose="05050102010706020507" pitchFamily="18" charset="2"/>
              <a:buChar char=""/>
            </a:pPr>
            <a:r>
              <a:rPr lang="ru-RU" sz="900" b="1" dirty="0" smtClean="0">
                <a:effectLst/>
                <a:latin typeface="Times New Roman" panose="02020603050405020304" pitchFamily="18" charset="0"/>
                <a:ea typeface="Times New Roman" panose="02020603050405020304" pitchFamily="18" charset="0"/>
              </a:rPr>
              <a:t>PI A</a:t>
            </a:r>
            <a:r>
              <a:rPr lang="en-US" sz="900" b="1" dirty="0" err="1" smtClean="0">
                <a:effectLst/>
                <a:latin typeface="Times New Roman" panose="02020603050405020304" pitchFamily="18" charset="0"/>
                <a:ea typeface="Times New Roman" panose="02020603050405020304" pitchFamily="18" charset="0"/>
              </a:rPr>
              <a:t>sset</a:t>
            </a:r>
            <a:r>
              <a:rPr lang="ru-RU" sz="900" b="1" dirty="0" smtClean="0">
                <a:effectLst/>
                <a:latin typeface="Times New Roman" panose="02020603050405020304" pitchFamily="18" charset="0"/>
                <a:ea typeface="Times New Roman" panose="02020603050405020304" pitchFamily="18" charset="0"/>
              </a:rPr>
              <a:t> F</a:t>
            </a:r>
            <a:r>
              <a:rPr lang="en-US" sz="900" b="1" dirty="0" err="1" smtClean="0">
                <a:effectLst/>
                <a:latin typeface="Times New Roman" panose="02020603050405020304" pitchFamily="18" charset="0"/>
                <a:ea typeface="Times New Roman" panose="02020603050405020304" pitchFamily="18" charset="0"/>
              </a:rPr>
              <a:t>ramework</a:t>
            </a:r>
            <a:r>
              <a:rPr lang="ru-RU" sz="900" b="1" dirty="0" smtClean="0">
                <a:effectLst/>
                <a:latin typeface="Times New Roman" panose="02020603050405020304" pitchFamily="18" charset="0"/>
                <a:ea typeface="Times New Roman" panose="02020603050405020304" pitchFamily="18" charset="0"/>
              </a:rPr>
              <a:t> (</a:t>
            </a:r>
            <a:r>
              <a:rPr lang="en-US" sz="900" b="1" dirty="0" smtClean="0">
                <a:effectLst/>
                <a:latin typeface="Times New Roman" panose="02020603050405020304" pitchFamily="18" charset="0"/>
                <a:ea typeface="Times New Roman" panose="02020603050405020304" pitchFamily="18" charset="0"/>
              </a:rPr>
              <a:t>AF</a:t>
            </a:r>
            <a:r>
              <a:rPr lang="ru-RU" sz="900" b="1" dirty="0" smtClean="0">
                <a:effectLst/>
                <a:latin typeface="Times New Roman" panose="02020603050405020304" pitchFamily="18" charset="0"/>
                <a:ea typeface="Times New Roman" panose="02020603050405020304" pitchFamily="18" charset="0"/>
              </a:rPr>
              <a:t>)</a:t>
            </a:r>
            <a:r>
              <a:rPr lang="ru-RU" sz="900" dirty="0" smtClean="0">
                <a:effectLst/>
                <a:latin typeface="Times New Roman" panose="02020603050405020304" pitchFamily="18" charset="0"/>
                <a:ea typeface="Times New Roman" panose="02020603050405020304" pitchFamily="18" charset="0"/>
              </a:rPr>
              <a:t> – инструмент для создания организационных и технологических моделей и схем производства, состоящих из элементов и их взаимосвязей и взаимозависимостей. Элементы модели представляют собой как физическое оборудование (резервуары, теплообменники, смесители, измерители и т.д.), так и более абстрактные логические конструкции (эффективность, экология и т.д.). Разработанная модель позволяет включить в себя организационно-технологическую структуру предприятия, логику его функционирования, принципы контекстно-зависимого представления данных о производственном процессе. Основываясь на единой модели, доступной любым приложениям PI </a:t>
            </a:r>
            <a:r>
              <a:rPr lang="ru-RU" sz="900" dirty="0" err="1" smtClean="0">
                <a:effectLst/>
                <a:latin typeface="Times New Roman" panose="02020603050405020304" pitchFamily="18" charset="0"/>
                <a:ea typeface="Times New Roman" panose="02020603050405020304" pitchFamily="18" charset="0"/>
              </a:rPr>
              <a:t>System</a:t>
            </a:r>
            <a:r>
              <a:rPr lang="ru-RU" sz="900" dirty="0" smtClean="0">
                <a:effectLst/>
                <a:latin typeface="Times New Roman" panose="02020603050405020304" pitchFamily="18" charset="0"/>
                <a:ea typeface="Times New Roman" panose="02020603050405020304" pitchFamily="18" charset="0"/>
              </a:rPr>
              <a:t>, можно проводить различного рода анализ, обработку и представление информации о производстве, поступающую в реальном времени. Например, согласование технологических данных, расчет эффективности, анализ простоев технологического оборудования.</a:t>
            </a:r>
          </a:p>
          <a:p>
            <a:pPr marL="342900" lvl="0" indent="-342900">
              <a:lnSpc>
                <a:spcPct val="107000"/>
              </a:lnSpc>
              <a:spcAft>
                <a:spcPts val="800"/>
              </a:spcAft>
              <a:buFont typeface="Symbol" panose="05050102010706020507" pitchFamily="18" charset="2"/>
              <a:buChar char=""/>
            </a:pP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PI </a:t>
            </a:r>
            <a:r>
              <a:rPr lang="ru-RU" sz="900" b="1"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b="1"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основное клиентское приложение в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для разработки графического интерфейса пользователя, основанного на мнемосхемах, трендах, объединяющих и структурирующих всю производственную информацию, необходимую для быстрого и эффективного принятия решений. Приложение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содержит одну или более книг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представляющих собой наборы "записей отображений". Запись отображения в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может содержать данные из следующих источников (по отдельности или одновременно):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Архивы данных PI на одном или нескольких серверах, в том числе данных, поступающих от тегов измерения и расчетных данных</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Другие базы данных, поддерживающие ODBC.</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Электронные таблицы, документы, схемы, графики, фотографии и другие приложения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Windows</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подключаемые через OLE и встраиванием</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Процедуры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Visual</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Basic</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for</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С помощью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можно создавать графические мнемосхемы, содержащие текущие и архивные данные о производственном процессе, включая специализированные инструменты для быстрой оценки состояния производства всеми сотрудниками. Инструменты рисования и возможность встраивать тренды текущих и архивных данных дают пользователям всего предприятия невероятно богатое и ясное представление о производственных процессах.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Microsoft</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Visual</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Basic</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for</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Applications</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(VBA), встроенный в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позволяет строить экраны для любых частей производственного процесса. </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49580">
              <a:lnSpc>
                <a:spcPct val="107000"/>
              </a:lnSpc>
              <a:spcAft>
                <a:spcPts val="800"/>
              </a:spcAft>
            </a:pP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позволяет отображать данные из любой системы, работающей в сфере бизнеса и управления операциями. В среде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легко обработать и проанализировать данные, построить тренд. Экраны PI </a:t>
            </a:r>
            <a:r>
              <a:rPr lang="ru-RU" sz="9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ProcessBook</a:t>
            </a:r>
            <a:r>
              <a:rPr lang="ru-RU" sz="900" dirty="0" smtClean="0">
                <a:effectLst/>
                <a:latin typeface="Times New Roman" panose="02020603050405020304" pitchFamily="18" charset="0"/>
                <a:ea typeface="Times New Roman" panose="02020603050405020304" pitchFamily="18" charset="0"/>
                <a:cs typeface="Times New Roman" panose="02020603050405020304" pitchFamily="18" charset="0"/>
              </a:rPr>
              <a:t> могут быть связаны друг с другом для мгновенного доступа к дополнительным данным, позволяя вам быстро обнаруживать производственные проблемы.</a:t>
            </a:r>
            <a:endParaRPr lang="ru-RU" sz="8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9</a:t>
            </a:fld>
            <a:endParaRPr lang="ru-RU" dirty="0"/>
          </a:p>
        </p:txBody>
      </p:sp>
    </p:spTree>
    <p:extLst>
      <p:ext uri="{BB962C8B-B14F-4D97-AF65-F5344CB8AC3E}">
        <p14:creationId xmlns:p14="http://schemas.microsoft.com/office/powerpoint/2010/main" val="1546296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PI </a:t>
            </a:r>
            <a:r>
              <a:rPr lang="ru-RU" sz="900" b="1" dirty="0" err="1" smtClean="0">
                <a:effectLst/>
                <a:latin typeface="Calibri" panose="020F0502020204030204" pitchFamily="34" charset="0"/>
                <a:ea typeface="Calibri" panose="020F0502020204030204" pitchFamily="34" charset="0"/>
                <a:cs typeface="Times New Roman" panose="02020603050405020304" pitchFamily="18" charset="0"/>
              </a:rPr>
              <a:t>System</a:t>
            </a: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 помогает решать ключевые задачи на производстве:</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Контроль производственных процессов</a:t>
            </a:r>
          </a:p>
          <a:p>
            <a:pPr marL="171450" indent="-171450">
              <a:lnSpc>
                <a:spcPct val="107000"/>
              </a:lnSpc>
              <a:spcAft>
                <a:spcPts val="800"/>
              </a:spcAft>
              <a:buFont typeface="Arial" panose="020B0604020202020204" pitchFamily="34" charset="0"/>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Система непрерывно отслеживает параметры (температуру, давление, расход).</a:t>
            </a:r>
          </a:p>
          <a:p>
            <a:pPr marL="171450" indent="-171450">
              <a:lnSpc>
                <a:spcPct val="107000"/>
              </a:lnSpc>
              <a:spcAft>
                <a:spcPts val="800"/>
              </a:spcAft>
              <a:buFont typeface="Arial" panose="020B0604020202020204" pitchFamily="34" charset="0"/>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Пример: Если температура в котле выходит за допустимые пределы, PI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System</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сразу отправляет предупреждение.</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Автоматические расчеты</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PI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System</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автоматически рассчитывает важные показатели, такие как:</a:t>
            </a:r>
          </a:p>
          <a:p>
            <a:pPr marL="342900" lvl="0" indent="-342900">
              <a:lnSpc>
                <a:spcPct val="107000"/>
              </a:lnSpc>
              <a:spcAft>
                <a:spcPts val="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Баланс массы сырья и продуктов.</a:t>
            </a:r>
          </a:p>
          <a:p>
            <a:pPr marL="342900" lvl="0" indent="-342900">
              <a:lnSpc>
                <a:spcPct val="107000"/>
              </a:lnSpc>
              <a:spcAft>
                <a:spcPts val="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Энергопотребление оборудования.</a:t>
            </a:r>
          </a:p>
          <a:p>
            <a:pPr marL="342900" lvl="0" indent="-342900">
              <a:lnSpc>
                <a:spcPct val="107000"/>
              </a:lnSpc>
              <a:spcAft>
                <a:spcPts val="80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KPI (ключевые показатели эффективности) установок.</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Снижение аварийности</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0"/>
              </a:spcAft>
              <a:buFont typeface="Symbol" panose="05050102010706020507" pitchFamily="18" charset="2"/>
              <a:buNone/>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Анализ данных позволяет предсказать возможные проблемы, например:</a:t>
            </a:r>
          </a:p>
          <a:p>
            <a:pPr marL="342900" lvl="0" indent="-342900">
              <a:lnSpc>
                <a:spcPct val="107000"/>
              </a:lnSpc>
              <a:spcAft>
                <a:spcPts val="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Износ оборудования.</a:t>
            </a:r>
          </a:p>
          <a:p>
            <a:pPr marL="342900" lvl="0" indent="-342900">
              <a:lnSpc>
                <a:spcPct val="107000"/>
              </a:lnSpc>
              <a:spcAft>
                <a:spcPts val="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Риск аварийных ситуаций.</a:t>
            </a:r>
          </a:p>
          <a:p>
            <a:pPr marL="342900" lvl="0" indent="-342900">
              <a:lnSpc>
                <a:spcPct val="107000"/>
              </a:lnSpc>
              <a:spcAft>
                <a:spcPts val="80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Это помогает предотвратить простои и снизить затраты на ремонт.</a:t>
            </a:r>
          </a:p>
          <a:p>
            <a:pPr>
              <a:lnSpc>
                <a:spcPct val="107000"/>
              </a:lnSpc>
              <a:spcAft>
                <a:spcPts val="800"/>
              </a:spcAft>
            </a:pPr>
            <a:r>
              <a:rPr lang="ru-RU" sz="900" b="1" dirty="0" smtClean="0">
                <a:effectLst/>
                <a:latin typeface="Calibri" panose="020F0502020204030204" pitchFamily="34" charset="0"/>
                <a:ea typeface="Calibri" panose="020F0502020204030204" pitchFamily="34" charset="0"/>
                <a:cs typeface="Times New Roman" panose="02020603050405020304" pitchFamily="18" charset="0"/>
              </a:rPr>
              <a:t>Отчеты без ручной работы</a:t>
            </a:r>
            <a:endParaRPr lang="ru-RU" sz="9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Инженеры больше не тратят время на ручной сбор данных.</a:t>
            </a:r>
          </a:p>
          <a:p>
            <a:pPr marL="342900" lvl="0" indent="-342900">
              <a:lnSpc>
                <a:spcPct val="107000"/>
              </a:lnSpc>
              <a:spcAft>
                <a:spcPts val="800"/>
              </a:spcAft>
              <a:buFont typeface="Symbol" panose="05050102010706020507" pitchFamily="18" charset="2"/>
              <a:buChar char=""/>
            </a:pP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С помощью PI </a:t>
            </a:r>
            <a:r>
              <a:rPr lang="ru-RU" sz="900" dirty="0" err="1" smtClean="0">
                <a:effectLst/>
                <a:latin typeface="Calibri" panose="020F0502020204030204" pitchFamily="34" charset="0"/>
                <a:ea typeface="Calibri" panose="020F0502020204030204" pitchFamily="34" charset="0"/>
                <a:cs typeface="Times New Roman" panose="02020603050405020304" pitchFamily="18" charset="0"/>
              </a:rPr>
              <a:t>DataLink</a:t>
            </a:r>
            <a:r>
              <a:rPr lang="ru-RU" sz="900" dirty="0" smtClean="0">
                <a:effectLst/>
                <a:latin typeface="Calibri" panose="020F0502020204030204" pitchFamily="34" charset="0"/>
                <a:ea typeface="Calibri" panose="020F0502020204030204" pitchFamily="34" charset="0"/>
                <a:cs typeface="Times New Roman" panose="02020603050405020304" pitchFamily="18" charset="0"/>
              </a:rPr>
              <a:t> отчеты создаются автоматически, что экономит время и снижает вероятность ошибок.</a:t>
            </a: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10</a:t>
            </a:fld>
            <a:endParaRPr lang="ru-RU" dirty="0"/>
          </a:p>
        </p:txBody>
      </p:sp>
    </p:spTree>
    <p:extLst>
      <p:ext uri="{BB962C8B-B14F-4D97-AF65-F5344CB8AC3E}">
        <p14:creationId xmlns:p14="http://schemas.microsoft.com/office/powerpoint/2010/main" val="2133626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Для разработки, администрирования и поддержки решений на базе PI </a:t>
            </a:r>
            <a:r>
              <a:rPr lang="ru-RU" dirty="0" err="1" smtClean="0"/>
              <a:t>System</a:t>
            </a:r>
            <a:r>
              <a:rPr lang="ru-RU" dirty="0" smtClean="0"/>
              <a:t> мы используем следующие технологии и инструменты:</a:t>
            </a:r>
          </a:p>
          <a:p>
            <a:endParaRPr lang="ru-RU" dirty="0" smtClean="0"/>
          </a:p>
          <a:p>
            <a:r>
              <a:rPr lang="ru-RU" b="1" dirty="0" smtClean="0"/>
              <a:t>C#</a:t>
            </a:r>
            <a:r>
              <a:rPr lang="en-US" b="1" dirty="0" smtClean="0"/>
              <a:t>,Python</a:t>
            </a:r>
            <a:r>
              <a:rPr lang="ru-RU" b="1" dirty="0" smtClean="0"/>
              <a:t>, </a:t>
            </a:r>
            <a:r>
              <a:rPr lang="ru-RU" b="1" dirty="0" err="1" smtClean="0"/>
              <a:t>VB.Net</a:t>
            </a:r>
            <a:r>
              <a:rPr lang="ru-RU" dirty="0" smtClean="0"/>
              <a:t>:</a:t>
            </a:r>
          </a:p>
          <a:p>
            <a:r>
              <a:rPr lang="ru-RU" dirty="0" smtClean="0"/>
              <a:t>Основные языки программирования для создания приложений, интеграции и автоматизации процессов.</a:t>
            </a:r>
          </a:p>
          <a:p>
            <a:r>
              <a:rPr lang="ru-RU" dirty="0" smtClean="0"/>
              <a:t>Пример: Разработка скриптов для обработки данных или интеграции PI </a:t>
            </a:r>
            <a:r>
              <a:rPr lang="ru-RU" dirty="0" err="1" smtClean="0"/>
              <a:t>System</a:t>
            </a:r>
            <a:r>
              <a:rPr lang="ru-RU" dirty="0" smtClean="0"/>
              <a:t> с другими системами.</a:t>
            </a:r>
          </a:p>
          <a:p>
            <a:endParaRPr lang="ru-RU" dirty="0" smtClean="0"/>
          </a:p>
          <a:p>
            <a:r>
              <a:rPr lang="ru-RU" b="1" dirty="0" smtClean="0"/>
              <a:t>.</a:t>
            </a:r>
            <a:r>
              <a:rPr lang="ru-RU" b="1" dirty="0" err="1" smtClean="0"/>
              <a:t>Net</a:t>
            </a:r>
            <a:r>
              <a:rPr lang="ru-RU" b="1" dirty="0" smtClean="0"/>
              <a:t> </a:t>
            </a:r>
            <a:r>
              <a:rPr lang="ru-RU" b="1" dirty="0" err="1" smtClean="0"/>
              <a:t>Framework</a:t>
            </a:r>
            <a:r>
              <a:rPr lang="ru-RU" dirty="0" smtClean="0"/>
              <a:t>:</a:t>
            </a:r>
          </a:p>
          <a:p>
            <a:r>
              <a:rPr lang="ru-RU" dirty="0" smtClean="0"/>
              <a:t>Платформа для разработки надежных и производительных приложений.</a:t>
            </a:r>
          </a:p>
          <a:p>
            <a:r>
              <a:rPr lang="ru-RU" dirty="0" smtClean="0"/>
              <a:t>Пример: Создание для работы с данными.</a:t>
            </a:r>
          </a:p>
          <a:p>
            <a:endParaRPr lang="ru-RU" dirty="0" smtClean="0"/>
          </a:p>
          <a:p>
            <a:r>
              <a:rPr lang="ru-RU" b="1" dirty="0" smtClean="0"/>
              <a:t>SQL и SQL </a:t>
            </a:r>
            <a:r>
              <a:rPr lang="ru-RU" b="1" dirty="0" err="1" smtClean="0"/>
              <a:t>Server</a:t>
            </a:r>
            <a:r>
              <a:rPr lang="ru-RU" dirty="0" smtClean="0"/>
              <a:t>:</a:t>
            </a:r>
          </a:p>
          <a:p>
            <a:r>
              <a:rPr lang="ru-RU" dirty="0" smtClean="0"/>
              <a:t>Для работы с базами данных, хранения и анализа информации.</a:t>
            </a:r>
          </a:p>
          <a:p>
            <a:r>
              <a:rPr lang="ru-RU" dirty="0" smtClean="0"/>
              <a:t>Пример: Настройка и оптимизация баз данных, выполнение сложных запросов.</a:t>
            </a:r>
          </a:p>
          <a:p>
            <a:endParaRPr lang="ru-RU" dirty="0" smtClean="0"/>
          </a:p>
          <a:p>
            <a:r>
              <a:rPr lang="ru-RU" b="1" dirty="0" err="1" smtClean="0"/>
              <a:t>Visual</a:t>
            </a:r>
            <a:r>
              <a:rPr lang="ru-RU" b="1" dirty="0" smtClean="0"/>
              <a:t> </a:t>
            </a:r>
            <a:r>
              <a:rPr lang="ru-RU" b="1" dirty="0" err="1" smtClean="0"/>
              <a:t>Studio</a:t>
            </a:r>
            <a:r>
              <a:rPr lang="ru-RU" dirty="0" smtClean="0"/>
              <a:t>:</a:t>
            </a:r>
          </a:p>
          <a:p>
            <a:r>
              <a:rPr lang="ru-RU" dirty="0" smtClean="0"/>
              <a:t>Основная среда разработки для создания, тестирования и отладки приложений.</a:t>
            </a:r>
          </a:p>
          <a:p>
            <a:r>
              <a:rPr lang="ru-RU" dirty="0" smtClean="0"/>
              <a:t>Пример: Разработка модулей для PI </a:t>
            </a:r>
            <a:r>
              <a:rPr lang="ru-RU" dirty="0" err="1" smtClean="0"/>
              <a:t>System</a:t>
            </a:r>
            <a:r>
              <a:rPr lang="ru-RU" dirty="0" smtClean="0"/>
              <a:t> или интеграционных решений.</a:t>
            </a:r>
          </a:p>
          <a:p>
            <a:endParaRPr lang="ru-RU" dirty="0" smtClean="0"/>
          </a:p>
          <a:p>
            <a:r>
              <a:rPr lang="en-US" b="1" dirty="0" smtClean="0"/>
              <a:t>IIS</a:t>
            </a:r>
            <a:r>
              <a:rPr lang="en-US" b="1" baseline="0" dirty="0" smtClean="0"/>
              <a:t>:</a:t>
            </a:r>
            <a:endParaRPr lang="en-US" baseline="0" dirty="0" smtClean="0"/>
          </a:p>
          <a:p>
            <a:r>
              <a:rPr lang="ru-RU" sz="900" b="1" kern="1200" dirty="0" smtClean="0">
                <a:solidFill>
                  <a:schemeClr val="tx1"/>
                </a:solidFill>
                <a:effectLst/>
                <a:latin typeface="+mn-lt"/>
                <a:ea typeface="+mn-ea"/>
                <a:cs typeface="+mn-cs"/>
              </a:rPr>
              <a:t>IIS (</a:t>
            </a:r>
            <a:r>
              <a:rPr lang="ru-RU" sz="900" b="1" kern="1200" dirty="0" err="1" smtClean="0">
                <a:solidFill>
                  <a:schemeClr val="tx1"/>
                </a:solidFill>
                <a:effectLst/>
                <a:latin typeface="+mn-lt"/>
                <a:ea typeface="+mn-ea"/>
                <a:cs typeface="+mn-cs"/>
              </a:rPr>
              <a:t>Internet</a:t>
            </a:r>
            <a:r>
              <a:rPr lang="ru-RU" sz="900" b="1" kern="1200" dirty="0" smtClean="0">
                <a:solidFill>
                  <a:schemeClr val="tx1"/>
                </a:solidFill>
                <a:effectLst/>
                <a:latin typeface="+mn-lt"/>
                <a:ea typeface="+mn-ea"/>
                <a:cs typeface="+mn-cs"/>
              </a:rPr>
              <a:t> </a:t>
            </a:r>
            <a:r>
              <a:rPr lang="ru-RU" sz="900" b="1" kern="1200" dirty="0" err="1" smtClean="0">
                <a:solidFill>
                  <a:schemeClr val="tx1"/>
                </a:solidFill>
                <a:effectLst/>
                <a:latin typeface="+mn-lt"/>
                <a:ea typeface="+mn-ea"/>
                <a:cs typeface="+mn-cs"/>
              </a:rPr>
              <a:t>Information</a:t>
            </a:r>
            <a:r>
              <a:rPr lang="ru-RU" sz="900" b="1" kern="1200" dirty="0" smtClean="0">
                <a:solidFill>
                  <a:schemeClr val="tx1"/>
                </a:solidFill>
                <a:effectLst/>
                <a:latin typeface="+mn-lt"/>
                <a:ea typeface="+mn-ea"/>
                <a:cs typeface="+mn-cs"/>
              </a:rPr>
              <a:t> </a:t>
            </a:r>
            <a:r>
              <a:rPr lang="ru-RU" sz="900" b="1" kern="1200" dirty="0" err="1" smtClean="0">
                <a:solidFill>
                  <a:schemeClr val="tx1"/>
                </a:solidFill>
                <a:effectLst/>
                <a:latin typeface="+mn-lt"/>
                <a:ea typeface="+mn-ea"/>
                <a:cs typeface="+mn-cs"/>
              </a:rPr>
              <a:t>Services</a:t>
            </a:r>
            <a:r>
              <a:rPr lang="ru-RU" sz="900" b="1" kern="1200" dirty="0" smtClean="0">
                <a:solidFill>
                  <a:schemeClr val="tx1"/>
                </a:solidFill>
                <a:effectLst/>
                <a:latin typeface="+mn-lt"/>
                <a:ea typeface="+mn-ea"/>
                <a:cs typeface="+mn-cs"/>
              </a:rPr>
              <a:t>)</a:t>
            </a:r>
            <a:r>
              <a:rPr lang="ru-RU" sz="900" b="0" kern="1200" dirty="0" smtClean="0">
                <a:solidFill>
                  <a:schemeClr val="tx1"/>
                </a:solidFill>
                <a:effectLst/>
                <a:latin typeface="+mn-lt"/>
                <a:ea typeface="+mn-ea"/>
                <a:cs typeface="+mn-cs"/>
              </a:rPr>
              <a:t> — это </a:t>
            </a:r>
            <a:r>
              <a:rPr lang="ru-RU" sz="900" b="1" kern="1200" dirty="0" smtClean="0">
                <a:solidFill>
                  <a:schemeClr val="tx1"/>
                </a:solidFill>
                <a:effectLst/>
                <a:latin typeface="+mn-lt"/>
                <a:ea typeface="+mn-ea"/>
                <a:cs typeface="+mn-cs"/>
              </a:rPr>
              <a:t>веб-сервер</a:t>
            </a:r>
            <a:r>
              <a:rPr lang="ru-RU" sz="900" b="0" kern="1200" dirty="0" smtClean="0">
                <a:solidFill>
                  <a:schemeClr val="tx1"/>
                </a:solidFill>
                <a:effectLst/>
                <a:latin typeface="+mn-lt"/>
                <a:ea typeface="+mn-ea"/>
                <a:cs typeface="+mn-cs"/>
              </a:rPr>
              <a:t>, разработанный компанией </a:t>
            </a:r>
            <a:r>
              <a:rPr lang="ru-RU" sz="900" b="0" kern="1200" dirty="0" err="1" smtClean="0">
                <a:solidFill>
                  <a:schemeClr val="tx1"/>
                </a:solidFill>
                <a:effectLst/>
                <a:latin typeface="+mn-lt"/>
                <a:ea typeface="+mn-ea"/>
                <a:cs typeface="+mn-cs"/>
              </a:rPr>
              <a:t>Microsoft</a:t>
            </a:r>
            <a:r>
              <a:rPr lang="ru-RU" sz="900" b="0" kern="1200" dirty="0" smtClean="0">
                <a:solidFill>
                  <a:schemeClr val="tx1"/>
                </a:solidFill>
                <a:effectLst/>
                <a:latin typeface="+mn-lt"/>
                <a:ea typeface="+mn-ea"/>
                <a:cs typeface="+mn-cs"/>
              </a:rPr>
              <a:t> для своих операционных систем.</a:t>
            </a:r>
            <a:endParaRPr lang="en-US" dirty="0" smtClean="0"/>
          </a:p>
          <a:p>
            <a:endParaRPr lang="en-US" dirty="0" smtClean="0"/>
          </a:p>
          <a:p>
            <a:r>
              <a:rPr lang="ru-RU" b="1" dirty="0" smtClean="0"/>
              <a:t>Дополнительные технологии (упоминаем без деталей):</a:t>
            </a:r>
          </a:p>
          <a:p>
            <a:pPr marL="171450" indent="-171450">
              <a:buFont typeface="Arial" panose="020B0604020202020204" pitchFamily="34" charset="0"/>
              <a:buChar char="•"/>
            </a:pPr>
            <a:r>
              <a:rPr lang="ru-RU" i="1" dirty="0" err="1" smtClean="0"/>
              <a:t>Grafana</a:t>
            </a:r>
            <a:r>
              <a:rPr lang="ru-RU" dirty="0" smtClean="0"/>
              <a:t> – визуализация данных</a:t>
            </a:r>
          </a:p>
          <a:p>
            <a:pPr marL="171450" indent="-171450">
              <a:buFont typeface="Arial" panose="020B0604020202020204" pitchFamily="34" charset="0"/>
              <a:buChar char="•"/>
            </a:pPr>
            <a:r>
              <a:rPr lang="ru-RU" i="1" dirty="0" err="1" smtClean="0"/>
              <a:t>Apache</a:t>
            </a:r>
            <a:r>
              <a:rPr lang="ru-RU" i="1" dirty="0" smtClean="0"/>
              <a:t> </a:t>
            </a:r>
            <a:r>
              <a:rPr lang="ru-RU" i="1" dirty="0" err="1" smtClean="0"/>
              <a:t>Kafka</a:t>
            </a:r>
            <a:r>
              <a:rPr lang="ru-RU" dirty="0" smtClean="0"/>
              <a:t> – потоковая обработка</a:t>
            </a:r>
          </a:p>
          <a:p>
            <a:pPr marL="171450" indent="-171450">
              <a:buFont typeface="Arial" panose="020B0604020202020204" pitchFamily="34" charset="0"/>
              <a:buChar char="•"/>
            </a:pPr>
            <a:r>
              <a:rPr lang="ru-RU" i="1" dirty="0" err="1" smtClean="0"/>
              <a:t>Apache</a:t>
            </a:r>
            <a:r>
              <a:rPr lang="ru-RU" i="1" dirty="0" smtClean="0"/>
              <a:t> </a:t>
            </a:r>
            <a:r>
              <a:rPr lang="ru-RU" i="1" dirty="0" err="1" smtClean="0"/>
              <a:t>Airflow</a:t>
            </a:r>
            <a:r>
              <a:rPr lang="ru-RU" dirty="0" smtClean="0"/>
              <a:t> – </a:t>
            </a:r>
            <a:r>
              <a:rPr lang="ru-RU" dirty="0" err="1" smtClean="0"/>
              <a:t>оркестрация</a:t>
            </a:r>
            <a:r>
              <a:rPr lang="ru-RU" dirty="0" smtClean="0"/>
              <a:t> задач</a:t>
            </a:r>
          </a:p>
          <a:p>
            <a:pPr marL="171450" indent="-171450">
              <a:buFont typeface="Arial" panose="020B0604020202020204" pitchFamily="34" charset="0"/>
              <a:buChar char="•"/>
            </a:pPr>
            <a:r>
              <a:rPr lang="ru-RU" i="1" dirty="0" err="1" smtClean="0"/>
              <a:t>Keycloak</a:t>
            </a:r>
            <a:r>
              <a:rPr lang="ru-RU" dirty="0" smtClean="0"/>
              <a:t> – управление доступом</a:t>
            </a:r>
          </a:p>
          <a:p>
            <a:pPr marL="171450" indent="-171450">
              <a:buFont typeface="Arial" panose="020B0604020202020204" pitchFamily="34" charset="0"/>
              <a:buChar char="•"/>
            </a:pPr>
            <a:r>
              <a:rPr lang="en-US" dirty="0" smtClean="0"/>
              <a:t>Prometheus –</a:t>
            </a:r>
            <a:r>
              <a:rPr lang="ru-RU" dirty="0" smtClean="0"/>
              <a:t>БДРВ</a:t>
            </a:r>
            <a:r>
              <a:rPr lang="ru-RU" baseline="0" dirty="0" smtClean="0"/>
              <a:t> для ТИС-Переработки.</a:t>
            </a:r>
            <a:endParaRPr lang="ru-RU" dirty="0" smtClean="0"/>
          </a:p>
          <a:p>
            <a:endParaRPr lang="ru-R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b="1" dirty="0" smtClean="0"/>
              <a:t>Требования к знаниям</a:t>
            </a:r>
          </a:p>
          <a:p>
            <a:r>
              <a:rPr lang="ru-RU" i="1" dirty="0" smtClean="0"/>
              <a:t>«Желательные навыки кандидата»</a:t>
            </a:r>
            <a:endParaRPr lang="ru-RU" dirty="0" smtClean="0"/>
          </a:p>
          <a:p>
            <a:pPr marL="171450" indent="-171450">
              <a:buFont typeface="Arial" panose="020B0604020202020204" pitchFamily="34" charset="0"/>
              <a:buChar char="•"/>
            </a:pPr>
            <a:r>
              <a:rPr lang="ru-RU" dirty="0" smtClean="0"/>
              <a:t>Базовый SQL (SELECT, JOIN, агрегатные функции).</a:t>
            </a:r>
          </a:p>
          <a:p>
            <a:pPr marL="171450" indent="-171450">
              <a:buFont typeface="Arial" panose="020B0604020202020204" pitchFamily="34" charset="0"/>
              <a:buChar char="•"/>
            </a:pPr>
            <a:r>
              <a:rPr lang="ru-RU" dirty="0" smtClean="0"/>
              <a:t>Опыт работы с C# или VB.NET (написание скриптов).</a:t>
            </a:r>
          </a:p>
          <a:p>
            <a:pPr marL="171450" indent="-171450">
              <a:buFont typeface="Arial" panose="020B0604020202020204" pitchFamily="34" charset="0"/>
              <a:buChar char="•"/>
            </a:pPr>
            <a:r>
              <a:rPr lang="ru-RU" dirty="0" smtClean="0"/>
              <a:t>Понимание принципов работы с API.</a:t>
            </a:r>
          </a:p>
          <a:p>
            <a:pPr marL="171450" indent="-171450">
              <a:buFont typeface="Arial" panose="020B0604020202020204" pitchFamily="34" charset="0"/>
              <a:buChar char="•"/>
            </a:pPr>
            <a:endParaRPr lang="ru-RU" dirty="0" smtClean="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ru-RU" b="1" dirty="0" smtClean="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b="1" dirty="0" smtClean="0"/>
              <a:t>Устное уточнение:</a:t>
            </a:r>
            <a:r>
              <a:rPr lang="ru-RU" dirty="0" smtClean="0"/>
              <a:t/>
            </a:r>
            <a:br>
              <a:rPr lang="ru-RU" dirty="0" smtClean="0"/>
            </a:br>
            <a:r>
              <a:rPr lang="ru-RU" i="1" dirty="0" smtClean="0"/>
              <a:t>«Глубокие знания не требуются — всему научим. Важна готовность работать с кодом и данными»</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ru-RU" i="1" dirty="0" smtClean="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900" kern="1200" dirty="0" smtClean="0">
                <a:solidFill>
                  <a:schemeClr val="tx1"/>
                </a:solidFill>
                <a:effectLst/>
                <a:latin typeface="+mn-lt"/>
                <a:ea typeface="+mn-ea"/>
                <a:cs typeface="+mn-cs"/>
              </a:rPr>
              <a:t>Наше управление не разрабатывает с нуля какие-либо системы и продукты. Мы занимаемся реляционным программированием внутри уже созданных приложений, используя данные технологии, для решения поступающих задач. Об одной из них Вам сейчас расскажет мой коллега Даниил. </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ru-RU" dirty="0" smtClean="0"/>
          </a:p>
          <a:p>
            <a:pPr marL="171450" indent="-171450">
              <a:buFont typeface="Arial" panose="020B0604020202020204" pitchFamily="34" charset="0"/>
              <a:buChar char="•"/>
            </a:pPr>
            <a:endParaRPr lang="ru-RU"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ru-RU" b="1"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11</a:t>
            </a:fld>
            <a:endParaRPr lang="ru-RU" dirty="0"/>
          </a:p>
        </p:txBody>
      </p:sp>
    </p:spTree>
    <p:extLst>
      <p:ext uri="{BB962C8B-B14F-4D97-AF65-F5344CB8AC3E}">
        <p14:creationId xmlns:p14="http://schemas.microsoft.com/office/powerpoint/2010/main" val="2940509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kern="1200" dirty="0" smtClean="0">
                <a:solidFill>
                  <a:schemeClr val="tx1"/>
                </a:solidFill>
                <a:effectLst/>
                <a:latin typeface="+mn-lt"/>
                <a:ea typeface="+mn-ea"/>
                <a:cs typeface="+mn-cs"/>
              </a:rPr>
              <a:t>Дима</a:t>
            </a:r>
            <a:r>
              <a:rPr lang="ru-RU" sz="900" kern="1200" baseline="0" dirty="0" smtClean="0">
                <a:solidFill>
                  <a:schemeClr val="tx1"/>
                </a:solidFill>
                <a:effectLst/>
                <a:latin typeface="+mn-lt"/>
                <a:ea typeface="+mn-ea"/>
                <a:cs typeface="+mn-cs"/>
              </a:rPr>
              <a:t> рассказал о</a:t>
            </a:r>
            <a:r>
              <a:rPr lang="ru-RU" sz="900" kern="1200" dirty="0" smtClean="0">
                <a:solidFill>
                  <a:schemeClr val="tx1"/>
                </a:solidFill>
                <a:effectLst/>
                <a:latin typeface="+mn-lt"/>
                <a:ea typeface="+mn-ea"/>
                <a:cs typeface="+mn-cs"/>
              </a:rPr>
              <a:t> технологиях и инструментах, которые мы используем в работе с PI </a:t>
            </a:r>
            <a:r>
              <a:rPr lang="ru-RU" sz="900" kern="1200" dirty="0" err="1" smtClean="0">
                <a:solidFill>
                  <a:schemeClr val="tx1"/>
                </a:solidFill>
                <a:effectLst/>
                <a:latin typeface="+mn-lt"/>
                <a:ea typeface="+mn-ea"/>
                <a:cs typeface="+mn-cs"/>
              </a:rPr>
              <a:t>System</a:t>
            </a:r>
            <a:r>
              <a:rPr lang="ru-RU" sz="900" kern="1200" dirty="0" smtClean="0">
                <a:solidFill>
                  <a:schemeClr val="tx1"/>
                </a:solidFill>
                <a:effectLst/>
                <a:latin typeface="+mn-lt"/>
                <a:ea typeface="+mn-ea"/>
                <a:cs typeface="+mn-cs"/>
              </a:rPr>
              <a:t>. </a:t>
            </a:r>
          </a:p>
          <a:p>
            <a:r>
              <a:rPr lang="ru-RU" sz="900" kern="1200" dirty="0" smtClean="0">
                <a:solidFill>
                  <a:schemeClr val="tx1"/>
                </a:solidFill>
                <a:effectLst/>
                <a:latin typeface="+mn-lt"/>
                <a:ea typeface="+mn-ea"/>
                <a:cs typeface="+mn-cs"/>
              </a:rPr>
              <a:t>Я</a:t>
            </a:r>
            <a:r>
              <a:rPr lang="ru-RU" sz="900" kern="1200" baseline="0" dirty="0" smtClean="0">
                <a:solidFill>
                  <a:schemeClr val="tx1"/>
                </a:solidFill>
                <a:effectLst/>
                <a:latin typeface="+mn-lt"/>
                <a:ea typeface="+mn-ea"/>
                <a:cs typeface="+mn-cs"/>
              </a:rPr>
              <a:t> хочу вам рассказать о небольшой практической задаче, с которой мы столкнулись, как устроились на работу.</a:t>
            </a:r>
          </a:p>
          <a:p>
            <a:r>
              <a:rPr lang="ru-RU" sz="900" kern="1200" baseline="0" dirty="0" smtClean="0">
                <a:solidFill>
                  <a:schemeClr val="tx1"/>
                </a:solidFill>
                <a:effectLst/>
                <a:latin typeface="+mn-lt"/>
                <a:ea typeface="+mn-ea"/>
                <a:cs typeface="+mn-cs"/>
              </a:rPr>
              <a:t>Но перед этим в общих чертах расскажу вам маленькую вводную часть.</a:t>
            </a:r>
          </a:p>
          <a:p>
            <a:endParaRPr lang="ru-RU" sz="900" kern="1200" baseline="0" dirty="0" smtClean="0">
              <a:solidFill>
                <a:schemeClr val="tx1"/>
              </a:solidFill>
              <a:effectLst/>
              <a:latin typeface="+mn-lt"/>
              <a:ea typeface="+mn-ea"/>
              <a:cs typeface="+mn-cs"/>
            </a:endParaRPr>
          </a:p>
          <a:p>
            <a:r>
              <a:rPr lang="ru-RU" dirty="0" smtClean="0"/>
              <a:t>Мы разрабатываем и поддерживаем </a:t>
            </a:r>
            <a:r>
              <a:rPr lang="ru-RU" b="1" dirty="0" smtClean="0"/>
              <a:t>точную систему расчёта масс и объёмов</a:t>
            </a:r>
            <a:r>
              <a:rPr lang="ru-RU" dirty="0" smtClean="0"/>
              <a:t> для резервуарного парка завода.</a:t>
            </a:r>
          </a:p>
          <a:p>
            <a:r>
              <a:rPr lang="ru-RU" dirty="0" smtClean="0"/>
              <a:t>Для этого мы используем</a:t>
            </a:r>
            <a:r>
              <a:rPr lang="ru-RU" baseline="0" dirty="0" smtClean="0"/>
              <a:t> готовый набор расчётных модулей в виде </a:t>
            </a:r>
            <a:r>
              <a:rPr lang="en-US" baseline="0" dirty="0" smtClean="0"/>
              <a:t>DLL</a:t>
            </a:r>
            <a:r>
              <a:rPr lang="ru-RU" baseline="0" dirty="0" smtClean="0"/>
              <a:t>. Это позволяет нам упростить работу, снизить риски допущения ошибок и ускоряет обработку данных.</a:t>
            </a:r>
          </a:p>
          <a:p>
            <a:r>
              <a:rPr lang="ru-RU" baseline="0" dirty="0" smtClean="0"/>
              <a:t>В реальной системе оператор получает готовые значения, не задумываясь о том, как они рассчитываются.</a:t>
            </a:r>
          </a:p>
          <a:p>
            <a:r>
              <a:rPr lang="ru-RU" baseline="0" dirty="0" smtClean="0"/>
              <a:t>А мы для этого используем как входные, так и выходные параметры. Для этого предлагаю обратиться к схеме на слайде.</a:t>
            </a:r>
          </a:p>
          <a:p>
            <a:r>
              <a:rPr lang="ru-RU" baseline="0" dirty="0" smtClean="0"/>
              <a:t>Я представил вам типичный вертикальный резервуар с минимальным набором параметров. </a:t>
            </a:r>
          </a:p>
          <a:p>
            <a:r>
              <a:rPr lang="ru-RU" baseline="0" dirty="0" smtClean="0"/>
              <a:t>Для расчёта мы забираем, например, уровень, температуру, плотность при 15 градусах, </a:t>
            </a:r>
            <a:r>
              <a:rPr lang="ru-RU" baseline="0" dirty="0" err="1" smtClean="0"/>
              <a:t>градуировочную</a:t>
            </a:r>
            <a:r>
              <a:rPr lang="ru-RU" baseline="0" dirty="0" smtClean="0"/>
              <a:t> таблицу как резервуара, так и понтона и т.д.</a:t>
            </a:r>
          </a:p>
          <a:p>
            <a:r>
              <a:rPr lang="ru-RU" baseline="0" dirty="0" smtClean="0"/>
              <a:t>Затем, используя эти данные, получаем рассчитанные выходные значения: масса общая, полезная, свободная, такие же объёмы, плотность при 20.</a:t>
            </a:r>
          </a:p>
          <a:p>
            <a:endParaRPr lang="ru-RU" baseline="0" dirty="0" smtClean="0"/>
          </a:p>
          <a:p>
            <a:r>
              <a:rPr lang="ru-RU" baseline="0" dirty="0" smtClean="0"/>
              <a:t>Для большинства параметров, которые мы забираем есть датчики, мы с них получаем значения во временном промежутке от 1 секунды до 1 минуты. Например, уровни у нас поступают с прибора каждые 20 секунд, следовательно, каждые 20 секунд мы забираем из базы все необходимые входные параметры, рассчитываем, и записываем в базу готовые значения на ту же временную метку.</a:t>
            </a:r>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12</a:t>
            </a:fld>
            <a:endParaRPr lang="ru-RU" dirty="0"/>
          </a:p>
        </p:txBody>
      </p:sp>
    </p:spTree>
    <p:extLst>
      <p:ext uri="{BB962C8B-B14F-4D97-AF65-F5344CB8AC3E}">
        <p14:creationId xmlns:p14="http://schemas.microsoft.com/office/powerpoint/2010/main" val="3946542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Маленький</a:t>
            </a:r>
            <a:r>
              <a:rPr lang="ru-RU" baseline="0" dirty="0" smtClean="0"/>
              <a:t> пример того, как входные, выходные параметры и сам резервуар отражены у нас в системе.</a:t>
            </a:r>
          </a:p>
          <a:p>
            <a:r>
              <a:rPr lang="ru-RU" baseline="0" dirty="0" smtClean="0"/>
              <a:t>Можно было бы прикрепить скриншот из БД, чтобы продемонстрировать, но тогда слайда точно не хватит.</a:t>
            </a:r>
          </a:p>
          <a:p>
            <a:r>
              <a:rPr lang="ru-RU" baseline="0" dirty="0" smtClean="0"/>
              <a:t>Поэтому я использую скриншот из приложения </a:t>
            </a:r>
            <a:r>
              <a:rPr lang="en-US" baseline="0" dirty="0" smtClean="0"/>
              <a:t>SMT (System Management Tools) </a:t>
            </a:r>
            <a:r>
              <a:rPr lang="ru-RU" baseline="0" dirty="0" smtClean="0"/>
              <a:t>и описание маленького тестового резервуара.</a:t>
            </a:r>
          </a:p>
          <a:p>
            <a:r>
              <a:rPr lang="ru-RU" baseline="0" dirty="0" smtClean="0"/>
              <a:t>Все динамически изменяющиеся параметры мы храним в тегах</a:t>
            </a:r>
            <a:r>
              <a:rPr lang="en-US" baseline="0" dirty="0" smtClean="0"/>
              <a:t> (</a:t>
            </a:r>
            <a:r>
              <a:rPr lang="ru-RU" baseline="0" dirty="0" smtClean="0"/>
              <a:t>временной ряд), а чтобы закрепить их за резервуаром, помещаем их в </a:t>
            </a:r>
            <a:r>
              <a:rPr lang="en-US" baseline="0" dirty="0" smtClean="0"/>
              <a:t>alias </a:t>
            </a:r>
            <a:r>
              <a:rPr lang="ru-RU" baseline="0" dirty="0" smtClean="0"/>
              <a:t>этого резервуара.</a:t>
            </a:r>
          </a:p>
          <a:p>
            <a:r>
              <a:rPr lang="ru-RU" baseline="0" dirty="0" smtClean="0"/>
              <a:t>Если у нас есть параметры, изменение которых происходит не чаще, чем раз в полгода, то помещаем его в </a:t>
            </a:r>
            <a:r>
              <a:rPr lang="ru-RU" baseline="0" dirty="0" err="1" smtClean="0"/>
              <a:t>проперти</a:t>
            </a:r>
            <a:r>
              <a:rPr lang="ru-RU" baseline="0" dirty="0" smtClean="0"/>
              <a:t> и храним их как строку или массив строк.</a:t>
            </a:r>
          </a:p>
          <a:p>
            <a:r>
              <a:rPr lang="ru-RU" baseline="0" dirty="0" smtClean="0"/>
              <a:t>На прошлом слайде я упоминал, что для расчёта мы используем входные параметры. Расчёт срабатывает, если есть триггеры, мы, в качестве триггеров, используем уровень и температуру, так как они чаще всего меняются. Мы видим их значения, как указано на правом скриншоте. Значение и временная метка, обновляющаяся каждые 20 секунд.</a:t>
            </a:r>
          </a:p>
        </p:txBody>
      </p:sp>
      <p:sp>
        <p:nvSpPr>
          <p:cNvPr id="4" name="Номер слайда 3"/>
          <p:cNvSpPr>
            <a:spLocks noGrp="1"/>
          </p:cNvSpPr>
          <p:nvPr>
            <p:ph type="sldNum" sz="quarter" idx="10"/>
          </p:nvPr>
        </p:nvSpPr>
        <p:spPr/>
        <p:txBody>
          <a:bodyPr/>
          <a:lstStyle/>
          <a:p>
            <a:fld id="{AE8D92D3-DECF-43BB-B33D-FC1A8E976108}" type="slidenum">
              <a:rPr lang="ru-RU" smtClean="0"/>
              <a:t>13</a:t>
            </a:fld>
            <a:endParaRPr lang="ru-RU" dirty="0"/>
          </a:p>
        </p:txBody>
      </p:sp>
    </p:spTree>
    <p:extLst>
      <p:ext uri="{BB962C8B-B14F-4D97-AF65-F5344CB8AC3E}">
        <p14:creationId xmlns:p14="http://schemas.microsoft.com/office/powerpoint/2010/main" val="1475122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900" kern="1200" baseline="0" dirty="0" smtClean="0">
                <a:solidFill>
                  <a:schemeClr val="tx1"/>
                </a:solidFill>
                <a:effectLst/>
                <a:latin typeface="+mn-lt"/>
                <a:ea typeface="+mn-ea"/>
                <a:cs typeface="+mn-cs"/>
              </a:rPr>
              <a:t>Теперь к практической задаче, с которой мы столкнулись.</a:t>
            </a:r>
          </a:p>
          <a:p>
            <a:r>
              <a:rPr lang="ru-RU" sz="900" kern="1200" baseline="0" dirty="0" smtClean="0">
                <a:solidFill>
                  <a:schemeClr val="tx1"/>
                </a:solidFill>
                <a:effectLst/>
                <a:latin typeface="+mn-lt"/>
                <a:ea typeface="+mn-ea"/>
                <a:cs typeface="+mn-cs"/>
              </a:rPr>
              <a:t>Кто-то с завода подал обращение, где просит устроить переход на новую расчётную библиотеку масс резервуаров.</a:t>
            </a:r>
          </a:p>
          <a:p>
            <a:r>
              <a:rPr lang="ru-RU" sz="900" kern="1200" baseline="0" dirty="0" smtClean="0">
                <a:solidFill>
                  <a:schemeClr val="tx1"/>
                </a:solidFill>
                <a:effectLst/>
                <a:latin typeface="+mn-lt"/>
                <a:ea typeface="+mn-ea"/>
                <a:cs typeface="+mn-cs"/>
              </a:rPr>
              <a:t>Ведётся обсуждение, планирование трудозатрат, дополнительных входных данных для успешного внедрения расчётного модуля.</a:t>
            </a:r>
          </a:p>
          <a:p>
            <a:r>
              <a:rPr lang="ru-RU" sz="900" kern="1200" baseline="0" dirty="0" smtClean="0">
                <a:solidFill>
                  <a:schemeClr val="tx1"/>
                </a:solidFill>
                <a:effectLst/>
                <a:latin typeface="+mn-lt"/>
                <a:ea typeface="+mn-ea"/>
                <a:cs typeface="+mn-cs"/>
              </a:rPr>
              <a:t>Отличительная черта нового модуля от старого заключалась в том, что на вход требовалось намного больше входных параметров, нежели раньше.</a:t>
            </a:r>
          </a:p>
          <a:p>
            <a:r>
              <a:rPr lang="ru-RU" sz="900" kern="1200" baseline="0" dirty="0" smtClean="0">
                <a:solidFill>
                  <a:schemeClr val="tx1"/>
                </a:solidFill>
                <a:effectLst/>
                <a:latin typeface="+mn-lt"/>
                <a:ea typeface="+mn-ea"/>
                <a:cs typeface="+mn-cs"/>
              </a:rPr>
              <a:t>Изменение согласуется с ключевыми пользователями системы и начинается работа.</a:t>
            </a:r>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14</a:t>
            </a:fld>
            <a:endParaRPr lang="ru-RU" dirty="0"/>
          </a:p>
        </p:txBody>
      </p:sp>
    </p:spTree>
    <p:extLst>
      <p:ext uri="{BB962C8B-B14F-4D97-AF65-F5344CB8AC3E}">
        <p14:creationId xmlns:p14="http://schemas.microsoft.com/office/powerpoint/2010/main" val="10442265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До</a:t>
            </a:r>
            <a:r>
              <a:rPr lang="ru-RU" baseline="0" dirty="0" smtClean="0"/>
              <a:t> перехода на новый модуль абстрактная схема работы алгоритма выглядела следующим образом.</a:t>
            </a:r>
          </a:p>
          <a:p>
            <a:r>
              <a:rPr lang="ru-RU" baseline="0" dirty="0" smtClean="0"/>
              <a:t>Как только срабатывал один из триггеров, то запускался расчёт по этому объекту. Мы вытягивали из базы актуальные значения по тегам, по </a:t>
            </a:r>
            <a:r>
              <a:rPr lang="ru-RU" baseline="0" dirty="0" err="1" smtClean="0"/>
              <a:t>пропертям</a:t>
            </a:r>
            <a:r>
              <a:rPr lang="ru-RU" baseline="0" dirty="0" smtClean="0"/>
              <a:t>, по константам.</a:t>
            </a:r>
          </a:p>
          <a:p>
            <a:r>
              <a:rPr lang="ru-RU" baseline="0" dirty="0" smtClean="0"/>
              <a:t>После того, как отработал расчёт, полученные значения мы записываем в соответствующие, расчетные теги.</a:t>
            </a:r>
          </a:p>
          <a:p>
            <a:endParaRPr lang="ru-RU" dirty="0" smtClean="0"/>
          </a:p>
          <a:p>
            <a:r>
              <a:rPr lang="ru-RU" dirty="0" smtClean="0"/>
              <a:t>У</a:t>
            </a:r>
            <a:r>
              <a:rPr lang="ru-RU" baseline="0" dirty="0" smtClean="0"/>
              <a:t> данного подхода есть свои недостатки, самый глобальный из них: постоянно обращаться к базе данных для получения одних и тех же значений.</a:t>
            </a:r>
          </a:p>
          <a:p>
            <a:r>
              <a:rPr lang="ru-RU" baseline="0" dirty="0" smtClean="0"/>
              <a:t>Взять, например, уровень – мы настроили поступление по нему данных каждые 20 секунд. На одном нефтеперерабатывающем заводе их около 80 резервуаров, а если взять другой завод, то там уже более 130 резервуаров. </a:t>
            </a:r>
          </a:p>
          <a:p>
            <a:r>
              <a:rPr lang="ru-RU" baseline="0" dirty="0" smtClean="0"/>
              <a:t>Итого, мы каждые 20 секунд обращаемся к базе минимум 15 раз для одного объекта. А их 130 и это без потоков и других расчётов.</a:t>
            </a:r>
          </a:p>
          <a:p>
            <a:endParaRPr lang="ru-RU" baseline="0" dirty="0" smtClean="0"/>
          </a:p>
          <a:p>
            <a:r>
              <a:rPr lang="ru-RU" baseline="0" dirty="0" smtClean="0"/>
              <a:t>Так как новый модуль подразумевает за собой использование на входе намного большего количества входных параметров, чем раньше, то при старой схеме работы расчетов сервер приложения «упадёт» при растущей нагрузке на БДРВ примерно через сутки, двое.</a:t>
            </a:r>
          </a:p>
          <a:p>
            <a:r>
              <a:rPr lang="ru-RU" dirty="0" smtClean="0"/>
              <a:t>Помимо этого, расчёты не срабатывают мгновенно,</a:t>
            </a:r>
            <a:r>
              <a:rPr lang="ru-RU" baseline="0" dirty="0" smtClean="0"/>
              <a:t> т.к. много проверок входных параметров, частые их конвертации и прочее. Если расчёт не успеет отработать в срок, то следующий триггер будет стоять в очереди и может образоваться большая очередь, которая повлечёт за собой переполнение оперативной памяти сервера.</a:t>
            </a:r>
            <a:endParaRPr lang="ru-RU" dirty="0" smtClean="0"/>
          </a:p>
        </p:txBody>
      </p:sp>
      <p:sp>
        <p:nvSpPr>
          <p:cNvPr id="4" name="Номер слайда 3"/>
          <p:cNvSpPr>
            <a:spLocks noGrp="1"/>
          </p:cNvSpPr>
          <p:nvPr>
            <p:ph type="sldNum" sz="quarter" idx="10"/>
          </p:nvPr>
        </p:nvSpPr>
        <p:spPr/>
        <p:txBody>
          <a:bodyPr/>
          <a:lstStyle/>
          <a:p>
            <a:fld id="{AE8D92D3-DECF-43BB-B33D-FC1A8E976108}" type="slidenum">
              <a:rPr lang="ru-RU" smtClean="0"/>
              <a:t>15</a:t>
            </a:fld>
            <a:endParaRPr lang="ru-RU" dirty="0"/>
          </a:p>
        </p:txBody>
      </p:sp>
    </p:spTree>
    <p:extLst>
      <p:ext uri="{BB962C8B-B14F-4D97-AF65-F5344CB8AC3E}">
        <p14:creationId xmlns:p14="http://schemas.microsoft.com/office/powerpoint/2010/main" val="2965448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Чтобы решить эту проблему, мы внедрили простое, но эффективное решение - промежуточный буфер для статических данных. Суть в том, что теперь все постоянные параметры (</a:t>
            </a:r>
            <a:r>
              <a:rPr lang="ru-RU" dirty="0" err="1" smtClean="0"/>
              <a:t>проперти</a:t>
            </a:r>
            <a:r>
              <a:rPr lang="ru-RU" dirty="0" smtClean="0"/>
              <a:t> и константы) загружаются в память всего один раз при первом обращении, а не запрашиваются из базы при каждом расчете. С динамическими тегами, конечно, такой фокус не пройдет - их значения постоянно меняются.</a:t>
            </a:r>
          </a:p>
          <a:p>
            <a:r>
              <a:rPr lang="ru-RU" dirty="0" smtClean="0"/>
              <a:t>Работает это по принципу интеллектуального кэша: система сначала проверяет - есть ли нужные параметры объекта в оперативной памяти. Если находит - использует их. Если нет - однократно подгружает из базы и сохраняет для последующих обращений.</a:t>
            </a:r>
          </a:p>
          <a:p>
            <a:r>
              <a:rPr lang="ru-RU" dirty="0" smtClean="0"/>
              <a:t>Такая оптимизация дала внушительный результат - нагрузка на сервер БДРВ значительно сократилась, особенно при массовых расчетах, когда десятки объектов требуют одних и тех же справочных данных. Это как если бы вместо того, чтобы каждый раз бегать в библиотеку за справочником, вы взяли его один раз и положили на свой рабочий стол.</a:t>
            </a: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16</a:t>
            </a:fld>
            <a:endParaRPr lang="ru-RU" dirty="0"/>
          </a:p>
        </p:txBody>
      </p:sp>
    </p:spTree>
    <p:extLst>
      <p:ext uri="{BB962C8B-B14F-4D97-AF65-F5344CB8AC3E}">
        <p14:creationId xmlns:p14="http://schemas.microsoft.com/office/powerpoint/2010/main" val="516685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1" dirty="0" smtClean="0"/>
              <a:t>Финал</a:t>
            </a:r>
          </a:p>
          <a:p>
            <a:endParaRPr lang="en-US" dirty="0" smtClean="0"/>
          </a:p>
          <a:p>
            <a:r>
              <a:rPr lang="ru-RU" dirty="0" smtClean="0"/>
              <a:t>Подводя итоги нашего выступления, хочется отметить, что работа с производственными системами вроде АСОДУ на базе PI </a:t>
            </a:r>
            <a:r>
              <a:rPr lang="ru-RU" dirty="0" err="1" smtClean="0"/>
              <a:t>System</a:t>
            </a:r>
            <a:r>
              <a:rPr lang="ru-RU" dirty="0" smtClean="0"/>
              <a:t> — это уникальная возможность для комплексного профессионального роста. Вы не просто прокачаете технические навыки работы с данными и системами реального времени, но и глубоко погрузитесь в технологические процессы производства. Это направление учит видеть полную картину — от датчиков оборудования до бизнес-аналитики верхнего уровня.</a:t>
            </a:r>
          </a:p>
          <a:p>
            <a:endParaRPr lang="ru-RU" dirty="0" smtClean="0"/>
          </a:p>
          <a:p>
            <a:r>
              <a:rPr lang="ru-RU" dirty="0" smtClean="0"/>
              <a:t>Вы освоите:</a:t>
            </a:r>
          </a:p>
          <a:p>
            <a:pPr marL="171450" indent="-171450">
              <a:buFont typeface="Arial" panose="020B0604020202020204" pitchFamily="34" charset="0"/>
              <a:buChar char="•"/>
            </a:pPr>
            <a:r>
              <a:rPr lang="ru-RU" dirty="0" smtClean="0"/>
              <a:t>    Работу с </a:t>
            </a:r>
            <a:r>
              <a:rPr lang="ru-RU" dirty="0" err="1" smtClean="0"/>
              <a:t>Big</a:t>
            </a:r>
            <a:r>
              <a:rPr lang="ru-RU" dirty="0" smtClean="0"/>
              <a:t> </a:t>
            </a:r>
            <a:r>
              <a:rPr lang="ru-RU" dirty="0" err="1" smtClean="0"/>
              <a:t>Data</a:t>
            </a:r>
            <a:r>
              <a:rPr lang="ru-RU" dirty="0" smtClean="0"/>
              <a:t> в промышленных масштабах</a:t>
            </a:r>
          </a:p>
          <a:p>
            <a:pPr marL="171450" indent="-171450">
              <a:buFont typeface="Arial" panose="020B0604020202020204" pitchFamily="34" charset="0"/>
              <a:buChar char="•"/>
            </a:pPr>
            <a:r>
              <a:rPr lang="ru-RU" dirty="0" smtClean="0"/>
              <a:t>    Создание цифровых моделей производства</a:t>
            </a:r>
          </a:p>
          <a:p>
            <a:pPr marL="171450" indent="-171450">
              <a:buFont typeface="Arial" panose="020B0604020202020204" pitchFamily="34" charset="0"/>
              <a:buChar char="•"/>
            </a:pPr>
            <a:r>
              <a:rPr lang="ru-RU" dirty="0" smtClean="0"/>
              <a:t>    Оптимизацию реальных технологических процессов</a:t>
            </a:r>
          </a:p>
          <a:p>
            <a:endParaRPr lang="en-US" dirty="0" smtClean="0"/>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От нас зависит прибыльность бизнеса заказчика, ведь производство должно происходить в круглосуточном режиме, без остановок и задержек. Мы не просто решаем проблемы заявителей, но и поясняем, что именно пошло не так. И таким образом влияем на профессионализм сотрудников заказчика.</a:t>
            </a:r>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Приглашаю всех в ряды </a:t>
            </a:r>
            <a:r>
              <a:rPr lang="ru-RU" sz="900" kern="1200" dirty="0" err="1" smtClean="0">
                <a:solidFill>
                  <a:schemeClr val="tx1"/>
                </a:solidFill>
                <a:effectLst/>
                <a:latin typeface="+mn-lt"/>
                <a:ea typeface="+mn-ea"/>
                <a:cs typeface="+mn-cs"/>
              </a:rPr>
              <a:t>Сибинтек</a:t>
            </a:r>
            <a:r>
              <a:rPr lang="ru-RU" sz="900" kern="1200" dirty="0" smtClean="0">
                <a:solidFill>
                  <a:schemeClr val="tx1"/>
                </a:solidFill>
                <a:effectLst/>
                <a:latin typeface="+mn-lt"/>
                <a:ea typeface="+mn-ea"/>
                <a:cs typeface="+mn-cs"/>
              </a:rPr>
              <a:t>-Софта. Подумайте над стартом своей карьеры вместе с нами. У нас вы точно получите разнообразные и интересные задачи, для решений которых, вы изучите новые </a:t>
            </a:r>
            <a:r>
              <a:rPr lang="en-US" sz="900" kern="1200" dirty="0" smtClean="0">
                <a:solidFill>
                  <a:schemeClr val="tx1"/>
                </a:solidFill>
                <a:effectLst/>
                <a:latin typeface="+mn-lt"/>
                <a:ea typeface="+mn-ea"/>
                <a:cs typeface="+mn-cs"/>
              </a:rPr>
              <a:t>it</a:t>
            </a:r>
            <a:r>
              <a:rPr lang="ru-RU" sz="900" kern="1200" dirty="0" smtClean="0">
                <a:solidFill>
                  <a:schemeClr val="tx1"/>
                </a:solidFill>
                <a:effectLst/>
                <a:latin typeface="+mn-lt"/>
                <a:ea typeface="+mn-ea"/>
                <a:cs typeface="+mn-cs"/>
              </a:rPr>
              <a:t>-технологии.</a:t>
            </a:r>
          </a:p>
          <a:p>
            <a:endParaRPr lang="ru-RU" sz="900" kern="1200" dirty="0" smtClean="0">
              <a:solidFill>
                <a:schemeClr val="tx1"/>
              </a:solidFill>
              <a:effectLst/>
              <a:latin typeface="+mn-lt"/>
              <a:ea typeface="+mn-ea"/>
              <a:cs typeface="+mn-cs"/>
            </a:endParaRPr>
          </a:p>
          <a:p>
            <a:r>
              <a:rPr lang="ru-RU" sz="900" kern="1200" dirty="0" smtClean="0">
                <a:solidFill>
                  <a:schemeClr val="tx1"/>
                </a:solidFill>
                <a:effectLst/>
                <a:latin typeface="+mn-lt"/>
                <a:ea typeface="+mn-ea"/>
                <a:cs typeface="+mn-cs"/>
              </a:rPr>
              <a:t>Вопросы?</a:t>
            </a:r>
          </a:p>
          <a:p>
            <a:endParaRPr lang="ru-RU" dirty="0" smtClean="0"/>
          </a:p>
          <a:p>
            <a:endParaRPr lang="ru-RU" dirty="0"/>
          </a:p>
        </p:txBody>
      </p:sp>
      <p:sp>
        <p:nvSpPr>
          <p:cNvPr id="4" name="Номер слайда 3"/>
          <p:cNvSpPr>
            <a:spLocks noGrp="1"/>
          </p:cNvSpPr>
          <p:nvPr>
            <p:ph type="sldNum" sz="quarter" idx="10"/>
          </p:nvPr>
        </p:nvSpPr>
        <p:spPr/>
        <p:txBody>
          <a:bodyPr/>
          <a:lstStyle/>
          <a:p>
            <a:fld id="{AE8D92D3-DECF-43BB-B33D-FC1A8E976108}" type="slidenum">
              <a:rPr lang="ru-RU" smtClean="0"/>
              <a:t>17</a:t>
            </a:fld>
            <a:endParaRPr lang="ru-RU" dirty="0"/>
          </a:p>
        </p:txBody>
      </p:sp>
    </p:spTree>
    <p:extLst>
      <p:ext uri="{BB962C8B-B14F-4D97-AF65-F5344CB8AC3E}">
        <p14:creationId xmlns:p14="http://schemas.microsoft.com/office/powerpoint/2010/main" val="4928234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xml"/><Relationship Id="rId7"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slideMaster" Target="../slideMasters/slideMaster1.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4.xml"/><Relationship Id="rId7" Type="http://schemas.openxmlformats.org/officeDocument/2006/relationships/image" Target="../media/image1.emf"/><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4.jpe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8.jp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11.emf"/><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oleObject" Target="../embeddings/oleObject3.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oft_head">
    <p:spTree>
      <p:nvGrpSpPr>
        <p:cNvPr id="1" name=""/>
        <p:cNvGrpSpPr/>
        <p:nvPr/>
      </p:nvGrpSpPr>
      <p:grpSpPr>
        <a:xfrm>
          <a:off x="0" y="0"/>
          <a:ext cx="0" cy="0"/>
          <a:chOff x="0" y="0"/>
          <a:chExt cx="0" cy="0"/>
        </a:xfrm>
      </p:grpSpPr>
      <p:pic>
        <p:nvPicPr>
          <p:cNvPr id="13" name="Рисунок 12"/>
          <p:cNvPicPr>
            <a:picLocks noChangeAspect="1"/>
          </p:cNvPicPr>
          <p:nvPr userDrawn="1"/>
        </p:nvPicPr>
        <p:blipFill rotWithShape="1">
          <a:blip r:embed="rId5">
            <a:extLst>
              <a:ext uri="{BEBA8EAE-BF5A-486C-A8C5-ECC9F3942E4B}">
                <a14:imgProps xmlns:a14="http://schemas.microsoft.com/office/drawing/2010/main">
                  <a14:imgLayer r:embed="rId6">
                    <a14:imgEffect>
                      <a14:sharpenSoften amount="25000"/>
                    </a14:imgEffect>
                  </a14:imgLayer>
                </a14:imgProps>
              </a:ext>
            </a:extLst>
          </a:blip>
          <a:srcRect b="2231"/>
          <a:stretch/>
        </p:blipFill>
        <p:spPr>
          <a:xfrm>
            <a:off x="1424608" y="1649423"/>
            <a:ext cx="8481392" cy="5235961"/>
          </a:xfrm>
          <a:prstGeom prst="rect">
            <a:avLst/>
          </a:prstGeom>
        </p:spPr>
      </p:pic>
      <p:sp>
        <p:nvSpPr>
          <p:cNvPr id="12" name="Прямоугольник 11"/>
          <p:cNvSpPr/>
          <p:nvPr userDrawn="1"/>
        </p:nvSpPr>
        <p:spPr>
          <a:xfrm>
            <a:off x="1424608" y="692696"/>
            <a:ext cx="4752528" cy="25839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7" name="Object 6" hidden="1">
            <a:extLst>
              <a:ext uri="{FF2B5EF4-FFF2-40B4-BE49-F238E27FC236}">
                <a16:creationId xmlns="" xmlns:a16="http://schemas.microsoft.com/office/drawing/2014/main" id="{90A62477-0DE6-426E-B5DB-C62967175A17}"/>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00" name="think-cell Slide" r:id="rId7" imgW="395" imgH="396" progId="TCLayout.ActiveDocument.1">
                  <p:embed/>
                </p:oleObj>
              </mc:Choice>
              <mc:Fallback>
                <p:oleObj name="think-cell Slide" r:id="rId7" imgW="395" imgH="396" progId="TCLayout.ActiveDocument.1">
                  <p:embed/>
                  <p:pic>
                    <p:nvPicPr>
                      <p:cNvPr id="7" name="Object 6" hidden="1">
                        <a:extLst>
                          <a:ext uri="{FF2B5EF4-FFF2-40B4-BE49-F238E27FC236}">
                            <a16:creationId xmlns="" xmlns:a16="http://schemas.microsoft.com/office/drawing/2014/main" id="{90A62477-0DE6-426E-B5DB-C62967175A1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 xmlns:a16="http://schemas.microsoft.com/office/drawing/2014/main" id="{FF36476A-6CF0-4B42-B469-FE75C1C657E9}"/>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1534" b="0" i="0" baseline="0" dirty="0">
              <a:ea typeface="+mj-ea"/>
              <a:cs typeface="+mj-cs"/>
              <a:sym typeface="Europe"/>
            </a:endParaRPr>
          </a:p>
        </p:txBody>
      </p:sp>
      <p:sp>
        <p:nvSpPr>
          <p:cNvPr id="11" name="AutoShape 4" descr="ÐÐ°ÑÑÐ¸Ð½ÐºÐ¸ Ð¿Ð¾ Ð·Ð°Ð¿ÑÐ¾ÑÑ ÑÐ¾ÑÐ½ÐµÑÑÑ png">
            <a:extLst>
              <a:ext uri="{FF2B5EF4-FFF2-40B4-BE49-F238E27FC236}">
                <a16:creationId xmlns="" xmlns:a16="http://schemas.microsoft.com/office/drawing/2014/main" id="{BD9CA06D-EFE2-4C32-A77D-87D8B571A71A}"/>
              </a:ext>
            </a:extLst>
          </p:cNvPr>
          <p:cNvSpPr>
            <a:spLocks noChangeAspect="1" noChangeArrowheads="1"/>
          </p:cNvSpPr>
          <p:nvPr userDrawn="1"/>
        </p:nvSpPr>
        <p:spPr bwMode="auto">
          <a:xfrm>
            <a:off x="480060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7914" tIns="38956" rIns="77914" bIns="38956" numCol="1" anchor="t" anchorCtr="0" compatLnSpc="1">
            <a:prstTxWarp prst="textNoShape">
              <a:avLst/>
            </a:prstTxWarp>
          </a:bodyPr>
          <a:lstStyle/>
          <a:p>
            <a:endParaRPr lang="ru-RU" sz="1534" dirty="0"/>
          </a:p>
        </p:txBody>
      </p:sp>
      <p:grpSp>
        <p:nvGrpSpPr>
          <p:cNvPr id="8" name="Группа 7"/>
          <p:cNvGrpSpPr/>
          <p:nvPr userDrawn="1"/>
        </p:nvGrpSpPr>
        <p:grpSpPr>
          <a:xfrm>
            <a:off x="1" y="1630680"/>
            <a:ext cx="6878841" cy="5254704"/>
            <a:chOff x="0" y="2132422"/>
            <a:chExt cx="6273800" cy="4767542"/>
          </a:xfrm>
        </p:grpSpPr>
        <p:sp>
          <p:nvSpPr>
            <p:cNvPr id="3" name="Прямоугольник 2"/>
            <p:cNvSpPr/>
            <p:nvPr userDrawn="1"/>
          </p:nvSpPr>
          <p:spPr>
            <a:xfrm>
              <a:off x="0" y="3333750"/>
              <a:ext cx="6273800" cy="3566214"/>
            </a:xfrm>
            <a:custGeom>
              <a:avLst/>
              <a:gdLst>
                <a:gd name="connsiteX0" fmla="*/ 0 w 4476750"/>
                <a:gd name="connsiteY0" fmla="*/ 0 h 3566214"/>
                <a:gd name="connsiteX1" fmla="*/ 4476750 w 4476750"/>
                <a:gd name="connsiteY1" fmla="*/ 0 h 3566214"/>
                <a:gd name="connsiteX2" fmla="*/ 4476750 w 4476750"/>
                <a:gd name="connsiteY2" fmla="*/ 3566214 h 3566214"/>
                <a:gd name="connsiteX3" fmla="*/ 0 w 4476750"/>
                <a:gd name="connsiteY3" fmla="*/ 3566214 h 3566214"/>
                <a:gd name="connsiteX4" fmla="*/ 0 w 4476750"/>
                <a:gd name="connsiteY4" fmla="*/ 0 h 3566214"/>
                <a:gd name="connsiteX0" fmla="*/ 0 w 6273800"/>
                <a:gd name="connsiteY0" fmla="*/ 0 h 3566214"/>
                <a:gd name="connsiteX1" fmla="*/ 6273800 w 6273800"/>
                <a:gd name="connsiteY1" fmla="*/ 0 h 3566214"/>
                <a:gd name="connsiteX2" fmla="*/ 4476750 w 6273800"/>
                <a:gd name="connsiteY2" fmla="*/ 3566214 h 3566214"/>
                <a:gd name="connsiteX3" fmla="*/ 0 w 6273800"/>
                <a:gd name="connsiteY3" fmla="*/ 3566214 h 3566214"/>
                <a:gd name="connsiteX4" fmla="*/ 0 w 6273800"/>
                <a:gd name="connsiteY4" fmla="*/ 0 h 3566214"/>
                <a:gd name="connsiteX0" fmla="*/ 0 w 6273800"/>
                <a:gd name="connsiteY0" fmla="*/ 0 h 3566214"/>
                <a:gd name="connsiteX1" fmla="*/ 6273800 w 6273800"/>
                <a:gd name="connsiteY1" fmla="*/ 0 h 3566214"/>
                <a:gd name="connsiteX2" fmla="*/ 4476750 w 6273800"/>
                <a:gd name="connsiteY2" fmla="*/ 3566214 h 3566214"/>
                <a:gd name="connsiteX3" fmla="*/ 0 w 6273800"/>
                <a:gd name="connsiteY3" fmla="*/ 3566214 h 3566214"/>
                <a:gd name="connsiteX4" fmla="*/ 0 w 6273800"/>
                <a:gd name="connsiteY4" fmla="*/ 0 h 356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3800" h="3566214">
                  <a:moveTo>
                    <a:pt x="0" y="0"/>
                  </a:moveTo>
                  <a:lnTo>
                    <a:pt x="6273800" y="0"/>
                  </a:lnTo>
                  <a:lnTo>
                    <a:pt x="4476750" y="3566214"/>
                  </a:lnTo>
                  <a:lnTo>
                    <a:pt x="0" y="3566214"/>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308" dirty="0"/>
            </a:p>
          </p:txBody>
        </p:sp>
        <p:sp>
          <p:nvSpPr>
            <p:cNvPr id="4" name="Равнобедренный треугольник 3"/>
            <p:cNvSpPr/>
            <p:nvPr userDrawn="1"/>
          </p:nvSpPr>
          <p:spPr>
            <a:xfrm>
              <a:off x="5007852" y="2132422"/>
              <a:ext cx="1261316" cy="1201328"/>
            </a:xfrm>
            <a:prstGeom prst="triangle">
              <a:avLst/>
            </a:prstGeom>
            <a:solidFill>
              <a:srgbClr val="AE8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308" dirty="0"/>
            </a:p>
          </p:txBody>
        </p:sp>
      </p:grpSp>
      <p:sp>
        <p:nvSpPr>
          <p:cNvPr id="34" name="Title Placeholder 1"/>
          <p:cNvSpPr>
            <a:spLocks noGrp="1"/>
          </p:cNvSpPr>
          <p:nvPr userDrawn="1">
            <p:ph type="title"/>
          </p:nvPr>
        </p:nvSpPr>
        <p:spPr>
          <a:xfrm>
            <a:off x="462387" y="4120991"/>
            <a:ext cx="4199149" cy="1674923"/>
          </a:xfrm>
          <a:prstGeom prst="rect">
            <a:avLst/>
          </a:prstGeom>
        </p:spPr>
        <p:txBody>
          <a:bodyPr vert="horz" lIns="91440" tIns="45720" rIns="91440" bIns="45720" rtlCol="0" anchor="ctr">
            <a:normAutofit/>
          </a:bodyPr>
          <a:lstStyle>
            <a:lvl1pPr>
              <a:defRPr sz="2400" b="1"/>
            </a:lvl1pPr>
          </a:lstStyle>
          <a:p>
            <a:r>
              <a:rPr lang="ru-RU" dirty="0"/>
              <a:t>Образец заголовка</a:t>
            </a:r>
            <a:endParaRPr lang="en-US" dirty="0"/>
          </a:p>
        </p:txBody>
      </p:sp>
      <p:cxnSp>
        <p:nvCxnSpPr>
          <p:cNvPr id="14" name="Прямая соединительная линия 13"/>
          <p:cNvCxnSpPr/>
          <p:nvPr userDrawn="1"/>
        </p:nvCxnSpPr>
        <p:spPr>
          <a:xfrm flipV="1">
            <a:off x="5112361" y="-142"/>
            <a:ext cx="1788444" cy="327674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userDrawn="1"/>
        </p:nvCxnSpPr>
        <p:spPr>
          <a:xfrm flipV="1">
            <a:off x="5133516" y="0"/>
            <a:ext cx="3492324" cy="685785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Заголовок 1"/>
          <p:cNvSpPr txBox="1">
            <a:spLocks/>
          </p:cNvSpPr>
          <p:nvPr userDrawn="1"/>
        </p:nvSpPr>
        <p:spPr bwMode="auto">
          <a:xfrm>
            <a:off x="836356" y="1716512"/>
            <a:ext cx="3976944" cy="22723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2192" rIns="0" bIns="42192" numCol="1" anchor="t" anchorCtr="0" compatLnSpc="1">
            <a:prstTxWarp prst="textNoShape">
              <a:avLst/>
            </a:prstTxWarp>
            <a:spAutoFit/>
          </a:bodyPr>
          <a:lstStyle>
            <a:lvl1pPr algn="r" rtl="0" eaLnBrk="0" fontAlgn="base" hangingPunct="0">
              <a:spcBef>
                <a:spcPct val="0"/>
              </a:spcBef>
              <a:spcAft>
                <a:spcPct val="0"/>
              </a:spcAft>
              <a:defRPr sz="2100" kern="1200">
                <a:solidFill>
                  <a:schemeClr val="tx1">
                    <a:lumMod val="65000"/>
                    <a:lumOff val="35000"/>
                  </a:schemeClr>
                </a:solidFill>
                <a:latin typeface="EuropeCondensedC"/>
                <a:ea typeface="+mj-ea"/>
                <a:cs typeface="+mj-cs"/>
              </a:defRPr>
            </a:lvl1pPr>
            <a:lvl2pPr algn="ctr" rtl="0" eaLnBrk="0" fontAlgn="base" hangingPunct="0">
              <a:spcBef>
                <a:spcPct val="0"/>
              </a:spcBef>
              <a:spcAft>
                <a:spcPct val="0"/>
              </a:spcAft>
              <a:defRPr sz="4400">
                <a:solidFill>
                  <a:schemeClr val="tx1"/>
                </a:solidFill>
                <a:latin typeface="Arial" charset="0"/>
              </a:defRPr>
            </a:lvl2pPr>
            <a:lvl3pPr algn="ctr" rtl="0" eaLnBrk="0" fontAlgn="base" hangingPunct="0">
              <a:spcBef>
                <a:spcPct val="0"/>
              </a:spcBef>
              <a:spcAft>
                <a:spcPct val="0"/>
              </a:spcAft>
              <a:defRPr sz="4400">
                <a:solidFill>
                  <a:schemeClr val="tx1"/>
                </a:solidFill>
                <a:latin typeface="Arial" charset="0"/>
              </a:defRPr>
            </a:lvl3pPr>
            <a:lvl4pPr algn="ctr" rtl="0" eaLnBrk="0" fontAlgn="base" hangingPunct="0">
              <a:spcBef>
                <a:spcPct val="0"/>
              </a:spcBef>
              <a:spcAft>
                <a:spcPct val="0"/>
              </a:spcAft>
              <a:defRPr sz="4400">
                <a:solidFill>
                  <a:schemeClr val="tx1"/>
                </a:solidFill>
                <a:latin typeface="Arial" charset="0"/>
              </a:defRPr>
            </a:lvl4pPr>
            <a:lvl5pPr algn="ctr" rtl="0" eaLnBrk="0" fontAlgn="base" hangingPunct="0">
              <a:spcBef>
                <a:spcPct val="0"/>
              </a:spcBef>
              <a:spcAft>
                <a:spcPct val="0"/>
              </a:spcAft>
              <a:defRPr sz="44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ru-RU" sz="923" dirty="0">
                <a:solidFill>
                  <a:schemeClr val="tx2">
                    <a:lumMod val="90000"/>
                    <a:lumOff val="10000"/>
                  </a:schemeClr>
                </a:solidFill>
                <a:latin typeface="+mj-lt"/>
              </a:rPr>
              <a:t>Общество с ограниченной ответственностью «СИБИНТЕК-СОФТ»</a:t>
            </a:r>
            <a:endParaRPr lang="ru-RU" altLang="ru-RU" sz="923" dirty="0">
              <a:solidFill>
                <a:schemeClr val="tx2">
                  <a:lumMod val="90000"/>
                  <a:lumOff val="10000"/>
                </a:schemeClr>
              </a:solidFill>
              <a:latin typeface="+mj-lt"/>
            </a:endParaRPr>
          </a:p>
        </p:txBody>
      </p:sp>
      <p:pic>
        <p:nvPicPr>
          <p:cNvPr id="2" name="Рисунок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06450" y="839676"/>
            <a:ext cx="3699201" cy="843073"/>
          </a:xfrm>
          <a:prstGeom prst="rect">
            <a:avLst/>
          </a:prstGeom>
        </p:spPr>
      </p:pic>
    </p:spTree>
    <p:extLst>
      <p:ext uri="{BB962C8B-B14F-4D97-AF65-F5344CB8AC3E}">
        <p14:creationId xmlns:p14="http://schemas.microsoft.com/office/powerpoint/2010/main" val="2172209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668" userDrawn="1">
          <p15:clr>
            <a:srgbClr val="FBAE40"/>
          </p15:clr>
        </p15:guide>
        <p15:guide id="2" pos="241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ft_head1">
    <p:spTree>
      <p:nvGrpSpPr>
        <p:cNvPr id="1" name=""/>
        <p:cNvGrpSpPr/>
        <p:nvPr/>
      </p:nvGrpSpPr>
      <p:grpSpPr>
        <a:xfrm>
          <a:off x="0" y="0"/>
          <a:ext cx="0" cy="0"/>
          <a:chOff x="0" y="0"/>
          <a:chExt cx="0" cy="0"/>
        </a:xfrm>
      </p:grpSpPr>
      <p:pic>
        <p:nvPicPr>
          <p:cNvPr id="16" name="Рисунок 15"/>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4736976" y="1630681"/>
            <a:ext cx="5169024" cy="5227320"/>
          </a:xfrm>
          <a:custGeom>
            <a:avLst/>
            <a:gdLst>
              <a:gd name="connsiteX0" fmla="*/ 1450839 w 5169024"/>
              <a:gd name="connsiteY0" fmla="*/ 0 h 5216333"/>
              <a:gd name="connsiteX1" fmla="*/ 5169024 w 5169024"/>
              <a:gd name="connsiteY1" fmla="*/ 0 h 5216333"/>
              <a:gd name="connsiteX2" fmla="*/ 5169024 w 5169024"/>
              <a:gd name="connsiteY2" fmla="*/ 5216333 h 5216333"/>
              <a:gd name="connsiteX3" fmla="*/ 0 w 5169024"/>
              <a:gd name="connsiteY3" fmla="*/ 5216333 h 5216333"/>
              <a:gd name="connsiteX4" fmla="*/ 0 w 5169024"/>
              <a:gd name="connsiteY4" fmla="*/ 2755878 h 5216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9024" h="5216333">
                <a:moveTo>
                  <a:pt x="1450839" y="0"/>
                </a:moveTo>
                <a:lnTo>
                  <a:pt x="5169024" y="0"/>
                </a:lnTo>
                <a:lnTo>
                  <a:pt x="5169024" y="5216333"/>
                </a:lnTo>
                <a:lnTo>
                  <a:pt x="0" y="5216333"/>
                </a:lnTo>
                <a:lnTo>
                  <a:pt x="0" y="2755878"/>
                </a:lnTo>
                <a:close/>
              </a:path>
            </a:pathLst>
          </a:custGeom>
        </p:spPr>
      </p:pic>
      <p:graphicFrame>
        <p:nvGraphicFramePr>
          <p:cNvPr id="7" name="Object 6" hidden="1">
            <a:extLst>
              <a:ext uri="{FF2B5EF4-FFF2-40B4-BE49-F238E27FC236}">
                <a16:creationId xmlns="" xmlns:a16="http://schemas.microsoft.com/office/drawing/2014/main" id="{90A62477-0DE6-426E-B5DB-C62967175A17}"/>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24" name="think-cell Slide" r:id="rId6" imgW="395" imgH="396" progId="TCLayout.ActiveDocument.1">
                  <p:embed/>
                </p:oleObj>
              </mc:Choice>
              <mc:Fallback>
                <p:oleObj name="think-cell Slide" r:id="rId6" imgW="395" imgH="396" progId="TCLayout.ActiveDocument.1">
                  <p:embed/>
                  <p:pic>
                    <p:nvPicPr>
                      <p:cNvPr id="7" name="Object 6" hidden="1">
                        <a:extLst>
                          <a:ext uri="{FF2B5EF4-FFF2-40B4-BE49-F238E27FC236}">
                            <a16:creationId xmlns="" xmlns:a16="http://schemas.microsoft.com/office/drawing/2014/main" id="{90A62477-0DE6-426E-B5DB-C62967175A1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 xmlns:a16="http://schemas.microsoft.com/office/drawing/2014/main" id="{FF36476A-6CF0-4B42-B469-FE75C1C657E9}"/>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1534" b="0" i="0" baseline="0" dirty="0">
              <a:ea typeface="+mj-ea"/>
              <a:cs typeface="+mj-cs"/>
              <a:sym typeface="Europe"/>
            </a:endParaRPr>
          </a:p>
        </p:txBody>
      </p:sp>
      <p:sp>
        <p:nvSpPr>
          <p:cNvPr id="11" name="AutoShape 4" descr="ÐÐ°ÑÑÐ¸Ð½ÐºÐ¸ Ð¿Ð¾ Ð·Ð°Ð¿ÑÐ¾ÑÑ ÑÐ¾ÑÐ½ÐµÑÑÑ png">
            <a:extLst>
              <a:ext uri="{FF2B5EF4-FFF2-40B4-BE49-F238E27FC236}">
                <a16:creationId xmlns="" xmlns:a16="http://schemas.microsoft.com/office/drawing/2014/main" id="{BD9CA06D-EFE2-4C32-A77D-87D8B571A71A}"/>
              </a:ext>
            </a:extLst>
          </p:cNvPr>
          <p:cNvSpPr>
            <a:spLocks noChangeAspect="1" noChangeArrowheads="1"/>
          </p:cNvSpPr>
          <p:nvPr userDrawn="1"/>
        </p:nvSpPr>
        <p:spPr bwMode="auto">
          <a:xfrm>
            <a:off x="480060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7914" tIns="38956" rIns="77914" bIns="38956" numCol="1" anchor="t" anchorCtr="0" compatLnSpc="1">
            <a:prstTxWarp prst="textNoShape">
              <a:avLst/>
            </a:prstTxWarp>
          </a:bodyPr>
          <a:lstStyle/>
          <a:p>
            <a:endParaRPr lang="ru-RU" sz="1534" dirty="0"/>
          </a:p>
        </p:txBody>
      </p:sp>
      <p:grpSp>
        <p:nvGrpSpPr>
          <p:cNvPr id="8" name="Группа 7"/>
          <p:cNvGrpSpPr/>
          <p:nvPr userDrawn="1"/>
        </p:nvGrpSpPr>
        <p:grpSpPr>
          <a:xfrm>
            <a:off x="1" y="1630680"/>
            <a:ext cx="6878841" cy="5227320"/>
            <a:chOff x="0" y="2132422"/>
            <a:chExt cx="6273800" cy="4767542"/>
          </a:xfrm>
        </p:grpSpPr>
        <p:sp>
          <p:nvSpPr>
            <p:cNvPr id="3" name="Прямоугольник 2"/>
            <p:cNvSpPr/>
            <p:nvPr userDrawn="1"/>
          </p:nvSpPr>
          <p:spPr>
            <a:xfrm>
              <a:off x="0" y="3333750"/>
              <a:ext cx="6273800" cy="3566214"/>
            </a:xfrm>
            <a:custGeom>
              <a:avLst/>
              <a:gdLst>
                <a:gd name="connsiteX0" fmla="*/ 0 w 4476750"/>
                <a:gd name="connsiteY0" fmla="*/ 0 h 3566214"/>
                <a:gd name="connsiteX1" fmla="*/ 4476750 w 4476750"/>
                <a:gd name="connsiteY1" fmla="*/ 0 h 3566214"/>
                <a:gd name="connsiteX2" fmla="*/ 4476750 w 4476750"/>
                <a:gd name="connsiteY2" fmla="*/ 3566214 h 3566214"/>
                <a:gd name="connsiteX3" fmla="*/ 0 w 4476750"/>
                <a:gd name="connsiteY3" fmla="*/ 3566214 h 3566214"/>
                <a:gd name="connsiteX4" fmla="*/ 0 w 4476750"/>
                <a:gd name="connsiteY4" fmla="*/ 0 h 3566214"/>
                <a:gd name="connsiteX0" fmla="*/ 0 w 6273800"/>
                <a:gd name="connsiteY0" fmla="*/ 0 h 3566214"/>
                <a:gd name="connsiteX1" fmla="*/ 6273800 w 6273800"/>
                <a:gd name="connsiteY1" fmla="*/ 0 h 3566214"/>
                <a:gd name="connsiteX2" fmla="*/ 4476750 w 6273800"/>
                <a:gd name="connsiteY2" fmla="*/ 3566214 h 3566214"/>
                <a:gd name="connsiteX3" fmla="*/ 0 w 6273800"/>
                <a:gd name="connsiteY3" fmla="*/ 3566214 h 3566214"/>
                <a:gd name="connsiteX4" fmla="*/ 0 w 6273800"/>
                <a:gd name="connsiteY4" fmla="*/ 0 h 3566214"/>
                <a:gd name="connsiteX0" fmla="*/ 0 w 6273800"/>
                <a:gd name="connsiteY0" fmla="*/ 0 h 3566214"/>
                <a:gd name="connsiteX1" fmla="*/ 6273800 w 6273800"/>
                <a:gd name="connsiteY1" fmla="*/ 0 h 3566214"/>
                <a:gd name="connsiteX2" fmla="*/ 4476750 w 6273800"/>
                <a:gd name="connsiteY2" fmla="*/ 3566214 h 3566214"/>
                <a:gd name="connsiteX3" fmla="*/ 0 w 6273800"/>
                <a:gd name="connsiteY3" fmla="*/ 3566214 h 3566214"/>
                <a:gd name="connsiteX4" fmla="*/ 0 w 6273800"/>
                <a:gd name="connsiteY4" fmla="*/ 0 h 356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3800" h="3566214">
                  <a:moveTo>
                    <a:pt x="0" y="0"/>
                  </a:moveTo>
                  <a:lnTo>
                    <a:pt x="6273800" y="0"/>
                  </a:lnTo>
                  <a:lnTo>
                    <a:pt x="4476750" y="3566214"/>
                  </a:lnTo>
                  <a:lnTo>
                    <a:pt x="0" y="3566214"/>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308" dirty="0"/>
            </a:p>
          </p:txBody>
        </p:sp>
        <p:sp>
          <p:nvSpPr>
            <p:cNvPr id="4" name="Равнобедренный треугольник 3"/>
            <p:cNvSpPr/>
            <p:nvPr userDrawn="1"/>
          </p:nvSpPr>
          <p:spPr>
            <a:xfrm>
              <a:off x="5007852" y="2132422"/>
              <a:ext cx="1261316" cy="1201328"/>
            </a:xfrm>
            <a:prstGeom prst="triangle">
              <a:avLst/>
            </a:prstGeom>
            <a:solidFill>
              <a:srgbClr val="AE8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308" dirty="0"/>
            </a:p>
          </p:txBody>
        </p:sp>
      </p:grpSp>
      <p:sp>
        <p:nvSpPr>
          <p:cNvPr id="34" name="Title Placeholder 1"/>
          <p:cNvSpPr>
            <a:spLocks noGrp="1"/>
          </p:cNvSpPr>
          <p:nvPr userDrawn="1">
            <p:ph type="title"/>
          </p:nvPr>
        </p:nvSpPr>
        <p:spPr>
          <a:xfrm>
            <a:off x="462387" y="4120991"/>
            <a:ext cx="4199149" cy="1674923"/>
          </a:xfrm>
          <a:prstGeom prst="rect">
            <a:avLst/>
          </a:prstGeom>
        </p:spPr>
        <p:txBody>
          <a:bodyPr vert="horz" lIns="91440" tIns="45720" rIns="91440" bIns="45720" rtlCol="0" anchor="ctr">
            <a:normAutofit/>
          </a:bodyPr>
          <a:lstStyle>
            <a:lvl1pPr>
              <a:defRPr sz="2400" b="1"/>
            </a:lvl1pPr>
          </a:lstStyle>
          <a:p>
            <a:r>
              <a:rPr lang="ru-RU" dirty="0"/>
              <a:t>Образец заголовка</a:t>
            </a:r>
            <a:endParaRPr lang="en-US" dirty="0"/>
          </a:p>
        </p:txBody>
      </p:sp>
      <p:cxnSp>
        <p:nvCxnSpPr>
          <p:cNvPr id="14" name="Прямая соединительная линия 13"/>
          <p:cNvCxnSpPr/>
          <p:nvPr userDrawn="1"/>
        </p:nvCxnSpPr>
        <p:spPr>
          <a:xfrm flipV="1">
            <a:off x="5112361" y="-142"/>
            <a:ext cx="1788444" cy="327674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1" name="Прямая соединительная линия 70"/>
          <p:cNvCxnSpPr/>
          <p:nvPr userDrawn="1"/>
        </p:nvCxnSpPr>
        <p:spPr>
          <a:xfrm flipV="1">
            <a:off x="5133516" y="0"/>
            <a:ext cx="3492324" cy="685785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Заголовок 1"/>
          <p:cNvSpPr txBox="1">
            <a:spLocks/>
          </p:cNvSpPr>
          <p:nvPr userDrawn="1"/>
        </p:nvSpPr>
        <p:spPr bwMode="auto">
          <a:xfrm>
            <a:off x="836356" y="1716512"/>
            <a:ext cx="3976944" cy="22723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2192" rIns="0" bIns="42192" numCol="1" anchor="t" anchorCtr="0" compatLnSpc="1">
            <a:prstTxWarp prst="textNoShape">
              <a:avLst/>
            </a:prstTxWarp>
            <a:spAutoFit/>
          </a:bodyPr>
          <a:lstStyle>
            <a:lvl1pPr algn="r" rtl="0" eaLnBrk="0" fontAlgn="base" hangingPunct="0">
              <a:spcBef>
                <a:spcPct val="0"/>
              </a:spcBef>
              <a:spcAft>
                <a:spcPct val="0"/>
              </a:spcAft>
              <a:defRPr sz="2100" kern="1200">
                <a:solidFill>
                  <a:schemeClr val="tx1">
                    <a:lumMod val="65000"/>
                    <a:lumOff val="35000"/>
                  </a:schemeClr>
                </a:solidFill>
                <a:latin typeface="EuropeCondensedC"/>
                <a:ea typeface="+mj-ea"/>
                <a:cs typeface="+mj-cs"/>
              </a:defRPr>
            </a:lvl1pPr>
            <a:lvl2pPr algn="ctr" rtl="0" eaLnBrk="0" fontAlgn="base" hangingPunct="0">
              <a:spcBef>
                <a:spcPct val="0"/>
              </a:spcBef>
              <a:spcAft>
                <a:spcPct val="0"/>
              </a:spcAft>
              <a:defRPr sz="4400">
                <a:solidFill>
                  <a:schemeClr val="tx1"/>
                </a:solidFill>
                <a:latin typeface="Arial" charset="0"/>
              </a:defRPr>
            </a:lvl2pPr>
            <a:lvl3pPr algn="ctr" rtl="0" eaLnBrk="0" fontAlgn="base" hangingPunct="0">
              <a:spcBef>
                <a:spcPct val="0"/>
              </a:spcBef>
              <a:spcAft>
                <a:spcPct val="0"/>
              </a:spcAft>
              <a:defRPr sz="4400">
                <a:solidFill>
                  <a:schemeClr val="tx1"/>
                </a:solidFill>
                <a:latin typeface="Arial" charset="0"/>
              </a:defRPr>
            </a:lvl3pPr>
            <a:lvl4pPr algn="ctr" rtl="0" eaLnBrk="0" fontAlgn="base" hangingPunct="0">
              <a:spcBef>
                <a:spcPct val="0"/>
              </a:spcBef>
              <a:spcAft>
                <a:spcPct val="0"/>
              </a:spcAft>
              <a:defRPr sz="4400">
                <a:solidFill>
                  <a:schemeClr val="tx1"/>
                </a:solidFill>
                <a:latin typeface="Arial" charset="0"/>
              </a:defRPr>
            </a:lvl4pPr>
            <a:lvl5pPr algn="ctr" rtl="0" eaLnBrk="0" fontAlgn="base" hangingPunct="0">
              <a:spcBef>
                <a:spcPct val="0"/>
              </a:spcBef>
              <a:spcAft>
                <a:spcPct val="0"/>
              </a:spcAft>
              <a:defRPr sz="44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ru-RU" sz="923" dirty="0">
                <a:solidFill>
                  <a:schemeClr val="tx2">
                    <a:lumMod val="90000"/>
                    <a:lumOff val="10000"/>
                  </a:schemeClr>
                </a:solidFill>
                <a:latin typeface="+mj-lt"/>
              </a:rPr>
              <a:t>Общество с ограниченной ответственностью «СИБИНТЕК-СОФТ»</a:t>
            </a:r>
            <a:endParaRPr lang="ru-RU" altLang="ru-RU" sz="923" dirty="0">
              <a:solidFill>
                <a:schemeClr val="tx2">
                  <a:lumMod val="90000"/>
                  <a:lumOff val="10000"/>
                </a:schemeClr>
              </a:solidFill>
              <a:latin typeface="+mj-lt"/>
            </a:endParaRPr>
          </a:p>
        </p:txBody>
      </p:sp>
      <p:pic>
        <p:nvPicPr>
          <p:cNvPr id="2" name="Рисунок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06450" y="839676"/>
            <a:ext cx="3699201" cy="843073"/>
          </a:xfrm>
          <a:prstGeom prst="rect">
            <a:avLst/>
          </a:prstGeom>
        </p:spPr>
      </p:pic>
    </p:spTree>
    <p:extLst>
      <p:ext uri="{BB962C8B-B14F-4D97-AF65-F5344CB8AC3E}">
        <p14:creationId xmlns:p14="http://schemas.microsoft.com/office/powerpoint/2010/main" val="2911853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668">
          <p15:clr>
            <a:srgbClr val="FBAE40"/>
          </p15:clr>
        </p15:guide>
        <p15:guide id="2" pos="24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Основное наполнение (пустой лист)">
    <p:spTree>
      <p:nvGrpSpPr>
        <p:cNvPr id="1" name=""/>
        <p:cNvGrpSpPr/>
        <p:nvPr/>
      </p:nvGrpSpPr>
      <p:grpSpPr>
        <a:xfrm>
          <a:off x="0" y="0"/>
          <a:ext cx="0" cy="0"/>
          <a:chOff x="0" y="0"/>
          <a:chExt cx="0" cy="0"/>
        </a:xfrm>
      </p:grpSpPr>
      <p:sp>
        <p:nvSpPr>
          <p:cNvPr id="47" name="Заголовок 46">
            <a:extLst>
              <a:ext uri="{FF2B5EF4-FFF2-40B4-BE49-F238E27FC236}">
                <a16:creationId xmlns="" xmlns:a16="http://schemas.microsoft.com/office/drawing/2014/main" id="{F7F1D3BA-BC18-475E-BE3D-9A54117FDCD2}"/>
              </a:ext>
            </a:extLst>
          </p:cNvPr>
          <p:cNvSpPr>
            <a:spLocks noGrp="1"/>
          </p:cNvSpPr>
          <p:nvPr>
            <p:ph type="title"/>
          </p:nvPr>
        </p:nvSpPr>
        <p:spPr>
          <a:xfrm>
            <a:off x="1845807" y="116632"/>
            <a:ext cx="7017368" cy="596032"/>
          </a:xfrm>
          <a:prstGeom prst="rect">
            <a:avLst/>
          </a:prstGeom>
        </p:spPr>
        <p:txBody>
          <a:bodyPr lIns="216000" anchor="ctr">
            <a:normAutofit/>
          </a:bodyPr>
          <a:lstStyle>
            <a:lvl1pPr algn="l">
              <a:defRPr sz="1400" b="1">
                <a:latin typeface="Arial" panose="020B0604020202020204" pitchFamily="34" charset="0"/>
                <a:cs typeface="Arial" panose="020B0604020202020204" pitchFamily="34" charset="0"/>
              </a:defRPr>
            </a:lvl1pPr>
          </a:lstStyle>
          <a:p>
            <a:r>
              <a:rPr lang="ru-RU" dirty="0"/>
              <a:t>Образец заголовка</a:t>
            </a:r>
          </a:p>
        </p:txBody>
      </p:sp>
      <p:sp>
        <p:nvSpPr>
          <p:cNvPr id="48" name="Нижний колонтитул 47">
            <a:extLst>
              <a:ext uri="{FF2B5EF4-FFF2-40B4-BE49-F238E27FC236}">
                <a16:creationId xmlns="" xmlns:a16="http://schemas.microsoft.com/office/drawing/2014/main" id="{8E78B35F-5196-40F9-BA5B-3D58964066E6}"/>
              </a:ext>
            </a:extLst>
          </p:cNvPr>
          <p:cNvSpPr>
            <a:spLocks noGrp="1"/>
          </p:cNvSpPr>
          <p:nvPr>
            <p:ph type="ftr" sz="quarter" idx="11"/>
          </p:nvPr>
        </p:nvSpPr>
        <p:spPr/>
        <p:txBody>
          <a:bodyPr/>
          <a:lstStyle/>
          <a:p>
            <a:endParaRPr lang="ru-RU" dirty="0"/>
          </a:p>
        </p:txBody>
      </p:sp>
      <p:sp>
        <p:nvSpPr>
          <p:cNvPr id="49" name="Номер слайда 48">
            <a:extLst>
              <a:ext uri="{FF2B5EF4-FFF2-40B4-BE49-F238E27FC236}">
                <a16:creationId xmlns="" xmlns:a16="http://schemas.microsoft.com/office/drawing/2014/main" id="{DB2598F8-02B5-4C65-9A36-F577B2C1101D}"/>
              </a:ext>
            </a:extLst>
          </p:cNvPr>
          <p:cNvSpPr>
            <a:spLocks noGrp="1"/>
          </p:cNvSpPr>
          <p:nvPr>
            <p:ph type="sldNum" sz="quarter" idx="12"/>
          </p:nvPr>
        </p:nvSpPr>
        <p:spPr>
          <a:xfrm>
            <a:off x="9603052" y="6714000"/>
            <a:ext cx="259400" cy="144000"/>
          </a:xfrm>
        </p:spPr>
        <p:txBody>
          <a:bodyPr/>
          <a:lstStyle/>
          <a:p>
            <a:fld id="{5100B139-BD82-4293-9FDA-44725340297B}" type="slidenum">
              <a:rPr lang="ru-RU" smtClean="0"/>
              <a:pPr/>
              <a:t>‹#›</a:t>
            </a:fld>
            <a:endParaRPr lang="ru-RU"/>
          </a:p>
        </p:txBody>
      </p:sp>
      <p:grpSp>
        <p:nvGrpSpPr>
          <p:cNvPr id="18" name="Group 4">
            <a:extLst>
              <a:ext uri="{FF2B5EF4-FFF2-40B4-BE49-F238E27FC236}">
                <a16:creationId xmlns="" xmlns:a16="http://schemas.microsoft.com/office/drawing/2014/main" id="{3120009E-C0C5-4822-9296-2A7BBBAB2C77}"/>
              </a:ext>
            </a:extLst>
          </p:cNvPr>
          <p:cNvGrpSpPr>
            <a:grpSpLocks noChangeAspect="1"/>
          </p:cNvGrpSpPr>
          <p:nvPr userDrawn="1"/>
        </p:nvGrpSpPr>
        <p:grpSpPr bwMode="auto">
          <a:xfrm>
            <a:off x="270814" y="209032"/>
            <a:ext cx="1295633" cy="270000"/>
            <a:chOff x="2090" y="-370"/>
            <a:chExt cx="3527" cy="735"/>
          </a:xfrm>
        </p:grpSpPr>
        <p:sp>
          <p:nvSpPr>
            <p:cNvPr id="19" name="AutoShape 3">
              <a:extLst>
                <a:ext uri="{FF2B5EF4-FFF2-40B4-BE49-F238E27FC236}">
                  <a16:creationId xmlns="" xmlns:a16="http://schemas.microsoft.com/office/drawing/2014/main" id="{B0870C67-B848-43B8-BCA9-9E9A2BB8E8A0}"/>
                </a:ext>
              </a:extLst>
            </p:cNvPr>
            <p:cNvSpPr>
              <a:spLocks noChangeAspect="1" noChangeArrowheads="1" noTextEdit="1"/>
            </p:cNvSpPr>
            <p:nvPr userDrawn="1"/>
          </p:nvSpPr>
          <p:spPr bwMode="auto">
            <a:xfrm>
              <a:off x="2090" y="-370"/>
              <a:ext cx="3527" cy="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0" name="Freeform 5">
              <a:extLst>
                <a:ext uri="{FF2B5EF4-FFF2-40B4-BE49-F238E27FC236}">
                  <a16:creationId xmlns="" xmlns:a16="http://schemas.microsoft.com/office/drawing/2014/main" id="{29F458DC-E89F-4C86-A91D-DDFDB4AB3037}"/>
                </a:ext>
              </a:extLst>
            </p:cNvPr>
            <p:cNvSpPr>
              <a:spLocks/>
            </p:cNvSpPr>
            <p:nvPr userDrawn="1"/>
          </p:nvSpPr>
          <p:spPr bwMode="auto">
            <a:xfrm>
              <a:off x="2459" y="-370"/>
              <a:ext cx="252" cy="731"/>
            </a:xfrm>
            <a:custGeom>
              <a:avLst/>
              <a:gdLst>
                <a:gd name="T0" fmla="*/ 1067 w 1258"/>
                <a:gd name="T1" fmla="*/ 0 h 3656"/>
                <a:gd name="T2" fmla="*/ 0 w 1258"/>
                <a:gd name="T3" fmla="*/ 3656 h 3656"/>
                <a:gd name="T4" fmla="*/ 191 w 1258"/>
                <a:gd name="T5" fmla="*/ 3656 h 3656"/>
                <a:gd name="T6" fmla="*/ 1258 w 1258"/>
                <a:gd name="T7" fmla="*/ 0 h 3656"/>
                <a:gd name="T8" fmla="*/ 1067 w 1258"/>
                <a:gd name="T9" fmla="*/ 0 h 3656"/>
              </a:gdLst>
              <a:ahLst/>
              <a:cxnLst>
                <a:cxn ang="0">
                  <a:pos x="T0" y="T1"/>
                </a:cxn>
                <a:cxn ang="0">
                  <a:pos x="T2" y="T3"/>
                </a:cxn>
                <a:cxn ang="0">
                  <a:pos x="T4" y="T5"/>
                </a:cxn>
                <a:cxn ang="0">
                  <a:pos x="T6" y="T7"/>
                </a:cxn>
                <a:cxn ang="0">
                  <a:pos x="T8" y="T9"/>
                </a:cxn>
              </a:cxnLst>
              <a:rect l="0" t="0" r="r" b="b"/>
              <a:pathLst>
                <a:path w="1258" h="3656">
                  <a:moveTo>
                    <a:pt x="1067" y="0"/>
                  </a:moveTo>
                  <a:lnTo>
                    <a:pt x="0" y="3656"/>
                  </a:lnTo>
                  <a:lnTo>
                    <a:pt x="191" y="3656"/>
                  </a:lnTo>
                  <a:lnTo>
                    <a:pt x="1258" y="0"/>
                  </a:lnTo>
                  <a:lnTo>
                    <a:pt x="1067"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1" name="Freeform 6">
              <a:extLst>
                <a:ext uri="{FF2B5EF4-FFF2-40B4-BE49-F238E27FC236}">
                  <a16:creationId xmlns="" xmlns:a16="http://schemas.microsoft.com/office/drawing/2014/main" id="{779827DD-F4A0-4CFD-B449-E06C5842B07D}"/>
                </a:ext>
              </a:extLst>
            </p:cNvPr>
            <p:cNvSpPr>
              <a:spLocks/>
            </p:cNvSpPr>
            <p:nvPr userDrawn="1"/>
          </p:nvSpPr>
          <p:spPr bwMode="auto">
            <a:xfrm>
              <a:off x="2571" y="-370"/>
              <a:ext cx="252" cy="731"/>
            </a:xfrm>
            <a:custGeom>
              <a:avLst/>
              <a:gdLst>
                <a:gd name="T0" fmla="*/ 1066 w 1257"/>
                <a:gd name="T1" fmla="*/ 0 h 3656"/>
                <a:gd name="T2" fmla="*/ 0 w 1257"/>
                <a:gd name="T3" fmla="*/ 3656 h 3656"/>
                <a:gd name="T4" fmla="*/ 190 w 1257"/>
                <a:gd name="T5" fmla="*/ 3656 h 3656"/>
                <a:gd name="T6" fmla="*/ 1257 w 1257"/>
                <a:gd name="T7" fmla="*/ 0 h 3656"/>
                <a:gd name="T8" fmla="*/ 1066 w 1257"/>
                <a:gd name="T9" fmla="*/ 0 h 3656"/>
              </a:gdLst>
              <a:ahLst/>
              <a:cxnLst>
                <a:cxn ang="0">
                  <a:pos x="T0" y="T1"/>
                </a:cxn>
                <a:cxn ang="0">
                  <a:pos x="T2" y="T3"/>
                </a:cxn>
                <a:cxn ang="0">
                  <a:pos x="T4" y="T5"/>
                </a:cxn>
                <a:cxn ang="0">
                  <a:pos x="T6" y="T7"/>
                </a:cxn>
                <a:cxn ang="0">
                  <a:pos x="T8" y="T9"/>
                </a:cxn>
              </a:cxnLst>
              <a:rect l="0" t="0" r="r" b="b"/>
              <a:pathLst>
                <a:path w="1257" h="3656">
                  <a:moveTo>
                    <a:pt x="1066" y="0"/>
                  </a:moveTo>
                  <a:lnTo>
                    <a:pt x="0" y="3656"/>
                  </a:lnTo>
                  <a:lnTo>
                    <a:pt x="190" y="3656"/>
                  </a:lnTo>
                  <a:lnTo>
                    <a:pt x="1257" y="0"/>
                  </a:lnTo>
                  <a:lnTo>
                    <a:pt x="1066"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2" name="Freeform 7">
              <a:extLst>
                <a:ext uri="{FF2B5EF4-FFF2-40B4-BE49-F238E27FC236}">
                  <a16:creationId xmlns="" xmlns:a16="http://schemas.microsoft.com/office/drawing/2014/main" id="{DF1491B2-6327-4D9D-B2FD-E682F35B6BAB}"/>
                </a:ext>
              </a:extLst>
            </p:cNvPr>
            <p:cNvSpPr>
              <a:spLocks/>
            </p:cNvSpPr>
            <p:nvPr userDrawn="1"/>
          </p:nvSpPr>
          <p:spPr bwMode="auto">
            <a:xfrm>
              <a:off x="2347" y="-370"/>
              <a:ext cx="251" cy="731"/>
            </a:xfrm>
            <a:custGeom>
              <a:avLst/>
              <a:gdLst>
                <a:gd name="T0" fmla="*/ 1067 w 1258"/>
                <a:gd name="T1" fmla="*/ 0 h 3656"/>
                <a:gd name="T2" fmla="*/ 0 w 1258"/>
                <a:gd name="T3" fmla="*/ 3656 h 3656"/>
                <a:gd name="T4" fmla="*/ 191 w 1258"/>
                <a:gd name="T5" fmla="*/ 3656 h 3656"/>
                <a:gd name="T6" fmla="*/ 1258 w 1258"/>
                <a:gd name="T7" fmla="*/ 0 h 3656"/>
                <a:gd name="T8" fmla="*/ 1067 w 1258"/>
                <a:gd name="T9" fmla="*/ 0 h 3656"/>
              </a:gdLst>
              <a:ahLst/>
              <a:cxnLst>
                <a:cxn ang="0">
                  <a:pos x="T0" y="T1"/>
                </a:cxn>
                <a:cxn ang="0">
                  <a:pos x="T2" y="T3"/>
                </a:cxn>
                <a:cxn ang="0">
                  <a:pos x="T4" y="T5"/>
                </a:cxn>
                <a:cxn ang="0">
                  <a:pos x="T6" y="T7"/>
                </a:cxn>
                <a:cxn ang="0">
                  <a:pos x="T8" y="T9"/>
                </a:cxn>
              </a:cxnLst>
              <a:rect l="0" t="0" r="r" b="b"/>
              <a:pathLst>
                <a:path w="1258" h="3656">
                  <a:moveTo>
                    <a:pt x="1067" y="0"/>
                  </a:moveTo>
                  <a:lnTo>
                    <a:pt x="0" y="3656"/>
                  </a:lnTo>
                  <a:lnTo>
                    <a:pt x="191" y="3656"/>
                  </a:lnTo>
                  <a:lnTo>
                    <a:pt x="1258" y="0"/>
                  </a:lnTo>
                  <a:lnTo>
                    <a:pt x="1067"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3" name="Freeform 8">
              <a:extLst>
                <a:ext uri="{FF2B5EF4-FFF2-40B4-BE49-F238E27FC236}">
                  <a16:creationId xmlns="" xmlns:a16="http://schemas.microsoft.com/office/drawing/2014/main" id="{A096854C-03F6-4B5A-97FB-31F1038CFF9B}"/>
                </a:ext>
              </a:extLst>
            </p:cNvPr>
            <p:cNvSpPr>
              <a:spLocks/>
            </p:cNvSpPr>
            <p:nvPr userDrawn="1"/>
          </p:nvSpPr>
          <p:spPr bwMode="auto">
            <a:xfrm>
              <a:off x="2090" y="-370"/>
              <a:ext cx="396" cy="731"/>
            </a:xfrm>
            <a:custGeom>
              <a:avLst/>
              <a:gdLst>
                <a:gd name="T0" fmla="*/ 0 w 1980"/>
                <a:gd name="T1" fmla="*/ 0 h 3656"/>
                <a:gd name="T2" fmla="*/ 1980 w 1980"/>
                <a:gd name="T3" fmla="*/ 0 h 3656"/>
                <a:gd name="T4" fmla="*/ 914 w 1980"/>
                <a:gd name="T5" fmla="*/ 3656 h 3656"/>
                <a:gd name="T6" fmla="*/ 0 w 1980"/>
                <a:gd name="T7" fmla="*/ 3656 h 3656"/>
                <a:gd name="T8" fmla="*/ 0 w 1980"/>
                <a:gd name="T9" fmla="*/ 0 h 3656"/>
              </a:gdLst>
              <a:ahLst/>
              <a:cxnLst>
                <a:cxn ang="0">
                  <a:pos x="T0" y="T1"/>
                </a:cxn>
                <a:cxn ang="0">
                  <a:pos x="T2" y="T3"/>
                </a:cxn>
                <a:cxn ang="0">
                  <a:pos x="T4" y="T5"/>
                </a:cxn>
                <a:cxn ang="0">
                  <a:pos x="T6" y="T7"/>
                </a:cxn>
                <a:cxn ang="0">
                  <a:pos x="T8" y="T9"/>
                </a:cxn>
              </a:cxnLst>
              <a:rect l="0" t="0" r="r" b="b"/>
              <a:pathLst>
                <a:path w="1980" h="3656">
                  <a:moveTo>
                    <a:pt x="0" y="0"/>
                  </a:moveTo>
                  <a:lnTo>
                    <a:pt x="1980" y="0"/>
                  </a:lnTo>
                  <a:lnTo>
                    <a:pt x="914" y="3656"/>
                  </a:lnTo>
                  <a:lnTo>
                    <a:pt x="0" y="3656"/>
                  </a:lnTo>
                  <a:lnTo>
                    <a:pt x="0" y="0"/>
                  </a:lnTo>
                  <a:close/>
                </a:path>
              </a:pathLst>
            </a:custGeom>
            <a:solidFill>
              <a:srgbClr val="FFD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4" name="Freeform 9">
              <a:extLst>
                <a:ext uri="{FF2B5EF4-FFF2-40B4-BE49-F238E27FC236}">
                  <a16:creationId xmlns="" xmlns:a16="http://schemas.microsoft.com/office/drawing/2014/main" id="{72194E31-4BBB-49DF-9E4A-A754E249FBC7}"/>
                </a:ext>
              </a:extLst>
            </p:cNvPr>
            <p:cNvSpPr>
              <a:spLocks/>
            </p:cNvSpPr>
            <p:nvPr userDrawn="1"/>
          </p:nvSpPr>
          <p:spPr bwMode="auto">
            <a:xfrm>
              <a:off x="2683" y="-129"/>
              <a:ext cx="143" cy="490"/>
            </a:xfrm>
            <a:custGeom>
              <a:avLst/>
              <a:gdLst>
                <a:gd name="T0" fmla="*/ 718 w 718"/>
                <a:gd name="T1" fmla="*/ 2451 h 2451"/>
                <a:gd name="T2" fmla="*/ 718 w 718"/>
                <a:gd name="T3" fmla="*/ 0 h 2451"/>
                <a:gd name="T4" fmla="*/ 0 w 718"/>
                <a:gd name="T5" fmla="*/ 2451 h 2451"/>
                <a:gd name="T6" fmla="*/ 718 w 718"/>
                <a:gd name="T7" fmla="*/ 2451 h 2451"/>
              </a:gdLst>
              <a:ahLst/>
              <a:cxnLst>
                <a:cxn ang="0">
                  <a:pos x="T0" y="T1"/>
                </a:cxn>
                <a:cxn ang="0">
                  <a:pos x="T2" y="T3"/>
                </a:cxn>
                <a:cxn ang="0">
                  <a:pos x="T4" y="T5"/>
                </a:cxn>
                <a:cxn ang="0">
                  <a:pos x="T6" y="T7"/>
                </a:cxn>
              </a:cxnLst>
              <a:rect l="0" t="0" r="r" b="b"/>
              <a:pathLst>
                <a:path w="718" h="2451">
                  <a:moveTo>
                    <a:pt x="718" y="2451"/>
                  </a:moveTo>
                  <a:lnTo>
                    <a:pt x="718" y="0"/>
                  </a:lnTo>
                  <a:lnTo>
                    <a:pt x="0" y="2451"/>
                  </a:lnTo>
                  <a:lnTo>
                    <a:pt x="718" y="2451"/>
                  </a:lnTo>
                  <a:close/>
                </a:path>
              </a:pathLst>
            </a:custGeom>
            <a:solidFill>
              <a:srgbClr val="FFD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5" name="Freeform 10">
              <a:extLst>
                <a:ext uri="{FF2B5EF4-FFF2-40B4-BE49-F238E27FC236}">
                  <a16:creationId xmlns="" xmlns:a16="http://schemas.microsoft.com/office/drawing/2014/main" id="{11E52749-29E2-4633-8B7E-5703456D3C8C}"/>
                </a:ext>
              </a:extLst>
            </p:cNvPr>
            <p:cNvSpPr>
              <a:spLocks/>
            </p:cNvSpPr>
            <p:nvPr userDrawn="1"/>
          </p:nvSpPr>
          <p:spPr bwMode="auto">
            <a:xfrm>
              <a:off x="3188" y="118"/>
              <a:ext cx="186" cy="246"/>
            </a:xfrm>
            <a:custGeom>
              <a:avLst/>
              <a:gdLst>
                <a:gd name="T0" fmla="*/ 196 w 926"/>
                <a:gd name="T1" fmla="*/ 8 h 1231"/>
                <a:gd name="T2" fmla="*/ 196 w 926"/>
                <a:gd name="T3" fmla="*/ 1039 h 1231"/>
                <a:gd name="T4" fmla="*/ 659 w 926"/>
                <a:gd name="T5" fmla="*/ 0 h 1231"/>
                <a:gd name="T6" fmla="*/ 926 w 926"/>
                <a:gd name="T7" fmla="*/ 0 h 1231"/>
                <a:gd name="T8" fmla="*/ 926 w 926"/>
                <a:gd name="T9" fmla="*/ 1228 h 1231"/>
                <a:gd name="T10" fmla="*/ 747 w 926"/>
                <a:gd name="T11" fmla="*/ 1231 h 1231"/>
                <a:gd name="T12" fmla="*/ 747 w 926"/>
                <a:gd name="T13" fmla="*/ 429 h 1231"/>
                <a:gd name="T14" fmla="*/ 746 w 926"/>
                <a:gd name="T15" fmla="*/ 236 h 1231"/>
                <a:gd name="T16" fmla="*/ 290 w 926"/>
                <a:gd name="T17" fmla="*/ 1229 h 1231"/>
                <a:gd name="T18" fmla="*/ 0 w 926"/>
                <a:gd name="T19" fmla="*/ 1228 h 1231"/>
                <a:gd name="T20" fmla="*/ 0 w 926"/>
                <a:gd name="T21" fmla="*/ 8 h 1231"/>
                <a:gd name="T22" fmla="*/ 196 w 926"/>
                <a:gd name="T23" fmla="*/ 8 h 1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6" h="1231">
                  <a:moveTo>
                    <a:pt x="196" y="8"/>
                  </a:moveTo>
                  <a:lnTo>
                    <a:pt x="196" y="1039"/>
                  </a:lnTo>
                  <a:lnTo>
                    <a:pt x="659" y="0"/>
                  </a:lnTo>
                  <a:lnTo>
                    <a:pt x="926" y="0"/>
                  </a:lnTo>
                  <a:lnTo>
                    <a:pt x="926" y="1228"/>
                  </a:lnTo>
                  <a:lnTo>
                    <a:pt x="747" y="1231"/>
                  </a:lnTo>
                  <a:lnTo>
                    <a:pt x="747" y="429"/>
                  </a:lnTo>
                  <a:lnTo>
                    <a:pt x="746" y="236"/>
                  </a:lnTo>
                  <a:lnTo>
                    <a:pt x="290" y="1229"/>
                  </a:lnTo>
                  <a:lnTo>
                    <a:pt x="0" y="1228"/>
                  </a:lnTo>
                  <a:lnTo>
                    <a:pt x="0" y="8"/>
                  </a:lnTo>
                  <a:lnTo>
                    <a:pt x="196" y="8"/>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6" name="Freeform 11">
              <a:extLst>
                <a:ext uri="{FF2B5EF4-FFF2-40B4-BE49-F238E27FC236}">
                  <a16:creationId xmlns="" xmlns:a16="http://schemas.microsoft.com/office/drawing/2014/main" id="{0F9BE037-B62C-4FCD-AE0A-2D946D92E7E5}"/>
                </a:ext>
              </a:extLst>
            </p:cNvPr>
            <p:cNvSpPr>
              <a:spLocks/>
            </p:cNvSpPr>
            <p:nvPr userDrawn="1"/>
          </p:nvSpPr>
          <p:spPr bwMode="auto">
            <a:xfrm>
              <a:off x="3619" y="118"/>
              <a:ext cx="185" cy="246"/>
            </a:xfrm>
            <a:custGeom>
              <a:avLst/>
              <a:gdLst>
                <a:gd name="T0" fmla="*/ 196 w 926"/>
                <a:gd name="T1" fmla="*/ 8 h 1231"/>
                <a:gd name="T2" fmla="*/ 196 w 926"/>
                <a:gd name="T3" fmla="*/ 1039 h 1231"/>
                <a:gd name="T4" fmla="*/ 659 w 926"/>
                <a:gd name="T5" fmla="*/ 0 h 1231"/>
                <a:gd name="T6" fmla="*/ 926 w 926"/>
                <a:gd name="T7" fmla="*/ 0 h 1231"/>
                <a:gd name="T8" fmla="*/ 926 w 926"/>
                <a:gd name="T9" fmla="*/ 1228 h 1231"/>
                <a:gd name="T10" fmla="*/ 746 w 926"/>
                <a:gd name="T11" fmla="*/ 1231 h 1231"/>
                <a:gd name="T12" fmla="*/ 746 w 926"/>
                <a:gd name="T13" fmla="*/ 429 h 1231"/>
                <a:gd name="T14" fmla="*/ 746 w 926"/>
                <a:gd name="T15" fmla="*/ 236 h 1231"/>
                <a:gd name="T16" fmla="*/ 290 w 926"/>
                <a:gd name="T17" fmla="*/ 1229 h 1231"/>
                <a:gd name="T18" fmla="*/ 0 w 926"/>
                <a:gd name="T19" fmla="*/ 1228 h 1231"/>
                <a:gd name="T20" fmla="*/ 0 w 926"/>
                <a:gd name="T21" fmla="*/ 8 h 1231"/>
                <a:gd name="T22" fmla="*/ 196 w 926"/>
                <a:gd name="T23" fmla="*/ 8 h 1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6" h="1231">
                  <a:moveTo>
                    <a:pt x="196" y="8"/>
                  </a:moveTo>
                  <a:lnTo>
                    <a:pt x="196" y="1039"/>
                  </a:lnTo>
                  <a:lnTo>
                    <a:pt x="659" y="0"/>
                  </a:lnTo>
                  <a:lnTo>
                    <a:pt x="926" y="0"/>
                  </a:lnTo>
                  <a:lnTo>
                    <a:pt x="926" y="1228"/>
                  </a:lnTo>
                  <a:lnTo>
                    <a:pt x="746" y="1231"/>
                  </a:lnTo>
                  <a:lnTo>
                    <a:pt x="746" y="429"/>
                  </a:lnTo>
                  <a:lnTo>
                    <a:pt x="746" y="236"/>
                  </a:lnTo>
                  <a:lnTo>
                    <a:pt x="290" y="1229"/>
                  </a:lnTo>
                  <a:lnTo>
                    <a:pt x="0" y="1228"/>
                  </a:lnTo>
                  <a:lnTo>
                    <a:pt x="0" y="8"/>
                  </a:lnTo>
                  <a:lnTo>
                    <a:pt x="196" y="8"/>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7" name="Freeform 12">
              <a:extLst>
                <a:ext uri="{FF2B5EF4-FFF2-40B4-BE49-F238E27FC236}">
                  <a16:creationId xmlns="" xmlns:a16="http://schemas.microsoft.com/office/drawing/2014/main" id="{8BB3B1F3-5C7D-4AC3-80B4-EEFD01B6CA0A}"/>
                </a:ext>
              </a:extLst>
            </p:cNvPr>
            <p:cNvSpPr>
              <a:spLocks noEditPoints="1"/>
            </p:cNvSpPr>
            <p:nvPr userDrawn="1"/>
          </p:nvSpPr>
          <p:spPr bwMode="auto">
            <a:xfrm>
              <a:off x="3407" y="118"/>
              <a:ext cx="173" cy="244"/>
            </a:xfrm>
            <a:custGeom>
              <a:avLst/>
              <a:gdLst>
                <a:gd name="T0" fmla="*/ 176 w 864"/>
                <a:gd name="T1" fmla="*/ 1069 h 1222"/>
                <a:gd name="T2" fmla="*/ 504 w 864"/>
                <a:gd name="T3" fmla="*/ 1069 h 1222"/>
                <a:gd name="T4" fmla="*/ 539 w 864"/>
                <a:gd name="T5" fmla="*/ 1068 h 1222"/>
                <a:gd name="T6" fmla="*/ 564 w 864"/>
                <a:gd name="T7" fmla="*/ 1065 h 1222"/>
                <a:gd name="T8" fmla="*/ 589 w 864"/>
                <a:gd name="T9" fmla="*/ 1060 h 1222"/>
                <a:gd name="T10" fmla="*/ 615 w 864"/>
                <a:gd name="T11" fmla="*/ 1050 h 1222"/>
                <a:gd name="T12" fmla="*/ 639 w 864"/>
                <a:gd name="T13" fmla="*/ 1036 h 1222"/>
                <a:gd name="T14" fmla="*/ 659 w 864"/>
                <a:gd name="T15" fmla="*/ 1015 h 1222"/>
                <a:gd name="T16" fmla="*/ 672 w 864"/>
                <a:gd name="T17" fmla="*/ 991 h 1222"/>
                <a:gd name="T18" fmla="*/ 682 w 864"/>
                <a:gd name="T19" fmla="*/ 959 h 1222"/>
                <a:gd name="T20" fmla="*/ 692 w 864"/>
                <a:gd name="T21" fmla="*/ 917 h 1222"/>
                <a:gd name="T22" fmla="*/ 697 w 864"/>
                <a:gd name="T23" fmla="*/ 875 h 1222"/>
                <a:gd name="T24" fmla="*/ 697 w 864"/>
                <a:gd name="T25" fmla="*/ 839 h 1222"/>
                <a:gd name="T26" fmla="*/ 695 w 864"/>
                <a:gd name="T27" fmla="*/ 805 h 1222"/>
                <a:gd name="T28" fmla="*/ 692 w 864"/>
                <a:gd name="T29" fmla="*/ 775 h 1222"/>
                <a:gd name="T30" fmla="*/ 685 w 864"/>
                <a:gd name="T31" fmla="*/ 747 h 1222"/>
                <a:gd name="T32" fmla="*/ 679 w 864"/>
                <a:gd name="T33" fmla="*/ 724 h 1222"/>
                <a:gd name="T34" fmla="*/ 670 w 864"/>
                <a:gd name="T35" fmla="*/ 706 h 1222"/>
                <a:gd name="T36" fmla="*/ 661 w 864"/>
                <a:gd name="T37" fmla="*/ 689 h 1222"/>
                <a:gd name="T38" fmla="*/ 651 w 864"/>
                <a:gd name="T39" fmla="*/ 678 h 1222"/>
                <a:gd name="T40" fmla="*/ 638 w 864"/>
                <a:gd name="T41" fmla="*/ 668 h 1222"/>
                <a:gd name="T42" fmla="*/ 619 w 864"/>
                <a:gd name="T43" fmla="*/ 659 h 1222"/>
                <a:gd name="T44" fmla="*/ 587 w 864"/>
                <a:gd name="T45" fmla="*/ 652 h 1222"/>
                <a:gd name="T46" fmla="*/ 520 w 864"/>
                <a:gd name="T47" fmla="*/ 648 h 1222"/>
                <a:gd name="T48" fmla="*/ 179 w 864"/>
                <a:gd name="T49" fmla="*/ 648 h 1222"/>
                <a:gd name="T50" fmla="*/ 766 w 864"/>
                <a:gd name="T51" fmla="*/ 155 h 1222"/>
                <a:gd name="T52" fmla="*/ 179 w 864"/>
                <a:gd name="T53" fmla="*/ 474 h 1222"/>
                <a:gd name="T54" fmla="*/ 561 w 864"/>
                <a:gd name="T55" fmla="*/ 473 h 1222"/>
                <a:gd name="T56" fmla="*/ 599 w 864"/>
                <a:gd name="T57" fmla="*/ 477 h 1222"/>
                <a:gd name="T58" fmla="*/ 635 w 864"/>
                <a:gd name="T59" fmla="*/ 482 h 1222"/>
                <a:gd name="T60" fmla="*/ 669 w 864"/>
                <a:gd name="T61" fmla="*/ 490 h 1222"/>
                <a:gd name="T62" fmla="*/ 698 w 864"/>
                <a:gd name="T63" fmla="*/ 501 h 1222"/>
                <a:gd name="T64" fmla="*/ 727 w 864"/>
                <a:gd name="T65" fmla="*/ 514 h 1222"/>
                <a:gd name="T66" fmla="*/ 751 w 864"/>
                <a:gd name="T67" fmla="*/ 531 h 1222"/>
                <a:gd name="T68" fmla="*/ 775 w 864"/>
                <a:gd name="T69" fmla="*/ 549 h 1222"/>
                <a:gd name="T70" fmla="*/ 794 w 864"/>
                <a:gd name="T71" fmla="*/ 571 h 1222"/>
                <a:gd name="T72" fmla="*/ 812 w 864"/>
                <a:gd name="T73" fmla="*/ 597 h 1222"/>
                <a:gd name="T74" fmla="*/ 826 w 864"/>
                <a:gd name="T75" fmla="*/ 625 h 1222"/>
                <a:gd name="T76" fmla="*/ 838 w 864"/>
                <a:gd name="T77" fmla="*/ 658 h 1222"/>
                <a:gd name="T78" fmla="*/ 848 w 864"/>
                <a:gd name="T79" fmla="*/ 693 h 1222"/>
                <a:gd name="T80" fmla="*/ 856 w 864"/>
                <a:gd name="T81" fmla="*/ 733 h 1222"/>
                <a:gd name="T82" fmla="*/ 860 w 864"/>
                <a:gd name="T83" fmla="*/ 776 h 1222"/>
                <a:gd name="T84" fmla="*/ 864 w 864"/>
                <a:gd name="T85" fmla="*/ 823 h 1222"/>
                <a:gd name="T86" fmla="*/ 864 w 864"/>
                <a:gd name="T87" fmla="*/ 872 h 1222"/>
                <a:gd name="T88" fmla="*/ 860 w 864"/>
                <a:gd name="T89" fmla="*/ 918 h 1222"/>
                <a:gd name="T90" fmla="*/ 856 w 864"/>
                <a:gd name="T91" fmla="*/ 962 h 1222"/>
                <a:gd name="T92" fmla="*/ 848 w 864"/>
                <a:gd name="T93" fmla="*/ 1002 h 1222"/>
                <a:gd name="T94" fmla="*/ 837 w 864"/>
                <a:gd name="T95" fmla="*/ 1037 h 1222"/>
                <a:gd name="T96" fmla="*/ 824 w 864"/>
                <a:gd name="T97" fmla="*/ 1070 h 1222"/>
                <a:gd name="T98" fmla="*/ 809 w 864"/>
                <a:gd name="T99" fmla="*/ 1099 h 1222"/>
                <a:gd name="T100" fmla="*/ 791 w 864"/>
                <a:gd name="T101" fmla="*/ 1125 h 1222"/>
                <a:gd name="T102" fmla="*/ 771 w 864"/>
                <a:gd name="T103" fmla="*/ 1147 h 1222"/>
                <a:gd name="T104" fmla="*/ 749 w 864"/>
                <a:gd name="T105" fmla="*/ 1165 h 1222"/>
                <a:gd name="T106" fmla="*/ 724 w 864"/>
                <a:gd name="T107" fmla="*/ 1181 h 1222"/>
                <a:gd name="T108" fmla="*/ 697 w 864"/>
                <a:gd name="T109" fmla="*/ 1194 h 1222"/>
                <a:gd name="T110" fmla="*/ 666 w 864"/>
                <a:gd name="T111" fmla="*/ 1205 h 1222"/>
                <a:gd name="T112" fmla="*/ 635 w 864"/>
                <a:gd name="T113" fmla="*/ 1213 h 1222"/>
                <a:gd name="T114" fmla="*/ 598 w 864"/>
                <a:gd name="T115" fmla="*/ 1218 h 1222"/>
                <a:gd name="T116" fmla="*/ 561 w 864"/>
                <a:gd name="T117" fmla="*/ 1220 h 1222"/>
                <a:gd name="T118" fmla="*/ 0 w 864"/>
                <a:gd name="T119" fmla="*/ 1222 h 1222"/>
                <a:gd name="T120" fmla="*/ 766 w 864"/>
                <a:gd name="T121" fmla="*/ 0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64" h="1222">
                  <a:moveTo>
                    <a:pt x="179" y="648"/>
                  </a:moveTo>
                  <a:lnTo>
                    <a:pt x="176" y="1069"/>
                  </a:lnTo>
                  <a:lnTo>
                    <a:pt x="487" y="1069"/>
                  </a:lnTo>
                  <a:lnTo>
                    <a:pt x="504" y="1069"/>
                  </a:lnTo>
                  <a:lnTo>
                    <a:pt x="527" y="1069"/>
                  </a:lnTo>
                  <a:lnTo>
                    <a:pt x="539" y="1068"/>
                  </a:lnTo>
                  <a:lnTo>
                    <a:pt x="551" y="1068"/>
                  </a:lnTo>
                  <a:lnTo>
                    <a:pt x="564" y="1065"/>
                  </a:lnTo>
                  <a:lnTo>
                    <a:pt x="576" y="1063"/>
                  </a:lnTo>
                  <a:lnTo>
                    <a:pt x="589" y="1060"/>
                  </a:lnTo>
                  <a:lnTo>
                    <a:pt x="603" y="1055"/>
                  </a:lnTo>
                  <a:lnTo>
                    <a:pt x="615" y="1050"/>
                  </a:lnTo>
                  <a:lnTo>
                    <a:pt x="627" y="1043"/>
                  </a:lnTo>
                  <a:lnTo>
                    <a:pt x="639" y="1036"/>
                  </a:lnTo>
                  <a:lnTo>
                    <a:pt x="649" y="1026"/>
                  </a:lnTo>
                  <a:lnTo>
                    <a:pt x="659" y="1015"/>
                  </a:lnTo>
                  <a:lnTo>
                    <a:pt x="668" y="1002"/>
                  </a:lnTo>
                  <a:lnTo>
                    <a:pt x="672" y="991"/>
                  </a:lnTo>
                  <a:lnTo>
                    <a:pt x="678" y="976"/>
                  </a:lnTo>
                  <a:lnTo>
                    <a:pt x="682" y="959"/>
                  </a:lnTo>
                  <a:lnTo>
                    <a:pt x="687" y="939"/>
                  </a:lnTo>
                  <a:lnTo>
                    <a:pt x="692" y="917"/>
                  </a:lnTo>
                  <a:lnTo>
                    <a:pt x="695" y="896"/>
                  </a:lnTo>
                  <a:lnTo>
                    <a:pt x="697" y="875"/>
                  </a:lnTo>
                  <a:lnTo>
                    <a:pt x="698" y="856"/>
                  </a:lnTo>
                  <a:lnTo>
                    <a:pt x="697" y="839"/>
                  </a:lnTo>
                  <a:lnTo>
                    <a:pt x="697" y="821"/>
                  </a:lnTo>
                  <a:lnTo>
                    <a:pt x="695" y="805"/>
                  </a:lnTo>
                  <a:lnTo>
                    <a:pt x="694" y="789"/>
                  </a:lnTo>
                  <a:lnTo>
                    <a:pt x="692" y="775"/>
                  </a:lnTo>
                  <a:lnTo>
                    <a:pt x="689" y="761"/>
                  </a:lnTo>
                  <a:lnTo>
                    <a:pt x="685" y="747"/>
                  </a:lnTo>
                  <a:lnTo>
                    <a:pt x="682" y="735"/>
                  </a:lnTo>
                  <a:lnTo>
                    <a:pt x="679" y="724"/>
                  </a:lnTo>
                  <a:lnTo>
                    <a:pt x="674" y="714"/>
                  </a:lnTo>
                  <a:lnTo>
                    <a:pt x="670" y="706"/>
                  </a:lnTo>
                  <a:lnTo>
                    <a:pt x="665" y="697"/>
                  </a:lnTo>
                  <a:lnTo>
                    <a:pt x="661" y="689"/>
                  </a:lnTo>
                  <a:lnTo>
                    <a:pt x="655" y="684"/>
                  </a:lnTo>
                  <a:lnTo>
                    <a:pt x="651" y="678"/>
                  </a:lnTo>
                  <a:lnTo>
                    <a:pt x="646" y="674"/>
                  </a:lnTo>
                  <a:lnTo>
                    <a:pt x="638" y="668"/>
                  </a:lnTo>
                  <a:lnTo>
                    <a:pt x="629" y="664"/>
                  </a:lnTo>
                  <a:lnTo>
                    <a:pt x="619" y="659"/>
                  </a:lnTo>
                  <a:lnTo>
                    <a:pt x="609" y="656"/>
                  </a:lnTo>
                  <a:lnTo>
                    <a:pt x="587" y="652"/>
                  </a:lnTo>
                  <a:lnTo>
                    <a:pt x="565" y="649"/>
                  </a:lnTo>
                  <a:lnTo>
                    <a:pt x="520" y="648"/>
                  </a:lnTo>
                  <a:lnTo>
                    <a:pt x="482" y="648"/>
                  </a:lnTo>
                  <a:lnTo>
                    <a:pt x="179" y="648"/>
                  </a:lnTo>
                  <a:close/>
                  <a:moveTo>
                    <a:pt x="766" y="0"/>
                  </a:moveTo>
                  <a:lnTo>
                    <a:pt x="766" y="155"/>
                  </a:lnTo>
                  <a:lnTo>
                    <a:pt x="179" y="155"/>
                  </a:lnTo>
                  <a:lnTo>
                    <a:pt x="179" y="474"/>
                  </a:lnTo>
                  <a:lnTo>
                    <a:pt x="540" y="473"/>
                  </a:lnTo>
                  <a:lnTo>
                    <a:pt x="561" y="473"/>
                  </a:lnTo>
                  <a:lnTo>
                    <a:pt x="581" y="474"/>
                  </a:lnTo>
                  <a:lnTo>
                    <a:pt x="599" y="477"/>
                  </a:lnTo>
                  <a:lnTo>
                    <a:pt x="617" y="479"/>
                  </a:lnTo>
                  <a:lnTo>
                    <a:pt x="635" y="482"/>
                  </a:lnTo>
                  <a:lnTo>
                    <a:pt x="652" y="485"/>
                  </a:lnTo>
                  <a:lnTo>
                    <a:pt x="669" y="490"/>
                  </a:lnTo>
                  <a:lnTo>
                    <a:pt x="684" y="495"/>
                  </a:lnTo>
                  <a:lnTo>
                    <a:pt x="698" y="501"/>
                  </a:lnTo>
                  <a:lnTo>
                    <a:pt x="713" y="508"/>
                  </a:lnTo>
                  <a:lnTo>
                    <a:pt x="727" y="514"/>
                  </a:lnTo>
                  <a:lnTo>
                    <a:pt x="739" y="522"/>
                  </a:lnTo>
                  <a:lnTo>
                    <a:pt x="751" y="531"/>
                  </a:lnTo>
                  <a:lnTo>
                    <a:pt x="763" y="541"/>
                  </a:lnTo>
                  <a:lnTo>
                    <a:pt x="775" y="549"/>
                  </a:lnTo>
                  <a:lnTo>
                    <a:pt x="784" y="560"/>
                  </a:lnTo>
                  <a:lnTo>
                    <a:pt x="794" y="571"/>
                  </a:lnTo>
                  <a:lnTo>
                    <a:pt x="803" y="583"/>
                  </a:lnTo>
                  <a:lnTo>
                    <a:pt x="812" y="597"/>
                  </a:lnTo>
                  <a:lnTo>
                    <a:pt x="820" y="611"/>
                  </a:lnTo>
                  <a:lnTo>
                    <a:pt x="826" y="625"/>
                  </a:lnTo>
                  <a:lnTo>
                    <a:pt x="833" y="642"/>
                  </a:lnTo>
                  <a:lnTo>
                    <a:pt x="838" y="658"/>
                  </a:lnTo>
                  <a:lnTo>
                    <a:pt x="844" y="676"/>
                  </a:lnTo>
                  <a:lnTo>
                    <a:pt x="848" y="693"/>
                  </a:lnTo>
                  <a:lnTo>
                    <a:pt x="853" y="713"/>
                  </a:lnTo>
                  <a:lnTo>
                    <a:pt x="856" y="733"/>
                  </a:lnTo>
                  <a:lnTo>
                    <a:pt x="858" y="754"/>
                  </a:lnTo>
                  <a:lnTo>
                    <a:pt x="860" y="776"/>
                  </a:lnTo>
                  <a:lnTo>
                    <a:pt x="863" y="799"/>
                  </a:lnTo>
                  <a:lnTo>
                    <a:pt x="864" y="823"/>
                  </a:lnTo>
                  <a:lnTo>
                    <a:pt x="864" y="847"/>
                  </a:lnTo>
                  <a:lnTo>
                    <a:pt x="864" y="872"/>
                  </a:lnTo>
                  <a:lnTo>
                    <a:pt x="863" y="896"/>
                  </a:lnTo>
                  <a:lnTo>
                    <a:pt x="860" y="918"/>
                  </a:lnTo>
                  <a:lnTo>
                    <a:pt x="858" y="940"/>
                  </a:lnTo>
                  <a:lnTo>
                    <a:pt x="856" y="962"/>
                  </a:lnTo>
                  <a:lnTo>
                    <a:pt x="852" y="982"/>
                  </a:lnTo>
                  <a:lnTo>
                    <a:pt x="848" y="1002"/>
                  </a:lnTo>
                  <a:lnTo>
                    <a:pt x="843" y="1019"/>
                  </a:lnTo>
                  <a:lnTo>
                    <a:pt x="837" y="1037"/>
                  </a:lnTo>
                  <a:lnTo>
                    <a:pt x="832" y="1054"/>
                  </a:lnTo>
                  <a:lnTo>
                    <a:pt x="824" y="1070"/>
                  </a:lnTo>
                  <a:lnTo>
                    <a:pt x="817" y="1085"/>
                  </a:lnTo>
                  <a:lnTo>
                    <a:pt x="809" y="1099"/>
                  </a:lnTo>
                  <a:lnTo>
                    <a:pt x="800" y="1113"/>
                  </a:lnTo>
                  <a:lnTo>
                    <a:pt x="791" y="1125"/>
                  </a:lnTo>
                  <a:lnTo>
                    <a:pt x="781" y="1137"/>
                  </a:lnTo>
                  <a:lnTo>
                    <a:pt x="771" y="1147"/>
                  </a:lnTo>
                  <a:lnTo>
                    <a:pt x="760" y="1157"/>
                  </a:lnTo>
                  <a:lnTo>
                    <a:pt x="749" y="1165"/>
                  </a:lnTo>
                  <a:lnTo>
                    <a:pt x="737" y="1173"/>
                  </a:lnTo>
                  <a:lnTo>
                    <a:pt x="724" y="1181"/>
                  </a:lnTo>
                  <a:lnTo>
                    <a:pt x="711" y="1189"/>
                  </a:lnTo>
                  <a:lnTo>
                    <a:pt x="697" y="1194"/>
                  </a:lnTo>
                  <a:lnTo>
                    <a:pt x="682" y="1200"/>
                  </a:lnTo>
                  <a:lnTo>
                    <a:pt x="666" y="1205"/>
                  </a:lnTo>
                  <a:lnTo>
                    <a:pt x="651" y="1209"/>
                  </a:lnTo>
                  <a:lnTo>
                    <a:pt x="635" y="1213"/>
                  </a:lnTo>
                  <a:lnTo>
                    <a:pt x="617" y="1216"/>
                  </a:lnTo>
                  <a:lnTo>
                    <a:pt x="598" y="1218"/>
                  </a:lnTo>
                  <a:lnTo>
                    <a:pt x="579" y="1219"/>
                  </a:lnTo>
                  <a:lnTo>
                    <a:pt x="561" y="1220"/>
                  </a:lnTo>
                  <a:lnTo>
                    <a:pt x="540" y="1222"/>
                  </a:lnTo>
                  <a:lnTo>
                    <a:pt x="0" y="1222"/>
                  </a:lnTo>
                  <a:lnTo>
                    <a:pt x="0" y="0"/>
                  </a:lnTo>
                  <a:lnTo>
                    <a:pt x="766"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8" name="Freeform 13">
              <a:extLst>
                <a:ext uri="{FF2B5EF4-FFF2-40B4-BE49-F238E27FC236}">
                  <a16:creationId xmlns="" xmlns:a16="http://schemas.microsoft.com/office/drawing/2014/main" id="{8E31BE1C-7F28-48D9-98D6-3AD7551A34EF}"/>
                </a:ext>
              </a:extLst>
            </p:cNvPr>
            <p:cNvSpPr>
              <a:spLocks/>
            </p:cNvSpPr>
            <p:nvPr userDrawn="1"/>
          </p:nvSpPr>
          <p:spPr bwMode="auto">
            <a:xfrm>
              <a:off x="3842" y="118"/>
              <a:ext cx="172" cy="244"/>
            </a:xfrm>
            <a:custGeom>
              <a:avLst/>
              <a:gdLst>
                <a:gd name="T0" fmla="*/ 181 w 857"/>
                <a:gd name="T1" fmla="*/ 0 h 1223"/>
                <a:gd name="T2" fmla="*/ 181 w 857"/>
                <a:gd name="T3" fmla="*/ 476 h 1223"/>
                <a:gd name="T4" fmla="*/ 680 w 857"/>
                <a:gd name="T5" fmla="*/ 476 h 1223"/>
                <a:gd name="T6" fmla="*/ 680 w 857"/>
                <a:gd name="T7" fmla="*/ 0 h 1223"/>
                <a:gd name="T8" fmla="*/ 857 w 857"/>
                <a:gd name="T9" fmla="*/ 0 h 1223"/>
                <a:gd name="T10" fmla="*/ 857 w 857"/>
                <a:gd name="T11" fmla="*/ 1222 h 1223"/>
                <a:gd name="T12" fmla="*/ 680 w 857"/>
                <a:gd name="T13" fmla="*/ 1222 h 1223"/>
                <a:gd name="T14" fmla="*/ 680 w 857"/>
                <a:gd name="T15" fmla="*/ 651 h 1223"/>
                <a:gd name="T16" fmla="*/ 181 w 857"/>
                <a:gd name="T17" fmla="*/ 651 h 1223"/>
                <a:gd name="T18" fmla="*/ 181 w 857"/>
                <a:gd name="T19" fmla="*/ 1223 h 1223"/>
                <a:gd name="T20" fmla="*/ 0 w 857"/>
                <a:gd name="T21" fmla="*/ 1222 h 1223"/>
                <a:gd name="T22" fmla="*/ 0 w 857"/>
                <a:gd name="T23" fmla="*/ 0 h 1223"/>
                <a:gd name="T24" fmla="*/ 181 w 857"/>
                <a:gd name="T25" fmla="*/ 0 h 1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7" h="1223">
                  <a:moveTo>
                    <a:pt x="181" y="0"/>
                  </a:moveTo>
                  <a:lnTo>
                    <a:pt x="181" y="476"/>
                  </a:lnTo>
                  <a:lnTo>
                    <a:pt x="680" y="476"/>
                  </a:lnTo>
                  <a:lnTo>
                    <a:pt x="680" y="0"/>
                  </a:lnTo>
                  <a:lnTo>
                    <a:pt x="857" y="0"/>
                  </a:lnTo>
                  <a:lnTo>
                    <a:pt x="857" y="1222"/>
                  </a:lnTo>
                  <a:lnTo>
                    <a:pt x="680" y="1222"/>
                  </a:lnTo>
                  <a:lnTo>
                    <a:pt x="680" y="651"/>
                  </a:lnTo>
                  <a:lnTo>
                    <a:pt x="181" y="651"/>
                  </a:lnTo>
                  <a:lnTo>
                    <a:pt x="181" y="1223"/>
                  </a:lnTo>
                  <a:lnTo>
                    <a:pt x="0" y="1222"/>
                  </a:lnTo>
                  <a:lnTo>
                    <a:pt x="0" y="0"/>
                  </a:lnTo>
                  <a:lnTo>
                    <a:pt x="181"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9" name="Freeform 14">
              <a:extLst>
                <a:ext uri="{FF2B5EF4-FFF2-40B4-BE49-F238E27FC236}">
                  <a16:creationId xmlns="" xmlns:a16="http://schemas.microsoft.com/office/drawing/2014/main" id="{C05D1AD9-0096-4C0D-BAD5-5849F4035C15}"/>
                </a:ext>
              </a:extLst>
            </p:cNvPr>
            <p:cNvSpPr>
              <a:spLocks/>
            </p:cNvSpPr>
            <p:nvPr userDrawn="1"/>
          </p:nvSpPr>
          <p:spPr bwMode="auto">
            <a:xfrm>
              <a:off x="4043" y="118"/>
              <a:ext cx="174" cy="244"/>
            </a:xfrm>
            <a:custGeom>
              <a:avLst/>
              <a:gdLst>
                <a:gd name="T0" fmla="*/ 522 w 869"/>
                <a:gd name="T1" fmla="*/ 173 h 1222"/>
                <a:gd name="T2" fmla="*/ 522 w 869"/>
                <a:gd name="T3" fmla="*/ 1222 h 1222"/>
                <a:gd name="T4" fmla="*/ 349 w 869"/>
                <a:gd name="T5" fmla="*/ 1222 h 1222"/>
                <a:gd name="T6" fmla="*/ 349 w 869"/>
                <a:gd name="T7" fmla="*/ 175 h 1222"/>
                <a:gd name="T8" fmla="*/ 0 w 869"/>
                <a:gd name="T9" fmla="*/ 175 h 1222"/>
                <a:gd name="T10" fmla="*/ 0 w 869"/>
                <a:gd name="T11" fmla="*/ 0 h 1222"/>
                <a:gd name="T12" fmla="*/ 869 w 869"/>
                <a:gd name="T13" fmla="*/ 0 h 1222"/>
                <a:gd name="T14" fmla="*/ 869 w 869"/>
                <a:gd name="T15" fmla="*/ 173 h 1222"/>
                <a:gd name="T16" fmla="*/ 522 w 869"/>
                <a:gd name="T17" fmla="*/ 173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9" h="1222">
                  <a:moveTo>
                    <a:pt x="522" y="173"/>
                  </a:moveTo>
                  <a:lnTo>
                    <a:pt x="522" y="1222"/>
                  </a:lnTo>
                  <a:lnTo>
                    <a:pt x="349" y="1222"/>
                  </a:lnTo>
                  <a:lnTo>
                    <a:pt x="349" y="175"/>
                  </a:lnTo>
                  <a:lnTo>
                    <a:pt x="0" y="175"/>
                  </a:lnTo>
                  <a:lnTo>
                    <a:pt x="0" y="0"/>
                  </a:lnTo>
                  <a:lnTo>
                    <a:pt x="869" y="0"/>
                  </a:lnTo>
                  <a:lnTo>
                    <a:pt x="869" y="173"/>
                  </a:lnTo>
                  <a:lnTo>
                    <a:pt x="522" y="173"/>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0" name="Freeform 15">
              <a:extLst>
                <a:ext uri="{FF2B5EF4-FFF2-40B4-BE49-F238E27FC236}">
                  <a16:creationId xmlns="" xmlns:a16="http://schemas.microsoft.com/office/drawing/2014/main" id="{FCA72287-A5EA-4037-B6AD-6F8D154C2A89}"/>
                </a:ext>
              </a:extLst>
            </p:cNvPr>
            <p:cNvSpPr>
              <a:spLocks/>
            </p:cNvSpPr>
            <p:nvPr userDrawn="1"/>
          </p:nvSpPr>
          <p:spPr bwMode="auto">
            <a:xfrm>
              <a:off x="5443" y="118"/>
              <a:ext cx="174" cy="244"/>
            </a:xfrm>
            <a:custGeom>
              <a:avLst/>
              <a:gdLst>
                <a:gd name="T0" fmla="*/ 523 w 869"/>
                <a:gd name="T1" fmla="*/ 173 h 1222"/>
                <a:gd name="T2" fmla="*/ 523 w 869"/>
                <a:gd name="T3" fmla="*/ 1222 h 1222"/>
                <a:gd name="T4" fmla="*/ 349 w 869"/>
                <a:gd name="T5" fmla="*/ 1222 h 1222"/>
                <a:gd name="T6" fmla="*/ 349 w 869"/>
                <a:gd name="T7" fmla="*/ 174 h 1222"/>
                <a:gd name="T8" fmla="*/ 0 w 869"/>
                <a:gd name="T9" fmla="*/ 174 h 1222"/>
                <a:gd name="T10" fmla="*/ 0 w 869"/>
                <a:gd name="T11" fmla="*/ 0 h 1222"/>
                <a:gd name="T12" fmla="*/ 869 w 869"/>
                <a:gd name="T13" fmla="*/ 0 h 1222"/>
                <a:gd name="T14" fmla="*/ 869 w 869"/>
                <a:gd name="T15" fmla="*/ 173 h 1222"/>
                <a:gd name="T16" fmla="*/ 523 w 869"/>
                <a:gd name="T17" fmla="*/ 173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9" h="1222">
                  <a:moveTo>
                    <a:pt x="523" y="173"/>
                  </a:moveTo>
                  <a:lnTo>
                    <a:pt x="523" y="1222"/>
                  </a:lnTo>
                  <a:lnTo>
                    <a:pt x="349" y="1222"/>
                  </a:lnTo>
                  <a:lnTo>
                    <a:pt x="349" y="174"/>
                  </a:lnTo>
                  <a:lnTo>
                    <a:pt x="0" y="174"/>
                  </a:lnTo>
                  <a:lnTo>
                    <a:pt x="0" y="0"/>
                  </a:lnTo>
                  <a:lnTo>
                    <a:pt x="869" y="0"/>
                  </a:lnTo>
                  <a:lnTo>
                    <a:pt x="869" y="173"/>
                  </a:lnTo>
                  <a:lnTo>
                    <a:pt x="523" y="173"/>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1" name="Freeform 16">
              <a:extLst>
                <a:ext uri="{FF2B5EF4-FFF2-40B4-BE49-F238E27FC236}">
                  <a16:creationId xmlns="" xmlns:a16="http://schemas.microsoft.com/office/drawing/2014/main" id="{EB968EB4-EC9B-4707-A49D-4133B3EE4267}"/>
                </a:ext>
              </a:extLst>
            </p:cNvPr>
            <p:cNvSpPr>
              <a:spLocks/>
            </p:cNvSpPr>
            <p:nvPr userDrawn="1"/>
          </p:nvSpPr>
          <p:spPr bwMode="auto">
            <a:xfrm>
              <a:off x="4424" y="118"/>
              <a:ext cx="179" cy="244"/>
            </a:xfrm>
            <a:custGeom>
              <a:avLst/>
              <a:gdLst>
                <a:gd name="T0" fmla="*/ 172 w 895"/>
                <a:gd name="T1" fmla="*/ 0 h 1222"/>
                <a:gd name="T2" fmla="*/ 172 w 895"/>
                <a:gd name="T3" fmla="*/ 476 h 1222"/>
                <a:gd name="T4" fmla="*/ 300 w 895"/>
                <a:gd name="T5" fmla="*/ 476 h 1222"/>
                <a:gd name="T6" fmla="*/ 611 w 895"/>
                <a:gd name="T7" fmla="*/ 0 h 1222"/>
                <a:gd name="T8" fmla="*/ 868 w 895"/>
                <a:gd name="T9" fmla="*/ 0 h 1222"/>
                <a:gd name="T10" fmla="*/ 434 w 895"/>
                <a:gd name="T11" fmla="*/ 548 h 1222"/>
                <a:gd name="T12" fmla="*/ 895 w 895"/>
                <a:gd name="T13" fmla="*/ 1222 h 1222"/>
                <a:gd name="T14" fmla="*/ 634 w 895"/>
                <a:gd name="T15" fmla="*/ 1222 h 1222"/>
                <a:gd name="T16" fmla="*/ 305 w 895"/>
                <a:gd name="T17" fmla="*/ 674 h 1222"/>
                <a:gd name="T18" fmla="*/ 172 w 895"/>
                <a:gd name="T19" fmla="*/ 674 h 1222"/>
                <a:gd name="T20" fmla="*/ 172 w 895"/>
                <a:gd name="T21" fmla="*/ 1222 h 1222"/>
                <a:gd name="T22" fmla="*/ 0 w 895"/>
                <a:gd name="T23" fmla="*/ 1222 h 1222"/>
                <a:gd name="T24" fmla="*/ 0 w 895"/>
                <a:gd name="T25" fmla="*/ 0 h 1222"/>
                <a:gd name="T26" fmla="*/ 172 w 895"/>
                <a:gd name="T27" fmla="*/ 0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95" h="1222">
                  <a:moveTo>
                    <a:pt x="172" y="0"/>
                  </a:moveTo>
                  <a:lnTo>
                    <a:pt x="172" y="476"/>
                  </a:lnTo>
                  <a:lnTo>
                    <a:pt x="300" y="476"/>
                  </a:lnTo>
                  <a:lnTo>
                    <a:pt x="611" y="0"/>
                  </a:lnTo>
                  <a:lnTo>
                    <a:pt x="868" y="0"/>
                  </a:lnTo>
                  <a:lnTo>
                    <a:pt x="434" y="548"/>
                  </a:lnTo>
                  <a:lnTo>
                    <a:pt x="895" y="1222"/>
                  </a:lnTo>
                  <a:lnTo>
                    <a:pt x="634" y="1222"/>
                  </a:lnTo>
                  <a:lnTo>
                    <a:pt x="305" y="674"/>
                  </a:lnTo>
                  <a:lnTo>
                    <a:pt x="172" y="674"/>
                  </a:lnTo>
                  <a:lnTo>
                    <a:pt x="172" y="1222"/>
                  </a:lnTo>
                  <a:lnTo>
                    <a:pt x="0" y="1222"/>
                  </a:lnTo>
                  <a:lnTo>
                    <a:pt x="0" y="0"/>
                  </a:lnTo>
                  <a:lnTo>
                    <a:pt x="172"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2" name="Freeform 17">
              <a:extLst>
                <a:ext uri="{FF2B5EF4-FFF2-40B4-BE49-F238E27FC236}">
                  <a16:creationId xmlns="" xmlns:a16="http://schemas.microsoft.com/office/drawing/2014/main" id="{D05E119C-3E60-48E1-B01A-B01B3CB1CBD5}"/>
                </a:ext>
              </a:extLst>
            </p:cNvPr>
            <p:cNvSpPr>
              <a:spLocks/>
            </p:cNvSpPr>
            <p:nvPr userDrawn="1"/>
          </p:nvSpPr>
          <p:spPr bwMode="auto">
            <a:xfrm>
              <a:off x="4241" y="118"/>
              <a:ext cx="153" cy="244"/>
            </a:xfrm>
            <a:custGeom>
              <a:avLst/>
              <a:gdLst>
                <a:gd name="T0" fmla="*/ 179 w 767"/>
                <a:gd name="T1" fmla="*/ 652 h 1222"/>
                <a:gd name="T2" fmla="*/ 180 w 767"/>
                <a:gd name="T3" fmla="*/ 719 h 1222"/>
                <a:gd name="T4" fmla="*/ 181 w 767"/>
                <a:gd name="T5" fmla="*/ 808 h 1222"/>
                <a:gd name="T6" fmla="*/ 183 w 767"/>
                <a:gd name="T7" fmla="*/ 892 h 1222"/>
                <a:gd name="T8" fmla="*/ 188 w 767"/>
                <a:gd name="T9" fmla="*/ 943 h 1222"/>
                <a:gd name="T10" fmla="*/ 196 w 767"/>
                <a:gd name="T11" fmla="*/ 978 h 1222"/>
                <a:gd name="T12" fmla="*/ 205 w 767"/>
                <a:gd name="T13" fmla="*/ 1000 h 1222"/>
                <a:gd name="T14" fmla="*/ 217 w 767"/>
                <a:gd name="T15" fmla="*/ 1021 h 1222"/>
                <a:gd name="T16" fmla="*/ 233 w 767"/>
                <a:gd name="T17" fmla="*/ 1040 h 1222"/>
                <a:gd name="T18" fmla="*/ 251 w 767"/>
                <a:gd name="T19" fmla="*/ 1057 h 1222"/>
                <a:gd name="T20" fmla="*/ 276 w 767"/>
                <a:gd name="T21" fmla="*/ 1068 h 1222"/>
                <a:gd name="T22" fmla="*/ 303 w 767"/>
                <a:gd name="T23" fmla="*/ 1072 h 1222"/>
                <a:gd name="T24" fmla="*/ 767 w 767"/>
                <a:gd name="T25" fmla="*/ 1222 h 1222"/>
                <a:gd name="T26" fmla="*/ 222 w 767"/>
                <a:gd name="T27" fmla="*/ 1220 h 1222"/>
                <a:gd name="T28" fmla="*/ 191 w 767"/>
                <a:gd name="T29" fmla="*/ 1218 h 1222"/>
                <a:gd name="T30" fmla="*/ 162 w 767"/>
                <a:gd name="T31" fmla="*/ 1213 h 1222"/>
                <a:gd name="T32" fmla="*/ 137 w 767"/>
                <a:gd name="T33" fmla="*/ 1204 h 1222"/>
                <a:gd name="T34" fmla="*/ 114 w 767"/>
                <a:gd name="T35" fmla="*/ 1193 h 1222"/>
                <a:gd name="T36" fmla="*/ 93 w 767"/>
                <a:gd name="T37" fmla="*/ 1180 h 1222"/>
                <a:gd name="T38" fmla="*/ 74 w 767"/>
                <a:gd name="T39" fmla="*/ 1163 h 1222"/>
                <a:gd name="T40" fmla="*/ 59 w 767"/>
                <a:gd name="T41" fmla="*/ 1145 h 1222"/>
                <a:gd name="T42" fmla="*/ 45 w 767"/>
                <a:gd name="T43" fmla="*/ 1123 h 1222"/>
                <a:gd name="T44" fmla="*/ 34 w 767"/>
                <a:gd name="T45" fmla="*/ 1097 h 1222"/>
                <a:gd name="T46" fmla="*/ 24 w 767"/>
                <a:gd name="T47" fmla="*/ 1070 h 1222"/>
                <a:gd name="T48" fmla="*/ 17 w 767"/>
                <a:gd name="T49" fmla="*/ 1040 h 1222"/>
                <a:gd name="T50" fmla="*/ 8 w 767"/>
                <a:gd name="T51" fmla="*/ 989 h 1222"/>
                <a:gd name="T52" fmla="*/ 1 w 767"/>
                <a:gd name="T53" fmla="*/ 912 h 1222"/>
                <a:gd name="T54" fmla="*/ 0 w 767"/>
                <a:gd name="T55" fmla="*/ 352 h 1222"/>
                <a:gd name="T56" fmla="*/ 3 w 767"/>
                <a:gd name="T57" fmla="*/ 269 h 1222"/>
                <a:gd name="T58" fmla="*/ 13 w 767"/>
                <a:gd name="T59" fmla="*/ 197 h 1222"/>
                <a:gd name="T60" fmla="*/ 20 w 767"/>
                <a:gd name="T61" fmla="*/ 166 h 1222"/>
                <a:gd name="T62" fmla="*/ 29 w 767"/>
                <a:gd name="T63" fmla="*/ 137 h 1222"/>
                <a:gd name="T64" fmla="*/ 40 w 767"/>
                <a:gd name="T65" fmla="*/ 111 h 1222"/>
                <a:gd name="T66" fmla="*/ 52 w 767"/>
                <a:gd name="T67" fmla="*/ 88 h 1222"/>
                <a:gd name="T68" fmla="*/ 66 w 767"/>
                <a:gd name="T69" fmla="*/ 67 h 1222"/>
                <a:gd name="T70" fmla="*/ 83 w 767"/>
                <a:gd name="T71" fmla="*/ 50 h 1222"/>
                <a:gd name="T72" fmla="*/ 103 w 767"/>
                <a:gd name="T73" fmla="*/ 34 h 1222"/>
                <a:gd name="T74" fmla="*/ 125 w 767"/>
                <a:gd name="T75" fmla="*/ 22 h 1222"/>
                <a:gd name="T76" fmla="*/ 149 w 767"/>
                <a:gd name="T77" fmla="*/ 12 h 1222"/>
                <a:gd name="T78" fmla="*/ 176 w 767"/>
                <a:gd name="T79" fmla="*/ 6 h 1222"/>
                <a:gd name="T80" fmla="*/ 205 w 767"/>
                <a:gd name="T81" fmla="*/ 1 h 1222"/>
                <a:gd name="T82" fmla="*/ 238 w 767"/>
                <a:gd name="T83" fmla="*/ 0 h 1222"/>
                <a:gd name="T84" fmla="*/ 767 w 767"/>
                <a:gd name="T85" fmla="*/ 155 h 1222"/>
                <a:gd name="T86" fmla="*/ 276 w 767"/>
                <a:gd name="T87" fmla="*/ 157 h 1222"/>
                <a:gd name="T88" fmla="*/ 258 w 767"/>
                <a:gd name="T89" fmla="*/ 162 h 1222"/>
                <a:gd name="T90" fmla="*/ 242 w 767"/>
                <a:gd name="T91" fmla="*/ 171 h 1222"/>
                <a:gd name="T92" fmla="*/ 227 w 767"/>
                <a:gd name="T93" fmla="*/ 183 h 1222"/>
                <a:gd name="T94" fmla="*/ 214 w 767"/>
                <a:gd name="T95" fmla="*/ 198 h 1222"/>
                <a:gd name="T96" fmla="*/ 203 w 767"/>
                <a:gd name="T97" fmla="*/ 214 h 1222"/>
                <a:gd name="T98" fmla="*/ 194 w 767"/>
                <a:gd name="T99" fmla="*/ 230 h 1222"/>
                <a:gd name="T100" fmla="*/ 189 w 767"/>
                <a:gd name="T101" fmla="*/ 246 h 1222"/>
                <a:gd name="T102" fmla="*/ 184 w 767"/>
                <a:gd name="T103" fmla="*/ 271 h 1222"/>
                <a:gd name="T104" fmla="*/ 181 w 767"/>
                <a:gd name="T105" fmla="*/ 324 h 1222"/>
                <a:gd name="T106" fmla="*/ 180 w 767"/>
                <a:gd name="T107" fmla="*/ 389 h 1222"/>
                <a:gd name="T108" fmla="*/ 179 w 767"/>
                <a:gd name="T109" fmla="*/ 450 h 1222"/>
                <a:gd name="T110" fmla="*/ 687 w 767"/>
                <a:gd name="T111" fmla="*/ 476 h 1222"/>
                <a:gd name="T112" fmla="*/ 260 w 767"/>
                <a:gd name="T113" fmla="*/ 652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67" h="1222">
                  <a:moveTo>
                    <a:pt x="260" y="652"/>
                  </a:moveTo>
                  <a:lnTo>
                    <a:pt x="179" y="652"/>
                  </a:lnTo>
                  <a:lnTo>
                    <a:pt x="179" y="680"/>
                  </a:lnTo>
                  <a:lnTo>
                    <a:pt x="180" y="719"/>
                  </a:lnTo>
                  <a:lnTo>
                    <a:pt x="180" y="763"/>
                  </a:lnTo>
                  <a:lnTo>
                    <a:pt x="181" y="808"/>
                  </a:lnTo>
                  <a:lnTo>
                    <a:pt x="182" y="852"/>
                  </a:lnTo>
                  <a:lnTo>
                    <a:pt x="183" y="892"/>
                  </a:lnTo>
                  <a:lnTo>
                    <a:pt x="185" y="923"/>
                  </a:lnTo>
                  <a:lnTo>
                    <a:pt x="188" y="943"/>
                  </a:lnTo>
                  <a:lnTo>
                    <a:pt x="191" y="960"/>
                  </a:lnTo>
                  <a:lnTo>
                    <a:pt x="196" y="978"/>
                  </a:lnTo>
                  <a:lnTo>
                    <a:pt x="201" y="989"/>
                  </a:lnTo>
                  <a:lnTo>
                    <a:pt x="205" y="1000"/>
                  </a:lnTo>
                  <a:lnTo>
                    <a:pt x="211" y="1010"/>
                  </a:lnTo>
                  <a:lnTo>
                    <a:pt x="217" y="1021"/>
                  </a:lnTo>
                  <a:lnTo>
                    <a:pt x="224" y="1031"/>
                  </a:lnTo>
                  <a:lnTo>
                    <a:pt x="233" y="1040"/>
                  </a:lnTo>
                  <a:lnTo>
                    <a:pt x="242" y="1049"/>
                  </a:lnTo>
                  <a:lnTo>
                    <a:pt x="251" y="1057"/>
                  </a:lnTo>
                  <a:lnTo>
                    <a:pt x="262" y="1063"/>
                  </a:lnTo>
                  <a:lnTo>
                    <a:pt x="276" y="1068"/>
                  </a:lnTo>
                  <a:lnTo>
                    <a:pt x="289" y="1071"/>
                  </a:lnTo>
                  <a:lnTo>
                    <a:pt x="303" y="1072"/>
                  </a:lnTo>
                  <a:lnTo>
                    <a:pt x="767" y="1072"/>
                  </a:lnTo>
                  <a:lnTo>
                    <a:pt x="767" y="1222"/>
                  </a:lnTo>
                  <a:lnTo>
                    <a:pt x="238" y="1222"/>
                  </a:lnTo>
                  <a:lnTo>
                    <a:pt x="222" y="1220"/>
                  </a:lnTo>
                  <a:lnTo>
                    <a:pt x="205" y="1219"/>
                  </a:lnTo>
                  <a:lnTo>
                    <a:pt x="191" y="1218"/>
                  </a:lnTo>
                  <a:lnTo>
                    <a:pt x="176" y="1216"/>
                  </a:lnTo>
                  <a:lnTo>
                    <a:pt x="162" y="1213"/>
                  </a:lnTo>
                  <a:lnTo>
                    <a:pt x="149" y="1208"/>
                  </a:lnTo>
                  <a:lnTo>
                    <a:pt x="137" y="1204"/>
                  </a:lnTo>
                  <a:lnTo>
                    <a:pt x="125" y="1200"/>
                  </a:lnTo>
                  <a:lnTo>
                    <a:pt x="114" y="1193"/>
                  </a:lnTo>
                  <a:lnTo>
                    <a:pt x="103" y="1187"/>
                  </a:lnTo>
                  <a:lnTo>
                    <a:pt x="93" y="1180"/>
                  </a:lnTo>
                  <a:lnTo>
                    <a:pt x="83" y="1172"/>
                  </a:lnTo>
                  <a:lnTo>
                    <a:pt x="74" y="1163"/>
                  </a:lnTo>
                  <a:lnTo>
                    <a:pt x="66" y="1154"/>
                  </a:lnTo>
                  <a:lnTo>
                    <a:pt x="59" y="1145"/>
                  </a:lnTo>
                  <a:lnTo>
                    <a:pt x="52" y="1134"/>
                  </a:lnTo>
                  <a:lnTo>
                    <a:pt x="45" y="1123"/>
                  </a:lnTo>
                  <a:lnTo>
                    <a:pt x="40" y="1110"/>
                  </a:lnTo>
                  <a:lnTo>
                    <a:pt x="34" y="1097"/>
                  </a:lnTo>
                  <a:lnTo>
                    <a:pt x="29" y="1084"/>
                  </a:lnTo>
                  <a:lnTo>
                    <a:pt x="24" y="1070"/>
                  </a:lnTo>
                  <a:lnTo>
                    <a:pt x="20" y="1055"/>
                  </a:lnTo>
                  <a:lnTo>
                    <a:pt x="17" y="1040"/>
                  </a:lnTo>
                  <a:lnTo>
                    <a:pt x="13" y="1024"/>
                  </a:lnTo>
                  <a:lnTo>
                    <a:pt x="8" y="989"/>
                  </a:lnTo>
                  <a:lnTo>
                    <a:pt x="3" y="952"/>
                  </a:lnTo>
                  <a:lnTo>
                    <a:pt x="1" y="912"/>
                  </a:lnTo>
                  <a:lnTo>
                    <a:pt x="0" y="870"/>
                  </a:lnTo>
                  <a:lnTo>
                    <a:pt x="0" y="352"/>
                  </a:lnTo>
                  <a:lnTo>
                    <a:pt x="1" y="309"/>
                  </a:lnTo>
                  <a:lnTo>
                    <a:pt x="3" y="269"/>
                  </a:lnTo>
                  <a:lnTo>
                    <a:pt x="8" y="232"/>
                  </a:lnTo>
                  <a:lnTo>
                    <a:pt x="13" y="197"/>
                  </a:lnTo>
                  <a:lnTo>
                    <a:pt x="17" y="182"/>
                  </a:lnTo>
                  <a:lnTo>
                    <a:pt x="20" y="166"/>
                  </a:lnTo>
                  <a:lnTo>
                    <a:pt x="24" y="151"/>
                  </a:lnTo>
                  <a:lnTo>
                    <a:pt x="29" y="137"/>
                  </a:lnTo>
                  <a:lnTo>
                    <a:pt x="34" y="123"/>
                  </a:lnTo>
                  <a:lnTo>
                    <a:pt x="40" y="111"/>
                  </a:lnTo>
                  <a:lnTo>
                    <a:pt x="45" y="99"/>
                  </a:lnTo>
                  <a:lnTo>
                    <a:pt x="52" y="88"/>
                  </a:lnTo>
                  <a:lnTo>
                    <a:pt x="59" y="77"/>
                  </a:lnTo>
                  <a:lnTo>
                    <a:pt x="66" y="67"/>
                  </a:lnTo>
                  <a:lnTo>
                    <a:pt x="74" y="59"/>
                  </a:lnTo>
                  <a:lnTo>
                    <a:pt x="83" y="50"/>
                  </a:lnTo>
                  <a:lnTo>
                    <a:pt x="93" y="42"/>
                  </a:lnTo>
                  <a:lnTo>
                    <a:pt x="103" y="34"/>
                  </a:lnTo>
                  <a:lnTo>
                    <a:pt x="114" y="28"/>
                  </a:lnTo>
                  <a:lnTo>
                    <a:pt x="125" y="22"/>
                  </a:lnTo>
                  <a:lnTo>
                    <a:pt x="137" y="17"/>
                  </a:lnTo>
                  <a:lnTo>
                    <a:pt x="149" y="12"/>
                  </a:lnTo>
                  <a:lnTo>
                    <a:pt x="162" y="9"/>
                  </a:lnTo>
                  <a:lnTo>
                    <a:pt x="176" y="6"/>
                  </a:lnTo>
                  <a:lnTo>
                    <a:pt x="191" y="4"/>
                  </a:lnTo>
                  <a:lnTo>
                    <a:pt x="205" y="1"/>
                  </a:lnTo>
                  <a:lnTo>
                    <a:pt x="222" y="0"/>
                  </a:lnTo>
                  <a:lnTo>
                    <a:pt x="238" y="0"/>
                  </a:lnTo>
                  <a:lnTo>
                    <a:pt x="767" y="0"/>
                  </a:lnTo>
                  <a:lnTo>
                    <a:pt x="767" y="155"/>
                  </a:lnTo>
                  <a:lnTo>
                    <a:pt x="286" y="155"/>
                  </a:lnTo>
                  <a:lnTo>
                    <a:pt x="276" y="157"/>
                  </a:lnTo>
                  <a:lnTo>
                    <a:pt x="267" y="159"/>
                  </a:lnTo>
                  <a:lnTo>
                    <a:pt x="258" y="162"/>
                  </a:lnTo>
                  <a:lnTo>
                    <a:pt x="250" y="166"/>
                  </a:lnTo>
                  <a:lnTo>
                    <a:pt x="242" y="171"/>
                  </a:lnTo>
                  <a:lnTo>
                    <a:pt x="234" y="177"/>
                  </a:lnTo>
                  <a:lnTo>
                    <a:pt x="227" y="183"/>
                  </a:lnTo>
                  <a:lnTo>
                    <a:pt x="221" y="191"/>
                  </a:lnTo>
                  <a:lnTo>
                    <a:pt x="214" y="198"/>
                  </a:lnTo>
                  <a:lnTo>
                    <a:pt x="208" y="206"/>
                  </a:lnTo>
                  <a:lnTo>
                    <a:pt x="203" y="214"/>
                  </a:lnTo>
                  <a:lnTo>
                    <a:pt x="199" y="223"/>
                  </a:lnTo>
                  <a:lnTo>
                    <a:pt x="194" y="230"/>
                  </a:lnTo>
                  <a:lnTo>
                    <a:pt x="191" y="238"/>
                  </a:lnTo>
                  <a:lnTo>
                    <a:pt x="189" y="246"/>
                  </a:lnTo>
                  <a:lnTo>
                    <a:pt x="186" y="252"/>
                  </a:lnTo>
                  <a:lnTo>
                    <a:pt x="184" y="271"/>
                  </a:lnTo>
                  <a:lnTo>
                    <a:pt x="182" y="295"/>
                  </a:lnTo>
                  <a:lnTo>
                    <a:pt x="181" y="324"/>
                  </a:lnTo>
                  <a:lnTo>
                    <a:pt x="180" y="356"/>
                  </a:lnTo>
                  <a:lnTo>
                    <a:pt x="180" y="389"/>
                  </a:lnTo>
                  <a:lnTo>
                    <a:pt x="180" y="421"/>
                  </a:lnTo>
                  <a:lnTo>
                    <a:pt x="179" y="450"/>
                  </a:lnTo>
                  <a:lnTo>
                    <a:pt x="179" y="476"/>
                  </a:lnTo>
                  <a:lnTo>
                    <a:pt x="687" y="476"/>
                  </a:lnTo>
                  <a:lnTo>
                    <a:pt x="687" y="652"/>
                  </a:lnTo>
                  <a:lnTo>
                    <a:pt x="260" y="652"/>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3" name="Freeform 18">
              <a:extLst>
                <a:ext uri="{FF2B5EF4-FFF2-40B4-BE49-F238E27FC236}">
                  <a16:creationId xmlns="" xmlns:a16="http://schemas.microsoft.com/office/drawing/2014/main" id="{A8BB4230-E2E8-42B7-A1FA-EA061338AC4C}"/>
                </a:ext>
              </a:extLst>
            </p:cNvPr>
            <p:cNvSpPr>
              <a:spLocks/>
            </p:cNvSpPr>
            <p:nvPr userDrawn="1"/>
          </p:nvSpPr>
          <p:spPr bwMode="auto">
            <a:xfrm>
              <a:off x="2971" y="118"/>
              <a:ext cx="184" cy="247"/>
            </a:xfrm>
            <a:custGeom>
              <a:avLst/>
              <a:gdLst>
                <a:gd name="T0" fmla="*/ 695 w 920"/>
                <a:gd name="T1" fmla="*/ 1037 h 1237"/>
                <a:gd name="T2" fmla="*/ 670 w 920"/>
                <a:gd name="T3" fmla="*/ 1057 h 1237"/>
                <a:gd name="T4" fmla="*/ 636 w 920"/>
                <a:gd name="T5" fmla="*/ 1068 h 1237"/>
                <a:gd name="T6" fmla="*/ 397 w 920"/>
                <a:gd name="T7" fmla="*/ 1071 h 1237"/>
                <a:gd name="T8" fmla="*/ 322 w 920"/>
                <a:gd name="T9" fmla="*/ 1062 h 1237"/>
                <a:gd name="T10" fmla="*/ 283 w 920"/>
                <a:gd name="T11" fmla="*/ 1047 h 1237"/>
                <a:gd name="T12" fmla="*/ 252 w 920"/>
                <a:gd name="T13" fmla="*/ 1024 h 1237"/>
                <a:gd name="T14" fmla="*/ 228 w 920"/>
                <a:gd name="T15" fmla="*/ 992 h 1237"/>
                <a:gd name="T16" fmla="*/ 206 w 920"/>
                <a:gd name="T17" fmla="*/ 921 h 1237"/>
                <a:gd name="T18" fmla="*/ 194 w 920"/>
                <a:gd name="T19" fmla="*/ 800 h 1237"/>
                <a:gd name="T20" fmla="*/ 201 w 920"/>
                <a:gd name="T21" fmla="*/ 345 h 1237"/>
                <a:gd name="T22" fmla="*/ 224 w 920"/>
                <a:gd name="T23" fmla="*/ 256 h 1237"/>
                <a:gd name="T24" fmla="*/ 245 w 920"/>
                <a:gd name="T25" fmla="*/ 220 h 1237"/>
                <a:gd name="T26" fmla="*/ 274 w 920"/>
                <a:gd name="T27" fmla="*/ 196 h 1237"/>
                <a:gd name="T28" fmla="*/ 311 w 920"/>
                <a:gd name="T29" fmla="*/ 179 h 1237"/>
                <a:gd name="T30" fmla="*/ 370 w 920"/>
                <a:gd name="T31" fmla="*/ 168 h 1237"/>
                <a:gd name="T32" fmla="*/ 625 w 920"/>
                <a:gd name="T33" fmla="*/ 168 h 1237"/>
                <a:gd name="T34" fmla="*/ 665 w 920"/>
                <a:gd name="T35" fmla="*/ 177 h 1237"/>
                <a:gd name="T36" fmla="*/ 694 w 920"/>
                <a:gd name="T37" fmla="*/ 195 h 1237"/>
                <a:gd name="T38" fmla="*/ 726 w 920"/>
                <a:gd name="T39" fmla="*/ 236 h 1237"/>
                <a:gd name="T40" fmla="*/ 745 w 920"/>
                <a:gd name="T41" fmla="*/ 290 h 1237"/>
                <a:gd name="T42" fmla="*/ 754 w 920"/>
                <a:gd name="T43" fmla="*/ 356 h 1237"/>
                <a:gd name="T44" fmla="*/ 914 w 920"/>
                <a:gd name="T45" fmla="*/ 256 h 1237"/>
                <a:gd name="T46" fmla="*/ 901 w 920"/>
                <a:gd name="T47" fmla="*/ 187 h 1237"/>
                <a:gd name="T48" fmla="*/ 880 w 920"/>
                <a:gd name="T49" fmla="*/ 129 h 1237"/>
                <a:gd name="T50" fmla="*/ 851 w 920"/>
                <a:gd name="T51" fmla="*/ 81 h 1237"/>
                <a:gd name="T52" fmla="*/ 816 w 920"/>
                <a:gd name="T53" fmla="*/ 43 h 1237"/>
                <a:gd name="T54" fmla="*/ 771 w 920"/>
                <a:gd name="T55" fmla="*/ 18 h 1237"/>
                <a:gd name="T56" fmla="*/ 711 w 920"/>
                <a:gd name="T57" fmla="*/ 4 h 1237"/>
                <a:gd name="T58" fmla="*/ 292 w 920"/>
                <a:gd name="T59" fmla="*/ 0 h 1237"/>
                <a:gd name="T60" fmla="*/ 216 w 920"/>
                <a:gd name="T61" fmla="*/ 6 h 1237"/>
                <a:gd name="T62" fmla="*/ 154 w 920"/>
                <a:gd name="T63" fmla="*/ 22 h 1237"/>
                <a:gd name="T64" fmla="*/ 103 w 920"/>
                <a:gd name="T65" fmla="*/ 50 h 1237"/>
                <a:gd name="T66" fmla="*/ 64 w 920"/>
                <a:gd name="T67" fmla="*/ 89 h 1237"/>
                <a:gd name="T68" fmla="*/ 37 w 920"/>
                <a:gd name="T69" fmla="*/ 139 h 1237"/>
                <a:gd name="T70" fmla="*/ 17 w 920"/>
                <a:gd name="T71" fmla="*/ 201 h 1237"/>
                <a:gd name="T72" fmla="*/ 5 w 920"/>
                <a:gd name="T73" fmla="*/ 272 h 1237"/>
                <a:gd name="T74" fmla="*/ 1 w 920"/>
                <a:gd name="T75" fmla="*/ 925 h 1237"/>
                <a:gd name="T76" fmla="*/ 12 w 920"/>
                <a:gd name="T77" fmla="*/ 1020 h 1237"/>
                <a:gd name="T78" fmla="*/ 31 w 920"/>
                <a:gd name="T79" fmla="*/ 1084 h 1237"/>
                <a:gd name="T80" fmla="*/ 57 w 920"/>
                <a:gd name="T81" fmla="*/ 1137 h 1237"/>
                <a:gd name="T82" fmla="*/ 92 w 920"/>
                <a:gd name="T83" fmla="*/ 1179 h 1237"/>
                <a:gd name="T84" fmla="*/ 139 w 920"/>
                <a:gd name="T85" fmla="*/ 1209 h 1237"/>
                <a:gd name="T86" fmla="*/ 200 w 920"/>
                <a:gd name="T87" fmla="*/ 1228 h 1237"/>
                <a:gd name="T88" fmla="*/ 273 w 920"/>
                <a:gd name="T89" fmla="*/ 1237 h 1237"/>
                <a:gd name="T90" fmla="*/ 695 w 920"/>
                <a:gd name="T91" fmla="*/ 1236 h 1237"/>
                <a:gd name="T92" fmla="*/ 758 w 920"/>
                <a:gd name="T93" fmla="*/ 1224 h 1237"/>
                <a:gd name="T94" fmla="*/ 806 w 920"/>
                <a:gd name="T95" fmla="*/ 1201 h 1237"/>
                <a:gd name="T96" fmla="*/ 842 w 920"/>
                <a:gd name="T97" fmla="*/ 1167 h 1237"/>
                <a:gd name="T98" fmla="*/ 873 w 920"/>
                <a:gd name="T99" fmla="*/ 1121 h 1237"/>
                <a:gd name="T100" fmla="*/ 896 w 920"/>
                <a:gd name="T101" fmla="*/ 1065 h 1237"/>
                <a:gd name="T102" fmla="*/ 911 w 920"/>
                <a:gd name="T103" fmla="*/ 999 h 1237"/>
                <a:gd name="T104" fmla="*/ 920 w 920"/>
                <a:gd name="T105" fmla="*/ 882 h 1237"/>
                <a:gd name="T106" fmla="*/ 748 w 920"/>
                <a:gd name="T107" fmla="*/ 931 h 1237"/>
                <a:gd name="T108" fmla="*/ 727 w 920"/>
                <a:gd name="T109" fmla="*/ 991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20" h="1237">
                  <a:moveTo>
                    <a:pt x="720" y="1002"/>
                  </a:moveTo>
                  <a:lnTo>
                    <a:pt x="710" y="1017"/>
                  </a:lnTo>
                  <a:lnTo>
                    <a:pt x="700" y="1031"/>
                  </a:lnTo>
                  <a:lnTo>
                    <a:pt x="695" y="1037"/>
                  </a:lnTo>
                  <a:lnTo>
                    <a:pt x="689" y="1042"/>
                  </a:lnTo>
                  <a:lnTo>
                    <a:pt x="684" y="1048"/>
                  </a:lnTo>
                  <a:lnTo>
                    <a:pt x="678" y="1052"/>
                  </a:lnTo>
                  <a:lnTo>
                    <a:pt x="670" y="1057"/>
                  </a:lnTo>
                  <a:lnTo>
                    <a:pt x="664" y="1060"/>
                  </a:lnTo>
                  <a:lnTo>
                    <a:pt x="655" y="1063"/>
                  </a:lnTo>
                  <a:lnTo>
                    <a:pt x="646" y="1066"/>
                  </a:lnTo>
                  <a:lnTo>
                    <a:pt x="636" y="1068"/>
                  </a:lnTo>
                  <a:lnTo>
                    <a:pt x="625" y="1070"/>
                  </a:lnTo>
                  <a:lnTo>
                    <a:pt x="613" y="1071"/>
                  </a:lnTo>
                  <a:lnTo>
                    <a:pt x="599" y="1071"/>
                  </a:lnTo>
                  <a:lnTo>
                    <a:pt x="397" y="1071"/>
                  </a:lnTo>
                  <a:lnTo>
                    <a:pt x="370" y="1070"/>
                  </a:lnTo>
                  <a:lnTo>
                    <a:pt x="344" y="1066"/>
                  </a:lnTo>
                  <a:lnTo>
                    <a:pt x="333" y="1065"/>
                  </a:lnTo>
                  <a:lnTo>
                    <a:pt x="322" y="1062"/>
                  </a:lnTo>
                  <a:lnTo>
                    <a:pt x="311" y="1059"/>
                  </a:lnTo>
                  <a:lnTo>
                    <a:pt x="301" y="1055"/>
                  </a:lnTo>
                  <a:lnTo>
                    <a:pt x="291" y="1051"/>
                  </a:lnTo>
                  <a:lnTo>
                    <a:pt x="283" y="1047"/>
                  </a:lnTo>
                  <a:lnTo>
                    <a:pt x="274" y="1042"/>
                  </a:lnTo>
                  <a:lnTo>
                    <a:pt x="266" y="1037"/>
                  </a:lnTo>
                  <a:lnTo>
                    <a:pt x="258" y="1030"/>
                  </a:lnTo>
                  <a:lnTo>
                    <a:pt x="252" y="1024"/>
                  </a:lnTo>
                  <a:lnTo>
                    <a:pt x="245" y="1017"/>
                  </a:lnTo>
                  <a:lnTo>
                    <a:pt x="240" y="1009"/>
                  </a:lnTo>
                  <a:lnTo>
                    <a:pt x="234" y="1002"/>
                  </a:lnTo>
                  <a:lnTo>
                    <a:pt x="228" y="992"/>
                  </a:lnTo>
                  <a:lnTo>
                    <a:pt x="224" y="982"/>
                  </a:lnTo>
                  <a:lnTo>
                    <a:pt x="220" y="971"/>
                  </a:lnTo>
                  <a:lnTo>
                    <a:pt x="212" y="948"/>
                  </a:lnTo>
                  <a:lnTo>
                    <a:pt x="206" y="921"/>
                  </a:lnTo>
                  <a:lnTo>
                    <a:pt x="201" y="893"/>
                  </a:lnTo>
                  <a:lnTo>
                    <a:pt x="198" y="863"/>
                  </a:lnTo>
                  <a:lnTo>
                    <a:pt x="195" y="832"/>
                  </a:lnTo>
                  <a:lnTo>
                    <a:pt x="194" y="800"/>
                  </a:lnTo>
                  <a:lnTo>
                    <a:pt x="194" y="437"/>
                  </a:lnTo>
                  <a:lnTo>
                    <a:pt x="195" y="405"/>
                  </a:lnTo>
                  <a:lnTo>
                    <a:pt x="198" y="375"/>
                  </a:lnTo>
                  <a:lnTo>
                    <a:pt x="201" y="345"/>
                  </a:lnTo>
                  <a:lnTo>
                    <a:pt x="206" y="317"/>
                  </a:lnTo>
                  <a:lnTo>
                    <a:pt x="212" y="291"/>
                  </a:lnTo>
                  <a:lnTo>
                    <a:pt x="220" y="267"/>
                  </a:lnTo>
                  <a:lnTo>
                    <a:pt x="224" y="256"/>
                  </a:lnTo>
                  <a:lnTo>
                    <a:pt x="228" y="246"/>
                  </a:lnTo>
                  <a:lnTo>
                    <a:pt x="234" y="236"/>
                  </a:lnTo>
                  <a:lnTo>
                    <a:pt x="240" y="228"/>
                  </a:lnTo>
                  <a:lnTo>
                    <a:pt x="245" y="220"/>
                  </a:lnTo>
                  <a:lnTo>
                    <a:pt x="252" y="214"/>
                  </a:lnTo>
                  <a:lnTo>
                    <a:pt x="258" y="207"/>
                  </a:lnTo>
                  <a:lnTo>
                    <a:pt x="266" y="202"/>
                  </a:lnTo>
                  <a:lnTo>
                    <a:pt x="274" y="196"/>
                  </a:lnTo>
                  <a:lnTo>
                    <a:pt x="283" y="191"/>
                  </a:lnTo>
                  <a:lnTo>
                    <a:pt x="291" y="186"/>
                  </a:lnTo>
                  <a:lnTo>
                    <a:pt x="301" y="182"/>
                  </a:lnTo>
                  <a:lnTo>
                    <a:pt x="311" y="179"/>
                  </a:lnTo>
                  <a:lnTo>
                    <a:pt x="322" y="175"/>
                  </a:lnTo>
                  <a:lnTo>
                    <a:pt x="333" y="173"/>
                  </a:lnTo>
                  <a:lnTo>
                    <a:pt x="344" y="171"/>
                  </a:lnTo>
                  <a:lnTo>
                    <a:pt x="370" y="168"/>
                  </a:lnTo>
                  <a:lnTo>
                    <a:pt x="397" y="166"/>
                  </a:lnTo>
                  <a:lnTo>
                    <a:pt x="599" y="166"/>
                  </a:lnTo>
                  <a:lnTo>
                    <a:pt x="613" y="166"/>
                  </a:lnTo>
                  <a:lnTo>
                    <a:pt x="625" y="168"/>
                  </a:lnTo>
                  <a:lnTo>
                    <a:pt x="637" y="170"/>
                  </a:lnTo>
                  <a:lnTo>
                    <a:pt x="647" y="172"/>
                  </a:lnTo>
                  <a:lnTo>
                    <a:pt x="657" y="174"/>
                  </a:lnTo>
                  <a:lnTo>
                    <a:pt x="665" y="177"/>
                  </a:lnTo>
                  <a:lnTo>
                    <a:pt x="674" y="181"/>
                  </a:lnTo>
                  <a:lnTo>
                    <a:pt x="680" y="185"/>
                  </a:lnTo>
                  <a:lnTo>
                    <a:pt x="687" y="191"/>
                  </a:lnTo>
                  <a:lnTo>
                    <a:pt x="694" y="195"/>
                  </a:lnTo>
                  <a:lnTo>
                    <a:pt x="699" y="201"/>
                  </a:lnTo>
                  <a:lnTo>
                    <a:pt x="705" y="207"/>
                  </a:lnTo>
                  <a:lnTo>
                    <a:pt x="716" y="220"/>
                  </a:lnTo>
                  <a:lnTo>
                    <a:pt x="726" y="236"/>
                  </a:lnTo>
                  <a:lnTo>
                    <a:pt x="732" y="247"/>
                  </a:lnTo>
                  <a:lnTo>
                    <a:pt x="738" y="260"/>
                  </a:lnTo>
                  <a:lnTo>
                    <a:pt x="742" y="274"/>
                  </a:lnTo>
                  <a:lnTo>
                    <a:pt x="745" y="290"/>
                  </a:lnTo>
                  <a:lnTo>
                    <a:pt x="749" y="306"/>
                  </a:lnTo>
                  <a:lnTo>
                    <a:pt x="751" y="323"/>
                  </a:lnTo>
                  <a:lnTo>
                    <a:pt x="753" y="339"/>
                  </a:lnTo>
                  <a:lnTo>
                    <a:pt x="754" y="356"/>
                  </a:lnTo>
                  <a:lnTo>
                    <a:pt x="920" y="356"/>
                  </a:lnTo>
                  <a:lnTo>
                    <a:pt x="918" y="314"/>
                  </a:lnTo>
                  <a:lnTo>
                    <a:pt x="916" y="274"/>
                  </a:lnTo>
                  <a:lnTo>
                    <a:pt x="914" y="256"/>
                  </a:lnTo>
                  <a:lnTo>
                    <a:pt x="911" y="238"/>
                  </a:lnTo>
                  <a:lnTo>
                    <a:pt x="909" y="220"/>
                  </a:lnTo>
                  <a:lnTo>
                    <a:pt x="904" y="204"/>
                  </a:lnTo>
                  <a:lnTo>
                    <a:pt x="901" y="187"/>
                  </a:lnTo>
                  <a:lnTo>
                    <a:pt x="896" y="172"/>
                  </a:lnTo>
                  <a:lnTo>
                    <a:pt x="891" y="158"/>
                  </a:lnTo>
                  <a:lnTo>
                    <a:pt x="885" y="143"/>
                  </a:lnTo>
                  <a:lnTo>
                    <a:pt x="880" y="129"/>
                  </a:lnTo>
                  <a:lnTo>
                    <a:pt x="873" y="116"/>
                  </a:lnTo>
                  <a:lnTo>
                    <a:pt x="866" y="104"/>
                  </a:lnTo>
                  <a:lnTo>
                    <a:pt x="859" y="92"/>
                  </a:lnTo>
                  <a:lnTo>
                    <a:pt x="851" y="81"/>
                  </a:lnTo>
                  <a:lnTo>
                    <a:pt x="842" y="71"/>
                  </a:lnTo>
                  <a:lnTo>
                    <a:pt x="835" y="61"/>
                  </a:lnTo>
                  <a:lnTo>
                    <a:pt x="826" y="52"/>
                  </a:lnTo>
                  <a:lnTo>
                    <a:pt x="816" y="43"/>
                  </a:lnTo>
                  <a:lnTo>
                    <a:pt x="806" y="35"/>
                  </a:lnTo>
                  <a:lnTo>
                    <a:pt x="795" y="29"/>
                  </a:lnTo>
                  <a:lnTo>
                    <a:pt x="783" y="23"/>
                  </a:lnTo>
                  <a:lnTo>
                    <a:pt x="771" y="18"/>
                  </a:lnTo>
                  <a:lnTo>
                    <a:pt x="758" y="13"/>
                  </a:lnTo>
                  <a:lnTo>
                    <a:pt x="743" y="9"/>
                  </a:lnTo>
                  <a:lnTo>
                    <a:pt x="728" y="6"/>
                  </a:lnTo>
                  <a:lnTo>
                    <a:pt x="711" y="4"/>
                  </a:lnTo>
                  <a:lnTo>
                    <a:pt x="695" y="1"/>
                  </a:lnTo>
                  <a:lnTo>
                    <a:pt x="676" y="0"/>
                  </a:lnTo>
                  <a:lnTo>
                    <a:pt x="655" y="0"/>
                  </a:lnTo>
                  <a:lnTo>
                    <a:pt x="292" y="0"/>
                  </a:lnTo>
                  <a:lnTo>
                    <a:pt x="273" y="0"/>
                  </a:lnTo>
                  <a:lnTo>
                    <a:pt x="253" y="1"/>
                  </a:lnTo>
                  <a:lnTo>
                    <a:pt x="235" y="4"/>
                  </a:lnTo>
                  <a:lnTo>
                    <a:pt x="216" y="6"/>
                  </a:lnTo>
                  <a:lnTo>
                    <a:pt x="200" y="9"/>
                  </a:lnTo>
                  <a:lnTo>
                    <a:pt x="183" y="13"/>
                  </a:lnTo>
                  <a:lnTo>
                    <a:pt x="168" y="18"/>
                  </a:lnTo>
                  <a:lnTo>
                    <a:pt x="154" y="22"/>
                  </a:lnTo>
                  <a:lnTo>
                    <a:pt x="139" y="29"/>
                  </a:lnTo>
                  <a:lnTo>
                    <a:pt x="127" y="35"/>
                  </a:lnTo>
                  <a:lnTo>
                    <a:pt x="114" y="42"/>
                  </a:lnTo>
                  <a:lnTo>
                    <a:pt x="103" y="50"/>
                  </a:lnTo>
                  <a:lnTo>
                    <a:pt x="92" y="59"/>
                  </a:lnTo>
                  <a:lnTo>
                    <a:pt x="82" y="68"/>
                  </a:lnTo>
                  <a:lnTo>
                    <a:pt x="73" y="78"/>
                  </a:lnTo>
                  <a:lnTo>
                    <a:pt x="64" y="89"/>
                  </a:lnTo>
                  <a:lnTo>
                    <a:pt x="57" y="100"/>
                  </a:lnTo>
                  <a:lnTo>
                    <a:pt x="50" y="112"/>
                  </a:lnTo>
                  <a:lnTo>
                    <a:pt x="43" y="126"/>
                  </a:lnTo>
                  <a:lnTo>
                    <a:pt x="37" y="139"/>
                  </a:lnTo>
                  <a:lnTo>
                    <a:pt x="31" y="153"/>
                  </a:lnTo>
                  <a:lnTo>
                    <a:pt x="26" y="169"/>
                  </a:lnTo>
                  <a:lnTo>
                    <a:pt x="21" y="184"/>
                  </a:lnTo>
                  <a:lnTo>
                    <a:pt x="17" y="201"/>
                  </a:lnTo>
                  <a:lnTo>
                    <a:pt x="12" y="217"/>
                  </a:lnTo>
                  <a:lnTo>
                    <a:pt x="10" y="235"/>
                  </a:lnTo>
                  <a:lnTo>
                    <a:pt x="7" y="253"/>
                  </a:lnTo>
                  <a:lnTo>
                    <a:pt x="5" y="272"/>
                  </a:lnTo>
                  <a:lnTo>
                    <a:pt x="1" y="313"/>
                  </a:lnTo>
                  <a:lnTo>
                    <a:pt x="0" y="357"/>
                  </a:lnTo>
                  <a:lnTo>
                    <a:pt x="0" y="881"/>
                  </a:lnTo>
                  <a:lnTo>
                    <a:pt x="1" y="925"/>
                  </a:lnTo>
                  <a:lnTo>
                    <a:pt x="5" y="965"/>
                  </a:lnTo>
                  <a:lnTo>
                    <a:pt x="7" y="984"/>
                  </a:lnTo>
                  <a:lnTo>
                    <a:pt x="10" y="1003"/>
                  </a:lnTo>
                  <a:lnTo>
                    <a:pt x="12" y="1020"/>
                  </a:lnTo>
                  <a:lnTo>
                    <a:pt x="17" y="1037"/>
                  </a:lnTo>
                  <a:lnTo>
                    <a:pt x="21" y="1053"/>
                  </a:lnTo>
                  <a:lnTo>
                    <a:pt x="26" y="1070"/>
                  </a:lnTo>
                  <a:lnTo>
                    <a:pt x="31" y="1084"/>
                  </a:lnTo>
                  <a:lnTo>
                    <a:pt x="37" y="1098"/>
                  </a:lnTo>
                  <a:lnTo>
                    <a:pt x="43" y="1112"/>
                  </a:lnTo>
                  <a:lnTo>
                    <a:pt x="50" y="1125"/>
                  </a:lnTo>
                  <a:lnTo>
                    <a:pt x="57" y="1137"/>
                  </a:lnTo>
                  <a:lnTo>
                    <a:pt x="64" y="1149"/>
                  </a:lnTo>
                  <a:lnTo>
                    <a:pt x="73" y="1159"/>
                  </a:lnTo>
                  <a:lnTo>
                    <a:pt x="82" y="1169"/>
                  </a:lnTo>
                  <a:lnTo>
                    <a:pt x="92" y="1179"/>
                  </a:lnTo>
                  <a:lnTo>
                    <a:pt x="103" y="1187"/>
                  </a:lnTo>
                  <a:lnTo>
                    <a:pt x="114" y="1195"/>
                  </a:lnTo>
                  <a:lnTo>
                    <a:pt x="127" y="1203"/>
                  </a:lnTo>
                  <a:lnTo>
                    <a:pt x="139" y="1209"/>
                  </a:lnTo>
                  <a:lnTo>
                    <a:pt x="154" y="1215"/>
                  </a:lnTo>
                  <a:lnTo>
                    <a:pt x="168" y="1220"/>
                  </a:lnTo>
                  <a:lnTo>
                    <a:pt x="183" y="1225"/>
                  </a:lnTo>
                  <a:lnTo>
                    <a:pt x="200" y="1228"/>
                  </a:lnTo>
                  <a:lnTo>
                    <a:pt x="216" y="1231"/>
                  </a:lnTo>
                  <a:lnTo>
                    <a:pt x="235" y="1234"/>
                  </a:lnTo>
                  <a:lnTo>
                    <a:pt x="253" y="1236"/>
                  </a:lnTo>
                  <a:lnTo>
                    <a:pt x="273" y="1237"/>
                  </a:lnTo>
                  <a:lnTo>
                    <a:pt x="292" y="1237"/>
                  </a:lnTo>
                  <a:lnTo>
                    <a:pt x="655" y="1237"/>
                  </a:lnTo>
                  <a:lnTo>
                    <a:pt x="676" y="1237"/>
                  </a:lnTo>
                  <a:lnTo>
                    <a:pt x="695" y="1236"/>
                  </a:lnTo>
                  <a:lnTo>
                    <a:pt x="711" y="1234"/>
                  </a:lnTo>
                  <a:lnTo>
                    <a:pt x="728" y="1231"/>
                  </a:lnTo>
                  <a:lnTo>
                    <a:pt x="743" y="1228"/>
                  </a:lnTo>
                  <a:lnTo>
                    <a:pt x="758" y="1224"/>
                  </a:lnTo>
                  <a:lnTo>
                    <a:pt x="771" y="1219"/>
                  </a:lnTo>
                  <a:lnTo>
                    <a:pt x="783" y="1214"/>
                  </a:lnTo>
                  <a:lnTo>
                    <a:pt x="795" y="1208"/>
                  </a:lnTo>
                  <a:lnTo>
                    <a:pt x="806" y="1201"/>
                  </a:lnTo>
                  <a:lnTo>
                    <a:pt x="816" y="1194"/>
                  </a:lnTo>
                  <a:lnTo>
                    <a:pt x="826" y="1185"/>
                  </a:lnTo>
                  <a:lnTo>
                    <a:pt x="835" y="1176"/>
                  </a:lnTo>
                  <a:lnTo>
                    <a:pt x="842" y="1167"/>
                  </a:lnTo>
                  <a:lnTo>
                    <a:pt x="851" y="1157"/>
                  </a:lnTo>
                  <a:lnTo>
                    <a:pt x="859" y="1146"/>
                  </a:lnTo>
                  <a:lnTo>
                    <a:pt x="866" y="1134"/>
                  </a:lnTo>
                  <a:lnTo>
                    <a:pt x="873" y="1121"/>
                  </a:lnTo>
                  <a:lnTo>
                    <a:pt x="880" y="1108"/>
                  </a:lnTo>
                  <a:lnTo>
                    <a:pt x="885" y="1094"/>
                  </a:lnTo>
                  <a:lnTo>
                    <a:pt x="891" y="1081"/>
                  </a:lnTo>
                  <a:lnTo>
                    <a:pt x="896" y="1065"/>
                  </a:lnTo>
                  <a:lnTo>
                    <a:pt x="901" y="1050"/>
                  </a:lnTo>
                  <a:lnTo>
                    <a:pt x="904" y="1033"/>
                  </a:lnTo>
                  <a:lnTo>
                    <a:pt x="909" y="1017"/>
                  </a:lnTo>
                  <a:lnTo>
                    <a:pt x="911" y="999"/>
                  </a:lnTo>
                  <a:lnTo>
                    <a:pt x="914" y="982"/>
                  </a:lnTo>
                  <a:lnTo>
                    <a:pt x="916" y="963"/>
                  </a:lnTo>
                  <a:lnTo>
                    <a:pt x="918" y="923"/>
                  </a:lnTo>
                  <a:lnTo>
                    <a:pt x="920" y="882"/>
                  </a:lnTo>
                  <a:lnTo>
                    <a:pt x="753" y="882"/>
                  </a:lnTo>
                  <a:lnTo>
                    <a:pt x="752" y="898"/>
                  </a:lnTo>
                  <a:lnTo>
                    <a:pt x="750" y="914"/>
                  </a:lnTo>
                  <a:lnTo>
                    <a:pt x="748" y="931"/>
                  </a:lnTo>
                  <a:lnTo>
                    <a:pt x="743" y="948"/>
                  </a:lnTo>
                  <a:lnTo>
                    <a:pt x="738" y="963"/>
                  </a:lnTo>
                  <a:lnTo>
                    <a:pt x="732" y="977"/>
                  </a:lnTo>
                  <a:lnTo>
                    <a:pt x="727" y="991"/>
                  </a:lnTo>
                  <a:lnTo>
                    <a:pt x="720" y="1002"/>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4" name="Freeform 19">
              <a:extLst>
                <a:ext uri="{FF2B5EF4-FFF2-40B4-BE49-F238E27FC236}">
                  <a16:creationId xmlns="" xmlns:a16="http://schemas.microsoft.com/office/drawing/2014/main" id="{BA11652D-7937-40B5-BA61-BAB0F24FB934}"/>
                </a:ext>
              </a:extLst>
            </p:cNvPr>
            <p:cNvSpPr>
              <a:spLocks/>
            </p:cNvSpPr>
            <p:nvPr userDrawn="1"/>
          </p:nvSpPr>
          <p:spPr bwMode="auto">
            <a:xfrm>
              <a:off x="4762" y="116"/>
              <a:ext cx="184" cy="247"/>
            </a:xfrm>
            <a:custGeom>
              <a:avLst/>
              <a:gdLst>
                <a:gd name="T0" fmla="*/ 694 w 919"/>
                <a:gd name="T1" fmla="*/ 1036 h 1236"/>
                <a:gd name="T2" fmla="*/ 670 w 919"/>
                <a:gd name="T3" fmla="*/ 1056 h 1236"/>
                <a:gd name="T4" fmla="*/ 636 w 919"/>
                <a:gd name="T5" fmla="*/ 1067 h 1236"/>
                <a:gd name="T6" fmla="*/ 396 w 919"/>
                <a:gd name="T7" fmla="*/ 1070 h 1236"/>
                <a:gd name="T8" fmla="*/ 320 w 919"/>
                <a:gd name="T9" fmla="*/ 1061 h 1236"/>
                <a:gd name="T10" fmla="*/ 281 w 919"/>
                <a:gd name="T11" fmla="*/ 1046 h 1236"/>
                <a:gd name="T12" fmla="*/ 250 w 919"/>
                <a:gd name="T13" fmla="*/ 1023 h 1236"/>
                <a:gd name="T14" fmla="*/ 228 w 919"/>
                <a:gd name="T15" fmla="*/ 991 h 1236"/>
                <a:gd name="T16" fmla="*/ 205 w 919"/>
                <a:gd name="T17" fmla="*/ 919 h 1236"/>
                <a:gd name="T18" fmla="*/ 194 w 919"/>
                <a:gd name="T19" fmla="*/ 799 h 1236"/>
                <a:gd name="T20" fmla="*/ 200 w 919"/>
                <a:gd name="T21" fmla="*/ 344 h 1236"/>
                <a:gd name="T22" fmla="*/ 223 w 919"/>
                <a:gd name="T23" fmla="*/ 255 h 1236"/>
                <a:gd name="T24" fmla="*/ 243 w 919"/>
                <a:gd name="T25" fmla="*/ 220 h 1236"/>
                <a:gd name="T26" fmla="*/ 272 w 919"/>
                <a:gd name="T27" fmla="*/ 194 h 1236"/>
                <a:gd name="T28" fmla="*/ 309 w 919"/>
                <a:gd name="T29" fmla="*/ 178 h 1236"/>
                <a:gd name="T30" fmla="*/ 369 w 919"/>
                <a:gd name="T31" fmla="*/ 167 h 1236"/>
                <a:gd name="T32" fmla="*/ 625 w 919"/>
                <a:gd name="T33" fmla="*/ 167 h 1236"/>
                <a:gd name="T34" fmla="*/ 664 w 919"/>
                <a:gd name="T35" fmla="*/ 177 h 1236"/>
                <a:gd name="T36" fmla="*/ 692 w 919"/>
                <a:gd name="T37" fmla="*/ 194 h 1236"/>
                <a:gd name="T38" fmla="*/ 725 w 919"/>
                <a:gd name="T39" fmla="*/ 235 h 1236"/>
                <a:gd name="T40" fmla="*/ 745 w 919"/>
                <a:gd name="T41" fmla="*/ 289 h 1236"/>
                <a:gd name="T42" fmla="*/ 752 w 919"/>
                <a:gd name="T43" fmla="*/ 355 h 1236"/>
                <a:gd name="T44" fmla="*/ 912 w 919"/>
                <a:gd name="T45" fmla="*/ 255 h 1236"/>
                <a:gd name="T46" fmla="*/ 899 w 919"/>
                <a:gd name="T47" fmla="*/ 187 h 1236"/>
                <a:gd name="T48" fmla="*/ 878 w 919"/>
                <a:gd name="T49" fmla="*/ 128 h 1236"/>
                <a:gd name="T50" fmla="*/ 849 w 919"/>
                <a:gd name="T51" fmla="*/ 80 h 1236"/>
                <a:gd name="T52" fmla="*/ 814 w 919"/>
                <a:gd name="T53" fmla="*/ 42 h 1236"/>
                <a:gd name="T54" fmla="*/ 770 w 919"/>
                <a:gd name="T55" fmla="*/ 17 h 1236"/>
                <a:gd name="T56" fmla="*/ 711 w 919"/>
                <a:gd name="T57" fmla="*/ 3 h 1236"/>
                <a:gd name="T58" fmla="*/ 292 w 919"/>
                <a:gd name="T59" fmla="*/ 0 h 1236"/>
                <a:gd name="T60" fmla="*/ 216 w 919"/>
                <a:gd name="T61" fmla="*/ 5 h 1236"/>
                <a:gd name="T62" fmla="*/ 153 w 919"/>
                <a:gd name="T63" fmla="*/ 22 h 1236"/>
                <a:gd name="T64" fmla="*/ 101 w 919"/>
                <a:gd name="T65" fmla="*/ 49 h 1236"/>
                <a:gd name="T66" fmla="*/ 64 w 919"/>
                <a:gd name="T67" fmla="*/ 88 h 1236"/>
                <a:gd name="T68" fmla="*/ 35 w 919"/>
                <a:gd name="T69" fmla="*/ 138 h 1236"/>
                <a:gd name="T70" fmla="*/ 15 w 919"/>
                <a:gd name="T71" fmla="*/ 199 h 1236"/>
                <a:gd name="T72" fmla="*/ 4 w 919"/>
                <a:gd name="T73" fmla="*/ 271 h 1236"/>
                <a:gd name="T74" fmla="*/ 1 w 919"/>
                <a:gd name="T75" fmla="*/ 924 h 1236"/>
                <a:gd name="T76" fmla="*/ 12 w 919"/>
                <a:gd name="T77" fmla="*/ 1020 h 1236"/>
                <a:gd name="T78" fmla="*/ 29 w 919"/>
                <a:gd name="T79" fmla="*/ 1083 h 1236"/>
                <a:gd name="T80" fmla="*/ 56 w 919"/>
                <a:gd name="T81" fmla="*/ 1136 h 1236"/>
                <a:gd name="T82" fmla="*/ 91 w 919"/>
                <a:gd name="T83" fmla="*/ 1178 h 1236"/>
                <a:gd name="T84" fmla="*/ 138 w 919"/>
                <a:gd name="T85" fmla="*/ 1208 h 1236"/>
                <a:gd name="T86" fmla="*/ 199 w 919"/>
                <a:gd name="T87" fmla="*/ 1227 h 1236"/>
                <a:gd name="T88" fmla="*/ 272 w 919"/>
                <a:gd name="T89" fmla="*/ 1235 h 1236"/>
                <a:gd name="T90" fmla="*/ 693 w 919"/>
                <a:gd name="T91" fmla="*/ 1234 h 1236"/>
                <a:gd name="T92" fmla="*/ 757 w 919"/>
                <a:gd name="T93" fmla="*/ 1223 h 1236"/>
                <a:gd name="T94" fmla="*/ 804 w 919"/>
                <a:gd name="T95" fmla="*/ 1200 h 1236"/>
                <a:gd name="T96" fmla="*/ 842 w 919"/>
                <a:gd name="T97" fmla="*/ 1166 h 1236"/>
                <a:gd name="T98" fmla="*/ 871 w 919"/>
                <a:gd name="T99" fmla="*/ 1120 h 1236"/>
                <a:gd name="T100" fmla="*/ 895 w 919"/>
                <a:gd name="T101" fmla="*/ 1065 h 1236"/>
                <a:gd name="T102" fmla="*/ 910 w 919"/>
                <a:gd name="T103" fmla="*/ 999 h 1236"/>
                <a:gd name="T104" fmla="*/ 919 w 919"/>
                <a:gd name="T105" fmla="*/ 881 h 1236"/>
                <a:gd name="T106" fmla="*/ 746 w 919"/>
                <a:gd name="T107" fmla="*/ 929 h 1236"/>
                <a:gd name="T108" fmla="*/ 725 w 919"/>
                <a:gd name="T109" fmla="*/ 990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19" h="1236">
                  <a:moveTo>
                    <a:pt x="718" y="1001"/>
                  </a:moveTo>
                  <a:lnTo>
                    <a:pt x="708" y="1016"/>
                  </a:lnTo>
                  <a:lnTo>
                    <a:pt x="698" y="1029"/>
                  </a:lnTo>
                  <a:lnTo>
                    <a:pt x="694" y="1036"/>
                  </a:lnTo>
                  <a:lnTo>
                    <a:pt x="688" y="1042"/>
                  </a:lnTo>
                  <a:lnTo>
                    <a:pt x="683" y="1047"/>
                  </a:lnTo>
                  <a:lnTo>
                    <a:pt x="676" y="1051"/>
                  </a:lnTo>
                  <a:lnTo>
                    <a:pt x="670" y="1056"/>
                  </a:lnTo>
                  <a:lnTo>
                    <a:pt x="662" y="1059"/>
                  </a:lnTo>
                  <a:lnTo>
                    <a:pt x="654" y="1062"/>
                  </a:lnTo>
                  <a:lnTo>
                    <a:pt x="645" y="1065"/>
                  </a:lnTo>
                  <a:lnTo>
                    <a:pt x="636" y="1067"/>
                  </a:lnTo>
                  <a:lnTo>
                    <a:pt x="625" y="1069"/>
                  </a:lnTo>
                  <a:lnTo>
                    <a:pt x="611" y="1070"/>
                  </a:lnTo>
                  <a:lnTo>
                    <a:pt x="598" y="1070"/>
                  </a:lnTo>
                  <a:lnTo>
                    <a:pt x="396" y="1070"/>
                  </a:lnTo>
                  <a:lnTo>
                    <a:pt x="369" y="1069"/>
                  </a:lnTo>
                  <a:lnTo>
                    <a:pt x="343" y="1066"/>
                  </a:lnTo>
                  <a:lnTo>
                    <a:pt x="331" y="1064"/>
                  </a:lnTo>
                  <a:lnTo>
                    <a:pt x="320" y="1061"/>
                  </a:lnTo>
                  <a:lnTo>
                    <a:pt x="309" y="1058"/>
                  </a:lnTo>
                  <a:lnTo>
                    <a:pt x="299" y="1055"/>
                  </a:lnTo>
                  <a:lnTo>
                    <a:pt x="289" y="1050"/>
                  </a:lnTo>
                  <a:lnTo>
                    <a:pt x="281" y="1046"/>
                  </a:lnTo>
                  <a:lnTo>
                    <a:pt x="272" y="1040"/>
                  </a:lnTo>
                  <a:lnTo>
                    <a:pt x="264" y="1035"/>
                  </a:lnTo>
                  <a:lnTo>
                    <a:pt x="256" y="1029"/>
                  </a:lnTo>
                  <a:lnTo>
                    <a:pt x="250" y="1023"/>
                  </a:lnTo>
                  <a:lnTo>
                    <a:pt x="243" y="1016"/>
                  </a:lnTo>
                  <a:lnTo>
                    <a:pt x="238" y="1009"/>
                  </a:lnTo>
                  <a:lnTo>
                    <a:pt x="232" y="1001"/>
                  </a:lnTo>
                  <a:lnTo>
                    <a:pt x="228" y="991"/>
                  </a:lnTo>
                  <a:lnTo>
                    <a:pt x="223" y="981"/>
                  </a:lnTo>
                  <a:lnTo>
                    <a:pt x="219" y="970"/>
                  </a:lnTo>
                  <a:lnTo>
                    <a:pt x="211" y="946"/>
                  </a:lnTo>
                  <a:lnTo>
                    <a:pt x="205" y="919"/>
                  </a:lnTo>
                  <a:lnTo>
                    <a:pt x="200" y="892"/>
                  </a:lnTo>
                  <a:lnTo>
                    <a:pt x="197" y="861"/>
                  </a:lnTo>
                  <a:lnTo>
                    <a:pt x="195" y="831"/>
                  </a:lnTo>
                  <a:lnTo>
                    <a:pt x="194" y="799"/>
                  </a:lnTo>
                  <a:lnTo>
                    <a:pt x="194" y="435"/>
                  </a:lnTo>
                  <a:lnTo>
                    <a:pt x="195" y="404"/>
                  </a:lnTo>
                  <a:lnTo>
                    <a:pt x="197" y="374"/>
                  </a:lnTo>
                  <a:lnTo>
                    <a:pt x="200" y="344"/>
                  </a:lnTo>
                  <a:lnTo>
                    <a:pt x="205" y="316"/>
                  </a:lnTo>
                  <a:lnTo>
                    <a:pt x="211" y="289"/>
                  </a:lnTo>
                  <a:lnTo>
                    <a:pt x="219" y="266"/>
                  </a:lnTo>
                  <a:lnTo>
                    <a:pt x="223" y="255"/>
                  </a:lnTo>
                  <a:lnTo>
                    <a:pt x="228" y="245"/>
                  </a:lnTo>
                  <a:lnTo>
                    <a:pt x="232" y="235"/>
                  </a:lnTo>
                  <a:lnTo>
                    <a:pt x="238" y="227"/>
                  </a:lnTo>
                  <a:lnTo>
                    <a:pt x="243" y="220"/>
                  </a:lnTo>
                  <a:lnTo>
                    <a:pt x="250" y="213"/>
                  </a:lnTo>
                  <a:lnTo>
                    <a:pt x="256" y="206"/>
                  </a:lnTo>
                  <a:lnTo>
                    <a:pt x="264" y="200"/>
                  </a:lnTo>
                  <a:lnTo>
                    <a:pt x="272" y="194"/>
                  </a:lnTo>
                  <a:lnTo>
                    <a:pt x="281" y="190"/>
                  </a:lnTo>
                  <a:lnTo>
                    <a:pt x="289" y="186"/>
                  </a:lnTo>
                  <a:lnTo>
                    <a:pt x="299" y="181"/>
                  </a:lnTo>
                  <a:lnTo>
                    <a:pt x="309" y="178"/>
                  </a:lnTo>
                  <a:lnTo>
                    <a:pt x="320" y="175"/>
                  </a:lnTo>
                  <a:lnTo>
                    <a:pt x="331" y="171"/>
                  </a:lnTo>
                  <a:lnTo>
                    <a:pt x="343" y="169"/>
                  </a:lnTo>
                  <a:lnTo>
                    <a:pt x="369" y="167"/>
                  </a:lnTo>
                  <a:lnTo>
                    <a:pt x="396" y="166"/>
                  </a:lnTo>
                  <a:lnTo>
                    <a:pt x="598" y="166"/>
                  </a:lnTo>
                  <a:lnTo>
                    <a:pt x="611" y="166"/>
                  </a:lnTo>
                  <a:lnTo>
                    <a:pt x="625" y="167"/>
                  </a:lnTo>
                  <a:lnTo>
                    <a:pt x="636" y="168"/>
                  </a:lnTo>
                  <a:lnTo>
                    <a:pt x="647" y="170"/>
                  </a:lnTo>
                  <a:lnTo>
                    <a:pt x="655" y="173"/>
                  </a:lnTo>
                  <a:lnTo>
                    <a:pt x="664" y="177"/>
                  </a:lnTo>
                  <a:lnTo>
                    <a:pt x="672" y="180"/>
                  </a:lnTo>
                  <a:lnTo>
                    <a:pt x="680" y="184"/>
                  </a:lnTo>
                  <a:lnTo>
                    <a:pt x="686" y="189"/>
                  </a:lnTo>
                  <a:lnTo>
                    <a:pt x="692" y="194"/>
                  </a:lnTo>
                  <a:lnTo>
                    <a:pt x="698" y="200"/>
                  </a:lnTo>
                  <a:lnTo>
                    <a:pt x="704" y="206"/>
                  </a:lnTo>
                  <a:lnTo>
                    <a:pt x="714" y="220"/>
                  </a:lnTo>
                  <a:lnTo>
                    <a:pt x="725" y="235"/>
                  </a:lnTo>
                  <a:lnTo>
                    <a:pt x="730" y="246"/>
                  </a:lnTo>
                  <a:lnTo>
                    <a:pt x="736" y="259"/>
                  </a:lnTo>
                  <a:lnTo>
                    <a:pt x="740" y="274"/>
                  </a:lnTo>
                  <a:lnTo>
                    <a:pt x="745" y="289"/>
                  </a:lnTo>
                  <a:lnTo>
                    <a:pt x="748" y="304"/>
                  </a:lnTo>
                  <a:lnTo>
                    <a:pt x="750" y="322"/>
                  </a:lnTo>
                  <a:lnTo>
                    <a:pt x="751" y="338"/>
                  </a:lnTo>
                  <a:lnTo>
                    <a:pt x="752" y="355"/>
                  </a:lnTo>
                  <a:lnTo>
                    <a:pt x="919" y="355"/>
                  </a:lnTo>
                  <a:lnTo>
                    <a:pt x="918" y="313"/>
                  </a:lnTo>
                  <a:lnTo>
                    <a:pt x="914" y="274"/>
                  </a:lnTo>
                  <a:lnTo>
                    <a:pt x="912" y="255"/>
                  </a:lnTo>
                  <a:lnTo>
                    <a:pt x="910" y="237"/>
                  </a:lnTo>
                  <a:lnTo>
                    <a:pt x="907" y="220"/>
                  </a:lnTo>
                  <a:lnTo>
                    <a:pt x="903" y="203"/>
                  </a:lnTo>
                  <a:lnTo>
                    <a:pt x="899" y="187"/>
                  </a:lnTo>
                  <a:lnTo>
                    <a:pt x="895" y="171"/>
                  </a:lnTo>
                  <a:lnTo>
                    <a:pt x="890" y="156"/>
                  </a:lnTo>
                  <a:lnTo>
                    <a:pt x="885" y="142"/>
                  </a:lnTo>
                  <a:lnTo>
                    <a:pt x="878" y="128"/>
                  </a:lnTo>
                  <a:lnTo>
                    <a:pt x="871" y="115"/>
                  </a:lnTo>
                  <a:lnTo>
                    <a:pt x="865" y="103"/>
                  </a:lnTo>
                  <a:lnTo>
                    <a:pt x="857" y="91"/>
                  </a:lnTo>
                  <a:lnTo>
                    <a:pt x="849" y="80"/>
                  </a:lnTo>
                  <a:lnTo>
                    <a:pt x="842" y="69"/>
                  </a:lnTo>
                  <a:lnTo>
                    <a:pt x="833" y="60"/>
                  </a:lnTo>
                  <a:lnTo>
                    <a:pt x="824" y="51"/>
                  </a:lnTo>
                  <a:lnTo>
                    <a:pt x="814" y="42"/>
                  </a:lnTo>
                  <a:lnTo>
                    <a:pt x="804" y="35"/>
                  </a:lnTo>
                  <a:lnTo>
                    <a:pt x="793" y="28"/>
                  </a:lnTo>
                  <a:lnTo>
                    <a:pt x="782" y="23"/>
                  </a:lnTo>
                  <a:lnTo>
                    <a:pt x="770" y="17"/>
                  </a:lnTo>
                  <a:lnTo>
                    <a:pt x="757" y="13"/>
                  </a:lnTo>
                  <a:lnTo>
                    <a:pt x="742" y="8"/>
                  </a:lnTo>
                  <a:lnTo>
                    <a:pt x="727" y="5"/>
                  </a:lnTo>
                  <a:lnTo>
                    <a:pt x="711" y="3"/>
                  </a:lnTo>
                  <a:lnTo>
                    <a:pt x="693" y="1"/>
                  </a:lnTo>
                  <a:lnTo>
                    <a:pt x="674" y="0"/>
                  </a:lnTo>
                  <a:lnTo>
                    <a:pt x="654" y="0"/>
                  </a:lnTo>
                  <a:lnTo>
                    <a:pt x="292" y="0"/>
                  </a:lnTo>
                  <a:lnTo>
                    <a:pt x="272" y="0"/>
                  </a:lnTo>
                  <a:lnTo>
                    <a:pt x="252" y="1"/>
                  </a:lnTo>
                  <a:lnTo>
                    <a:pt x="233" y="3"/>
                  </a:lnTo>
                  <a:lnTo>
                    <a:pt x="216" y="5"/>
                  </a:lnTo>
                  <a:lnTo>
                    <a:pt x="199" y="8"/>
                  </a:lnTo>
                  <a:lnTo>
                    <a:pt x="183" y="12"/>
                  </a:lnTo>
                  <a:lnTo>
                    <a:pt x="167" y="16"/>
                  </a:lnTo>
                  <a:lnTo>
                    <a:pt x="153" y="22"/>
                  </a:lnTo>
                  <a:lnTo>
                    <a:pt x="138" y="28"/>
                  </a:lnTo>
                  <a:lnTo>
                    <a:pt x="125" y="34"/>
                  </a:lnTo>
                  <a:lnTo>
                    <a:pt x="113" y="41"/>
                  </a:lnTo>
                  <a:lnTo>
                    <a:pt x="101" y="49"/>
                  </a:lnTo>
                  <a:lnTo>
                    <a:pt x="91" y="58"/>
                  </a:lnTo>
                  <a:lnTo>
                    <a:pt x="81" y="68"/>
                  </a:lnTo>
                  <a:lnTo>
                    <a:pt x="71" y="78"/>
                  </a:lnTo>
                  <a:lnTo>
                    <a:pt x="64" y="88"/>
                  </a:lnTo>
                  <a:lnTo>
                    <a:pt x="56" y="100"/>
                  </a:lnTo>
                  <a:lnTo>
                    <a:pt x="48" y="112"/>
                  </a:lnTo>
                  <a:lnTo>
                    <a:pt x="41" y="125"/>
                  </a:lnTo>
                  <a:lnTo>
                    <a:pt x="35" y="138"/>
                  </a:lnTo>
                  <a:lnTo>
                    <a:pt x="29" y="153"/>
                  </a:lnTo>
                  <a:lnTo>
                    <a:pt x="25" y="167"/>
                  </a:lnTo>
                  <a:lnTo>
                    <a:pt x="19" y="183"/>
                  </a:lnTo>
                  <a:lnTo>
                    <a:pt x="15" y="199"/>
                  </a:lnTo>
                  <a:lnTo>
                    <a:pt x="12" y="216"/>
                  </a:lnTo>
                  <a:lnTo>
                    <a:pt x="8" y="234"/>
                  </a:lnTo>
                  <a:lnTo>
                    <a:pt x="6" y="253"/>
                  </a:lnTo>
                  <a:lnTo>
                    <a:pt x="4" y="271"/>
                  </a:lnTo>
                  <a:lnTo>
                    <a:pt x="1" y="312"/>
                  </a:lnTo>
                  <a:lnTo>
                    <a:pt x="0" y="356"/>
                  </a:lnTo>
                  <a:lnTo>
                    <a:pt x="0" y="880"/>
                  </a:lnTo>
                  <a:lnTo>
                    <a:pt x="1" y="924"/>
                  </a:lnTo>
                  <a:lnTo>
                    <a:pt x="4" y="963"/>
                  </a:lnTo>
                  <a:lnTo>
                    <a:pt x="6" y="983"/>
                  </a:lnTo>
                  <a:lnTo>
                    <a:pt x="8" y="1002"/>
                  </a:lnTo>
                  <a:lnTo>
                    <a:pt x="12" y="1020"/>
                  </a:lnTo>
                  <a:lnTo>
                    <a:pt x="15" y="1036"/>
                  </a:lnTo>
                  <a:lnTo>
                    <a:pt x="19" y="1053"/>
                  </a:lnTo>
                  <a:lnTo>
                    <a:pt x="25" y="1068"/>
                  </a:lnTo>
                  <a:lnTo>
                    <a:pt x="29" y="1083"/>
                  </a:lnTo>
                  <a:lnTo>
                    <a:pt x="35" y="1098"/>
                  </a:lnTo>
                  <a:lnTo>
                    <a:pt x="41" y="1111"/>
                  </a:lnTo>
                  <a:lnTo>
                    <a:pt x="48" y="1124"/>
                  </a:lnTo>
                  <a:lnTo>
                    <a:pt x="56" y="1136"/>
                  </a:lnTo>
                  <a:lnTo>
                    <a:pt x="64" y="1147"/>
                  </a:lnTo>
                  <a:lnTo>
                    <a:pt x="71" y="1158"/>
                  </a:lnTo>
                  <a:lnTo>
                    <a:pt x="81" y="1168"/>
                  </a:lnTo>
                  <a:lnTo>
                    <a:pt x="91" y="1178"/>
                  </a:lnTo>
                  <a:lnTo>
                    <a:pt x="101" y="1187"/>
                  </a:lnTo>
                  <a:lnTo>
                    <a:pt x="113" y="1194"/>
                  </a:lnTo>
                  <a:lnTo>
                    <a:pt x="125" y="1202"/>
                  </a:lnTo>
                  <a:lnTo>
                    <a:pt x="138" y="1208"/>
                  </a:lnTo>
                  <a:lnTo>
                    <a:pt x="153" y="1214"/>
                  </a:lnTo>
                  <a:lnTo>
                    <a:pt x="167" y="1219"/>
                  </a:lnTo>
                  <a:lnTo>
                    <a:pt x="183" y="1224"/>
                  </a:lnTo>
                  <a:lnTo>
                    <a:pt x="199" y="1227"/>
                  </a:lnTo>
                  <a:lnTo>
                    <a:pt x="216" y="1231"/>
                  </a:lnTo>
                  <a:lnTo>
                    <a:pt x="233" y="1233"/>
                  </a:lnTo>
                  <a:lnTo>
                    <a:pt x="252" y="1235"/>
                  </a:lnTo>
                  <a:lnTo>
                    <a:pt x="272" y="1235"/>
                  </a:lnTo>
                  <a:lnTo>
                    <a:pt x="292" y="1236"/>
                  </a:lnTo>
                  <a:lnTo>
                    <a:pt x="654" y="1236"/>
                  </a:lnTo>
                  <a:lnTo>
                    <a:pt x="674" y="1235"/>
                  </a:lnTo>
                  <a:lnTo>
                    <a:pt x="693" y="1234"/>
                  </a:lnTo>
                  <a:lnTo>
                    <a:pt x="711" y="1233"/>
                  </a:lnTo>
                  <a:lnTo>
                    <a:pt x="727" y="1231"/>
                  </a:lnTo>
                  <a:lnTo>
                    <a:pt x="742" y="1227"/>
                  </a:lnTo>
                  <a:lnTo>
                    <a:pt x="757" y="1223"/>
                  </a:lnTo>
                  <a:lnTo>
                    <a:pt x="770" y="1219"/>
                  </a:lnTo>
                  <a:lnTo>
                    <a:pt x="782" y="1213"/>
                  </a:lnTo>
                  <a:lnTo>
                    <a:pt x="793" y="1207"/>
                  </a:lnTo>
                  <a:lnTo>
                    <a:pt x="804" y="1200"/>
                  </a:lnTo>
                  <a:lnTo>
                    <a:pt x="814" y="1192"/>
                  </a:lnTo>
                  <a:lnTo>
                    <a:pt x="824" y="1185"/>
                  </a:lnTo>
                  <a:lnTo>
                    <a:pt x="833" y="1176"/>
                  </a:lnTo>
                  <a:lnTo>
                    <a:pt x="842" y="1166"/>
                  </a:lnTo>
                  <a:lnTo>
                    <a:pt x="849" y="1156"/>
                  </a:lnTo>
                  <a:lnTo>
                    <a:pt x="857" y="1144"/>
                  </a:lnTo>
                  <a:lnTo>
                    <a:pt x="865" y="1133"/>
                  </a:lnTo>
                  <a:lnTo>
                    <a:pt x="871" y="1120"/>
                  </a:lnTo>
                  <a:lnTo>
                    <a:pt x="878" y="1108"/>
                  </a:lnTo>
                  <a:lnTo>
                    <a:pt x="885" y="1093"/>
                  </a:lnTo>
                  <a:lnTo>
                    <a:pt x="890" y="1079"/>
                  </a:lnTo>
                  <a:lnTo>
                    <a:pt x="895" y="1065"/>
                  </a:lnTo>
                  <a:lnTo>
                    <a:pt x="899" y="1049"/>
                  </a:lnTo>
                  <a:lnTo>
                    <a:pt x="903" y="1033"/>
                  </a:lnTo>
                  <a:lnTo>
                    <a:pt x="907" y="1016"/>
                  </a:lnTo>
                  <a:lnTo>
                    <a:pt x="910" y="999"/>
                  </a:lnTo>
                  <a:lnTo>
                    <a:pt x="912" y="981"/>
                  </a:lnTo>
                  <a:lnTo>
                    <a:pt x="914" y="962"/>
                  </a:lnTo>
                  <a:lnTo>
                    <a:pt x="918" y="923"/>
                  </a:lnTo>
                  <a:lnTo>
                    <a:pt x="919" y="881"/>
                  </a:lnTo>
                  <a:lnTo>
                    <a:pt x="751" y="881"/>
                  </a:lnTo>
                  <a:lnTo>
                    <a:pt x="751" y="896"/>
                  </a:lnTo>
                  <a:lnTo>
                    <a:pt x="749" y="913"/>
                  </a:lnTo>
                  <a:lnTo>
                    <a:pt x="746" y="929"/>
                  </a:lnTo>
                  <a:lnTo>
                    <a:pt x="741" y="946"/>
                  </a:lnTo>
                  <a:lnTo>
                    <a:pt x="737" y="962"/>
                  </a:lnTo>
                  <a:lnTo>
                    <a:pt x="731" y="977"/>
                  </a:lnTo>
                  <a:lnTo>
                    <a:pt x="725" y="990"/>
                  </a:lnTo>
                  <a:lnTo>
                    <a:pt x="718" y="1001"/>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5" name="Rectangle 20">
              <a:extLst>
                <a:ext uri="{FF2B5EF4-FFF2-40B4-BE49-F238E27FC236}">
                  <a16:creationId xmlns="" xmlns:a16="http://schemas.microsoft.com/office/drawing/2014/main" id="{B79A7B0E-3D27-4C2A-AC5A-8851EE4B3D99}"/>
                </a:ext>
              </a:extLst>
            </p:cNvPr>
            <p:cNvSpPr>
              <a:spLocks noChangeArrowheads="1"/>
            </p:cNvSpPr>
            <p:nvPr userDrawn="1"/>
          </p:nvSpPr>
          <p:spPr bwMode="auto">
            <a:xfrm>
              <a:off x="4606" y="236"/>
              <a:ext cx="109" cy="22"/>
            </a:xfrm>
            <a:prstGeom prst="rect">
              <a:avLst/>
            </a:prstGeom>
            <a:solidFill>
              <a:srgbClr val="2B2A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6" name="Freeform 21">
              <a:extLst>
                <a:ext uri="{FF2B5EF4-FFF2-40B4-BE49-F238E27FC236}">
                  <a16:creationId xmlns="" xmlns:a16="http://schemas.microsoft.com/office/drawing/2014/main" id="{0CE65E79-864E-4E01-AFA1-C67FCF58CC49}"/>
                </a:ext>
              </a:extLst>
            </p:cNvPr>
            <p:cNvSpPr>
              <a:spLocks noEditPoints="1"/>
            </p:cNvSpPr>
            <p:nvPr userDrawn="1"/>
          </p:nvSpPr>
          <p:spPr bwMode="auto">
            <a:xfrm>
              <a:off x="4965" y="116"/>
              <a:ext cx="207" cy="247"/>
            </a:xfrm>
            <a:custGeom>
              <a:avLst/>
              <a:gdLst>
                <a:gd name="T0" fmla="*/ 201 w 1036"/>
                <a:gd name="T1" fmla="*/ 813 h 1236"/>
                <a:gd name="T2" fmla="*/ 218 w 1036"/>
                <a:gd name="T3" fmla="*/ 936 h 1236"/>
                <a:gd name="T4" fmla="*/ 237 w 1036"/>
                <a:gd name="T5" fmla="*/ 1000 h 1236"/>
                <a:gd name="T6" fmla="*/ 270 w 1036"/>
                <a:gd name="T7" fmla="*/ 1033 h 1236"/>
                <a:gd name="T8" fmla="*/ 327 w 1036"/>
                <a:gd name="T9" fmla="*/ 1057 h 1236"/>
                <a:gd name="T10" fmla="*/ 404 w 1036"/>
                <a:gd name="T11" fmla="*/ 1072 h 1236"/>
                <a:gd name="T12" fmla="*/ 494 w 1036"/>
                <a:gd name="T13" fmla="*/ 1079 h 1236"/>
                <a:gd name="T14" fmla="*/ 585 w 1036"/>
                <a:gd name="T15" fmla="*/ 1077 h 1236"/>
                <a:gd name="T16" fmla="*/ 669 w 1036"/>
                <a:gd name="T17" fmla="*/ 1066 h 1236"/>
                <a:gd name="T18" fmla="*/ 737 w 1036"/>
                <a:gd name="T19" fmla="*/ 1046 h 1236"/>
                <a:gd name="T20" fmla="*/ 783 w 1036"/>
                <a:gd name="T21" fmla="*/ 1016 h 1236"/>
                <a:gd name="T22" fmla="*/ 807 w 1036"/>
                <a:gd name="T23" fmla="*/ 970 h 1236"/>
                <a:gd name="T24" fmla="*/ 824 w 1036"/>
                <a:gd name="T25" fmla="*/ 890 h 1236"/>
                <a:gd name="T26" fmla="*/ 838 w 1036"/>
                <a:gd name="T27" fmla="*/ 686 h 1236"/>
                <a:gd name="T28" fmla="*/ 832 w 1036"/>
                <a:gd name="T29" fmla="*/ 422 h 1236"/>
                <a:gd name="T30" fmla="*/ 814 w 1036"/>
                <a:gd name="T31" fmla="*/ 297 h 1236"/>
                <a:gd name="T32" fmla="*/ 792 w 1036"/>
                <a:gd name="T33" fmla="*/ 232 h 1236"/>
                <a:gd name="T34" fmla="*/ 760 w 1036"/>
                <a:gd name="T35" fmla="*/ 199 h 1236"/>
                <a:gd name="T36" fmla="*/ 703 w 1036"/>
                <a:gd name="T37" fmla="*/ 177 h 1236"/>
                <a:gd name="T38" fmla="*/ 627 w 1036"/>
                <a:gd name="T39" fmla="*/ 162 h 1236"/>
                <a:gd name="T40" fmla="*/ 470 w 1036"/>
                <a:gd name="T41" fmla="*/ 157 h 1236"/>
                <a:gd name="T42" fmla="*/ 365 w 1036"/>
                <a:gd name="T43" fmla="*/ 169 h 1236"/>
                <a:gd name="T44" fmla="*/ 296 w 1036"/>
                <a:gd name="T45" fmla="*/ 187 h 1236"/>
                <a:gd name="T46" fmla="*/ 252 w 1036"/>
                <a:gd name="T47" fmla="*/ 212 h 1236"/>
                <a:gd name="T48" fmla="*/ 228 w 1036"/>
                <a:gd name="T49" fmla="*/ 257 h 1236"/>
                <a:gd name="T50" fmla="*/ 211 w 1036"/>
                <a:gd name="T51" fmla="*/ 340 h 1236"/>
                <a:gd name="T52" fmla="*/ 196 w 1036"/>
                <a:gd name="T53" fmla="*/ 548 h 1236"/>
                <a:gd name="T54" fmla="*/ 1 w 1036"/>
                <a:gd name="T55" fmla="*/ 508 h 1236"/>
                <a:gd name="T56" fmla="*/ 14 w 1036"/>
                <a:gd name="T57" fmla="*/ 362 h 1236"/>
                <a:gd name="T58" fmla="*/ 41 w 1036"/>
                <a:gd name="T59" fmla="*/ 244 h 1236"/>
                <a:gd name="T60" fmla="*/ 80 w 1036"/>
                <a:gd name="T61" fmla="*/ 155 h 1236"/>
                <a:gd name="T62" fmla="*/ 134 w 1036"/>
                <a:gd name="T63" fmla="*/ 92 h 1236"/>
                <a:gd name="T64" fmla="*/ 211 w 1036"/>
                <a:gd name="T65" fmla="*/ 47 h 1236"/>
                <a:gd name="T66" fmla="*/ 315 w 1036"/>
                <a:gd name="T67" fmla="*/ 17 h 1236"/>
                <a:gd name="T68" fmla="*/ 443 w 1036"/>
                <a:gd name="T69" fmla="*/ 2 h 1236"/>
                <a:gd name="T70" fmla="*/ 589 w 1036"/>
                <a:gd name="T71" fmla="*/ 2 h 1236"/>
                <a:gd name="T72" fmla="*/ 717 w 1036"/>
                <a:gd name="T73" fmla="*/ 17 h 1236"/>
                <a:gd name="T74" fmla="*/ 821 w 1036"/>
                <a:gd name="T75" fmla="*/ 47 h 1236"/>
                <a:gd name="T76" fmla="*/ 899 w 1036"/>
                <a:gd name="T77" fmla="*/ 92 h 1236"/>
                <a:gd name="T78" fmla="*/ 954 w 1036"/>
                <a:gd name="T79" fmla="*/ 155 h 1236"/>
                <a:gd name="T80" fmla="*/ 994 w 1036"/>
                <a:gd name="T81" fmla="*/ 244 h 1236"/>
                <a:gd name="T82" fmla="*/ 1020 w 1036"/>
                <a:gd name="T83" fmla="*/ 362 h 1236"/>
                <a:gd name="T84" fmla="*/ 1034 w 1036"/>
                <a:gd name="T85" fmla="*/ 508 h 1236"/>
                <a:gd name="T86" fmla="*/ 1034 w 1036"/>
                <a:gd name="T87" fmla="*/ 686 h 1236"/>
                <a:gd name="T88" fmla="*/ 1020 w 1036"/>
                <a:gd name="T89" fmla="*/ 850 h 1236"/>
                <a:gd name="T90" fmla="*/ 995 w 1036"/>
                <a:gd name="T91" fmla="*/ 980 h 1236"/>
                <a:gd name="T92" fmla="*/ 955 w 1036"/>
                <a:gd name="T93" fmla="*/ 1077 h 1236"/>
                <a:gd name="T94" fmla="*/ 902 w 1036"/>
                <a:gd name="T95" fmla="*/ 1141 h 1236"/>
                <a:gd name="T96" fmla="*/ 824 w 1036"/>
                <a:gd name="T97" fmla="*/ 1187 h 1236"/>
                <a:gd name="T98" fmla="*/ 721 w 1036"/>
                <a:gd name="T99" fmla="*/ 1219 h 1236"/>
                <a:gd name="T100" fmla="*/ 591 w 1036"/>
                <a:gd name="T101" fmla="*/ 1234 h 1236"/>
                <a:gd name="T102" fmla="*/ 440 w 1036"/>
                <a:gd name="T103" fmla="*/ 1234 h 1236"/>
                <a:gd name="T104" fmla="*/ 305 w 1036"/>
                <a:gd name="T105" fmla="*/ 1219 h 1236"/>
                <a:gd name="T106" fmla="*/ 200 w 1036"/>
                <a:gd name="T107" fmla="*/ 1189 h 1236"/>
                <a:gd name="T108" fmla="*/ 123 w 1036"/>
                <a:gd name="T109" fmla="*/ 1144 h 1236"/>
                <a:gd name="T110" fmla="*/ 72 w 1036"/>
                <a:gd name="T111" fmla="*/ 1081 h 1236"/>
                <a:gd name="T112" fmla="*/ 37 w 1036"/>
                <a:gd name="T113" fmla="*/ 985 h 1236"/>
                <a:gd name="T114" fmla="*/ 13 w 1036"/>
                <a:gd name="T115" fmla="*/ 854 h 1236"/>
                <a:gd name="T116" fmla="*/ 1 w 1036"/>
                <a:gd name="T117" fmla="*/ 688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36" h="1236">
                  <a:moveTo>
                    <a:pt x="195" y="618"/>
                  </a:moveTo>
                  <a:lnTo>
                    <a:pt x="196" y="687"/>
                  </a:lnTo>
                  <a:lnTo>
                    <a:pt x="198" y="752"/>
                  </a:lnTo>
                  <a:lnTo>
                    <a:pt x="201" y="813"/>
                  </a:lnTo>
                  <a:lnTo>
                    <a:pt x="207" y="867"/>
                  </a:lnTo>
                  <a:lnTo>
                    <a:pt x="210" y="892"/>
                  </a:lnTo>
                  <a:lnTo>
                    <a:pt x="214" y="915"/>
                  </a:lnTo>
                  <a:lnTo>
                    <a:pt x="218" y="936"/>
                  </a:lnTo>
                  <a:lnTo>
                    <a:pt x="222" y="956"/>
                  </a:lnTo>
                  <a:lnTo>
                    <a:pt x="227" y="972"/>
                  </a:lnTo>
                  <a:lnTo>
                    <a:pt x="231" y="988"/>
                  </a:lnTo>
                  <a:lnTo>
                    <a:pt x="237" y="1000"/>
                  </a:lnTo>
                  <a:lnTo>
                    <a:pt x="242" y="1010"/>
                  </a:lnTo>
                  <a:lnTo>
                    <a:pt x="250" y="1018"/>
                  </a:lnTo>
                  <a:lnTo>
                    <a:pt x="259" y="1026"/>
                  </a:lnTo>
                  <a:lnTo>
                    <a:pt x="270" y="1033"/>
                  </a:lnTo>
                  <a:lnTo>
                    <a:pt x="282" y="1040"/>
                  </a:lnTo>
                  <a:lnTo>
                    <a:pt x="295" y="1046"/>
                  </a:lnTo>
                  <a:lnTo>
                    <a:pt x="311" y="1051"/>
                  </a:lnTo>
                  <a:lnTo>
                    <a:pt x="327" y="1057"/>
                  </a:lnTo>
                  <a:lnTo>
                    <a:pt x="345" y="1061"/>
                  </a:lnTo>
                  <a:lnTo>
                    <a:pt x="365" y="1066"/>
                  </a:lnTo>
                  <a:lnTo>
                    <a:pt x="384" y="1069"/>
                  </a:lnTo>
                  <a:lnTo>
                    <a:pt x="404" y="1072"/>
                  </a:lnTo>
                  <a:lnTo>
                    <a:pt x="426" y="1075"/>
                  </a:lnTo>
                  <a:lnTo>
                    <a:pt x="448" y="1077"/>
                  </a:lnTo>
                  <a:lnTo>
                    <a:pt x="470" y="1078"/>
                  </a:lnTo>
                  <a:lnTo>
                    <a:pt x="494" y="1079"/>
                  </a:lnTo>
                  <a:lnTo>
                    <a:pt x="517" y="1079"/>
                  </a:lnTo>
                  <a:lnTo>
                    <a:pt x="540" y="1079"/>
                  </a:lnTo>
                  <a:lnTo>
                    <a:pt x="562" y="1078"/>
                  </a:lnTo>
                  <a:lnTo>
                    <a:pt x="585" y="1077"/>
                  </a:lnTo>
                  <a:lnTo>
                    <a:pt x="607" y="1075"/>
                  </a:lnTo>
                  <a:lnTo>
                    <a:pt x="628" y="1072"/>
                  </a:lnTo>
                  <a:lnTo>
                    <a:pt x="649" y="1069"/>
                  </a:lnTo>
                  <a:lnTo>
                    <a:pt x="669" y="1066"/>
                  </a:lnTo>
                  <a:lnTo>
                    <a:pt x="687" y="1061"/>
                  </a:lnTo>
                  <a:lnTo>
                    <a:pt x="705" y="1057"/>
                  </a:lnTo>
                  <a:lnTo>
                    <a:pt x="722" y="1051"/>
                  </a:lnTo>
                  <a:lnTo>
                    <a:pt x="737" y="1046"/>
                  </a:lnTo>
                  <a:lnTo>
                    <a:pt x="750" y="1039"/>
                  </a:lnTo>
                  <a:lnTo>
                    <a:pt x="764" y="1032"/>
                  </a:lnTo>
                  <a:lnTo>
                    <a:pt x="773" y="1025"/>
                  </a:lnTo>
                  <a:lnTo>
                    <a:pt x="783" y="1016"/>
                  </a:lnTo>
                  <a:lnTo>
                    <a:pt x="790" y="1007"/>
                  </a:lnTo>
                  <a:lnTo>
                    <a:pt x="797" y="998"/>
                  </a:lnTo>
                  <a:lnTo>
                    <a:pt x="802" y="985"/>
                  </a:lnTo>
                  <a:lnTo>
                    <a:pt x="807" y="970"/>
                  </a:lnTo>
                  <a:lnTo>
                    <a:pt x="812" y="954"/>
                  </a:lnTo>
                  <a:lnTo>
                    <a:pt x="816" y="934"/>
                  </a:lnTo>
                  <a:lnTo>
                    <a:pt x="820" y="913"/>
                  </a:lnTo>
                  <a:lnTo>
                    <a:pt x="824" y="890"/>
                  </a:lnTo>
                  <a:lnTo>
                    <a:pt x="827" y="864"/>
                  </a:lnTo>
                  <a:lnTo>
                    <a:pt x="833" y="810"/>
                  </a:lnTo>
                  <a:lnTo>
                    <a:pt x="836" y="751"/>
                  </a:lnTo>
                  <a:lnTo>
                    <a:pt x="838" y="686"/>
                  </a:lnTo>
                  <a:lnTo>
                    <a:pt x="840" y="618"/>
                  </a:lnTo>
                  <a:lnTo>
                    <a:pt x="838" y="549"/>
                  </a:lnTo>
                  <a:lnTo>
                    <a:pt x="836" y="483"/>
                  </a:lnTo>
                  <a:lnTo>
                    <a:pt x="832" y="422"/>
                  </a:lnTo>
                  <a:lnTo>
                    <a:pt x="826" y="367"/>
                  </a:lnTo>
                  <a:lnTo>
                    <a:pt x="823" y="342"/>
                  </a:lnTo>
                  <a:lnTo>
                    <a:pt x="819" y="318"/>
                  </a:lnTo>
                  <a:lnTo>
                    <a:pt x="814" y="297"/>
                  </a:lnTo>
                  <a:lnTo>
                    <a:pt x="810" y="277"/>
                  </a:lnTo>
                  <a:lnTo>
                    <a:pt x="804" y="259"/>
                  </a:lnTo>
                  <a:lnTo>
                    <a:pt x="799" y="244"/>
                  </a:lnTo>
                  <a:lnTo>
                    <a:pt x="792" y="232"/>
                  </a:lnTo>
                  <a:lnTo>
                    <a:pt x="786" y="221"/>
                  </a:lnTo>
                  <a:lnTo>
                    <a:pt x="779" y="213"/>
                  </a:lnTo>
                  <a:lnTo>
                    <a:pt x="770" y="206"/>
                  </a:lnTo>
                  <a:lnTo>
                    <a:pt x="760" y="199"/>
                  </a:lnTo>
                  <a:lnTo>
                    <a:pt x="748" y="193"/>
                  </a:lnTo>
                  <a:lnTo>
                    <a:pt x="734" y="187"/>
                  </a:lnTo>
                  <a:lnTo>
                    <a:pt x="719" y="182"/>
                  </a:lnTo>
                  <a:lnTo>
                    <a:pt x="703" y="177"/>
                  </a:lnTo>
                  <a:lnTo>
                    <a:pt x="685" y="172"/>
                  </a:lnTo>
                  <a:lnTo>
                    <a:pt x="667" y="169"/>
                  </a:lnTo>
                  <a:lnTo>
                    <a:pt x="647" y="166"/>
                  </a:lnTo>
                  <a:lnTo>
                    <a:pt x="627" y="162"/>
                  </a:lnTo>
                  <a:lnTo>
                    <a:pt x="606" y="160"/>
                  </a:lnTo>
                  <a:lnTo>
                    <a:pt x="562" y="157"/>
                  </a:lnTo>
                  <a:lnTo>
                    <a:pt x="517" y="157"/>
                  </a:lnTo>
                  <a:lnTo>
                    <a:pt x="470" y="157"/>
                  </a:lnTo>
                  <a:lnTo>
                    <a:pt x="426" y="160"/>
                  </a:lnTo>
                  <a:lnTo>
                    <a:pt x="405" y="162"/>
                  </a:lnTo>
                  <a:lnTo>
                    <a:pt x="384" y="166"/>
                  </a:lnTo>
                  <a:lnTo>
                    <a:pt x="365" y="169"/>
                  </a:lnTo>
                  <a:lnTo>
                    <a:pt x="346" y="172"/>
                  </a:lnTo>
                  <a:lnTo>
                    <a:pt x="328" y="177"/>
                  </a:lnTo>
                  <a:lnTo>
                    <a:pt x="312" y="181"/>
                  </a:lnTo>
                  <a:lnTo>
                    <a:pt x="296" y="187"/>
                  </a:lnTo>
                  <a:lnTo>
                    <a:pt x="283" y="192"/>
                  </a:lnTo>
                  <a:lnTo>
                    <a:pt x="271" y="198"/>
                  </a:lnTo>
                  <a:lnTo>
                    <a:pt x="261" y="204"/>
                  </a:lnTo>
                  <a:lnTo>
                    <a:pt x="252" y="212"/>
                  </a:lnTo>
                  <a:lnTo>
                    <a:pt x="246" y="220"/>
                  </a:lnTo>
                  <a:lnTo>
                    <a:pt x="239" y="230"/>
                  </a:lnTo>
                  <a:lnTo>
                    <a:pt x="233" y="243"/>
                  </a:lnTo>
                  <a:lnTo>
                    <a:pt x="228" y="257"/>
                  </a:lnTo>
                  <a:lnTo>
                    <a:pt x="223" y="275"/>
                  </a:lnTo>
                  <a:lnTo>
                    <a:pt x="219" y="294"/>
                  </a:lnTo>
                  <a:lnTo>
                    <a:pt x="215" y="315"/>
                  </a:lnTo>
                  <a:lnTo>
                    <a:pt x="211" y="340"/>
                  </a:lnTo>
                  <a:lnTo>
                    <a:pt x="208" y="365"/>
                  </a:lnTo>
                  <a:lnTo>
                    <a:pt x="203" y="420"/>
                  </a:lnTo>
                  <a:lnTo>
                    <a:pt x="198" y="481"/>
                  </a:lnTo>
                  <a:lnTo>
                    <a:pt x="196" y="548"/>
                  </a:lnTo>
                  <a:lnTo>
                    <a:pt x="195" y="618"/>
                  </a:lnTo>
                  <a:close/>
                  <a:moveTo>
                    <a:pt x="0" y="592"/>
                  </a:moveTo>
                  <a:lnTo>
                    <a:pt x="0" y="549"/>
                  </a:lnTo>
                  <a:lnTo>
                    <a:pt x="1" y="508"/>
                  </a:lnTo>
                  <a:lnTo>
                    <a:pt x="3" y="468"/>
                  </a:lnTo>
                  <a:lnTo>
                    <a:pt x="6" y="431"/>
                  </a:lnTo>
                  <a:lnTo>
                    <a:pt x="10" y="396"/>
                  </a:lnTo>
                  <a:lnTo>
                    <a:pt x="14" y="362"/>
                  </a:lnTo>
                  <a:lnTo>
                    <a:pt x="20" y="330"/>
                  </a:lnTo>
                  <a:lnTo>
                    <a:pt x="25" y="299"/>
                  </a:lnTo>
                  <a:lnTo>
                    <a:pt x="33" y="270"/>
                  </a:lnTo>
                  <a:lnTo>
                    <a:pt x="41" y="244"/>
                  </a:lnTo>
                  <a:lnTo>
                    <a:pt x="49" y="219"/>
                  </a:lnTo>
                  <a:lnTo>
                    <a:pt x="58" y="195"/>
                  </a:lnTo>
                  <a:lnTo>
                    <a:pt x="69" y="175"/>
                  </a:lnTo>
                  <a:lnTo>
                    <a:pt x="80" y="155"/>
                  </a:lnTo>
                  <a:lnTo>
                    <a:pt x="91" y="137"/>
                  </a:lnTo>
                  <a:lnTo>
                    <a:pt x="104" y="121"/>
                  </a:lnTo>
                  <a:lnTo>
                    <a:pt x="119" y="106"/>
                  </a:lnTo>
                  <a:lnTo>
                    <a:pt x="134" y="92"/>
                  </a:lnTo>
                  <a:lnTo>
                    <a:pt x="151" y="80"/>
                  </a:lnTo>
                  <a:lnTo>
                    <a:pt x="169" y="68"/>
                  </a:lnTo>
                  <a:lnTo>
                    <a:pt x="189" y="57"/>
                  </a:lnTo>
                  <a:lnTo>
                    <a:pt x="211" y="47"/>
                  </a:lnTo>
                  <a:lnTo>
                    <a:pt x="234" y="38"/>
                  </a:lnTo>
                  <a:lnTo>
                    <a:pt x="260" y="30"/>
                  </a:lnTo>
                  <a:lnTo>
                    <a:pt x="286" y="23"/>
                  </a:lnTo>
                  <a:lnTo>
                    <a:pt x="315" y="17"/>
                  </a:lnTo>
                  <a:lnTo>
                    <a:pt x="345" y="12"/>
                  </a:lnTo>
                  <a:lnTo>
                    <a:pt x="376" y="7"/>
                  </a:lnTo>
                  <a:lnTo>
                    <a:pt x="409" y="4"/>
                  </a:lnTo>
                  <a:lnTo>
                    <a:pt x="443" y="2"/>
                  </a:lnTo>
                  <a:lnTo>
                    <a:pt x="479" y="0"/>
                  </a:lnTo>
                  <a:lnTo>
                    <a:pt x="517" y="0"/>
                  </a:lnTo>
                  <a:lnTo>
                    <a:pt x="554" y="0"/>
                  </a:lnTo>
                  <a:lnTo>
                    <a:pt x="589" y="2"/>
                  </a:lnTo>
                  <a:lnTo>
                    <a:pt x="625" y="4"/>
                  </a:lnTo>
                  <a:lnTo>
                    <a:pt x="657" y="7"/>
                  </a:lnTo>
                  <a:lnTo>
                    <a:pt x="689" y="12"/>
                  </a:lnTo>
                  <a:lnTo>
                    <a:pt x="717" y="17"/>
                  </a:lnTo>
                  <a:lnTo>
                    <a:pt x="746" y="23"/>
                  </a:lnTo>
                  <a:lnTo>
                    <a:pt x="772" y="30"/>
                  </a:lnTo>
                  <a:lnTo>
                    <a:pt x="798" y="38"/>
                  </a:lnTo>
                  <a:lnTo>
                    <a:pt x="821" y="47"/>
                  </a:lnTo>
                  <a:lnTo>
                    <a:pt x="843" y="57"/>
                  </a:lnTo>
                  <a:lnTo>
                    <a:pt x="863" y="68"/>
                  </a:lnTo>
                  <a:lnTo>
                    <a:pt x="881" y="80"/>
                  </a:lnTo>
                  <a:lnTo>
                    <a:pt x="899" y="92"/>
                  </a:lnTo>
                  <a:lnTo>
                    <a:pt x="915" y="106"/>
                  </a:lnTo>
                  <a:lnTo>
                    <a:pt x="929" y="121"/>
                  </a:lnTo>
                  <a:lnTo>
                    <a:pt x="942" y="137"/>
                  </a:lnTo>
                  <a:lnTo>
                    <a:pt x="954" y="155"/>
                  </a:lnTo>
                  <a:lnTo>
                    <a:pt x="965" y="175"/>
                  </a:lnTo>
                  <a:lnTo>
                    <a:pt x="975" y="195"/>
                  </a:lnTo>
                  <a:lnTo>
                    <a:pt x="985" y="219"/>
                  </a:lnTo>
                  <a:lnTo>
                    <a:pt x="994" y="244"/>
                  </a:lnTo>
                  <a:lnTo>
                    <a:pt x="1002" y="270"/>
                  </a:lnTo>
                  <a:lnTo>
                    <a:pt x="1009" y="299"/>
                  </a:lnTo>
                  <a:lnTo>
                    <a:pt x="1015" y="330"/>
                  </a:lnTo>
                  <a:lnTo>
                    <a:pt x="1020" y="362"/>
                  </a:lnTo>
                  <a:lnTo>
                    <a:pt x="1025" y="396"/>
                  </a:lnTo>
                  <a:lnTo>
                    <a:pt x="1029" y="431"/>
                  </a:lnTo>
                  <a:lnTo>
                    <a:pt x="1031" y="468"/>
                  </a:lnTo>
                  <a:lnTo>
                    <a:pt x="1034" y="508"/>
                  </a:lnTo>
                  <a:lnTo>
                    <a:pt x="1035" y="549"/>
                  </a:lnTo>
                  <a:lnTo>
                    <a:pt x="1036" y="592"/>
                  </a:lnTo>
                  <a:lnTo>
                    <a:pt x="1035" y="640"/>
                  </a:lnTo>
                  <a:lnTo>
                    <a:pt x="1034" y="686"/>
                  </a:lnTo>
                  <a:lnTo>
                    <a:pt x="1031" y="730"/>
                  </a:lnTo>
                  <a:lnTo>
                    <a:pt x="1029" y="773"/>
                  </a:lnTo>
                  <a:lnTo>
                    <a:pt x="1026" y="813"/>
                  </a:lnTo>
                  <a:lnTo>
                    <a:pt x="1020" y="850"/>
                  </a:lnTo>
                  <a:lnTo>
                    <a:pt x="1016" y="886"/>
                  </a:lnTo>
                  <a:lnTo>
                    <a:pt x="1009" y="919"/>
                  </a:lnTo>
                  <a:lnTo>
                    <a:pt x="1003" y="951"/>
                  </a:lnTo>
                  <a:lnTo>
                    <a:pt x="995" y="980"/>
                  </a:lnTo>
                  <a:lnTo>
                    <a:pt x="986" y="1007"/>
                  </a:lnTo>
                  <a:lnTo>
                    <a:pt x="977" y="1033"/>
                  </a:lnTo>
                  <a:lnTo>
                    <a:pt x="966" y="1056"/>
                  </a:lnTo>
                  <a:lnTo>
                    <a:pt x="955" y="1077"/>
                  </a:lnTo>
                  <a:lnTo>
                    <a:pt x="944" y="1095"/>
                  </a:lnTo>
                  <a:lnTo>
                    <a:pt x="931" y="1112"/>
                  </a:lnTo>
                  <a:lnTo>
                    <a:pt x="918" y="1126"/>
                  </a:lnTo>
                  <a:lnTo>
                    <a:pt x="902" y="1141"/>
                  </a:lnTo>
                  <a:lnTo>
                    <a:pt x="885" y="1154"/>
                  </a:lnTo>
                  <a:lnTo>
                    <a:pt x="866" y="1166"/>
                  </a:lnTo>
                  <a:lnTo>
                    <a:pt x="846" y="1177"/>
                  </a:lnTo>
                  <a:lnTo>
                    <a:pt x="824" y="1187"/>
                  </a:lnTo>
                  <a:lnTo>
                    <a:pt x="801" y="1197"/>
                  </a:lnTo>
                  <a:lnTo>
                    <a:pt x="776" y="1204"/>
                  </a:lnTo>
                  <a:lnTo>
                    <a:pt x="749" y="1212"/>
                  </a:lnTo>
                  <a:lnTo>
                    <a:pt x="721" y="1219"/>
                  </a:lnTo>
                  <a:lnTo>
                    <a:pt x="691" y="1224"/>
                  </a:lnTo>
                  <a:lnTo>
                    <a:pt x="659" y="1229"/>
                  </a:lnTo>
                  <a:lnTo>
                    <a:pt x="626" y="1232"/>
                  </a:lnTo>
                  <a:lnTo>
                    <a:pt x="591" y="1234"/>
                  </a:lnTo>
                  <a:lnTo>
                    <a:pt x="554" y="1235"/>
                  </a:lnTo>
                  <a:lnTo>
                    <a:pt x="517" y="1236"/>
                  </a:lnTo>
                  <a:lnTo>
                    <a:pt x="477" y="1235"/>
                  </a:lnTo>
                  <a:lnTo>
                    <a:pt x="440" y="1234"/>
                  </a:lnTo>
                  <a:lnTo>
                    <a:pt x="403" y="1232"/>
                  </a:lnTo>
                  <a:lnTo>
                    <a:pt x="369" y="1229"/>
                  </a:lnTo>
                  <a:lnTo>
                    <a:pt x="336" y="1224"/>
                  </a:lnTo>
                  <a:lnTo>
                    <a:pt x="305" y="1219"/>
                  </a:lnTo>
                  <a:lnTo>
                    <a:pt x="276" y="1213"/>
                  </a:lnTo>
                  <a:lnTo>
                    <a:pt x="249" y="1205"/>
                  </a:lnTo>
                  <a:lnTo>
                    <a:pt x="223" y="1198"/>
                  </a:lnTo>
                  <a:lnTo>
                    <a:pt x="200" y="1189"/>
                  </a:lnTo>
                  <a:lnTo>
                    <a:pt x="178" y="1179"/>
                  </a:lnTo>
                  <a:lnTo>
                    <a:pt x="158" y="1168"/>
                  </a:lnTo>
                  <a:lnTo>
                    <a:pt x="140" y="1156"/>
                  </a:lnTo>
                  <a:lnTo>
                    <a:pt x="123" y="1144"/>
                  </a:lnTo>
                  <a:lnTo>
                    <a:pt x="109" y="1131"/>
                  </a:lnTo>
                  <a:lnTo>
                    <a:pt x="96" y="1115"/>
                  </a:lnTo>
                  <a:lnTo>
                    <a:pt x="83" y="1100"/>
                  </a:lnTo>
                  <a:lnTo>
                    <a:pt x="72" y="1081"/>
                  </a:lnTo>
                  <a:lnTo>
                    <a:pt x="63" y="1060"/>
                  </a:lnTo>
                  <a:lnTo>
                    <a:pt x="54" y="1038"/>
                  </a:lnTo>
                  <a:lnTo>
                    <a:pt x="45" y="1013"/>
                  </a:lnTo>
                  <a:lnTo>
                    <a:pt x="37" y="985"/>
                  </a:lnTo>
                  <a:lnTo>
                    <a:pt x="29" y="956"/>
                  </a:lnTo>
                  <a:lnTo>
                    <a:pt x="23" y="925"/>
                  </a:lnTo>
                  <a:lnTo>
                    <a:pt x="17" y="891"/>
                  </a:lnTo>
                  <a:lnTo>
                    <a:pt x="13" y="854"/>
                  </a:lnTo>
                  <a:lnTo>
                    <a:pt x="9" y="816"/>
                  </a:lnTo>
                  <a:lnTo>
                    <a:pt x="5" y="776"/>
                  </a:lnTo>
                  <a:lnTo>
                    <a:pt x="3" y="733"/>
                  </a:lnTo>
                  <a:lnTo>
                    <a:pt x="1" y="688"/>
                  </a:lnTo>
                  <a:lnTo>
                    <a:pt x="0" y="641"/>
                  </a:lnTo>
                  <a:lnTo>
                    <a:pt x="0" y="592"/>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7" name="Freeform 22">
              <a:extLst>
                <a:ext uri="{FF2B5EF4-FFF2-40B4-BE49-F238E27FC236}">
                  <a16:creationId xmlns="" xmlns:a16="http://schemas.microsoft.com/office/drawing/2014/main" id="{DE7AAE50-29DB-40F2-B1FE-0437D97FDB25}"/>
                </a:ext>
              </a:extLst>
            </p:cNvPr>
            <p:cNvSpPr>
              <a:spLocks noEditPoints="1"/>
            </p:cNvSpPr>
            <p:nvPr userDrawn="1"/>
          </p:nvSpPr>
          <p:spPr bwMode="auto">
            <a:xfrm>
              <a:off x="5184" y="118"/>
              <a:ext cx="251" cy="243"/>
            </a:xfrm>
            <a:custGeom>
              <a:avLst/>
              <a:gdLst>
                <a:gd name="T0" fmla="*/ 877 w 1256"/>
                <a:gd name="T1" fmla="*/ 924 h 1218"/>
                <a:gd name="T2" fmla="*/ 949 w 1256"/>
                <a:gd name="T3" fmla="*/ 913 h 1218"/>
                <a:gd name="T4" fmla="*/ 1000 w 1256"/>
                <a:gd name="T5" fmla="*/ 894 h 1218"/>
                <a:gd name="T6" fmla="*/ 1037 w 1256"/>
                <a:gd name="T7" fmla="*/ 867 h 1218"/>
                <a:gd name="T8" fmla="*/ 1060 w 1256"/>
                <a:gd name="T9" fmla="*/ 829 h 1218"/>
                <a:gd name="T10" fmla="*/ 1083 w 1256"/>
                <a:gd name="T11" fmla="*/ 717 h 1218"/>
                <a:gd name="T12" fmla="*/ 1088 w 1256"/>
                <a:gd name="T13" fmla="*/ 563 h 1218"/>
                <a:gd name="T14" fmla="*/ 1072 w 1256"/>
                <a:gd name="T15" fmla="*/ 415 h 1218"/>
                <a:gd name="T16" fmla="*/ 1050 w 1256"/>
                <a:gd name="T17" fmla="*/ 349 h 1218"/>
                <a:gd name="T18" fmla="*/ 1021 w 1256"/>
                <a:gd name="T19" fmla="*/ 318 h 1218"/>
                <a:gd name="T20" fmla="*/ 976 w 1256"/>
                <a:gd name="T21" fmla="*/ 295 h 1218"/>
                <a:gd name="T22" fmla="*/ 921 w 1256"/>
                <a:gd name="T23" fmla="*/ 280 h 1218"/>
                <a:gd name="T24" fmla="*/ 712 w 1256"/>
                <a:gd name="T25" fmla="*/ 274 h 1218"/>
                <a:gd name="T26" fmla="*/ 379 w 1256"/>
                <a:gd name="T27" fmla="*/ 275 h 1218"/>
                <a:gd name="T28" fmla="*/ 309 w 1256"/>
                <a:gd name="T29" fmla="*/ 286 h 1218"/>
                <a:gd name="T30" fmla="*/ 258 w 1256"/>
                <a:gd name="T31" fmla="*/ 305 h 1218"/>
                <a:gd name="T32" fmla="*/ 221 w 1256"/>
                <a:gd name="T33" fmla="*/ 333 h 1218"/>
                <a:gd name="T34" fmla="*/ 199 w 1256"/>
                <a:gd name="T35" fmla="*/ 372 h 1218"/>
                <a:gd name="T36" fmla="*/ 182 w 1256"/>
                <a:gd name="T37" fmla="*/ 432 h 1218"/>
                <a:gd name="T38" fmla="*/ 169 w 1256"/>
                <a:gd name="T39" fmla="*/ 563 h 1218"/>
                <a:gd name="T40" fmla="*/ 174 w 1256"/>
                <a:gd name="T41" fmla="*/ 717 h 1218"/>
                <a:gd name="T42" fmla="*/ 190 w 1256"/>
                <a:gd name="T43" fmla="*/ 801 h 1218"/>
                <a:gd name="T44" fmla="*/ 209 w 1256"/>
                <a:gd name="T45" fmla="*/ 851 h 1218"/>
                <a:gd name="T46" fmla="*/ 237 w 1256"/>
                <a:gd name="T47" fmla="*/ 882 h 1218"/>
                <a:gd name="T48" fmla="*/ 282 w 1256"/>
                <a:gd name="T49" fmla="*/ 904 h 1218"/>
                <a:gd name="T50" fmla="*/ 381 w 1256"/>
                <a:gd name="T51" fmla="*/ 924 h 1218"/>
                <a:gd name="T52" fmla="*/ 712 w 1256"/>
                <a:gd name="T53" fmla="*/ 0 h 1218"/>
                <a:gd name="T54" fmla="*/ 894 w 1256"/>
                <a:gd name="T55" fmla="*/ 118 h 1218"/>
                <a:gd name="T56" fmla="*/ 988 w 1256"/>
                <a:gd name="T57" fmla="*/ 132 h 1218"/>
                <a:gd name="T58" fmla="*/ 1066 w 1256"/>
                <a:gd name="T59" fmla="*/ 161 h 1218"/>
                <a:gd name="T60" fmla="*/ 1131 w 1256"/>
                <a:gd name="T61" fmla="*/ 205 h 1218"/>
                <a:gd name="T62" fmla="*/ 1181 w 1256"/>
                <a:gd name="T63" fmla="*/ 263 h 1218"/>
                <a:gd name="T64" fmla="*/ 1217 w 1256"/>
                <a:gd name="T65" fmla="*/ 338 h 1218"/>
                <a:gd name="T66" fmla="*/ 1242 w 1256"/>
                <a:gd name="T67" fmla="*/ 431 h 1218"/>
                <a:gd name="T68" fmla="*/ 1255 w 1256"/>
                <a:gd name="T69" fmla="*/ 541 h 1218"/>
                <a:gd name="T70" fmla="*/ 1255 w 1256"/>
                <a:gd name="T71" fmla="*/ 663 h 1218"/>
                <a:gd name="T72" fmla="*/ 1242 w 1256"/>
                <a:gd name="T73" fmla="*/ 772 h 1218"/>
                <a:gd name="T74" fmla="*/ 1217 w 1256"/>
                <a:gd name="T75" fmla="*/ 864 h 1218"/>
                <a:gd name="T76" fmla="*/ 1181 w 1256"/>
                <a:gd name="T77" fmla="*/ 938 h 1218"/>
                <a:gd name="T78" fmla="*/ 1131 w 1256"/>
                <a:gd name="T79" fmla="*/ 995 h 1218"/>
                <a:gd name="T80" fmla="*/ 1067 w 1256"/>
                <a:gd name="T81" fmla="*/ 1038 h 1218"/>
                <a:gd name="T82" fmla="*/ 988 w 1256"/>
                <a:gd name="T83" fmla="*/ 1067 h 1218"/>
                <a:gd name="T84" fmla="*/ 894 w 1256"/>
                <a:gd name="T85" fmla="*/ 1081 h 1218"/>
                <a:gd name="T86" fmla="*/ 712 w 1256"/>
                <a:gd name="T87" fmla="*/ 1218 h 1218"/>
                <a:gd name="T88" fmla="*/ 388 w 1256"/>
                <a:gd name="T89" fmla="*/ 1082 h 1218"/>
                <a:gd name="T90" fmla="*/ 292 w 1256"/>
                <a:gd name="T91" fmla="*/ 1071 h 1218"/>
                <a:gd name="T92" fmla="*/ 210 w 1256"/>
                <a:gd name="T93" fmla="*/ 1047 h 1218"/>
                <a:gd name="T94" fmla="*/ 142 w 1256"/>
                <a:gd name="T95" fmla="*/ 1007 h 1218"/>
                <a:gd name="T96" fmla="*/ 88 w 1256"/>
                <a:gd name="T97" fmla="*/ 953 h 1218"/>
                <a:gd name="T98" fmla="*/ 48 w 1256"/>
                <a:gd name="T99" fmla="*/ 883 h 1218"/>
                <a:gd name="T100" fmla="*/ 20 w 1256"/>
                <a:gd name="T101" fmla="*/ 796 h 1218"/>
                <a:gd name="T102" fmla="*/ 4 w 1256"/>
                <a:gd name="T103" fmla="*/ 691 h 1218"/>
                <a:gd name="T104" fmla="*/ 0 w 1256"/>
                <a:gd name="T105" fmla="*/ 570 h 1218"/>
                <a:gd name="T106" fmla="*/ 10 w 1256"/>
                <a:gd name="T107" fmla="*/ 457 h 1218"/>
                <a:gd name="T108" fmla="*/ 33 w 1256"/>
                <a:gd name="T109" fmla="*/ 360 h 1218"/>
                <a:gd name="T110" fmla="*/ 69 w 1256"/>
                <a:gd name="T111" fmla="*/ 281 h 1218"/>
                <a:gd name="T112" fmla="*/ 117 w 1256"/>
                <a:gd name="T113" fmla="*/ 218 h 1218"/>
                <a:gd name="T114" fmla="*/ 180 w 1256"/>
                <a:gd name="T115" fmla="*/ 171 h 1218"/>
                <a:gd name="T116" fmla="*/ 256 w 1256"/>
                <a:gd name="T117" fmla="*/ 138 h 1218"/>
                <a:gd name="T118" fmla="*/ 347 w 1256"/>
                <a:gd name="T119" fmla="*/ 120 h 1218"/>
                <a:gd name="T120" fmla="*/ 545 w 1256"/>
                <a:gd name="T121" fmla="*/ 116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6" h="1218">
                  <a:moveTo>
                    <a:pt x="712" y="274"/>
                  </a:moveTo>
                  <a:lnTo>
                    <a:pt x="712" y="925"/>
                  </a:lnTo>
                  <a:lnTo>
                    <a:pt x="849" y="925"/>
                  </a:lnTo>
                  <a:lnTo>
                    <a:pt x="877" y="924"/>
                  </a:lnTo>
                  <a:lnTo>
                    <a:pt x="906" y="920"/>
                  </a:lnTo>
                  <a:lnTo>
                    <a:pt x="921" y="918"/>
                  </a:lnTo>
                  <a:lnTo>
                    <a:pt x="935" y="916"/>
                  </a:lnTo>
                  <a:lnTo>
                    <a:pt x="949" y="913"/>
                  </a:lnTo>
                  <a:lnTo>
                    <a:pt x="963" y="908"/>
                  </a:lnTo>
                  <a:lnTo>
                    <a:pt x="976" y="904"/>
                  </a:lnTo>
                  <a:lnTo>
                    <a:pt x="988" y="899"/>
                  </a:lnTo>
                  <a:lnTo>
                    <a:pt x="1000" y="894"/>
                  </a:lnTo>
                  <a:lnTo>
                    <a:pt x="1011" y="888"/>
                  </a:lnTo>
                  <a:lnTo>
                    <a:pt x="1021" y="882"/>
                  </a:lnTo>
                  <a:lnTo>
                    <a:pt x="1030" y="875"/>
                  </a:lnTo>
                  <a:lnTo>
                    <a:pt x="1037" y="867"/>
                  </a:lnTo>
                  <a:lnTo>
                    <a:pt x="1044" y="860"/>
                  </a:lnTo>
                  <a:lnTo>
                    <a:pt x="1050" y="851"/>
                  </a:lnTo>
                  <a:lnTo>
                    <a:pt x="1054" y="840"/>
                  </a:lnTo>
                  <a:lnTo>
                    <a:pt x="1060" y="829"/>
                  </a:lnTo>
                  <a:lnTo>
                    <a:pt x="1064" y="816"/>
                  </a:lnTo>
                  <a:lnTo>
                    <a:pt x="1072" y="786"/>
                  </a:lnTo>
                  <a:lnTo>
                    <a:pt x="1077" y="753"/>
                  </a:lnTo>
                  <a:lnTo>
                    <a:pt x="1083" y="717"/>
                  </a:lnTo>
                  <a:lnTo>
                    <a:pt x="1086" y="679"/>
                  </a:lnTo>
                  <a:lnTo>
                    <a:pt x="1088" y="641"/>
                  </a:lnTo>
                  <a:lnTo>
                    <a:pt x="1088" y="602"/>
                  </a:lnTo>
                  <a:lnTo>
                    <a:pt x="1088" y="563"/>
                  </a:lnTo>
                  <a:lnTo>
                    <a:pt x="1086" y="524"/>
                  </a:lnTo>
                  <a:lnTo>
                    <a:pt x="1083" y="486"/>
                  </a:lnTo>
                  <a:lnTo>
                    <a:pt x="1077" y="449"/>
                  </a:lnTo>
                  <a:lnTo>
                    <a:pt x="1072" y="415"/>
                  </a:lnTo>
                  <a:lnTo>
                    <a:pt x="1064" y="385"/>
                  </a:lnTo>
                  <a:lnTo>
                    <a:pt x="1060" y="372"/>
                  </a:lnTo>
                  <a:lnTo>
                    <a:pt x="1054" y="360"/>
                  </a:lnTo>
                  <a:lnTo>
                    <a:pt x="1050" y="349"/>
                  </a:lnTo>
                  <a:lnTo>
                    <a:pt x="1044" y="340"/>
                  </a:lnTo>
                  <a:lnTo>
                    <a:pt x="1037" y="333"/>
                  </a:lnTo>
                  <a:lnTo>
                    <a:pt x="1030" y="325"/>
                  </a:lnTo>
                  <a:lnTo>
                    <a:pt x="1021" y="318"/>
                  </a:lnTo>
                  <a:lnTo>
                    <a:pt x="1011" y="312"/>
                  </a:lnTo>
                  <a:lnTo>
                    <a:pt x="1000" y="305"/>
                  </a:lnTo>
                  <a:lnTo>
                    <a:pt x="988" y="300"/>
                  </a:lnTo>
                  <a:lnTo>
                    <a:pt x="976" y="295"/>
                  </a:lnTo>
                  <a:lnTo>
                    <a:pt x="963" y="291"/>
                  </a:lnTo>
                  <a:lnTo>
                    <a:pt x="949" y="286"/>
                  </a:lnTo>
                  <a:lnTo>
                    <a:pt x="935" y="283"/>
                  </a:lnTo>
                  <a:lnTo>
                    <a:pt x="921" y="280"/>
                  </a:lnTo>
                  <a:lnTo>
                    <a:pt x="906" y="278"/>
                  </a:lnTo>
                  <a:lnTo>
                    <a:pt x="877" y="275"/>
                  </a:lnTo>
                  <a:lnTo>
                    <a:pt x="849" y="274"/>
                  </a:lnTo>
                  <a:lnTo>
                    <a:pt x="712" y="274"/>
                  </a:lnTo>
                  <a:close/>
                  <a:moveTo>
                    <a:pt x="545" y="925"/>
                  </a:moveTo>
                  <a:lnTo>
                    <a:pt x="545" y="274"/>
                  </a:lnTo>
                  <a:lnTo>
                    <a:pt x="407" y="274"/>
                  </a:lnTo>
                  <a:lnTo>
                    <a:pt x="379" y="275"/>
                  </a:lnTo>
                  <a:lnTo>
                    <a:pt x="352" y="278"/>
                  </a:lnTo>
                  <a:lnTo>
                    <a:pt x="338" y="280"/>
                  </a:lnTo>
                  <a:lnTo>
                    <a:pt x="323" y="283"/>
                  </a:lnTo>
                  <a:lnTo>
                    <a:pt x="309" y="286"/>
                  </a:lnTo>
                  <a:lnTo>
                    <a:pt x="296" y="291"/>
                  </a:lnTo>
                  <a:lnTo>
                    <a:pt x="282" y="295"/>
                  </a:lnTo>
                  <a:lnTo>
                    <a:pt x="270" y="300"/>
                  </a:lnTo>
                  <a:lnTo>
                    <a:pt x="258" y="305"/>
                  </a:lnTo>
                  <a:lnTo>
                    <a:pt x="247" y="312"/>
                  </a:lnTo>
                  <a:lnTo>
                    <a:pt x="237" y="318"/>
                  </a:lnTo>
                  <a:lnTo>
                    <a:pt x="228" y="325"/>
                  </a:lnTo>
                  <a:lnTo>
                    <a:pt x="221" y="333"/>
                  </a:lnTo>
                  <a:lnTo>
                    <a:pt x="214" y="340"/>
                  </a:lnTo>
                  <a:lnTo>
                    <a:pt x="209" y="349"/>
                  </a:lnTo>
                  <a:lnTo>
                    <a:pt x="203" y="360"/>
                  </a:lnTo>
                  <a:lnTo>
                    <a:pt x="199" y="372"/>
                  </a:lnTo>
                  <a:lnTo>
                    <a:pt x="194" y="385"/>
                  </a:lnTo>
                  <a:lnTo>
                    <a:pt x="190" y="400"/>
                  </a:lnTo>
                  <a:lnTo>
                    <a:pt x="185" y="415"/>
                  </a:lnTo>
                  <a:lnTo>
                    <a:pt x="182" y="432"/>
                  </a:lnTo>
                  <a:lnTo>
                    <a:pt x="180" y="449"/>
                  </a:lnTo>
                  <a:lnTo>
                    <a:pt x="174" y="486"/>
                  </a:lnTo>
                  <a:lnTo>
                    <a:pt x="171" y="524"/>
                  </a:lnTo>
                  <a:lnTo>
                    <a:pt x="169" y="563"/>
                  </a:lnTo>
                  <a:lnTo>
                    <a:pt x="168" y="602"/>
                  </a:lnTo>
                  <a:lnTo>
                    <a:pt x="169" y="641"/>
                  </a:lnTo>
                  <a:lnTo>
                    <a:pt x="171" y="679"/>
                  </a:lnTo>
                  <a:lnTo>
                    <a:pt x="174" y="717"/>
                  </a:lnTo>
                  <a:lnTo>
                    <a:pt x="180" y="753"/>
                  </a:lnTo>
                  <a:lnTo>
                    <a:pt x="182" y="769"/>
                  </a:lnTo>
                  <a:lnTo>
                    <a:pt x="185" y="786"/>
                  </a:lnTo>
                  <a:lnTo>
                    <a:pt x="190" y="801"/>
                  </a:lnTo>
                  <a:lnTo>
                    <a:pt x="194" y="816"/>
                  </a:lnTo>
                  <a:lnTo>
                    <a:pt x="199" y="829"/>
                  </a:lnTo>
                  <a:lnTo>
                    <a:pt x="203" y="840"/>
                  </a:lnTo>
                  <a:lnTo>
                    <a:pt x="209" y="851"/>
                  </a:lnTo>
                  <a:lnTo>
                    <a:pt x="214" y="860"/>
                  </a:lnTo>
                  <a:lnTo>
                    <a:pt x="221" y="867"/>
                  </a:lnTo>
                  <a:lnTo>
                    <a:pt x="228" y="875"/>
                  </a:lnTo>
                  <a:lnTo>
                    <a:pt x="237" y="882"/>
                  </a:lnTo>
                  <a:lnTo>
                    <a:pt x="247" y="888"/>
                  </a:lnTo>
                  <a:lnTo>
                    <a:pt x="258" y="894"/>
                  </a:lnTo>
                  <a:lnTo>
                    <a:pt x="270" y="899"/>
                  </a:lnTo>
                  <a:lnTo>
                    <a:pt x="282" y="904"/>
                  </a:lnTo>
                  <a:lnTo>
                    <a:pt x="296" y="908"/>
                  </a:lnTo>
                  <a:lnTo>
                    <a:pt x="323" y="916"/>
                  </a:lnTo>
                  <a:lnTo>
                    <a:pt x="352" y="920"/>
                  </a:lnTo>
                  <a:lnTo>
                    <a:pt x="381" y="924"/>
                  </a:lnTo>
                  <a:lnTo>
                    <a:pt x="409" y="925"/>
                  </a:lnTo>
                  <a:lnTo>
                    <a:pt x="545" y="925"/>
                  </a:lnTo>
                  <a:close/>
                  <a:moveTo>
                    <a:pt x="545" y="0"/>
                  </a:moveTo>
                  <a:lnTo>
                    <a:pt x="712" y="0"/>
                  </a:lnTo>
                  <a:lnTo>
                    <a:pt x="712" y="116"/>
                  </a:lnTo>
                  <a:lnTo>
                    <a:pt x="841" y="116"/>
                  </a:lnTo>
                  <a:lnTo>
                    <a:pt x="868" y="116"/>
                  </a:lnTo>
                  <a:lnTo>
                    <a:pt x="894" y="118"/>
                  </a:lnTo>
                  <a:lnTo>
                    <a:pt x="918" y="120"/>
                  </a:lnTo>
                  <a:lnTo>
                    <a:pt x="943" y="124"/>
                  </a:lnTo>
                  <a:lnTo>
                    <a:pt x="966" y="127"/>
                  </a:lnTo>
                  <a:lnTo>
                    <a:pt x="988" y="132"/>
                  </a:lnTo>
                  <a:lnTo>
                    <a:pt x="1009" y="138"/>
                  </a:lnTo>
                  <a:lnTo>
                    <a:pt x="1029" y="145"/>
                  </a:lnTo>
                  <a:lnTo>
                    <a:pt x="1048" y="152"/>
                  </a:lnTo>
                  <a:lnTo>
                    <a:pt x="1066" y="161"/>
                  </a:lnTo>
                  <a:lnTo>
                    <a:pt x="1084" y="171"/>
                  </a:lnTo>
                  <a:lnTo>
                    <a:pt x="1100" y="181"/>
                  </a:lnTo>
                  <a:lnTo>
                    <a:pt x="1116" y="193"/>
                  </a:lnTo>
                  <a:lnTo>
                    <a:pt x="1131" y="205"/>
                  </a:lnTo>
                  <a:lnTo>
                    <a:pt x="1144" y="218"/>
                  </a:lnTo>
                  <a:lnTo>
                    <a:pt x="1158" y="233"/>
                  </a:lnTo>
                  <a:lnTo>
                    <a:pt x="1170" y="247"/>
                  </a:lnTo>
                  <a:lnTo>
                    <a:pt x="1181" y="263"/>
                  </a:lnTo>
                  <a:lnTo>
                    <a:pt x="1191" y="281"/>
                  </a:lnTo>
                  <a:lnTo>
                    <a:pt x="1201" y="299"/>
                  </a:lnTo>
                  <a:lnTo>
                    <a:pt x="1209" y="318"/>
                  </a:lnTo>
                  <a:lnTo>
                    <a:pt x="1217" y="338"/>
                  </a:lnTo>
                  <a:lnTo>
                    <a:pt x="1225" y="360"/>
                  </a:lnTo>
                  <a:lnTo>
                    <a:pt x="1231" y="382"/>
                  </a:lnTo>
                  <a:lnTo>
                    <a:pt x="1237" y="406"/>
                  </a:lnTo>
                  <a:lnTo>
                    <a:pt x="1242" y="431"/>
                  </a:lnTo>
                  <a:lnTo>
                    <a:pt x="1246" y="457"/>
                  </a:lnTo>
                  <a:lnTo>
                    <a:pt x="1250" y="483"/>
                  </a:lnTo>
                  <a:lnTo>
                    <a:pt x="1252" y="512"/>
                  </a:lnTo>
                  <a:lnTo>
                    <a:pt x="1255" y="541"/>
                  </a:lnTo>
                  <a:lnTo>
                    <a:pt x="1256" y="570"/>
                  </a:lnTo>
                  <a:lnTo>
                    <a:pt x="1256" y="602"/>
                  </a:lnTo>
                  <a:lnTo>
                    <a:pt x="1256" y="633"/>
                  </a:lnTo>
                  <a:lnTo>
                    <a:pt x="1255" y="663"/>
                  </a:lnTo>
                  <a:lnTo>
                    <a:pt x="1252" y="691"/>
                  </a:lnTo>
                  <a:lnTo>
                    <a:pt x="1250" y="720"/>
                  </a:lnTo>
                  <a:lnTo>
                    <a:pt x="1247" y="746"/>
                  </a:lnTo>
                  <a:lnTo>
                    <a:pt x="1242" y="772"/>
                  </a:lnTo>
                  <a:lnTo>
                    <a:pt x="1237" y="797"/>
                  </a:lnTo>
                  <a:lnTo>
                    <a:pt x="1231" y="820"/>
                  </a:lnTo>
                  <a:lnTo>
                    <a:pt x="1225" y="842"/>
                  </a:lnTo>
                  <a:lnTo>
                    <a:pt x="1217" y="864"/>
                  </a:lnTo>
                  <a:lnTo>
                    <a:pt x="1209" y="884"/>
                  </a:lnTo>
                  <a:lnTo>
                    <a:pt x="1201" y="904"/>
                  </a:lnTo>
                  <a:lnTo>
                    <a:pt x="1191" y="921"/>
                  </a:lnTo>
                  <a:lnTo>
                    <a:pt x="1181" y="938"/>
                  </a:lnTo>
                  <a:lnTo>
                    <a:pt x="1170" y="954"/>
                  </a:lnTo>
                  <a:lnTo>
                    <a:pt x="1158" y="969"/>
                  </a:lnTo>
                  <a:lnTo>
                    <a:pt x="1144" y="983"/>
                  </a:lnTo>
                  <a:lnTo>
                    <a:pt x="1131" y="995"/>
                  </a:lnTo>
                  <a:lnTo>
                    <a:pt x="1117" y="1007"/>
                  </a:lnTo>
                  <a:lnTo>
                    <a:pt x="1101" y="1018"/>
                  </a:lnTo>
                  <a:lnTo>
                    <a:pt x="1085" y="1029"/>
                  </a:lnTo>
                  <a:lnTo>
                    <a:pt x="1067" y="1038"/>
                  </a:lnTo>
                  <a:lnTo>
                    <a:pt x="1048" y="1047"/>
                  </a:lnTo>
                  <a:lnTo>
                    <a:pt x="1030" y="1054"/>
                  </a:lnTo>
                  <a:lnTo>
                    <a:pt x="1010" y="1061"/>
                  </a:lnTo>
                  <a:lnTo>
                    <a:pt x="988" y="1067"/>
                  </a:lnTo>
                  <a:lnTo>
                    <a:pt x="966" y="1071"/>
                  </a:lnTo>
                  <a:lnTo>
                    <a:pt x="944" y="1075"/>
                  </a:lnTo>
                  <a:lnTo>
                    <a:pt x="920" y="1079"/>
                  </a:lnTo>
                  <a:lnTo>
                    <a:pt x="894" y="1081"/>
                  </a:lnTo>
                  <a:lnTo>
                    <a:pt x="869" y="1082"/>
                  </a:lnTo>
                  <a:lnTo>
                    <a:pt x="841" y="1083"/>
                  </a:lnTo>
                  <a:lnTo>
                    <a:pt x="712" y="1083"/>
                  </a:lnTo>
                  <a:lnTo>
                    <a:pt x="712" y="1218"/>
                  </a:lnTo>
                  <a:lnTo>
                    <a:pt x="545" y="1218"/>
                  </a:lnTo>
                  <a:lnTo>
                    <a:pt x="545" y="1083"/>
                  </a:lnTo>
                  <a:lnTo>
                    <a:pt x="415" y="1083"/>
                  </a:lnTo>
                  <a:lnTo>
                    <a:pt x="388" y="1082"/>
                  </a:lnTo>
                  <a:lnTo>
                    <a:pt x="363" y="1081"/>
                  </a:lnTo>
                  <a:lnTo>
                    <a:pt x="339" y="1079"/>
                  </a:lnTo>
                  <a:lnTo>
                    <a:pt x="314" y="1075"/>
                  </a:lnTo>
                  <a:lnTo>
                    <a:pt x="292" y="1071"/>
                  </a:lnTo>
                  <a:lnTo>
                    <a:pt x="270" y="1067"/>
                  </a:lnTo>
                  <a:lnTo>
                    <a:pt x="249" y="1061"/>
                  </a:lnTo>
                  <a:lnTo>
                    <a:pt x="230" y="1053"/>
                  </a:lnTo>
                  <a:lnTo>
                    <a:pt x="210" y="1047"/>
                  </a:lnTo>
                  <a:lnTo>
                    <a:pt x="192" y="1038"/>
                  </a:lnTo>
                  <a:lnTo>
                    <a:pt x="174" y="1028"/>
                  </a:lnTo>
                  <a:lnTo>
                    <a:pt x="158" y="1018"/>
                  </a:lnTo>
                  <a:lnTo>
                    <a:pt x="142" y="1007"/>
                  </a:lnTo>
                  <a:lnTo>
                    <a:pt x="128" y="995"/>
                  </a:lnTo>
                  <a:lnTo>
                    <a:pt x="114" y="982"/>
                  </a:lnTo>
                  <a:lnTo>
                    <a:pt x="101" y="968"/>
                  </a:lnTo>
                  <a:lnTo>
                    <a:pt x="88" y="953"/>
                  </a:lnTo>
                  <a:lnTo>
                    <a:pt x="77" y="937"/>
                  </a:lnTo>
                  <a:lnTo>
                    <a:pt x="66" y="920"/>
                  </a:lnTo>
                  <a:lnTo>
                    <a:pt x="57" y="903"/>
                  </a:lnTo>
                  <a:lnTo>
                    <a:pt x="48" y="883"/>
                  </a:lnTo>
                  <a:lnTo>
                    <a:pt x="40" y="863"/>
                  </a:lnTo>
                  <a:lnTo>
                    <a:pt x="32" y="841"/>
                  </a:lnTo>
                  <a:lnTo>
                    <a:pt x="26" y="819"/>
                  </a:lnTo>
                  <a:lnTo>
                    <a:pt x="20" y="796"/>
                  </a:lnTo>
                  <a:lnTo>
                    <a:pt x="15" y="772"/>
                  </a:lnTo>
                  <a:lnTo>
                    <a:pt x="10" y="745"/>
                  </a:lnTo>
                  <a:lnTo>
                    <a:pt x="7" y="719"/>
                  </a:lnTo>
                  <a:lnTo>
                    <a:pt x="4" y="691"/>
                  </a:lnTo>
                  <a:lnTo>
                    <a:pt x="1" y="663"/>
                  </a:lnTo>
                  <a:lnTo>
                    <a:pt x="0" y="633"/>
                  </a:lnTo>
                  <a:lnTo>
                    <a:pt x="0" y="602"/>
                  </a:lnTo>
                  <a:lnTo>
                    <a:pt x="0" y="570"/>
                  </a:lnTo>
                  <a:lnTo>
                    <a:pt x="1" y="541"/>
                  </a:lnTo>
                  <a:lnTo>
                    <a:pt x="4" y="512"/>
                  </a:lnTo>
                  <a:lnTo>
                    <a:pt x="7" y="483"/>
                  </a:lnTo>
                  <a:lnTo>
                    <a:pt x="10" y="457"/>
                  </a:lnTo>
                  <a:lnTo>
                    <a:pt x="15" y="431"/>
                  </a:lnTo>
                  <a:lnTo>
                    <a:pt x="20" y="406"/>
                  </a:lnTo>
                  <a:lnTo>
                    <a:pt x="26" y="382"/>
                  </a:lnTo>
                  <a:lnTo>
                    <a:pt x="33" y="360"/>
                  </a:lnTo>
                  <a:lnTo>
                    <a:pt x="41" y="338"/>
                  </a:lnTo>
                  <a:lnTo>
                    <a:pt x="49" y="318"/>
                  </a:lnTo>
                  <a:lnTo>
                    <a:pt x="59" y="299"/>
                  </a:lnTo>
                  <a:lnTo>
                    <a:pt x="69" y="281"/>
                  </a:lnTo>
                  <a:lnTo>
                    <a:pt x="80" y="263"/>
                  </a:lnTo>
                  <a:lnTo>
                    <a:pt x="92" y="247"/>
                  </a:lnTo>
                  <a:lnTo>
                    <a:pt x="104" y="233"/>
                  </a:lnTo>
                  <a:lnTo>
                    <a:pt x="117" y="218"/>
                  </a:lnTo>
                  <a:lnTo>
                    <a:pt x="131" y="205"/>
                  </a:lnTo>
                  <a:lnTo>
                    <a:pt x="147" y="193"/>
                  </a:lnTo>
                  <a:lnTo>
                    <a:pt x="162" y="181"/>
                  </a:lnTo>
                  <a:lnTo>
                    <a:pt x="180" y="171"/>
                  </a:lnTo>
                  <a:lnTo>
                    <a:pt x="198" y="161"/>
                  </a:lnTo>
                  <a:lnTo>
                    <a:pt x="216" y="152"/>
                  </a:lnTo>
                  <a:lnTo>
                    <a:pt x="236" y="145"/>
                  </a:lnTo>
                  <a:lnTo>
                    <a:pt x="256" y="138"/>
                  </a:lnTo>
                  <a:lnTo>
                    <a:pt x="278" y="132"/>
                  </a:lnTo>
                  <a:lnTo>
                    <a:pt x="300" y="127"/>
                  </a:lnTo>
                  <a:lnTo>
                    <a:pt x="323" y="124"/>
                  </a:lnTo>
                  <a:lnTo>
                    <a:pt x="347" y="120"/>
                  </a:lnTo>
                  <a:lnTo>
                    <a:pt x="373" y="118"/>
                  </a:lnTo>
                  <a:lnTo>
                    <a:pt x="399" y="116"/>
                  </a:lnTo>
                  <a:lnTo>
                    <a:pt x="426" y="116"/>
                  </a:lnTo>
                  <a:lnTo>
                    <a:pt x="545" y="116"/>
                  </a:lnTo>
                  <a:lnTo>
                    <a:pt x="545"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grpSp>
      <p:grpSp>
        <p:nvGrpSpPr>
          <p:cNvPr id="43" name="Group 80">
            <a:extLst>
              <a:ext uri="{FF2B5EF4-FFF2-40B4-BE49-F238E27FC236}">
                <a16:creationId xmlns="" xmlns:a16="http://schemas.microsoft.com/office/drawing/2014/main" id="{DECEC79C-D781-43B1-8E7E-BF1B49D005DF}"/>
              </a:ext>
            </a:extLst>
          </p:cNvPr>
          <p:cNvGrpSpPr>
            <a:grpSpLocks noChangeAspect="1"/>
          </p:cNvGrpSpPr>
          <p:nvPr userDrawn="1"/>
        </p:nvGrpSpPr>
        <p:grpSpPr bwMode="auto">
          <a:xfrm>
            <a:off x="8892053" y="196432"/>
            <a:ext cx="1013947" cy="295200"/>
            <a:chOff x="2646" y="2022"/>
            <a:chExt cx="948" cy="276"/>
          </a:xfrm>
        </p:grpSpPr>
        <p:sp>
          <p:nvSpPr>
            <p:cNvPr id="44" name="AutoShape 79">
              <a:extLst>
                <a:ext uri="{FF2B5EF4-FFF2-40B4-BE49-F238E27FC236}">
                  <a16:creationId xmlns="" xmlns:a16="http://schemas.microsoft.com/office/drawing/2014/main" id="{DBC13431-A47C-4DCA-B22C-8FE8B181486C}"/>
                </a:ext>
              </a:extLst>
            </p:cNvPr>
            <p:cNvSpPr>
              <a:spLocks noChangeAspect="1" noChangeArrowheads="1" noTextEdit="1"/>
            </p:cNvSpPr>
            <p:nvPr userDrawn="1"/>
          </p:nvSpPr>
          <p:spPr bwMode="auto">
            <a:xfrm>
              <a:off x="2646" y="2022"/>
              <a:ext cx="94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0" name="Freeform 81">
              <a:extLst>
                <a:ext uri="{FF2B5EF4-FFF2-40B4-BE49-F238E27FC236}">
                  <a16:creationId xmlns="" xmlns:a16="http://schemas.microsoft.com/office/drawing/2014/main" id="{1FE91590-1C98-4BFA-BCB9-47D9ADB31579}"/>
                </a:ext>
              </a:extLst>
            </p:cNvPr>
            <p:cNvSpPr>
              <a:spLocks/>
            </p:cNvSpPr>
            <p:nvPr userDrawn="1"/>
          </p:nvSpPr>
          <p:spPr bwMode="auto">
            <a:xfrm>
              <a:off x="3179" y="2022"/>
              <a:ext cx="415" cy="276"/>
            </a:xfrm>
            <a:custGeom>
              <a:avLst/>
              <a:gdLst>
                <a:gd name="T0" fmla="*/ 0 w 7050"/>
                <a:gd name="T1" fmla="*/ 4692 h 4692"/>
                <a:gd name="T2" fmla="*/ 7050 w 7050"/>
                <a:gd name="T3" fmla="*/ 4692 h 4692"/>
                <a:gd name="T4" fmla="*/ 7050 w 7050"/>
                <a:gd name="T5" fmla="*/ 0 h 4692"/>
                <a:gd name="T6" fmla="*/ 3319 w 7050"/>
                <a:gd name="T7" fmla="*/ 0 h 4692"/>
                <a:gd name="T8" fmla="*/ 3286 w 7050"/>
                <a:gd name="T9" fmla="*/ 0 h 4692"/>
                <a:gd name="T10" fmla="*/ 0 w 7050"/>
                <a:gd name="T11" fmla="*/ 4692 h 4692"/>
              </a:gdLst>
              <a:ahLst/>
              <a:cxnLst>
                <a:cxn ang="0">
                  <a:pos x="T0" y="T1"/>
                </a:cxn>
                <a:cxn ang="0">
                  <a:pos x="T2" y="T3"/>
                </a:cxn>
                <a:cxn ang="0">
                  <a:pos x="T4" y="T5"/>
                </a:cxn>
                <a:cxn ang="0">
                  <a:pos x="T6" y="T7"/>
                </a:cxn>
                <a:cxn ang="0">
                  <a:pos x="T8" y="T9"/>
                </a:cxn>
                <a:cxn ang="0">
                  <a:pos x="T10" y="T11"/>
                </a:cxn>
              </a:cxnLst>
              <a:rect l="0" t="0" r="r" b="b"/>
              <a:pathLst>
                <a:path w="7050" h="4692">
                  <a:moveTo>
                    <a:pt x="0" y="4692"/>
                  </a:moveTo>
                  <a:lnTo>
                    <a:pt x="7050" y="4692"/>
                  </a:lnTo>
                  <a:lnTo>
                    <a:pt x="7050" y="0"/>
                  </a:lnTo>
                  <a:lnTo>
                    <a:pt x="3319" y="0"/>
                  </a:lnTo>
                  <a:lnTo>
                    <a:pt x="3286" y="0"/>
                  </a:lnTo>
                  <a:lnTo>
                    <a:pt x="0" y="4692"/>
                  </a:lnTo>
                  <a:close/>
                </a:path>
              </a:pathLst>
            </a:custGeom>
            <a:solidFill>
              <a:srgbClr val="D351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1" name="Freeform 82">
              <a:extLst>
                <a:ext uri="{FF2B5EF4-FFF2-40B4-BE49-F238E27FC236}">
                  <a16:creationId xmlns="" xmlns:a16="http://schemas.microsoft.com/office/drawing/2014/main" id="{9C07BB20-69C9-40DF-92AB-8AEBFB4B6892}"/>
                </a:ext>
              </a:extLst>
            </p:cNvPr>
            <p:cNvSpPr>
              <a:spLocks/>
            </p:cNvSpPr>
            <p:nvPr userDrawn="1"/>
          </p:nvSpPr>
          <p:spPr bwMode="auto">
            <a:xfrm>
              <a:off x="2839" y="2022"/>
              <a:ext cx="535" cy="276"/>
            </a:xfrm>
            <a:custGeom>
              <a:avLst/>
              <a:gdLst>
                <a:gd name="T0" fmla="*/ 3285 w 9082"/>
                <a:gd name="T1" fmla="*/ 4692 h 4692"/>
                <a:gd name="T2" fmla="*/ 5780 w 9082"/>
                <a:gd name="T3" fmla="*/ 4692 h 4692"/>
                <a:gd name="T4" fmla="*/ 9082 w 9082"/>
                <a:gd name="T5" fmla="*/ 0 h 4692"/>
                <a:gd name="T6" fmla="*/ 0 w 9082"/>
                <a:gd name="T7" fmla="*/ 0 h 4692"/>
                <a:gd name="T8" fmla="*/ 3285 w 9082"/>
                <a:gd name="T9" fmla="*/ 4692 h 4692"/>
              </a:gdLst>
              <a:ahLst/>
              <a:cxnLst>
                <a:cxn ang="0">
                  <a:pos x="T0" y="T1"/>
                </a:cxn>
                <a:cxn ang="0">
                  <a:pos x="T2" y="T3"/>
                </a:cxn>
                <a:cxn ang="0">
                  <a:pos x="T4" y="T5"/>
                </a:cxn>
                <a:cxn ang="0">
                  <a:pos x="T6" y="T7"/>
                </a:cxn>
                <a:cxn ang="0">
                  <a:pos x="T8" y="T9"/>
                </a:cxn>
              </a:cxnLst>
              <a:rect l="0" t="0" r="r" b="b"/>
              <a:pathLst>
                <a:path w="9082" h="4692">
                  <a:moveTo>
                    <a:pt x="3285" y="4692"/>
                  </a:moveTo>
                  <a:lnTo>
                    <a:pt x="5780" y="4692"/>
                  </a:lnTo>
                  <a:lnTo>
                    <a:pt x="9082" y="0"/>
                  </a:lnTo>
                  <a:lnTo>
                    <a:pt x="0" y="0"/>
                  </a:lnTo>
                  <a:lnTo>
                    <a:pt x="3285" y="4692"/>
                  </a:lnTo>
                  <a:close/>
                </a:path>
              </a:pathLst>
            </a:custGeom>
            <a:solidFill>
              <a:srgbClr val="F8B2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2" name="Freeform 83">
              <a:extLst>
                <a:ext uri="{FF2B5EF4-FFF2-40B4-BE49-F238E27FC236}">
                  <a16:creationId xmlns="" xmlns:a16="http://schemas.microsoft.com/office/drawing/2014/main" id="{D2470C12-5E2A-4553-B67B-3C7B8B3D94ED}"/>
                </a:ext>
              </a:extLst>
            </p:cNvPr>
            <p:cNvSpPr>
              <a:spLocks/>
            </p:cNvSpPr>
            <p:nvPr userDrawn="1"/>
          </p:nvSpPr>
          <p:spPr bwMode="auto">
            <a:xfrm>
              <a:off x="2646" y="2022"/>
              <a:ext cx="387" cy="276"/>
            </a:xfrm>
            <a:custGeom>
              <a:avLst/>
              <a:gdLst>
                <a:gd name="T0" fmla="*/ 0 w 6571"/>
                <a:gd name="T1" fmla="*/ 4692 h 4692"/>
                <a:gd name="T2" fmla="*/ 6571 w 6571"/>
                <a:gd name="T3" fmla="*/ 4692 h 4692"/>
                <a:gd name="T4" fmla="*/ 3286 w 6571"/>
                <a:gd name="T5" fmla="*/ 0 h 4692"/>
                <a:gd name="T6" fmla="*/ 0 w 6571"/>
                <a:gd name="T7" fmla="*/ 4692 h 4692"/>
              </a:gdLst>
              <a:ahLst/>
              <a:cxnLst>
                <a:cxn ang="0">
                  <a:pos x="T0" y="T1"/>
                </a:cxn>
                <a:cxn ang="0">
                  <a:pos x="T2" y="T3"/>
                </a:cxn>
                <a:cxn ang="0">
                  <a:pos x="T4" y="T5"/>
                </a:cxn>
                <a:cxn ang="0">
                  <a:pos x="T6" y="T7"/>
                </a:cxn>
              </a:cxnLst>
              <a:rect l="0" t="0" r="r" b="b"/>
              <a:pathLst>
                <a:path w="6571" h="4692">
                  <a:moveTo>
                    <a:pt x="0" y="4692"/>
                  </a:moveTo>
                  <a:lnTo>
                    <a:pt x="6571" y="4692"/>
                  </a:lnTo>
                  <a:lnTo>
                    <a:pt x="3286" y="0"/>
                  </a:lnTo>
                  <a:lnTo>
                    <a:pt x="0" y="4692"/>
                  </a:lnTo>
                  <a:close/>
                </a:path>
              </a:pathLst>
            </a:custGeom>
            <a:solidFill>
              <a:srgbClr val="FFC1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3" name="Freeform 84">
              <a:extLst>
                <a:ext uri="{FF2B5EF4-FFF2-40B4-BE49-F238E27FC236}">
                  <a16:creationId xmlns="" xmlns:a16="http://schemas.microsoft.com/office/drawing/2014/main" id="{D625BA3D-C3BB-47DB-95D5-90CA73F7638E}"/>
                </a:ext>
              </a:extLst>
            </p:cNvPr>
            <p:cNvSpPr>
              <a:spLocks/>
            </p:cNvSpPr>
            <p:nvPr userDrawn="1"/>
          </p:nvSpPr>
          <p:spPr bwMode="auto">
            <a:xfrm>
              <a:off x="2646" y="2022"/>
              <a:ext cx="194" cy="276"/>
            </a:xfrm>
            <a:custGeom>
              <a:avLst/>
              <a:gdLst>
                <a:gd name="T0" fmla="*/ 0 w 3302"/>
                <a:gd name="T1" fmla="*/ 0 h 4692"/>
                <a:gd name="T2" fmla="*/ 0 w 3302"/>
                <a:gd name="T3" fmla="*/ 4692 h 4692"/>
                <a:gd name="T4" fmla="*/ 3302 w 3302"/>
                <a:gd name="T5" fmla="*/ 0 h 4692"/>
                <a:gd name="T6" fmla="*/ 0 w 3302"/>
                <a:gd name="T7" fmla="*/ 0 h 4692"/>
              </a:gdLst>
              <a:ahLst/>
              <a:cxnLst>
                <a:cxn ang="0">
                  <a:pos x="T0" y="T1"/>
                </a:cxn>
                <a:cxn ang="0">
                  <a:pos x="T2" y="T3"/>
                </a:cxn>
                <a:cxn ang="0">
                  <a:pos x="T4" y="T5"/>
                </a:cxn>
                <a:cxn ang="0">
                  <a:pos x="T6" y="T7"/>
                </a:cxn>
              </a:cxnLst>
              <a:rect l="0" t="0" r="r" b="b"/>
              <a:pathLst>
                <a:path w="3302" h="4692">
                  <a:moveTo>
                    <a:pt x="0" y="0"/>
                  </a:moveTo>
                  <a:lnTo>
                    <a:pt x="0" y="4692"/>
                  </a:lnTo>
                  <a:lnTo>
                    <a:pt x="3302" y="0"/>
                  </a:lnTo>
                  <a:lnTo>
                    <a:pt x="0" y="0"/>
                  </a:lnTo>
                  <a:close/>
                </a:path>
              </a:pathLst>
            </a:custGeom>
            <a:solidFill>
              <a:srgbClr val="FFD7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grpSp>
      <p:cxnSp>
        <p:nvCxnSpPr>
          <p:cNvPr id="13" name="Прямая соединительная линия 12"/>
          <p:cNvCxnSpPr/>
          <p:nvPr userDrawn="1"/>
        </p:nvCxnSpPr>
        <p:spPr>
          <a:xfrm>
            <a:off x="0" y="686105"/>
            <a:ext cx="9906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Прямоугольник: скругленные углы 37">
            <a:extLst>
              <a:ext uri="{FF2B5EF4-FFF2-40B4-BE49-F238E27FC236}">
                <a16:creationId xmlns="" xmlns:a16="http://schemas.microsoft.com/office/drawing/2014/main" id="{01843A93-6469-4307-B93C-542F8EAA9123}"/>
              </a:ext>
            </a:extLst>
          </p:cNvPr>
          <p:cNvSpPr/>
          <p:nvPr userDrawn="1"/>
        </p:nvSpPr>
        <p:spPr>
          <a:xfrm>
            <a:off x="1845807" y="90074"/>
            <a:ext cx="10800" cy="504000"/>
          </a:xfrm>
          <a:prstGeom prst="roundRect">
            <a:avLst>
              <a:gd name="adj" fmla="val 50000"/>
            </a:avLst>
          </a:prstGeom>
          <a:solidFill>
            <a:srgbClr val="6B6B6B"/>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Прямоугольник 38"/>
          <p:cNvSpPr/>
          <p:nvPr userDrawn="1"/>
        </p:nvSpPr>
        <p:spPr>
          <a:xfrm>
            <a:off x="0" y="712664"/>
            <a:ext cx="9906000" cy="2644328"/>
          </a:xfrm>
          <a:prstGeom prst="rect">
            <a:avLst/>
          </a:prstGeom>
          <a:gradFill flip="none" rotWithShape="1">
            <a:gsLst>
              <a:gs pos="100000">
                <a:schemeClr val="accent1">
                  <a:lumMod val="5000"/>
                  <a:lumOff val="95000"/>
                  <a:alpha val="0"/>
                </a:schemeClr>
              </a:gs>
              <a:gs pos="0">
                <a:schemeClr val="bg1">
                  <a:lumMod val="9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67741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120" userDrawn="1">
          <p15:clr>
            <a:srgbClr val="FBAE40"/>
          </p15:clr>
        </p15:guide>
        <p15:guide id="2" orient="horz" pos="2160" userDrawn="1">
          <p15:clr>
            <a:srgbClr val="FBAE40"/>
          </p15:clr>
        </p15:guide>
        <p15:guide id="3" pos="172" userDrawn="1">
          <p15:clr>
            <a:srgbClr val="FBAE40"/>
          </p15:clr>
        </p15:guide>
        <p15:guide id="4" pos="6068" userDrawn="1">
          <p15:clr>
            <a:srgbClr val="FBAE40"/>
          </p15:clr>
        </p15:guide>
        <p15:guide id="5" orient="horz" pos="4156" userDrawn="1">
          <p15:clr>
            <a:srgbClr val="FBAE40"/>
          </p15:clr>
        </p15:guide>
        <p15:guide id="6" orient="horz" pos="61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1. Основное наполнение (пустой лист)">
    <p:spTree>
      <p:nvGrpSpPr>
        <p:cNvPr id="1" name=""/>
        <p:cNvGrpSpPr/>
        <p:nvPr/>
      </p:nvGrpSpPr>
      <p:grpSpPr>
        <a:xfrm>
          <a:off x="0" y="0"/>
          <a:ext cx="0" cy="0"/>
          <a:chOff x="0" y="0"/>
          <a:chExt cx="0" cy="0"/>
        </a:xfrm>
      </p:grpSpPr>
      <p:sp>
        <p:nvSpPr>
          <p:cNvPr id="47" name="Заголовок 46">
            <a:extLst>
              <a:ext uri="{FF2B5EF4-FFF2-40B4-BE49-F238E27FC236}">
                <a16:creationId xmlns="" xmlns:a16="http://schemas.microsoft.com/office/drawing/2014/main" id="{F7F1D3BA-BC18-475E-BE3D-9A54117FDCD2}"/>
              </a:ext>
            </a:extLst>
          </p:cNvPr>
          <p:cNvSpPr>
            <a:spLocks noGrp="1"/>
          </p:cNvSpPr>
          <p:nvPr>
            <p:ph type="title"/>
          </p:nvPr>
        </p:nvSpPr>
        <p:spPr>
          <a:xfrm>
            <a:off x="1845807" y="116632"/>
            <a:ext cx="7017368" cy="596032"/>
          </a:xfrm>
          <a:prstGeom prst="rect">
            <a:avLst/>
          </a:prstGeom>
        </p:spPr>
        <p:txBody>
          <a:bodyPr lIns="216000" anchor="ctr">
            <a:normAutofit/>
          </a:bodyPr>
          <a:lstStyle>
            <a:lvl1pPr algn="l">
              <a:defRPr sz="1400" b="1">
                <a:latin typeface="Arial" panose="020B0604020202020204" pitchFamily="34" charset="0"/>
                <a:cs typeface="Arial" panose="020B0604020202020204" pitchFamily="34" charset="0"/>
              </a:defRPr>
            </a:lvl1pPr>
          </a:lstStyle>
          <a:p>
            <a:r>
              <a:rPr lang="ru-RU" dirty="0"/>
              <a:t>Образец заголовка</a:t>
            </a:r>
          </a:p>
        </p:txBody>
      </p:sp>
      <p:sp>
        <p:nvSpPr>
          <p:cNvPr id="48" name="Нижний колонтитул 47">
            <a:extLst>
              <a:ext uri="{FF2B5EF4-FFF2-40B4-BE49-F238E27FC236}">
                <a16:creationId xmlns="" xmlns:a16="http://schemas.microsoft.com/office/drawing/2014/main" id="{8E78B35F-5196-40F9-BA5B-3D58964066E6}"/>
              </a:ext>
            </a:extLst>
          </p:cNvPr>
          <p:cNvSpPr>
            <a:spLocks noGrp="1"/>
          </p:cNvSpPr>
          <p:nvPr>
            <p:ph type="ftr" sz="quarter" idx="11"/>
          </p:nvPr>
        </p:nvSpPr>
        <p:spPr/>
        <p:txBody>
          <a:bodyPr/>
          <a:lstStyle/>
          <a:p>
            <a:endParaRPr lang="ru-RU" dirty="0"/>
          </a:p>
        </p:txBody>
      </p:sp>
      <p:sp>
        <p:nvSpPr>
          <p:cNvPr id="49" name="Номер слайда 48">
            <a:extLst>
              <a:ext uri="{FF2B5EF4-FFF2-40B4-BE49-F238E27FC236}">
                <a16:creationId xmlns="" xmlns:a16="http://schemas.microsoft.com/office/drawing/2014/main" id="{DB2598F8-02B5-4C65-9A36-F577B2C1101D}"/>
              </a:ext>
            </a:extLst>
          </p:cNvPr>
          <p:cNvSpPr>
            <a:spLocks noGrp="1"/>
          </p:cNvSpPr>
          <p:nvPr>
            <p:ph type="sldNum" sz="quarter" idx="12"/>
          </p:nvPr>
        </p:nvSpPr>
        <p:spPr>
          <a:xfrm>
            <a:off x="9603052" y="6714000"/>
            <a:ext cx="259400" cy="144000"/>
          </a:xfrm>
        </p:spPr>
        <p:txBody>
          <a:bodyPr/>
          <a:lstStyle/>
          <a:p>
            <a:fld id="{5100B139-BD82-4293-9FDA-44725340297B}" type="slidenum">
              <a:rPr lang="ru-RU" smtClean="0"/>
              <a:pPr/>
              <a:t>‹#›</a:t>
            </a:fld>
            <a:endParaRPr lang="ru-RU"/>
          </a:p>
        </p:txBody>
      </p:sp>
      <p:grpSp>
        <p:nvGrpSpPr>
          <p:cNvPr id="18" name="Group 4">
            <a:extLst>
              <a:ext uri="{FF2B5EF4-FFF2-40B4-BE49-F238E27FC236}">
                <a16:creationId xmlns="" xmlns:a16="http://schemas.microsoft.com/office/drawing/2014/main" id="{3120009E-C0C5-4822-9296-2A7BBBAB2C77}"/>
              </a:ext>
            </a:extLst>
          </p:cNvPr>
          <p:cNvGrpSpPr>
            <a:grpSpLocks noChangeAspect="1"/>
          </p:cNvGrpSpPr>
          <p:nvPr userDrawn="1"/>
        </p:nvGrpSpPr>
        <p:grpSpPr bwMode="auto">
          <a:xfrm>
            <a:off x="270814" y="209032"/>
            <a:ext cx="1295633" cy="270000"/>
            <a:chOff x="2090" y="-370"/>
            <a:chExt cx="3527" cy="735"/>
          </a:xfrm>
        </p:grpSpPr>
        <p:sp>
          <p:nvSpPr>
            <p:cNvPr id="19" name="AutoShape 3">
              <a:extLst>
                <a:ext uri="{FF2B5EF4-FFF2-40B4-BE49-F238E27FC236}">
                  <a16:creationId xmlns="" xmlns:a16="http://schemas.microsoft.com/office/drawing/2014/main" id="{B0870C67-B848-43B8-BCA9-9E9A2BB8E8A0}"/>
                </a:ext>
              </a:extLst>
            </p:cNvPr>
            <p:cNvSpPr>
              <a:spLocks noChangeAspect="1" noChangeArrowheads="1" noTextEdit="1"/>
            </p:cNvSpPr>
            <p:nvPr userDrawn="1"/>
          </p:nvSpPr>
          <p:spPr bwMode="auto">
            <a:xfrm>
              <a:off x="2090" y="-370"/>
              <a:ext cx="3527" cy="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0" name="Freeform 5">
              <a:extLst>
                <a:ext uri="{FF2B5EF4-FFF2-40B4-BE49-F238E27FC236}">
                  <a16:creationId xmlns="" xmlns:a16="http://schemas.microsoft.com/office/drawing/2014/main" id="{29F458DC-E89F-4C86-A91D-DDFDB4AB3037}"/>
                </a:ext>
              </a:extLst>
            </p:cNvPr>
            <p:cNvSpPr>
              <a:spLocks/>
            </p:cNvSpPr>
            <p:nvPr userDrawn="1"/>
          </p:nvSpPr>
          <p:spPr bwMode="auto">
            <a:xfrm>
              <a:off x="2459" y="-370"/>
              <a:ext cx="252" cy="731"/>
            </a:xfrm>
            <a:custGeom>
              <a:avLst/>
              <a:gdLst>
                <a:gd name="T0" fmla="*/ 1067 w 1258"/>
                <a:gd name="T1" fmla="*/ 0 h 3656"/>
                <a:gd name="T2" fmla="*/ 0 w 1258"/>
                <a:gd name="T3" fmla="*/ 3656 h 3656"/>
                <a:gd name="T4" fmla="*/ 191 w 1258"/>
                <a:gd name="T5" fmla="*/ 3656 h 3656"/>
                <a:gd name="T6" fmla="*/ 1258 w 1258"/>
                <a:gd name="T7" fmla="*/ 0 h 3656"/>
                <a:gd name="T8" fmla="*/ 1067 w 1258"/>
                <a:gd name="T9" fmla="*/ 0 h 3656"/>
              </a:gdLst>
              <a:ahLst/>
              <a:cxnLst>
                <a:cxn ang="0">
                  <a:pos x="T0" y="T1"/>
                </a:cxn>
                <a:cxn ang="0">
                  <a:pos x="T2" y="T3"/>
                </a:cxn>
                <a:cxn ang="0">
                  <a:pos x="T4" y="T5"/>
                </a:cxn>
                <a:cxn ang="0">
                  <a:pos x="T6" y="T7"/>
                </a:cxn>
                <a:cxn ang="0">
                  <a:pos x="T8" y="T9"/>
                </a:cxn>
              </a:cxnLst>
              <a:rect l="0" t="0" r="r" b="b"/>
              <a:pathLst>
                <a:path w="1258" h="3656">
                  <a:moveTo>
                    <a:pt x="1067" y="0"/>
                  </a:moveTo>
                  <a:lnTo>
                    <a:pt x="0" y="3656"/>
                  </a:lnTo>
                  <a:lnTo>
                    <a:pt x="191" y="3656"/>
                  </a:lnTo>
                  <a:lnTo>
                    <a:pt x="1258" y="0"/>
                  </a:lnTo>
                  <a:lnTo>
                    <a:pt x="1067"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1" name="Freeform 6">
              <a:extLst>
                <a:ext uri="{FF2B5EF4-FFF2-40B4-BE49-F238E27FC236}">
                  <a16:creationId xmlns="" xmlns:a16="http://schemas.microsoft.com/office/drawing/2014/main" id="{779827DD-F4A0-4CFD-B449-E06C5842B07D}"/>
                </a:ext>
              </a:extLst>
            </p:cNvPr>
            <p:cNvSpPr>
              <a:spLocks/>
            </p:cNvSpPr>
            <p:nvPr userDrawn="1"/>
          </p:nvSpPr>
          <p:spPr bwMode="auto">
            <a:xfrm>
              <a:off x="2571" y="-370"/>
              <a:ext cx="252" cy="731"/>
            </a:xfrm>
            <a:custGeom>
              <a:avLst/>
              <a:gdLst>
                <a:gd name="T0" fmla="*/ 1066 w 1257"/>
                <a:gd name="T1" fmla="*/ 0 h 3656"/>
                <a:gd name="T2" fmla="*/ 0 w 1257"/>
                <a:gd name="T3" fmla="*/ 3656 h 3656"/>
                <a:gd name="T4" fmla="*/ 190 w 1257"/>
                <a:gd name="T5" fmla="*/ 3656 h 3656"/>
                <a:gd name="T6" fmla="*/ 1257 w 1257"/>
                <a:gd name="T7" fmla="*/ 0 h 3656"/>
                <a:gd name="T8" fmla="*/ 1066 w 1257"/>
                <a:gd name="T9" fmla="*/ 0 h 3656"/>
              </a:gdLst>
              <a:ahLst/>
              <a:cxnLst>
                <a:cxn ang="0">
                  <a:pos x="T0" y="T1"/>
                </a:cxn>
                <a:cxn ang="0">
                  <a:pos x="T2" y="T3"/>
                </a:cxn>
                <a:cxn ang="0">
                  <a:pos x="T4" y="T5"/>
                </a:cxn>
                <a:cxn ang="0">
                  <a:pos x="T6" y="T7"/>
                </a:cxn>
                <a:cxn ang="0">
                  <a:pos x="T8" y="T9"/>
                </a:cxn>
              </a:cxnLst>
              <a:rect l="0" t="0" r="r" b="b"/>
              <a:pathLst>
                <a:path w="1257" h="3656">
                  <a:moveTo>
                    <a:pt x="1066" y="0"/>
                  </a:moveTo>
                  <a:lnTo>
                    <a:pt x="0" y="3656"/>
                  </a:lnTo>
                  <a:lnTo>
                    <a:pt x="190" y="3656"/>
                  </a:lnTo>
                  <a:lnTo>
                    <a:pt x="1257" y="0"/>
                  </a:lnTo>
                  <a:lnTo>
                    <a:pt x="1066"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2" name="Freeform 7">
              <a:extLst>
                <a:ext uri="{FF2B5EF4-FFF2-40B4-BE49-F238E27FC236}">
                  <a16:creationId xmlns="" xmlns:a16="http://schemas.microsoft.com/office/drawing/2014/main" id="{DF1491B2-6327-4D9D-B2FD-E682F35B6BAB}"/>
                </a:ext>
              </a:extLst>
            </p:cNvPr>
            <p:cNvSpPr>
              <a:spLocks/>
            </p:cNvSpPr>
            <p:nvPr userDrawn="1"/>
          </p:nvSpPr>
          <p:spPr bwMode="auto">
            <a:xfrm>
              <a:off x="2347" y="-370"/>
              <a:ext cx="251" cy="731"/>
            </a:xfrm>
            <a:custGeom>
              <a:avLst/>
              <a:gdLst>
                <a:gd name="T0" fmla="*/ 1067 w 1258"/>
                <a:gd name="T1" fmla="*/ 0 h 3656"/>
                <a:gd name="T2" fmla="*/ 0 w 1258"/>
                <a:gd name="T3" fmla="*/ 3656 h 3656"/>
                <a:gd name="T4" fmla="*/ 191 w 1258"/>
                <a:gd name="T5" fmla="*/ 3656 h 3656"/>
                <a:gd name="T6" fmla="*/ 1258 w 1258"/>
                <a:gd name="T7" fmla="*/ 0 h 3656"/>
                <a:gd name="T8" fmla="*/ 1067 w 1258"/>
                <a:gd name="T9" fmla="*/ 0 h 3656"/>
              </a:gdLst>
              <a:ahLst/>
              <a:cxnLst>
                <a:cxn ang="0">
                  <a:pos x="T0" y="T1"/>
                </a:cxn>
                <a:cxn ang="0">
                  <a:pos x="T2" y="T3"/>
                </a:cxn>
                <a:cxn ang="0">
                  <a:pos x="T4" y="T5"/>
                </a:cxn>
                <a:cxn ang="0">
                  <a:pos x="T6" y="T7"/>
                </a:cxn>
                <a:cxn ang="0">
                  <a:pos x="T8" y="T9"/>
                </a:cxn>
              </a:cxnLst>
              <a:rect l="0" t="0" r="r" b="b"/>
              <a:pathLst>
                <a:path w="1258" h="3656">
                  <a:moveTo>
                    <a:pt x="1067" y="0"/>
                  </a:moveTo>
                  <a:lnTo>
                    <a:pt x="0" y="3656"/>
                  </a:lnTo>
                  <a:lnTo>
                    <a:pt x="191" y="3656"/>
                  </a:lnTo>
                  <a:lnTo>
                    <a:pt x="1258" y="0"/>
                  </a:lnTo>
                  <a:lnTo>
                    <a:pt x="1067"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3" name="Freeform 8">
              <a:extLst>
                <a:ext uri="{FF2B5EF4-FFF2-40B4-BE49-F238E27FC236}">
                  <a16:creationId xmlns="" xmlns:a16="http://schemas.microsoft.com/office/drawing/2014/main" id="{A096854C-03F6-4B5A-97FB-31F1038CFF9B}"/>
                </a:ext>
              </a:extLst>
            </p:cNvPr>
            <p:cNvSpPr>
              <a:spLocks/>
            </p:cNvSpPr>
            <p:nvPr userDrawn="1"/>
          </p:nvSpPr>
          <p:spPr bwMode="auto">
            <a:xfrm>
              <a:off x="2090" y="-370"/>
              <a:ext cx="396" cy="731"/>
            </a:xfrm>
            <a:custGeom>
              <a:avLst/>
              <a:gdLst>
                <a:gd name="T0" fmla="*/ 0 w 1980"/>
                <a:gd name="T1" fmla="*/ 0 h 3656"/>
                <a:gd name="T2" fmla="*/ 1980 w 1980"/>
                <a:gd name="T3" fmla="*/ 0 h 3656"/>
                <a:gd name="T4" fmla="*/ 914 w 1980"/>
                <a:gd name="T5" fmla="*/ 3656 h 3656"/>
                <a:gd name="T6" fmla="*/ 0 w 1980"/>
                <a:gd name="T7" fmla="*/ 3656 h 3656"/>
                <a:gd name="T8" fmla="*/ 0 w 1980"/>
                <a:gd name="T9" fmla="*/ 0 h 3656"/>
              </a:gdLst>
              <a:ahLst/>
              <a:cxnLst>
                <a:cxn ang="0">
                  <a:pos x="T0" y="T1"/>
                </a:cxn>
                <a:cxn ang="0">
                  <a:pos x="T2" y="T3"/>
                </a:cxn>
                <a:cxn ang="0">
                  <a:pos x="T4" y="T5"/>
                </a:cxn>
                <a:cxn ang="0">
                  <a:pos x="T6" y="T7"/>
                </a:cxn>
                <a:cxn ang="0">
                  <a:pos x="T8" y="T9"/>
                </a:cxn>
              </a:cxnLst>
              <a:rect l="0" t="0" r="r" b="b"/>
              <a:pathLst>
                <a:path w="1980" h="3656">
                  <a:moveTo>
                    <a:pt x="0" y="0"/>
                  </a:moveTo>
                  <a:lnTo>
                    <a:pt x="1980" y="0"/>
                  </a:lnTo>
                  <a:lnTo>
                    <a:pt x="914" y="3656"/>
                  </a:lnTo>
                  <a:lnTo>
                    <a:pt x="0" y="3656"/>
                  </a:lnTo>
                  <a:lnTo>
                    <a:pt x="0" y="0"/>
                  </a:lnTo>
                  <a:close/>
                </a:path>
              </a:pathLst>
            </a:custGeom>
            <a:solidFill>
              <a:srgbClr val="FFD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4" name="Freeform 9">
              <a:extLst>
                <a:ext uri="{FF2B5EF4-FFF2-40B4-BE49-F238E27FC236}">
                  <a16:creationId xmlns="" xmlns:a16="http://schemas.microsoft.com/office/drawing/2014/main" id="{72194E31-4BBB-49DF-9E4A-A754E249FBC7}"/>
                </a:ext>
              </a:extLst>
            </p:cNvPr>
            <p:cNvSpPr>
              <a:spLocks/>
            </p:cNvSpPr>
            <p:nvPr userDrawn="1"/>
          </p:nvSpPr>
          <p:spPr bwMode="auto">
            <a:xfrm>
              <a:off x="2683" y="-129"/>
              <a:ext cx="143" cy="490"/>
            </a:xfrm>
            <a:custGeom>
              <a:avLst/>
              <a:gdLst>
                <a:gd name="T0" fmla="*/ 718 w 718"/>
                <a:gd name="T1" fmla="*/ 2451 h 2451"/>
                <a:gd name="T2" fmla="*/ 718 w 718"/>
                <a:gd name="T3" fmla="*/ 0 h 2451"/>
                <a:gd name="T4" fmla="*/ 0 w 718"/>
                <a:gd name="T5" fmla="*/ 2451 h 2451"/>
                <a:gd name="T6" fmla="*/ 718 w 718"/>
                <a:gd name="T7" fmla="*/ 2451 h 2451"/>
              </a:gdLst>
              <a:ahLst/>
              <a:cxnLst>
                <a:cxn ang="0">
                  <a:pos x="T0" y="T1"/>
                </a:cxn>
                <a:cxn ang="0">
                  <a:pos x="T2" y="T3"/>
                </a:cxn>
                <a:cxn ang="0">
                  <a:pos x="T4" y="T5"/>
                </a:cxn>
                <a:cxn ang="0">
                  <a:pos x="T6" y="T7"/>
                </a:cxn>
              </a:cxnLst>
              <a:rect l="0" t="0" r="r" b="b"/>
              <a:pathLst>
                <a:path w="718" h="2451">
                  <a:moveTo>
                    <a:pt x="718" y="2451"/>
                  </a:moveTo>
                  <a:lnTo>
                    <a:pt x="718" y="0"/>
                  </a:lnTo>
                  <a:lnTo>
                    <a:pt x="0" y="2451"/>
                  </a:lnTo>
                  <a:lnTo>
                    <a:pt x="718" y="2451"/>
                  </a:lnTo>
                  <a:close/>
                </a:path>
              </a:pathLst>
            </a:custGeom>
            <a:solidFill>
              <a:srgbClr val="FFD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5" name="Freeform 10">
              <a:extLst>
                <a:ext uri="{FF2B5EF4-FFF2-40B4-BE49-F238E27FC236}">
                  <a16:creationId xmlns="" xmlns:a16="http://schemas.microsoft.com/office/drawing/2014/main" id="{11E52749-29E2-4633-8B7E-5703456D3C8C}"/>
                </a:ext>
              </a:extLst>
            </p:cNvPr>
            <p:cNvSpPr>
              <a:spLocks/>
            </p:cNvSpPr>
            <p:nvPr userDrawn="1"/>
          </p:nvSpPr>
          <p:spPr bwMode="auto">
            <a:xfrm>
              <a:off x="3188" y="118"/>
              <a:ext cx="186" cy="246"/>
            </a:xfrm>
            <a:custGeom>
              <a:avLst/>
              <a:gdLst>
                <a:gd name="T0" fmla="*/ 196 w 926"/>
                <a:gd name="T1" fmla="*/ 8 h 1231"/>
                <a:gd name="T2" fmla="*/ 196 w 926"/>
                <a:gd name="T3" fmla="*/ 1039 h 1231"/>
                <a:gd name="T4" fmla="*/ 659 w 926"/>
                <a:gd name="T5" fmla="*/ 0 h 1231"/>
                <a:gd name="T6" fmla="*/ 926 w 926"/>
                <a:gd name="T7" fmla="*/ 0 h 1231"/>
                <a:gd name="T8" fmla="*/ 926 w 926"/>
                <a:gd name="T9" fmla="*/ 1228 h 1231"/>
                <a:gd name="T10" fmla="*/ 747 w 926"/>
                <a:gd name="T11" fmla="*/ 1231 h 1231"/>
                <a:gd name="T12" fmla="*/ 747 w 926"/>
                <a:gd name="T13" fmla="*/ 429 h 1231"/>
                <a:gd name="T14" fmla="*/ 746 w 926"/>
                <a:gd name="T15" fmla="*/ 236 h 1231"/>
                <a:gd name="T16" fmla="*/ 290 w 926"/>
                <a:gd name="T17" fmla="*/ 1229 h 1231"/>
                <a:gd name="T18" fmla="*/ 0 w 926"/>
                <a:gd name="T19" fmla="*/ 1228 h 1231"/>
                <a:gd name="T20" fmla="*/ 0 w 926"/>
                <a:gd name="T21" fmla="*/ 8 h 1231"/>
                <a:gd name="T22" fmla="*/ 196 w 926"/>
                <a:gd name="T23" fmla="*/ 8 h 1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6" h="1231">
                  <a:moveTo>
                    <a:pt x="196" y="8"/>
                  </a:moveTo>
                  <a:lnTo>
                    <a:pt x="196" y="1039"/>
                  </a:lnTo>
                  <a:lnTo>
                    <a:pt x="659" y="0"/>
                  </a:lnTo>
                  <a:lnTo>
                    <a:pt x="926" y="0"/>
                  </a:lnTo>
                  <a:lnTo>
                    <a:pt x="926" y="1228"/>
                  </a:lnTo>
                  <a:lnTo>
                    <a:pt x="747" y="1231"/>
                  </a:lnTo>
                  <a:lnTo>
                    <a:pt x="747" y="429"/>
                  </a:lnTo>
                  <a:lnTo>
                    <a:pt x="746" y="236"/>
                  </a:lnTo>
                  <a:lnTo>
                    <a:pt x="290" y="1229"/>
                  </a:lnTo>
                  <a:lnTo>
                    <a:pt x="0" y="1228"/>
                  </a:lnTo>
                  <a:lnTo>
                    <a:pt x="0" y="8"/>
                  </a:lnTo>
                  <a:lnTo>
                    <a:pt x="196" y="8"/>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6" name="Freeform 11">
              <a:extLst>
                <a:ext uri="{FF2B5EF4-FFF2-40B4-BE49-F238E27FC236}">
                  <a16:creationId xmlns="" xmlns:a16="http://schemas.microsoft.com/office/drawing/2014/main" id="{0F9BE037-B62C-4FCD-AE0A-2D946D92E7E5}"/>
                </a:ext>
              </a:extLst>
            </p:cNvPr>
            <p:cNvSpPr>
              <a:spLocks/>
            </p:cNvSpPr>
            <p:nvPr userDrawn="1"/>
          </p:nvSpPr>
          <p:spPr bwMode="auto">
            <a:xfrm>
              <a:off x="3619" y="118"/>
              <a:ext cx="185" cy="246"/>
            </a:xfrm>
            <a:custGeom>
              <a:avLst/>
              <a:gdLst>
                <a:gd name="T0" fmla="*/ 196 w 926"/>
                <a:gd name="T1" fmla="*/ 8 h 1231"/>
                <a:gd name="T2" fmla="*/ 196 w 926"/>
                <a:gd name="T3" fmla="*/ 1039 h 1231"/>
                <a:gd name="T4" fmla="*/ 659 w 926"/>
                <a:gd name="T5" fmla="*/ 0 h 1231"/>
                <a:gd name="T6" fmla="*/ 926 w 926"/>
                <a:gd name="T7" fmla="*/ 0 h 1231"/>
                <a:gd name="T8" fmla="*/ 926 w 926"/>
                <a:gd name="T9" fmla="*/ 1228 h 1231"/>
                <a:gd name="T10" fmla="*/ 746 w 926"/>
                <a:gd name="T11" fmla="*/ 1231 h 1231"/>
                <a:gd name="T12" fmla="*/ 746 w 926"/>
                <a:gd name="T13" fmla="*/ 429 h 1231"/>
                <a:gd name="T14" fmla="*/ 746 w 926"/>
                <a:gd name="T15" fmla="*/ 236 h 1231"/>
                <a:gd name="T16" fmla="*/ 290 w 926"/>
                <a:gd name="T17" fmla="*/ 1229 h 1231"/>
                <a:gd name="T18" fmla="*/ 0 w 926"/>
                <a:gd name="T19" fmla="*/ 1228 h 1231"/>
                <a:gd name="T20" fmla="*/ 0 w 926"/>
                <a:gd name="T21" fmla="*/ 8 h 1231"/>
                <a:gd name="T22" fmla="*/ 196 w 926"/>
                <a:gd name="T23" fmla="*/ 8 h 1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6" h="1231">
                  <a:moveTo>
                    <a:pt x="196" y="8"/>
                  </a:moveTo>
                  <a:lnTo>
                    <a:pt x="196" y="1039"/>
                  </a:lnTo>
                  <a:lnTo>
                    <a:pt x="659" y="0"/>
                  </a:lnTo>
                  <a:lnTo>
                    <a:pt x="926" y="0"/>
                  </a:lnTo>
                  <a:lnTo>
                    <a:pt x="926" y="1228"/>
                  </a:lnTo>
                  <a:lnTo>
                    <a:pt x="746" y="1231"/>
                  </a:lnTo>
                  <a:lnTo>
                    <a:pt x="746" y="429"/>
                  </a:lnTo>
                  <a:lnTo>
                    <a:pt x="746" y="236"/>
                  </a:lnTo>
                  <a:lnTo>
                    <a:pt x="290" y="1229"/>
                  </a:lnTo>
                  <a:lnTo>
                    <a:pt x="0" y="1228"/>
                  </a:lnTo>
                  <a:lnTo>
                    <a:pt x="0" y="8"/>
                  </a:lnTo>
                  <a:lnTo>
                    <a:pt x="196" y="8"/>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7" name="Freeform 12">
              <a:extLst>
                <a:ext uri="{FF2B5EF4-FFF2-40B4-BE49-F238E27FC236}">
                  <a16:creationId xmlns="" xmlns:a16="http://schemas.microsoft.com/office/drawing/2014/main" id="{8BB3B1F3-5C7D-4AC3-80B4-EEFD01B6CA0A}"/>
                </a:ext>
              </a:extLst>
            </p:cNvPr>
            <p:cNvSpPr>
              <a:spLocks noEditPoints="1"/>
            </p:cNvSpPr>
            <p:nvPr userDrawn="1"/>
          </p:nvSpPr>
          <p:spPr bwMode="auto">
            <a:xfrm>
              <a:off x="3407" y="118"/>
              <a:ext cx="173" cy="244"/>
            </a:xfrm>
            <a:custGeom>
              <a:avLst/>
              <a:gdLst>
                <a:gd name="T0" fmla="*/ 176 w 864"/>
                <a:gd name="T1" fmla="*/ 1069 h 1222"/>
                <a:gd name="T2" fmla="*/ 504 w 864"/>
                <a:gd name="T3" fmla="*/ 1069 h 1222"/>
                <a:gd name="T4" fmla="*/ 539 w 864"/>
                <a:gd name="T5" fmla="*/ 1068 h 1222"/>
                <a:gd name="T6" fmla="*/ 564 w 864"/>
                <a:gd name="T7" fmla="*/ 1065 h 1222"/>
                <a:gd name="T8" fmla="*/ 589 w 864"/>
                <a:gd name="T9" fmla="*/ 1060 h 1222"/>
                <a:gd name="T10" fmla="*/ 615 w 864"/>
                <a:gd name="T11" fmla="*/ 1050 h 1222"/>
                <a:gd name="T12" fmla="*/ 639 w 864"/>
                <a:gd name="T13" fmla="*/ 1036 h 1222"/>
                <a:gd name="T14" fmla="*/ 659 w 864"/>
                <a:gd name="T15" fmla="*/ 1015 h 1222"/>
                <a:gd name="T16" fmla="*/ 672 w 864"/>
                <a:gd name="T17" fmla="*/ 991 h 1222"/>
                <a:gd name="T18" fmla="*/ 682 w 864"/>
                <a:gd name="T19" fmla="*/ 959 h 1222"/>
                <a:gd name="T20" fmla="*/ 692 w 864"/>
                <a:gd name="T21" fmla="*/ 917 h 1222"/>
                <a:gd name="T22" fmla="*/ 697 w 864"/>
                <a:gd name="T23" fmla="*/ 875 h 1222"/>
                <a:gd name="T24" fmla="*/ 697 w 864"/>
                <a:gd name="T25" fmla="*/ 839 h 1222"/>
                <a:gd name="T26" fmla="*/ 695 w 864"/>
                <a:gd name="T27" fmla="*/ 805 h 1222"/>
                <a:gd name="T28" fmla="*/ 692 w 864"/>
                <a:gd name="T29" fmla="*/ 775 h 1222"/>
                <a:gd name="T30" fmla="*/ 685 w 864"/>
                <a:gd name="T31" fmla="*/ 747 h 1222"/>
                <a:gd name="T32" fmla="*/ 679 w 864"/>
                <a:gd name="T33" fmla="*/ 724 h 1222"/>
                <a:gd name="T34" fmla="*/ 670 w 864"/>
                <a:gd name="T35" fmla="*/ 706 h 1222"/>
                <a:gd name="T36" fmla="*/ 661 w 864"/>
                <a:gd name="T37" fmla="*/ 689 h 1222"/>
                <a:gd name="T38" fmla="*/ 651 w 864"/>
                <a:gd name="T39" fmla="*/ 678 h 1222"/>
                <a:gd name="T40" fmla="*/ 638 w 864"/>
                <a:gd name="T41" fmla="*/ 668 h 1222"/>
                <a:gd name="T42" fmla="*/ 619 w 864"/>
                <a:gd name="T43" fmla="*/ 659 h 1222"/>
                <a:gd name="T44" fmla="*/ 587 w 864"/>
                <a:gd name="T45" fmla="*/ 652 h 1222"/>
                <a:gd name="T46" fmla="*/ 520 w 864"/>
                <a:gd name="T47" fmla="*/ 648 h 1222"/>
                <a:gd name="T48" fmla="*/ 179 w 864"/>
                <a:gd name="T49" fmla="*/ 648 h 1222"/>
                <a:gd name="T50" fmla="*/ 766 w 864"/>
                <a:gd name="T51" fmla="*/ 155 h 1222"/>
                <a:gd name="T52" fmla="*/ 179 w 864"/>
                <a:gd name="T53" fmla="*/ 474 h 1222"/>
                <a:gd name="T54" fmla="*/ 561 w 864"/>
                <a:gd name="T55" fmla="*/ 473 h 1222"/>
                <a:gd name="T56" fmla="*/ 599 w 864"/>
                <a:gd name="T57" fmla="*/ 477 h 1222"/>
                <a:gd name="T58" fmla="*/ 635 w 864"/>
                <a:gd name="T59" fmla="*/ 482 h 1222"/>
                <a:gd name="T60" fmla="*/ 669 w 864"/>
                <a:gd name="T61" fmla="*/ 490 h 1222"/>
                <a:gd name="T62" fmla="*/ 698 w 864"/>
                <a:gd name="T63" fmla="*/ 501 h 1222"/>
                <a:gd name="T64" fmla="*/ 727 w 864"/>
                <a:gd name="T65" fmla="*/ 514 h 1222"/>
                <a:gd name="T66" fmla="*/ 751 w 864"/>
                <a:gd name="T67" fmla="*/ 531 h 1222"/>
                <a:gd name="T68" fmla="*/ 775 w 864"/>
                <a:gd name="T69" fmla="*/ 549 h 1222"/>
                <a:gd name="T70" fmla="*/ 794 w 864"/>
                <a:gd name="T71" fmla="*/ 571 h 1222"/>
                <a:gd name="T72" fmla="*/ 812 w 864"/>
                <a:gd name="T73" fmla="*/ 597 h 1222"/>
                <a:gd name="T74" fmla="*/ 826 w 864"/>
                <a:gd name="T75" fmla="*/ 625 h 1222"/>
                <a:gd name="T76" fmla="*/ 838 w 864"/>
                <a:gd name="T77" fmla="*/ 658 h 1222"/>
                <a:gd name="T78" fmla="*/ 848 w 864"/>
                <a:gd name="T79" fmla="*/ 693 h 1222"/>
                <a:gd name="T80" fmla="*/ 856 w 864"/>
                <a:gd name="T81" fmla="*/ 733 h 1222"/>
                <a:gd name="T82" fmla="*/ 860 w 864"/>
                <a:gd name="T83" fmla="*/ 776 h 1222"/>
                <a:gd name="T84" fmla="*/ 864 w 864"/>
                <a:gd name="T85" fmla="*/ 823 h 1222"/>
                <a:gd name="T86" fmla="*/ 864 w 864"/>
                <a:gd name="T87" fmla="*/ 872 h 1222"/>
                <a:gd name="T88" fmla="*/ 860 w 864"/>
                <a:gd name="T89" fmla="*/ 918 h 1222"/>
                <a:gd name="T90" fmla="*/ 856 w 864"/>
                <a:gd name="T91" fmla="*/ 962 h 1222"/>
                <a:gd name="T92" fmla="*/ 848 w 864"/>
                <a:gd name="T93" fmla="*/ 1002 h 1222"/>
                <a:gd name="T94" fmla="*/ 837 w 864"/>
                <a:gd name="T95" fmla="*/ 1037 h 1222"/>
                <a:gd name="T96" fmla="*/ 824 w 864"/>
                <a:gd name="T97" fmla="*/ 1070 h 1222"/>
                <a:gd name="T98" fmla="*/ 809 w 864"/>
                <a:gd name="T99" fmla="*/ 1099 h 1222"/>
                <a:gd name="T100" fmla="*/ 791 w 864"/>
                <a:gd name="T101" fmla="*/ 1125 h 1222"/>
                <a:gd name="T102" fmla="*/ 771 w 864"/>
                <a:gd name="T103" fmla="*/ 1147 h 1222"/>
                <a:gd name="T104" fmla="*/ 749 w 864"/>
                <a:gd name="T105" fmla="*/ 1165 h 1222"/>
                <a:gd name="T106" fmla="*/ 724 w 864"/>
                <a:gd name="T107" fmla="*/ 1181 h 1222"/>
                <a:gd name="T108" fmla="*/ 697 w 864"/>
                <a:gd name="T109" fmla="*/ 1194 h 1222"/>
                <a:gd name="T110" fmla="*/ 666 w 864"/>
                <a:gd name="T111" fmla="*/ 1205 h 1222"/>
                <a:gd name="T112" fmla="*/ 635 w 864"/>
                <a:gd name="T113" fmla="*/ 1213 h 1222"/>
                <a:gd name="T114" fmla="*/ 598 w 864"/>
                <a:gd name="T115" fmla="*/ 1218 h 1222"/>
                <a:gd name="T116" fmla="*/ 561 w 864"/>
                <a:gd name="T117" fmla="*/ 1220 h 1222"/>
                <a:gd name="T118" fmla="*/ 0 w 864"/>
                <a:gd name="T119" fmla="*/ 1222 h 1222"/>
                <a:gd name="T120" fmla="*/ 766 w 864"/>
                <a:gd name="T121" fmla="*/ 0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64" h="1222">
                  <a:moveTo>
                    <a:pt x="179" y="648"/>
                  </a:moveTo>
                  <a:lnTo>
                    <a:pt x="176" y="1069"/>
                  </a:lnTo>
                  <a:lnTo>
                    <a:pt x="487" y="1069"/>
                  </a:lnTo>
                  <a:lnTo>
                    <a:pt x="504" y="1069"/>
                  </a:lnTo>
                  <a:lnTo>
                    <a:pt x="527" y="1069"/>
                  </a:lnTo>
                  <a:lnTo>
                    <a:pt x="539" y="1068"/>
                  </a:lnTo>
                  <a:lnTo>
                    <a:pt x="551" y="1068"/>
                  </a:lnTo>
                  <a:lnTo>
                    <a:pt x="564" y="1065"/>
                  </a:lnTo>
                  <a:lnTo>
                    <a:pt x="576" y="1063"/>
                  </a:lnTo>
                  <a:lnTo>
                    <a:pt x="589" y="1060"/>
                  </a:lnTo>
                  <a:lnTo>
                    <a:pt x="603" y="1055"/>
                  </a:lnTo>
                  <a:lnTo>
                    <a:pt x="615" y="1050"/>
                  </a:lnTo>
                  <a:lnTo>
                    <a:pt x="627" y="1043"/>
                  </a:lnTo>
                  <a:lnTo>
                    <a:pt x="639" y="1036"/>
                  </a:lnTo>
                  <a:lnTo>
                    <a:pt x="649" y="1026"/>
                  </a:lnTo>
                  <a:lnTo>
                    <a:pt x="659" y="1015"/>
                  </a:lnTo>
                  <a:lnTo>
                    <a:pt x="668" y="1002"/>
                  </a:lnTo>
                  <a:lnTo>
                    <a:pt x="672" y="991"/>
                  </a:lnTo>
                  <a:lnTo>
                    <a:pt x="678" y="976"/>
                  </a:lnTo>
                  <a:lnTo>
                    <a:pt x="682" y="959"/>
                  </a:lnTo>
                  <a:lnTo>
                    <a:pt x="687" y="939"/>
                  </a:lnTo>
                  <a:lnTo>
                    <a:pt x="692" y="917"/>
                  </a:lnTo>
                  <a:lnTo>
                    <a:pt x="695" y="896"/>
                  </a:lnTo>
                  <a:lnTo>
                    <a:pt x="697" y="875"/>
                  </a:lnTo>
                  <a:lnTo>
                    <a:pt x="698" y="856"/>
                  </a:lnTo>
                  <a:lnTo>
                    <a:pt x="697" y="839"/>
                  </a:lnTo>
                  <a:lnTo>
                    <a:pt x="697" y="821"/>
                  </a:lnTo>
                  <a:lnTo>
                    <a:pt x="695" y="805"/>
                  </a:lnTo>
                  <a:lnTo>
                    <a:pt x="694" y="789"/>
                  </a:lnTo>
                  <a:lnTo>
                    <a:pt x="692" y="775"/>
                  </a:lnTo>
                  <a:lnTo>
                    <a:pt x="689" y="761"/>
                  </a:lnTo>
                  <a:lnTo>
                    <a:pt x="685" y="747"/>
                  </a:lnTo>
                  <a:lnTo>
                    <a:pt x="682" y="735"/>
                  </a:lnTo>
                  <a:lnTo>
                    <a:pt x="679" y="724"/>
                  </a:lnTo>
                  <a:lnTo>
                    <a:pt x="674" y="714"/>
                  </a:lnTo>
                  <a:lnTo>
                    <a:pt x="670" y="706"/>
                  </a:lnTo>
                  <a:lnTo>
                    <a:pt x="665" y="697"/>
                  </a:lnTo>
                  <a:lnTo>
                    <a:pt x="661" y="689"/>
                  </a:lnTo>
                  <a:lnTo>
                    <a:pt x="655" y="684"/>
                  </a:lnTo>
                  <a:lnTo>
                    <a:pt x="651" y="678"/>
                  </a:lnTo>
                  <a:lnTo>
                    <a:pt x="646" y="674"/>
                  </a:lnTo>
                  <a:lnTo>
                    <a:pt x="638" y="668"/>
                  </a:lnTo>
                  <a:lnTo>
                    <a:pt x="629" y="664"/>
                  </a:lnTo>
                  <a:lnTo>
                    <a:pt x="619" y="659"/>
                  </a:lnTo>
                  <a:lnTo>
                    <a:pt x="609" y="656"/>
                  </a:lnTo>
                  <a:lnTo>
                    <a:pt x="587" y="652"/>
                  </a:lnTo>
                  <a:lnTo>
                    <a:pt x="565" y="649"/>
                  </a:lnTo>
                  <a:lnTo>
                    <a:pt x="520" y="648"/>
                  </a:lnTo>
                  <a:lnTo>
                    <a:pt x="482" y="648"/>
                  </a:lnTo>
                  <a:lnTo>
                    <a:pt x="179" y="648"/>
                  </a:lnTo>
                  <a:close/>
                  <a:moveTo>
                    <a:pt x="766" y="0"/>
                  </a:moveTo>
                  <a:lnTo>
                    <a:pt x="766" y="155"/>
                  </a:lnTo>
                  <a:lnTo>
                    <a:pt x="179" y="155"/>
                  </a:lnTo>
                  <a:lnTo>
                    <a:pt x="179" y="474"/>
                  </a:lnTo>
                  <a:lnTo>
                    <a:pt x="540" y="473"/>
                  </a:lnTo>
                  <a:lnTo>
                    <a:pt x="561" y="473"/>
                  </a:lnTo>
                  <a:lnTo>
                    <a:pt x="581" y="474"/>
                  </a:lnTo>
                  <a:lnTo>
                    <a:pt x="599" y="477"/>
                  </a:lnTo>
                  <a:lnTo>
                    <a:pt x="617" y="479"/>
                  </a:lnTo>
                  <a:lnTo>
                    <a:pt x="635" y="482"/>
                  </a:lnTo>
                  <a:lnTo>
                    <a:pt x="652" y="485"/>
                  </a:lnTo>
                  <a:lnTo>
                    <a:pt x="669" y="490"/>
                  </a:lnTo>
                  <a:lnTo>
                    <a:pt x="684" y="495"/>
                  </a:lnTo>
                  <a:lnTo>
                    <a:pt x="698" y="501"/>
                  </a:lnTo>
                  <a:lnTo>
                    <a:pt x="713" y="508"/>
                  </a:lnTo>
                  <a:lnTo>
                    <a:pt x="727" y="514"/>
                  </a:lnTo>
                  <a:lnTo>
                    <a:pt x="739" y="522"/>
                  </a:lnTo>
                  <a:lnTo>
                    <a:pt x="751" y="531"/>
                  </a:lnTo>
                  <a:lnTo>
                    <a:pt x="763" y="541"/>
                  </a:lnTo>
                  <a:lnTo>
                    <a:pt x="775" y="549"/>
                  </a:lnTo>
                  <a:lnTo>
                    <a:pt x="784" y="560"/>
                  </a:lnTo>
                  <a:lnTo>
                    <a:pt x="794" y="571"/>
                  </a:lnTo>
                  <a:lnTo>
                    <a:pt x="803" y="583"/>
                  </a:lnTo>
                  <a:lnTo>
                    <a:pt x="812" y="597"/>
                  </a:lnTo>
                  <a:lnTo>
                    <a:pt x="820" y="611"/>
                  </a:lnTo>
                  <a:lnTo>
                    <a:pt x="826" y="625"/>
                  </a:lnTo>
                  <a:lnTo>
                    <a:pt x="833" y="642"/>
                  </a:lnTo>
                  <a:lnTo>
                    <a:pt x="838" y="658"/>
                  </a:lnTo>
                  <a:lnTo>
                    <a:pt x="844" y="676"/>
                  </a:lnTo>
                  <a:lnTo>
                    <a:pt x="848" y="693"/>
                  </a:lnTo>
                  <a:lnTo>
                    <a:pt x="853" y="713"/>
                  </a:lnTo>
                  <a:lnTo>
                    <a:pt x="856" y="733"/>
                  </a:lnTo>
                  <a:lnTo>
                    <a:pt x="858" y="754"/>
                  </a:lnTo>
                  <a:lnTo>
                    <a:pt x="860" y="776"/>
                  </a:lnTo>
                  <a:lnTo>
                    <a:pt x="863" y="799"/>
                  </a:lnTo>
                  <a:lnTo>
                    <a:pt x="864" y="823"/>
                  </a:lnTo>
                  <a:lnTo>
                    <a:pt x="864" y="847"/>
                  </a:lnTo>
                  <a:lnTo>
                    <a:pt x="864" y="872"/>
                  </a:lnTo>
                  <a:lnTo>
                    <a:pt x="863" y="896"/>
                  </a:lnTo>
                  <a:lnTo>
                    <a:pt x="860" y="918"/>
                  </a:lnTo>
                  <a:lnTo>
                    <a:pt x="858" y="940"/>
                  </a:lnTo>
                  <a:lnTo>
                    <a:pt x="856" y="962"/>
                  </a:lnTo>
                  <a:lnTo>
                    <a:pt x="852" y="982"/>
                  </a:lnTo>
                  <a:lnTo>
                    <a:pt x="848" y="1002"/>
                  </a:lnTo>
                  <a:lnTo>
                    <a:pt x="843" y="1019"/>
                  </a:lnTo>
                  <a:lnTo>
                    <a:pt x="837" y="1037"/>
                  </a:lnTo>
                  <a:lnTo>
                    <a:pt x="832" y="1054"/>
                  </a:lnTo>
                  <a:lnTo>
                    <a:pt x="824" y="1070"/>
                  </a:lnTo>
                  <a:lnTo>
                    <a:pt x="817" y="1085"/>
                  </a:lnTo>
                  <a:lnTo>
                    <a:pt x="809" y="1099"/>
                  </a:lnTo>
                  <a:lnTo>
                    <a:pt x="800" y="1113"/>
                  </a:lnTo>
                  <a:lnTo>
                    <a:pt x="791" y="1125"/>
                  </a:lnTo>
                  <a:lnTo>
                    <a:pt x="781" y="1137"/>
                  </a:lnTo>
                  <a:lnTo>
                    <a:pt x="771" y="1147"/>
                  </a:lnTo>
                  <a:lnTo>
                    <a:pt x="760" y="1157"/>
                  </a:lnTo>
                  <a:lnTo>
                    <a:pt x="749" y="1165"/>
                  </a:lnTo>
                  <a:lnTo>
                    <a:pt x="737" y="1173"/>
                  </a:lnTo>
                  <a:lnTo>
                    <a:pt x="724" y="1181"/>
                  </a:lnTo>
                  <a:lnTo>
                    <a:pt x="711" y="1189"/>
                  </a:lnTo>
                  <a:lnTo>
                    <a:pt x="697" y="1194"/>
                  </a:lnTo>
                  <a:lnTo>
                    <a:pt x="682" y="1200"/>
                  </a:lnTo>
                  <a:lnTo>
                    <a:pt x="666" y="1205"/>
                  </a:lnTo>
                  <a:lnTo>
                    <a:pt x="651" y="1209"/>
                  </a:lnTo>
                  <a:lnTo>
                    <a:pt x="635" y="1213"/>
                  </a:lnTo>
                  <a:lnTo>
                    <a:pt x="617" y="1216"/>
                  </a:lnTo>
                  <a:lnTo>
                    <a:pt x="598" y="1218"/>
                  </a:lnTo>
                  <a:lnTo>
                    <a:pt x="579" y="1219"/>
                  </a:lnTo>
                  <a:lnTo>
                    <a:pt x="561" y="1220"/>
                  </a:lnTo>
                  <a:lnTo>
                    <a:pt x="540" y="1222"/>
                  </a:lnTo>
                  <a:lnTo>
                    <a:pt x="0" y="1222"/>
                  </a:lnTo>
                  <a:lnTo>
                    <a:pt x="0" y="0"/>
                  </a:lnTo>
                  <a:lnTo>
                    <a:pt x="766"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8" name="Freeform 13">
              <a:extLst>
                <a:ext uri="{FF2B5EF4-FFF2-40B4-BE49-F238E27FC236}">
                  <a16:creationId xmlns="" xmlns:a16="http://schemas.microsoft.com/office/drawing/2014/main" id="{8E31BE1C-7F28-48D9-98D6-3AD7551A34EF}"/>
                </a:ext>
              </a:extLst>
            </p:cNvPr>
            <p:cNvSpPr>
              <a:spLocks/>
            </p:cNvSpPr>
            <p:nvPr userDrawn="1"/>
          </p:nvSpPr>
          <p:spPr bwMode="auto">
            <a:xfrm>
              <a:off x="3842" y="118"/>
              <a:ext cx="172" cy="244"/>
            </a:xfrm>
            <a:custGeom>
              <a:avLst/>
              <a:gdLst>
                <a:gd name="T0" fmla="*/ 181 w 857"/>
                <a:gd name="T1" fmla="*/ 0 h 1223"/>
                <a:gd name="T2" fmla="*/ 181 w 857"/>
                <a:gd name="T3" fmla="*/ 476 h 1223"/>
                <a:gd name="T4" fmla="*/ 680 w 857"/>
                <a:gd name="T5" fmla="*/ 476 h 1223"/>
                <a:gd name="T6" fmla="*/ 680 w 857"/>
                <a:gd name="T7" fmla="*/ 0 h 1223"/>
                <a:gd name="T8" fmla="*/ 857 w 857"/>
                <a:gd name="T9" fmla="*/ 0 h 1223"/>
                <a:gd name="T10" fmla="*/ 857 w 857"/>
                <a:gd name="T11" fmla="*/ 1222 h 1223"/>
                <a:gd name="T12" fmla="*/ 680 w 857"/>
                <a:gd name="T13" fmla="*/ 1222 h 1223"/>
                <a:gd name="T14" fmla="*/ 680 w 857"/>
                <a:gd name="T15" fmla="*/ 651 h 1223"/>
                <a:gd name="T16" fmla="*/ 181 w 857"/>
                <a:gd name="T17" fmla="*/ 651 h 1223"/>
                <a:gd name="T18" fmla="*/ 181 w 857"/>
                <a:gd name="T19" fmla="*/ 1223 h 1223"/>
                <a:gd name="T20" fmla="*/ 0 w 857"/>
                <a:gd name="T21" fmla="*/ 1222 h 1223"/>
                <a:gd name="T22" fmla="*/ 0 w 857"/>
                <a:gd name="T23" fmla="*/ 0 h 1223"/>
                <a:gd name="T24" fmla="*/ 181 w 857"/>
                <a:gd name="T25" fmla="*/ 0 h 1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7" h="1223">
                  <a:moveTo>
                    <a:pt x="181" y="0"/>
                  </a:moveTo>
                  <a:lnTo>
                    <a:pt x="181" y="476"/>
                  </a:lnTo>
                  <a:lnTo>
                    <a:pt x="680" y="476"/>
                  </a:lnTo>
                  <a:lnTo>
                    <a:pt x="680" y="0"/>
                  </a:lnTo>
                  <a:lnTo>
                    <a:pt x="857" y="0"/>
                  </a:lnTo>
                  <a:lnTo>
                    <a:pt x="857" y="1222"/>
                  </a:lnTo>
                  <a:lnTo>
                    <a:pt x="680" y="1222"/>
                  </a:lnTo>
                  <a:lnTo>
                    <a:pt x="680" y="651"/>
                  </a:lnTo>
                  <a:lnTo>
                    <a:pt x="181" y="651"/>
                  </a:lnTo>
                  <a:lnTo>
                    <a:pt x="181" y="1223"/>
                  </a:lnTo>
                  <a:lnTo>
                    <a:pt x="0" y="1222"/>
                  </a:lnTo>
                  <a:lnTo>
                    <a:pt x="0" y="0"/>
                  </a:lnTo>
                  <a:lnTo>
                    <a:pt x="181"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29" name="Freeform 14">
              <a:extLst>
                <a:ext uri="{FF2B5EF4-FFF2-40B4-BE49-F238E27FC236}">
                  <a16:creationId xmlns="" xmlns:a16="http://schemas.microsoft.com/office/drawing/2014/main" id="{C05D1AD9-0096-4C0D-BAD5-5849F4035C15}"/>
                </a:ext>
              </a:extLst>
            </p:cNvPr>
            <p:cNvSpPr>
              <a:spLocks/>
            </p:cNvSpPr>
            <p:nvPr userDrawn="1"/>
          </p:nvSpPr>
          <p:spPr bwMode="auto">
            <a:xfrm>
              <a:off x="4043" y="118"/>
              <a:ext cx="174" cy="244"/>
            </a:xfrm>
            <a:custGeom>
              <a:avLst/>
              <a:gdLst>
                <a:gd name="T0" fmla="*/ 522 w 869"/>
                <a:gd name="T1" fmla="*/ 173 h 1222"/>
                <a:gd name="T2" fmla="*/ 522 w 869"/>
                <a:gd name="T3" fmla="*/ 1222 h 1222"/>
                <a:gd name="T4" fmla="*/ 349 w 869"/>
                <a:gd name="T5" fmla="*/ 1222 h 1222"/>
                <a:gd name="T6" fmla="*/ 349 w 869"/>
                <a:gd name="T7" fmla="*/ 175 h 1222"/>
                <a:gd name="T8" fmla="*/ 0 w 869"/>
                <a:gd name="T9" fmla="*/ 175 h 1222"/>
                <a:gd name="T10" fmla="*/ 0 w 869"/>
                <a:gd name="T11" fmla="*/ 0 h 1222"/>
                <a:gd name="T12" fmla="*/ 869 w 869"/>
                <a:gd name="T13" fmla="*/ 0 h 1222"/>
                <a:gd name="T14" fmla="*/ 869 w 869"/>
                <a:gd name="T15" fmla="*/ 173 h 1222"/>
                <a:gd name="T16" fmla="*/ 522 w 869"/>
                <a:gd name="T17" fmla="*/ 173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9" h="1222">
                  <a:moveTo>
                    <a:pt x="522" y="173"/>
                  </a:moveTo>
                  <a:lnTo>
                    <a:pt x="522" y="1222"/>
                  </a:lnTo>
                  <a:lnTo>
                    <a:pt x="349" y="1222"/>
                  </a:lnTo>
                  <a:lnTo>
                    <a:pt x="349" y="175"/>
                  </a:lnTo>
                  <a:lnTo>
                    <a:pt x="0" y="175"/>
                  </a:lnTo>
                  <a:lnTo>
                    <a:pt x="0" y="0"/>
                  </a:lnTo>
                  <a:lnTo>
                    <a:pt x="869" y="0"/>
                  </a:lnTo>
                  <a:lnTo>
                    <a:pt x="869" y="173"/>
                  </a:lnTo>
                  <a:lnTo>
                    <a:pt x="522" y="173"/>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0" name="Freeform 15">
              <a:extLst>
                <a:ext uri="{FF2B5EF4-FFF2-40B4-BE49-F238E27FC236}">
                  <a16:creationId xmlns="" xmlns:a16="http://schemas.microsoft.com/office/drawing/2014/main" id="{FCA72287-A5EA-4037-B6AD-6F8D154C2A89}"/>
                </a:ext>
              </a:extLst>
            </p:cNvPr>
            <p:cNvSpPr>
              <a:spLocks/>
            </p:cNvSpPr>
            <p:nvPr userDrawn="1"/>
          </p:nvSpPr>
          <p:spPr bwMode="auto">
            <a:xfrm>
              <a:off x="5443" y="118"/>
              <a:ext cx="174" cy="244"/>
            </a:xfrm>
            <a:custGeom>
              <a:avLst/>
              <a:gdLst>
                <a:gd name="T0" fmla="*/ 523 w 869"/>
                <a:gd name="T1" fmla="*/ 173 h 1222"/>
                <a:gd name="T2" fmla="*/ 523 w 869"/>
                <a:gd name="T3" fmla="*/ 1222 h 1222"/>
                <a:gd name="T4" fmla="*/ 349 w 869"/>
                <a:gd name="T5" fmla="*/ 1222 h 1222"/>
                <a:gd name="T6" fmla="*/ 349 w 869"/>
                <a:gd name="T7" fmla="*/ 174 h 1222"/>
                <a:gd name="T8" fmla="*/ 0 w 869"/>
                <a:gd name="T9" fmla="*/ 174 h 1222"/>
                <a:gd name="T10" fmla="*/ 0 w 869"/>
                <a:gd name="T11" fmla="*/ 0 h 1222"/>
                <a:gd name="T12" fmla="*/ 869 w 869"/>
                <a:gd name="T13" fmla="*/ 0 h 1222"/>
                <a:gd name="T14" fmla="*/ 869 w 869"/>
                <a:gd name="T15" fmla="*/ 173 h 1222"/>
                <a:gd name="T16" fmla="*/ 523 w 869"/>
                <a:gd name="T17" fmla="*/ 173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9" h="1222">
                  <a:moveTo>
                    <a:pt x="523" y="173"/>
                  </a:moveTo>
                  <a:lnTo>
                    <a:pt x="523" y="1222"/>
                  </a:lnTo>
                  <a:lnTo>
                    <a:pt x="349" y="1222"/>
                  </a:lnTo>
                  <a:lnTo>
                    <a:pt x="349" y="174"/>
                  </a:lnTo>
                  <a:lnTo>
                    <a:pt x="0" y="174"/>
                  </a:lnTo>
                  <a:lnTo>
                    <a:pt x="0" y="0"/>
                  </a:lnTo>
                  <a:lnTo>
                    <a:pt x="869" y="0"/>
                  </a:lnTo>
                  <a:lnTo>
                    <a:pt x="869" y="173"/>
                  </a:lnTo>
                  <a:lnTo>
                    <a:pt x="523" y="173"/>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1" name="Freeform 16">
              <a:extLst>
                <a:ext uri="{FF2B5EF4-FFF2-40B4-BE49-F238E27FC236}">
                  <a16:creationId xmlns="" xmlns:a16="http://schemas.microsoft.com/office/drawing/2014/main" id="{EB968EB4-EC9B-4707-A49D-4133B3EE4267}"/>
                </a:ext>
              </a:extLst>
            </p:cNvPr>
            <p:cNvSpPr>
              <a:spLocks/>
            </p:cNvSpPr>
            <p:nvPr userDrawn="1"/>
          </p:nvSpPr>
          <p:spPr bwMode="auto">
            <a:xfrm>
              <a:off x="4424" y="118"/>
              <a:ext cx="179" cy="244"/>
            </a:xfrm>
            <a:custGeom>
              <a:avLst/>
              <a:gdLst>
                <a:gd name="T0" fmla="*/ 172 w 895"/>
                <a:gd name="T1" fmla="*/ 0 h 1222"/>
                <a:gd name="T2" fmla="*/ 172 w 895"/>
                <a:gd name="T3" fmla="*/ 476 h 1222"/>
                <a:gd name="T4" fmla="*/ 300 w 895"/>
                <a:gd name="T5" fmla="*/ 476 h 1222"/>
                <a:gd name="T6" fmla="*/ 611 w 895"/>
                <a:gd name="T7" fmla="*/ 0 h 1222"/>
                <a:gd name="T8" fmla="*/ 868 w 895"/>
                <a:gd name="T9" fmla="*/ 0 h 1222"/>
                <a:gd name="T10" fmla="*/ 434 w 895"/>
                <a:gd name="T11" fmla="*/ 548 h 1222"/>
                <a:gd name="T12" fmla="*/ 895 w 895"/>
                <a:gd name="T13" fmla="*/ 1222 h 1222"/>
                <a:gd name="T14" fmla="*/ 634 w 895"/>
                <a:gd name="T15" fmla="*/ 1222 h 1222"/>
                <a:gd name="T16" fmla="*/ 305 w 895"/>
                <a:gd name="T17" fmla="*/ 674 h 1222"/>
                <a:gd name="T18" fmla="*/ 172 w 895"/>
                <a:gd name="T19" fmla="*/ 674 h 1222"/>
                <a:gd name="T20" fmla="*/ 172 w 895"/>
                <a:gd name="T21" fmla="*/ 1222 h 1222"/>
                <a:gd name="T22" fmla="*/ 0 w 895"/>
                <a:gd name="T23" fmla="*/ 1222 h 1222"/>
                <a:gd name="T24" fmla="*/ 0 w 895"/>
                <a:gd name="T25" fmla="*/ 0 h 1222"/>
                <a:gd name="T26" fmla="*/ 172 w 895"/>
                <a:gd name="T27" fmla="*/ 0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95" h="1222">
                  <a:moveTo>
                    <a:pt x="172" y="0"/>
                  </a:moveTo>
                  <a:lnTo>
                    <a:pt x="172" y="476"/>
                  </a:lnTo>
                  <a:lnTo>
                    <a:pt x="300" y="476"/>
                  </a:lnTo>
                  <a:lnTo>
                    <a:pt x="611" y="0"/>
                  </a:lnTo>
                  <a:lnTo>
                    <a:pt x="868" y="0"/>
                  </a:lnTo>
                  <a:lnTo>
                    <a:pt x="434" y="548"/>
                  </a:lnTo>
                  <a:lnTo>
                    <a:pt x="895" y="1222"/>
                  </a:lnTo>
                  <a:lnTo>
                    <a:pt x="634" y="1222"/>
                  </a:lnTo>
                  <a:lnTo>
                    <a:pt x="305" y="674"/>
                  </a:lnTo>
                  <a:lnTo>
                    <a:pt x="172" y="674"/>
                  </a:lnTo>
                  <a:lnTo>
                    <a:pt x="172" y="1222"/>
                  </a:lnTo>
                  <a:lnTo>
                    <a:pt x="0" y="1222"/>
                  </a:lnTo>
                  <a:lnTo>
                    <a:pt x="0" y="0"/>
                  </a:lnTo>
                  <a:lnTo>
                    <a:pt x="172"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2" name="Freeform 17">
              <a:extLst>
                <a:ext uri="{FF2B5EF4-FFF2-40B4-BE49-F238E27FC236}">
                  <a16:creationId xmlns="" xmlns:a16="http://schemas.microsoft.com/office/drawing/2014/main" id="{D05E119C-3E60-48E1-B01A-B01B3CB1CBD5}"/>
                </a:ext>
              </a:extLst>
            </p:cNvPr>
            <p:cNvSpPr>
              <a:spLocks/>
            </p:cNvSpPr>
            <p:nvPr userDrawn="1"/>
          </p:nvSpPr>
          <p:spPr bwMode="auto">
            <a:xfrm>
              <a:off x="4241" y="118"/>
              <a:ext cx="153" cy="244"/>
            </a:xfrm>
            <a:custGeom>
              <a:avLst/>
              <a:gdLst>
                <a:gd name="T0" fmla="*/ 179 w 767"/>
                <a:gd name="T1" fmla="*/ 652 h 1222"/>
                <a:gd name="T2" fmla="*/ 180 w 767"/>
                <a:gd name="T3" fmla="*/ 719 h 1222"/>
                <a:gd name="T4" fmla="*/ 181 w 767"/>
                <a:gd name="T5" fmla="*/ 808 h 1222"/>
                <a:gd name="T6" fmla="*/ 183 w 767"/>
                <a:gd name="T7" fmla="*/ 892 h 1222"/>
                <a:gd name="T8" fmla="*/ 188 w 767"/>
                <a:gd name="T9" fmla="*/ 943 h 1222"/>
                <a:gd name="T10" fmla="*/ 196 w 767"/>
                <a:gd name="T11" fmla="*/ 978 h 1222"/>
                <a:gd name="T12" fmla="*/ 205 w 767"/>
                <a:gd name="T13" fmla="*/ 1000 h 1222"/>
                <a:gd name="T14" fmla="*/ 217 w 767"/>
                <a:gd name="T15" fmla="*/ 1021 h 1222"/>
                <a:gd name="T16" fmla="*/ 233 w 767"/>
                <a:gd name="T17" fmla="*/ 1040 h 1222"/>
                <a:gd name="T18" fmla="*/ 251 w 767"/>
                <a:gd name="T19" fmla="*/ 1057 h 1222"/>
                <a:gd name="T20" fmla="*/ 276 w 767"/>
                <a:gd name="T21" fmla="*/ 1068 h 1222"/>
                <a:gd name="T22" fmla="*/ 303 w 767"/>
                <a:gd name="T23" fmla="*/ 1072 h 1222"/>
                <a:gd name="T24" fmla="*/ 767 w 767"/>
                <a:gd name="T25" fmla="*/ 1222 h 1222"/>
                <a:gd name="T26" fmla="*/ 222 w 767"/>
                <a:gd name="T27" fmla="*/ 1220 h 1222"/>
                <a:gd name="T28" fmla="*/ 191 w 767"/>
                <a:gd name="T29" fmla="*/ 1218 h 1222"/>
                <a:gd name="T30" fmla="*/ 162 w 767"/>
                <a:gd name="T31" fmla="*/ 1213 h 1222"/>
                <a:gd name="T32" fmla="*/ 137 w 767"/>
                <a:gd name="T33" fmla="*/ 1204 h 1222"/>
                <a:gd name="T34" fmla="*/ 114 w 767"/>
                <a:gd name="T35" fmla="*/ 1193 h 1222"/>
                <a:gd name="T36" fmla="*/ 93 w 767"/>
                <a:gd name="T37" fmla="*/ 1180 h 1222"/>
                <a:gd name="T38" fmla="*/ 74 w 767"/>
                <a:gd name="T39" fmla="*/ 1163 h 1222"/>
                <a:gd name="T40" fmla="*/ 59 w 767"/>
                <a:gd name="T41" fmla="*/ 1145 h 1222"/>
                <a:gd name="T42" fmla="*/ 45 w 767"/>
                <a:gd name="T43" fmla="*/ 1123 h 1222"/>
                <a:gd name="T44" fmla="*/ 34 w 767"/>
                <a:gd name="T45" fmla="*/ 1097 h 1222"/>
                <a:gd name="T46" fmla="*/ 24 w 767"/>
                <a:gd name="T47" fmla="*/ 1070 h 1222"/>
                <a:gd name="T48" fmla="*/ 17 w 767"/>
                <a:gd name="T49" fmla="*/ 1040 h 1222"/>
                <a:gd name="T50" fmla="*/ 8 w 767"/>
                <a:gd name="T51" fmla="*/ 989 h 1222"/>
                <a:gd name="T52" fmla="*/ 1 w 767"/>
                <a:gd name="T53" fmla="*/ 912 h 1222"/>
                <a:gd name="T54" fmla="*/ 0 w 767"/>
                <a:gd name="T55" fmla="*/ 352 h 1222"/>
                <a:gd name="T56" fmla="*/ 3 w 767"/>
                <a:gd name="T57" fmla="*/ 269 h 1222"/>
                <a:gd name="T58" fmla="*/ 13 w 767"/>
                <a:gd name="T59" fmla="*/ 197 h 1222"/>
                <a:gd name="T60" fmla="*/ 20 w 767"/>
                <a:gd name="T61" fmla="*/ 166 h 1222"/>
                <a:gd name="T62" fmla="*/ 29 w 767"/>
                <a:gd name="T63" fmla="*/ 137 h 1222"/>
                <a:gd name="T64" fmla="*/ 40 w 767"/>
                <a:gd name="T65" fmla="*/ 111 h 1222"/>
                <a:gd name="T66" fmla="*/ 52 w 767"/>
                <a:gd name="T67" fmla="*/ 88 h 1222"/>
                <a:gd name="T68" fmla="*/ 66 w 767"/>
                <a:gd name="T69" fmla="*/ 67 h 1222"/>
                <a:gd name="T70" fmla="*/ 83 w 767"/>
                <a:gd name="T71" fmla="*/ 50 h 1222"/>
                <a:gd name="T72" fmla="*/ 103 w 767"/>
                <a:gd name="T73" fmla="*/ 34 h 1222"/>
                <a:gd name="T74" fmla="*/ 125 w 767"/>
                <a:gd name="T75" fmla="*/ 22 h 1222"/>
                <a:gd name="T76" fmla="*/ 149 w 767"/>
                <a:gd name="T77" fmla="*/ 12 h 1222"/>
                <a:gd name="T78" fmla="*/ 176 w 767"/>
                <a:gd name="T79" fmla="*/ 6 h 1222"/>
                <a:gd name="T80" fmla="*/ 205 w 767"/>
                <a:gd name="T81" fmla="*/ 1 h 1222"/>
                <a:gd name="T82" fmla="*/ 238 w 767"/>
                <a:gd name="T83" fmla="*/ 0 h 1222"/>
                <a:gd name="T84" fmla="*/ 767 w 767"/>
                <a:gd name="T85" fmla="*/ 155 h 1222"/>
                <a:gd name="T86" fmla="*/ 276 w 767"/>
                <a:gd name="T87" fmla="*/ 157 h 1222"/>
                <a:gd name="T88" fmla="*/ 258 w 767"/>
                <a:gd name="T89" fmla="*/ 162 h 1222"/>
                <a:gd name="T90" fmla="*/ 242 w 767"/>
                <a:gd name="T91" fmla="*/ 171 h 1222"/>
                <a:gd name="T92" fmla="*/ 227 w 767"/>
                <a:gd name="T93" fmla="*/ 183 h 1222"/>
                <a:gd name="T94" fmla="*/ 214 w 767"/>
                <a:gd name="T95" fmla="*/ 198 h 1222"/>
                <a:gd name="T96" fmla="*/ 203 w 767"/>
                <a:gd name="T97" fmla="*/ 214 h 1222"/>
                <a:gd name="T98" fmla="*/ 194 w 767"/>
                <a:gd name="T99" fmla="*/ 230 h 1222"/>
                <a:gd name="T100" fmla="*/ 189 w 767"/>
                <a:gd name="T101" fmla="*/ 246 h 1222"/>
                <a:gd name="T102" fmla="*/ 184 w 767"/>
                <a:gd name="T103" fmla="*/ 271 h 1222"/>
                <a:gd name="T104" fmla="*/ 181 w 767"/>
                <a:gd name="T105" fmla="*/ 324 h 1222"/>
                <a:gd name="T106" fmla="*/ 180 w 767"/>
                <a:gd name="T107" fmla="*/ 389 h 1222"/>
                <a:gd name="T108" fmla="*/ 179 w 767"/>
                <a:gd name="T109" fmla="*/ 450 h 1222"/>
                <a:gd name="T110" fmla="*/ 687 w 767"/>
                <a:gd name="T111" fmla="*/ 476 h 1222"/>
                <a:gd name="T112" fmla="*/ 260 w 767"/>
                <a:gd name="T113" fmla="*/ 652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67" h="1222">
                  <a:moveTo>
                    <a:pt x="260" y="652"/>
                  </a:moveTo>
                  <a:lnTo>
                    <a:pt x="179" y="652"/>
                  </a:lnTo>
                  <a:lnTo>
                    <a:pt x="179" y="680"/>
                  </a:lnTo>
                  <a:lnTo>
                    <a:pt x="180" y="719"/>
                  </a:lnTo>
                  <a:lnTo>
                    <a:pt x="180" y="763"/>
                  </a:lnTo>
                  <a:lnTo>
                    <a:pt x="181" y="808"/>
                  </a:lnTo>
                  <a:lnTo>
                    <a:pt x="182" y="852"/>
                  </a:lnTo>
                  <a:lnTo>
                    <a:pt x="183" y="892"/>
                  </a:lnTo>
                  <a:lnTo>
                    <a:pt x="185" y="923"/>
                  </a:lnTo>
                  <a:lnTo>
                    <a:pt x="188" y="943"/>
                  </a:lnTo>
                  <a:lnTo>
                    <a:pt x="191" y="960"/>
                  </a:lnTo>
                  <a:lnTo>
                    <a:pt x="196" y="978"/>
                  </a:lnTo>
                  <a:lnTo>
                    <a:pt x="201" y="989"/>
                  </a:lnTo>
                  <a:lnTo>
                    <a:pt x="205" y="1000"/>
                  </a:lnTo>
                  <a:lnTo>
                    <a:pt x="211" y="1010"/>
                  </a:lnTo>
                  <a:lnTo>
                    <a:pt x="217" y="1021"/>
                  </a:lnTo>
                  <a:lnTo>
                    <a:pt x="224" y="1031"/>
                  </a:lnTo>
                  <a:lnTo>
                    <a:pt x="233" y="1040"/>
                  </a:lnTo>
                  <a:lnTo>
                    <a:pt x="242" y="1049"/>
                  </a:lnTo>
                  <a:lnTo>
                    <a:pt x="251" y="1057"/>
                  </a:lnTo>
                  <a:lnTo>
                    <a:pt x="262" y="1063"/>
                  </a:lnTo>
                  <a:lnTo>
                    <a:pt x="276" y="1068"/>
                  </a:lnTo>
                  <a:lnTo>
                    <a:pt x="289" y="1071"/>
                  </a:lnTo>
                  <a:lnTo>
                    <a:pt x="303" y="1072"/>
                  </a:lnTo>
                  <a:lnTo>
                    <a:pt x="767" y="1072"/>
                  </a:lnTo>
                  <a:lnTo>
                    <a:pt x="767" y="1222"/>
                  </a:lnTo>
                  <a:lnTo>
                    <a:pt x="238" y="1222"/>
                  </a:lnTo>
                  <a:lnTo>
                    <a:pt x="222" y="1220"/>
                  </a:lnTo>
                  <a:lnTo>
                    <a:pt x="205" y="1219"/>
                  </a:lnTo>
                  <a:lnTo>
                    <a:pt x="191" y="1218"/>
                  </a:lnTo>
                  <a:lnTo>
                    <a:pt x="176" y="1216"/>
                  </a:lnTo>
                  <a:lnTo>
                    <a:pt x="162" y="1213"/>
                  </a:lnTo>
                  <a:lnTo>
                    <a:pt x="149" y="1208"/>
                  </a:lnTo>
                  <a:lnTo>
                    <a:pt x="137" y="1204"/>
                  </a:lnTo>
                  <a:lnTo>
                    <a:pt x="125" y="1200"/>
                  </a:lnTo>
                  <a:lnTo>
                    <a:pt x="114" y="1193"/>
                  </a:lnTo>
                  <a:lnTo>
                    <a:pt x="103" y="1187"/>
                  </a:lnTo>
                  <a:lnTo>
                    <a:pt x="93" y="1180"/>
                  </a:lnTo>
                  <a:lnTo>
                    <a:pt x="83" y="1172"/>
                  </a:lnTo>
                  <a:lnTo>
                    <a:pt x="74" y="1163"/>
                  </a:lnTo>
                  <a:lnTo>
                    <a:pt x="66" y="1154"/>
                  </a:lnTo>
                  <a:lnTo>
                    <a:pt x="59" y="1145"/>
                  </a:lnTo>
                  <a:lnTo>
                    <a:pt x="52" y="1134"/>
                  </a:lnTo>
                  <a:lnTo>
                    <a:pt x="45" y="1123"/>
                  </a:lnTo>
                  <a:lnTo>
                    <a:pt x="40" y="1110"/>
                  </a:lnTo>
                  <a:lnTo>
                    <a:pt x="34" y="1097"/>
                  </a:lnTo>
                  <a:lnTo>
                    <a:pt x="29" y="1084"/>
                  </a:lnTo>
                  <a:lnTo>
                    <a:pt x="24" y="1070"/>
                  </a:lnTo>
                  <a:lnTo>
                    <a:pt x="20" y="1055"/>
                  </a:lnTo>
                  <a:lnTo>
                    <a:pt x="17" y="1040"/>
                  </a:lnTo>
                  <a:lnTo>
                    <a:pt x="13" y="1024"/>
                  </a:lnTo>
                  <a:lnTo>
                    <a:pt x="8" y="989"/>
                  </a:lnTo>
                  <a:lnTo>
                    <a:pt x="3" y="952"/>
                  </a:lnTo>
                  <a:lnTo>
                    <a:pt x="1" y="912"/>
                  </a:lnTo>
                  <a:lnTo>
                    <a:pt x="0" y="870"/>
                  </a:lnTo>
                  <a:lnTo>
                    <a:pt x="0" y="352"/>
                  </a:lnTo>
                  <a:lnTo>
                    <a:pt x="1" y="309"/>
                  </a:lnTo>
                  <a:lnTo>
                    <a:pt x="3" y="269"/>
                  </a:lnTo>
                  <a:lnTo>
                    <a:pt x="8" y="232"/>
                  </a:lnTo>
                  <a:lnTo>
                    <a:pt x="13" y="197"/>
                  </a:lnTo>
                  <a:lnTo>
                    <a:pt x="17" y="182"/>
                  </a:lnTo>
                  <a:lnTo>
                    <a:pt x="20" y="166"/>
                  </a:lnTo>
                  <a:lnTo>
                    <a:pt x="24" y="151"/>
                  </a:lnTo>
                  <a:lnTo>
                    <a:pt x="29" y="137"/>
                  </a:lnTo>
                  <a:lnTo>
                    <a:pt x="34" y="123"/>
                  </a:lnTo>
                  <a:lnTo>
                    <a:pt x="40" y="111"/>
                  </a:lnTo>
                  <a:lnTo>
                    <a:pt x="45" y="99"/>
                  </a:lnTo>
                  <a:lnTo>
                    <a:pt x="52" y="88"/>
                  </a:lnTo>
                  <a:lnTo>
                    <a:pt x="59" y="77"/>
                  </a:lnTo>
                  <a:lnTo>
                    <a:pt x="66" y="67"/>
                  </a:lnTo>
                  <a:lnTo>
                    <a:pt x="74" y="59"/>
                  </a:lnTo>
                  <a:lnTo>
                    <a:pt x="83" y="50"/>
                  </a:lnTo>
                  <a:lnTo>
                    <a:pt x="93" y="42"/>
                  </a:lnTo>
                  <a:lnTo>
                    <a:pt x="103" y="34"/>
                  </a:lnTo>
                  <a:lnTo>
                    <a:pt x="114" y="28"/>
                  </a:lnTo>
                  <a:lnTo>
                    <a:pt x="125" y="22"/>
                  </a:lnTo>
                  <a:lnTo>
                    <a:pt x="137" y="17"/>
                  </a:lnTo>
                  <a:lnTo>
                    <a:pt x="149" y="12"/>
                  </a:lnTo>
                  <a:lnTo>
                    <a:pt x="162" y="9"/>
                  </a:lnTo>
                  <a:lnTo>
                    <a:pt x="176" y="6"/>
                  </a:lnTo>
                  <a:lnTo>
                    <a:pt x="191" y="4"/>
                  </a:lnTo>
                  <a:lnTo>
                    <a:pt x="205" y="1"/>
                  </a:lnTo>
                  <a:lnTo>
                    <a:pt x="222" y="0"/>
                  </a:lnTo>
                  <a:lnTo>
                    <a:pt x="238" y="0"/>
                  </a:lnTo>
                  <a:lnTo>
                    <a:pt x="767" y="0"/>
                  </a:lnTo>
                  <a:lnTo>
                    <a:pt x="767" y="155"/>
                  </a:lnTo>
                  <a:lnTo>
                    <a:pt x="286" y="155"/>
                  </a:lnTo>
                  <a:lnTo>
                    <a:pt x="276" y="157"/>
                  </a:lnTo>
                  <a:lnTo>
                    <a:pt x="267" y="159"/>
                  </a:lnTo>
                  <a:lnTo>
                    <a:pt x="258" y="162"/>
                  </a:lnTo>
                  <a:lnTo>
                    <a:pt x="250" y="166"/>
                  </a:lnTo>
                  <a:lnTo>
                    <a:pt x="242" y="171"/>
                  </a:lnTo>
                  <a:lnTo>
                    <a:pt x="234" y="177"/>
                  </a:lnTo>
                  <a:lnTo>
                    <a:pt x="227" y="183"/>
                  </a:lnTo>
                  <a:lnTo>
                    <a:pt x="221" y="191"/>
                  </a:lnTo>
                  <a:lnTo>
                    <a:pt x="214" y="198"/>
                  </a:lnTo>
                  <a:lnTo>
                    <a:pt x="208" y="206"/>
                  </a:lnTo>
                  <a:lnTo>
                    <a:pt x="203" y="214"/>
                  </a:lnTo>
                  <a:lnTo>
                    <a:pt x="199" y="223"/>
                  </a:lnTo>
                  <a:lnTo>
                    <a:pt x="194" y="230"/>
                  </a:lnTo>
                  <a:lnTo>
                    <a:pt x="191" y="238"/>
                  </a:lnTo>
                  <a:lnTo>
                    <a:pt x="189" y="246"/>
                  </a:lnTo>
                  <a:lnTo>
                    <a:pt x="186" y="252"/>
                  </a:lnTo>
                  <a:lnTo>
                    <a:pt x="184" y="271"/>
                  </a:lnTo>
                  <a:lnTo>
                    <a:pt x="182" y="295"/>
                  </a:lnTo>
                  <a:lnTo>
                    <a:pt x="181" y="324"/>
                  </a:lnTo>
                  <a:lnTo>
                    <a:pt x="180" y="356"/>
                  </a:lnTo>
                  <a:lnTo>
                    <a:pt x="180" y="389"/>
                  </a:lnTo>
                  <a:lnTo>
                    <a:pt x="180" y="421"/>
                  </a:lnTo>
                  <a:lnTo>
                    <a:pt x="179" y="450"/>
                  </a:lnTo>
                  <a:lnTo>
                    <a:pt x="179" y="476"/>
                  </a:lnTo>
                  <a:lnTo>
                    <a:pt x="687" y="476"/>
                  </a:lnTo>
                  <a:lnTo>
                    <a:pt x="687" y="652"/>
                  </a:lnTo>
                  <a:lnTo>
                    <a:pt x="260" y="652"/>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3" name="Freeform 18">
              <a:extLst>
                <a:ext uri="{FF2B5EF4-FFF2-40B4-BE49-F238E27FC236}">
                  <a16:creationId xmlns="" xmlns:a16="http://schemas.microsoft.com/office/drawing/2014/main" id="{A8BB4230-E2E8-42B7-A1FA-EA061338AC4C}"/>
                </a:ext>
              </a:extLst>
            </p:cNvPr>
            <p:cNvSpPr>
              <a:spLocks/>
            </p:cNvSpPr>
            <p:nvPr userDrawn="1"/>
          </p:nvSpPr>
          <p:spPr bwMode="auto">
            <a:xfrm>
              <a:off x="2971" y="118"/>
              <a:ext cx="184" cy="247"/>
            </a:xfrm>
            <a:custGeom>
              <a:avLst/>
              <a:gdLst>
                <a:gd name="T0" fmla="*/ 695 w 920"/>
                <a:gd name="T1" fmla="*/ 1037 h 1237"/>
                <a:gd name="T2" fmla="*/ 670 w 920"/>
                <a:gd name="T3" fmla="*/ 1057 h 1237"/>
                <a:gd name="T4" fmla="*/ 636 w 920"/>
                <a:gd name="T5" fmla="*/ 1068 h 1237"/>
                <a:gd name="T6" fmla="*/ 397 w 920"/>
                <a:gd name="T7" fmla="*/ 1071 h 1237"/>
                <a:gd name="T8" fmla="*/ 322 w 920"/>
                <a:gd name="T9" fmla="*/ 1062 h 1237"/>
                <a:gd name="T10" fmla="*/ 283 w 920"/>
                <a:gd name="T11" fmla="*/ 1047 h 1237"/>
                <a:gd name="T12" fmla="*/ 252 w 920"/>
                <a:gd name="T13" fmla="*/ 1024 h 1237"/>
                <a:gd name="T14" fmla="*/ 228 w 920"/>
                <a:gd name="T15" fmla="*/ 992 h 1237"/>
                <a:gd name="T16" fmla="*/ 206 w 920"/>
                <a:gd name="T17" fmla="*/ 921 h 1237"/>
                <a:gd name="T18" fmla="*/ 194 w 920"/>
                <a:gd name="T19" fmla="*/ 800 h 1237"/>
                <a:gd name="T20" fmla="*/ 201 w 920"/>
                <a:gd name="T21" fmla="*/ 345 h 1237"/>
                <a:gd name="T22" fmla="*/ 224 w 920"/>
                <a:gd name="T23" fmla="*/ 256 h 1237"/>
                <a:gd name="T24" fmla="*/ 245 w 920"/>
                <a:gd name="T25" fmla="*/ 220 h 1237"/>
                <a:gd name="T26" fmla="*/ 274 w 920"/>
                <a:gd name="T27" fmla="*/ 196 h 1237"/>
                <a:gd name="T28" fmla="*/ 311 w 920"/>
                <a:gd name="T29" fmla="*/ 179 h 1237"/>
                <a:gd name="T30" fmla="*/ 370 w 920"/>
                <a:gd name="T31" fmla="*/ 168 h 1237"/>
                <a:gd name="T32" fmla="*/ 625 w 920"/>
                <a:gd name="T33" fmla="*/ 168 h 1237"/>
                <a:gd name="T34" fmla="*/ 665 w 920"/>
                <a:gd name="T35" fmla="*/ 177 h 1237"/>
                <a:gd name="T36" fmla="*/ 694 w 920"/>
                <a:gd name="T37" fmla="*/ 195 h 1237"/>
                <a:gd name="T38" fmla="*/ 726 w 920"/>
                <a:gd name="T39" fmla="*/ 236 h 1237"/>
                <a:gd name="T40" fmla="*/ 745 w 920"/>
                <a:gd name="T41" fmla="*/ 290 h 1237"/>
                <a:gd name="T42" fmla="*/ 754 w 920"/>
                <a:gd name="T43" fmla="*/ 356 h 1237"/>
                <a:gd name="T44" fmla="*/ 914 w 920"/>
                <a:gd name="T45" fmla="*/ 256 h 1237"/>
                <a:gd name="T46" fmla="*/ 901 w 920"/>
                <a:gd name="T47" fmla="*/ 187 h 1237"/>
                <a:gd name="T48" fmla="*/ 880 w 920"/>
                <a:gd name="T49" fmla="*/ 129 h 1237"/>
                <a:gd name="T50" fmla="*/ 851 w 920"/>
                <a:gd name="T51" fmla="*/ 81 h 1237"/>
                <a:gd name="T52" fmla="*/ 816 w 920"/>
                <a:gd name="T53" fmla="*/ 43 h 1237"/>
                <a:gd name="T54" fmla="*/ 771 w 920"/>
                <a:gd name="T55" fmla="*/ 18 h 1237"/>
                <a:gd name="T56" fmla="*/ 711 w 920"/>
                <a:gd name="T57" fmla="*/ 4 h 1237"/>
                <a:gd name="T58" fmla="*/ 292 w 920"/>
                <a:gd name="T59" fmla="*/ 0 h 1237"/>
                <a:gd name="T60" fmla="*/ 216 w 920"/>
                <a:gd name="T61" fmla="*/ 6 h 1237"/>
                <a:gd name="T62" fmla="*/ 154 w 920"/>
                <a:gd name="T63" fmla="*/ 22 h 1237"/>
                <a:gd name="T64" fmla="*/ 103 w 920"/>
                <a:gd name="T65" fmla="*/ 50 h 1237"/>
                <a:gd name="T66" fmla="*/ 64 w 920"/>
                <a:gd name="T67" fmla="*/ 89 h 1237"/>
                <a:gd name="T68" fmla="*/ 37 w 920"/>
                <a:gd name="T69" fmla="*/ 139 h 1237"/>
                <a:gd name="T70" fmla="*/ 17 w 920"/>
                <a:gd name="T71" fmla="*/ 201 h 1237"/>
                <a:gd name="T72" fmla="*/ 5 w 920"/>
                <a:gd name="T73" fmla="*/ 272 h 1237"/>
                <a:gd name="T74" fmla="*/ 1 w 920"/>
                <a:gd name="T75" fmla="*/ 925 h 1237"/>
                <a:gd name="T76" fmla="*/ 12 w 920"/>
                <a:gd name="T77" fmla="*/ 1020 h 1237"/>
                <a:gd name="T78" fmla="*/ 31 w 920"/>
                <a:gd name="T79" fmla="*/ 1084 h 1237"/>
                <a:gd name="T80" fmla="*/ 57 w 920"/>
                <a:gd name="T81" fmla="*/ 1137 h 1237"/>
                <a:gd name="T82" fmla="*/ 92 w 920"/>
                <a:gd name="T83" fmla="*/ 1179 h 1237"/>
                <a:gd name="T84" fmla="*/ 139 w 920"/>
                <a:gd name="T85" fmla="*/ 1209 h 1237"/>
                <a:gd name="T86" fmla="*/ 200 w 920"/>
                <a:gd name="T87" fmla="*/ 1228 h 1237"/>
                <a:gd name="T88" fmla="*/ 273 w 920"/>
                <a:gd name="T89" fmla="*/ 1237 h 1237"/>
                <a:gd name="T90" fmla="*/ 695 w 920"/>
                <a:gd name="T91" fmla="*/ 1236 h 1237"/>
                <a:gd name="T92" fmla="*/ 758 w 920"/>
                <a:gd name="T93" fmla="*/ 1224 h 1237"/>
                <a:gd name="T94" fmla="*/ 806 w 920"/>
                <a:gd name="T95" fmla="*/ 1201 h 1237"/>
                <a:gd name="T96" fmla="*/ 842 w 920"/>
                <a:gd name="T97" fmla="*/ 1167 h 1237"/>
                <a:gd name="T98" fmla="*/ 873 w 920"/>
                <a:gd name="T99" fmla="*/ 1121 h 1237"/>
                <a:gd name="T100" fmla="*/ 896 w 920"/>
                <a:gd name="T101" fmla="*/ 1065 h 1237"/>
                <a:gd name="T102" fmla="*/ 911 w 920"/>
                <a:gd name="T103" fmla="*/ 999 h 1237"/>
                <a:gd name="T104" fmla="*/ 920 w 920"/>
                <a:gd name="T105" fmla="*/ 882 h 1237"/>
                <a:gd name="T106" fmla="*/ 748 w 920"/>
                <a:gd name="T107" fmla="*/ 931 h 1237"/>
                <a:gd name="T108" fmla="*/ 727 w 920"/>
                <a:gd name="T109" fmla="*/ 991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20" h="1237">
                  <a:moveTo>
                    <a:pt x="720" y="1002"/>
                  </a:moveTo>
                  <a:lnTo>
                    <a:pt x="710" y="1017"/>
                  </a:lnTo>
                  <a:lnTo>
                    <a:pt x="700" y="1031"/>
                  </a:lnTo>
                  <a:lnTo>
                    <a:pt x="695" y="1037"/>
                  </a:lnTo>
                  <a:lnTo>
                    <a:pt x="689" y="1042"/>
                  </a:lnTo>
                  <a:lnTo>
                    <a:pt x="684" y="1048"/>
                  </a:lnTo>
                  <a:lnTo>
                    <a:pt x="678" y="1052"/>
                  </a:lnTo>
                  <a:lnTo>
                    <a:pt x="670" y="1057"/>
                  </a:lnTo>
                  <a:lnTo>
                    <a:pt x="664" y="1060"/>
                  </a:lnTo>
                  <a:lnTo>
                    <a:pt x="655" y="1063"/>
                  </a:lnTo>
                  <a:lnTo>
                    <a:pt x="646" y="1066"/>
                  </a:lnTo>
                  <a:lnTo>
                    <a:pt x="636" y="1068"/>
                  </a:lnTo>
                  <a:lnTo>
                    <a:pt x="625" y="1070"/>
                  </a:lnTo>
                  <a:lnTo>
                    <a:pt x="613" y="1071"/>
                  </a:lnTo>
                  <a:lnTo>
                    <a:pt x="599" y="1071"/>
                  </a:lnTo>
                  <a:lnTo>
                    <a:pt x="397" y="1071"/>
                  </a:lnTo>
                  <a:lnTo>
                    <a:pt x="370" y="1070"/>
                  </a:lnTo>
                  <a:lnTo>
                    <a:pt x="344" y="1066"/>
                  </a:lnTo>
                  <a:lnTo>
                    <a:pt x="333" y="1065"/>
                  </a:lnTo>
                  <a:lnTo>
                    <a:pt x="322" y="1062"/>
                  </a:lnTo>
                  <a:lnTo>
                    <a:pt x="311" y="1059"/>
                  </a:lnTo>
                  <a:lnTo>
                    <a:pt x="301" y="1055"/>
                  </a:lnTo>
                  <a:lnTo>
                    <a:pt x="291" y="1051"/>
                  </a:lnTo>
                  <a:lnTo>
                    <a:pt x="283" y="1047"/>
                  </a:lnTo>
                  <a:lnTo>
                    <a:pt x="274" y="1042"/>
                  </a:lnTo>
                  <a:lnTo>
                    <a:pt x="266" y="1037"/>
                  </a:lnTo>
                  <a:lnTo>
                    <a:pt x="258" y="1030"/>
                  </a:lnTo>
                  <a:lnTo>
                    <a:pt x="252" y="1024"/>
                  </a:lnTo>
                  <a:lnTo>
                    <a:pt x="245" y="1017"/>
                  </a:lnTo>
                  <a:lnTo>
                    <a:pt x="240" y="1009"/>
                  </a:lnTo>
                  <a:lnTo>
                    <a:pt x="234" y="1002"/>
                  </a:lnTo>
                  <a:lnTo>
                    <a:pt x="228" y="992"/>
                  </a:lnTo>
                  <a:lnTo>
                    <a:pt x="224" y="982"/>
                  </a:lnTo>
                  <a:lnTo>
                    <a:pt x="220" y="971"/>
                  </a:lnTo>
                  <a:lnTo>
                    <a:pt x="212" y="948"/>
                  </a:lnTo>
                  <a:lnTo>
                    <a:pt x="206" y="921"/>
                  </a:lnTo>
                  <a:lnTo>
                    <a:pt x="201" y="893"/>
                  </a:lnTo>
                  <a:lnTo>
                    <a:pt x="198" y="863"/>
                  </a:lnTo>
                  <a:lnTo>
                    <a:pt x="195" y="832"/>
                  </a:lnTo>
                  <a:lnTo>
                    <a:pt x="194" y="800"/>
                  </a:lnTo>
                  <a:lnTo>
                    <a:pt x="194" y="437"/>
                  </a:lnTo>
                  <a:lnTo>
                    <a:pt x="195" y="405"/>
                  </a:lnTo>
                  <a:lnTo>
                    <a:pt x="198" y="375"/>
                  </a:lnTo>
                  <a:lnTo>
                    <a:pt x="201" y="345"/>
                  </a:lnTo>
                  <a:lnTo>
                    <a:pt x="206" y="317"/>
                  </a:lnTo>
                  <a:lnTo>
                    <a:pt x="212" y="291"/>
                  </a:lnTo>
                  <a:lnTo>
                    <a:pt x="220" y="267"/>
                  </a:lnTo>
                  <a:lnTo>
                    <a:pt x="224" y="256"/>
                  </a:lnTo>
                  <a:lnTo>
                    <a:pt x="228" y="246"/>
                  </a:lnTo>
                  <a:lnTo>
                    <a:pt x="234" y="236"/>
                  </a:lnTo>
                  <a:lnTo>
                    <a:pt x="240" y="228"/>
                  </a:lnTo>
                  <a:lnTo>
                    <a:pt x="245" y="220"/>
                  </a:lnTo>
                  <a:lnTo>
                    <a:pt x="252" y="214"/>
                  </a:lnTo>
                  <a:lnTo>
                    <a:pt x="258" y="207"/>
                  </a:lnTo>
                  <a:lnTo>
                    <a:pt x="266" y="202"/>
                  </a:lnTo>
                  <a:lnTo>
                    <a:pt x="274" y="196"/>
                  </a:lnTo>
                  <a:lnTo>
                    <a:pt x="283" y="191"/>
                  </a:lnTo>
                  <a:lnTo>
                    <a:pt x="291" y="186"/>
                  </a:lnTo>
                  <a:lnTo>
                    <a:pt x="301" y="182"/>
                  </a:lnTo>
                  <a:lnTo>
                    <a:pt x="311" y="179"/>
                  </a:lnTo>
                  <a:lnTo>
                    <a:pt x="322" y="175"/>
                  </a:lnTo>
                  <a:lnTo>
                    <a:pt x="333" y="173"/>
                  </a:lnTo>
                  <a:lnTo>
                    <a:pt x="344" y="171"/>
                  </a:lnTo>
                  <a:lnTo>
                    <a:pt x="370" y="168"/>
                  </a:lnTo>
                  <a:lnTo>
                    <a:pt x="397" y="166"/>
                  </a:lnTo>
                  <a:lnTo>
                    <a:pt x="599" y="166"/>
                  </a:lnTo>
                  <a:lnTo>
                    <a:pt x="613" y="166"/>
                  </a:lnTo>
                  <a:lnTo>
                    <a:pt x="625" y="168"/>
                  </a:lnTo>
                  <a:lnTo>
                    <a:pt x="637" y="170"/>
                  </a:lnTo>
                  <a:lnTo>
                    <a:pt x="647" y="172"/>
                  </a:lnTo>
                  <a:lnTo>
                    <a:pt x="657" y="174"/>
                  </a:lnTo>
                  <a:lnTo>
                    <a:pt x="665" y="177"/>
                  </a:lnTo>
                  <a:lnTo>
                    <a:pt x="674" y="181"/>
                  </a:lnTo>
                  <a:lnTo>
                    <a:pt x="680" y="185"/>
                  </a:lnTo>
                  <a:lnTo>
                    <a:pt x="687" y="191"/>
                  </a:lnTo>
                  <a:lnTo>
                    <a:pt x="694" y="195"/>
                  </a:lnTo>
                  <a:lnTo>
                    <a:pt x="699" y="201"/>
                  </a:lnTo>
                  <a:lnTo>
                    <a:pt x="705" y="207"/>
                  </a:lnTo>
                  <a:lnTo>
                    <a:pt x="716" y="220"/>
                  </a:lnTo>
                  <a:lnTo>
                    <a:pt x="726" y="236"/>
                  </a:lnTo>
                  <a:lnTo>
                    <a:pt x="732" y="247"/>
                  </a:lnTo>
                  <a:lnTo>
                    <a:pt x="738" y="260"/>
                  </a:lnTo>
                  <a:lnTo>
                    <a:pt x="742" y="274"/>
                  </a:lnTo>
                  <a:lnTo>
                    <a:pt x="745" y="290"/>
                  </a:lnTo>
                  <a:lnTo>
                    <a:pt x="749" y="306"/>
                  </a:lnTo>
                  <a:lnTo>
                    <a:pt x="751" y="323"/>
                  </a:lnTo>
                  <a:lnTo>
                    <a:pt x="753" y="339"/>
                  </a:lnTo>
                  <a:lnTo>
                    <a:pt x="754" y="356"/>
                  </a:lnTo>
                  <a:lnTo>
                    <a:pt x="920" y="356"/>
                  </a:lnTo>
                  <a:lnTo>
                    <a:pt x="918" y="314"/>
                  </a:lnTo>
                  <a:lnTo>
                    <a:pt x="916" y="274"/>
                  </a:lnTo>
                  <a:lnTo>
                    <a:pt x="914" y="256"/>
                  </a:lnTo>
                  <a:lnTo>
                    <a:pt x="911" y="238"/>
                  </a:lnTo>
                  <a:lnTo>
                    <a:pt x="909" y="220"/>
                  </a:lnTo>
                  <a:lnTo>
                    <a:pt x="904" y="204"/>
                  </a:lnTo>
                  <a:lnTo>
                    <a:pt x="901" y="187"/>
                  </a:lnTo>
                  <a:lnTo>
                    <a:pt x="896" y="172"/>
                  </a:lnTo>
                  <a:lnTo>
                    <a:pt x="891" y="158"/>
                  </a:lnTo>
                  <a:lnTo>
                    <a:pt x="885" y="143"/>
                  </a:lnTo>
                  <a:lnTo>
                    <a:pt x="880" y="129"/>
                  </a:lnTo>
                  <a:lnTo>
                    <a:pt x="873" y="116"/>
                  </a:lnTo>
                  <a:lnTo>
                    <a:pt x="866" y="104"/>
                  </a:lnTo>
                  <a:lnTo>
                    <a:pt x="859" y="92"/>
                  </a:lnTo>
                  <a:lnTo>
                    <a:pt x="851" y="81"/>
                  </a:lnTo>
                  <a:lnTo>
                    <a:pt x="842" y="71"/>
                  </a:lnTo>
                  <a:lnTo>
                    <a:pt x="835" y="61"/>
                  </a:lnTo>
                  <a:lnTo>
                    <a:pt x="826" y="52"/>
                  </a:lnTo>
                  <a:lnTo>
                    <a:pt x="816" y="43"/>
                  </a:lnTo>
                  <a:lnTo>
                    <a:pt x="806" y="35"/>
                  </a:lnTo>
                  <a:lnTo>
                    <a:pt x="795" y="29"/>
                  </a:lnTo>
                  <a:lnTo>
                    <a:pt x="783" y="23"/>
                  </a:lnTo>
                  <a:lnTo>
                    <a:pt x="771" y="18"/>
                  </a:lnTo>
                  <a:lnTo>
                    <a:pt x="758" y="13"/>
                  </a:lnTo>
                  <a:lnTo>
                    <a:pt x="743" y="9"/>
                  </a:lnTo>
                  <a:lnTo>
                    <a:pt x="728" y="6"/>
                  </a:lnTo>
                  <a:lnTo>
                    <a:pt x="711" y="4"/>
                  </a:lnTo>
                  <a:lnTo>
                    <a:pt x="695" y="1"/>
                  </a:lnTo>
                  <a:lnTo>
                    <a:pt x="676" y="0"/>
                  </a:lnTo>
                  <a:lnTo>
                    <a:pt x="655" y="0"/>
                  </a:lnTo>
                  <a:lnTo>
                    <a:pt x="292" y="0"/>
                  </a:lnTo>
                  <a:lnTo>
                    <a:pt x="273" y="0"/>
                  </a:lnTo>
                  <a:lnTo>
                    <a:pt x="253" y="1"/>
                  </a:lnTo>
                  <a:lnTo>
                    <a:pt x="235" y="4"/>
                  </a:lnTo>
                  <a:lnTo>
                    <a:pt x="216" y="6"/>
                  </a:lnTo>
                  <a:lnTo>
                    <a:pt x="200" y="9"/>
                  </a:lnTo>
                  <a:lnTo>
                    <a:pt x="183" y="13"/>
                  </a:lnTo>
                  <a:lnTo>
                    <a:pt x="168" y="18"/>
                  </a:lnTo>
                  <a:lnTo>
                    <a:pt x="154" y="22"/>
                  </a:lnTo>
                  <a:lnTo>
                    <a:pt x="139" y="29"/>
                  </a:lnTo>
                  <a:lnTo>
                    <a:pt x="127" y="35"/>
                  </a:lnTo>
                  <a:lnTo>
                    <a:pt x="114" y="42"/>
                  </a:lnTo>
                  <a:lnTo>
                    <a:pt x="103" y="50"/>
                  </a:lnTo>
                  <a:lnTo>
                    <a:pt x="92" y="59"/>
                  </a:lnTo>
                  <a:lnTo>
                    <a:pt x="82" y="68"/>
                  </a:lnTo>
                  <a:lnTo>
                    <a:pt x="73" y="78"/>
                  </a:lnTo>
                  <a:lnTo>
                    <a:pt x="64" y="89"/>
                  </a:lnTo>
                  <a:lnTo>
                    <a:pt x="57" y="100"/>
                  </a:lnTo>
                  <a:lnTo>
                    <a:pt x="50" y="112"/>
                  </a:lnTo>
                  <a:lnTo>
                    <a:pt x="43" y="126"/>
                  </a:lnTo>
                  <a:lnTo>
                    <a:pt x="37" y="139"/>
                  </a:lnTo>
                  <a:lnTo>
                    <a:pt x="31" y="153"/>
                  </a:lnTo>
                  <a:lnTo>
                    <a:pt x="26" y="169"/>
                  </a:lnTo>
                  <a:lnTo>
                    <a:pt x="21" y="184"/>
                  </a:lnTo>
                  <a:lnTo>
                    <a:pt x="17" y="201"/>
                  </a:lnTo>
                  <a:lnTo>
                    <a:pt x="12" y="217"/>
                  </a:lnTo>
                  <a:lnTo>
                    <a:pt x="10" y="235"/>
                  </a:lnTo>
                  <a:lnTo>
                    <a:pt x="7" y="253"/>
                  </a:lnTo>
                  <a:lnTo>
                    <a:pt x="5" y="272"/>
                  </a:lnTo>
                  <a:lnTo>
                    <a:pt x="1" y="313"/>
                  </a:lnTo>
                  <a:lnTo>
                    <a:pt x="0" y="357"/>
                  </a:lnTo>
                  <a:lnTo>
                    <a:pt x="0" y="881"/>
                  </a:lnTo>
                  <a:lnTo>
                    <a:pt x="1" y="925"/>
                  </a:lnTo>
                  <a:lnTo>
                    <a:pt x="5" y="965"/>
                  </a:lnTo>
                  <a:lnTo>
                    <a:pt x="7" y="984"/>
                  </a:lnTo>
                  <a:lnTo>
                    <a:pt x="10" y="1003"/>
                  </a:lnTo>
                  <a:lnTo>
                    <a:pt x="12" y="1020"/>
                  </a:lnTo>
                  <a:lnTo>
                    <a:pt x="17" y="1037"/>
                  </a:lnTo>
                  <a:lnTo>
                    <a:pt x="21" y="1053"/>
                  </a:lnTo>
                  <a:lnTo>
                    <a:pt x="26" y="1070"/>
                  </a:lnTo>
                  <a:lnTo>
                    <a:pt x="31" y="1084"/>
                  </a:lnTo>
                  <a:lnTo>
                    <a:pt x="37" y="1098"/>
                  </a:lnTo>
                  <a:lnTo>
                    <a:pt x="43" y="1112"/>
                  </a:lnTo>
                  <a:lnTo>
                    <a:pt x="50" y="1125"/>
                  </a:lnTo>
                  <a:lnTo>
                    <a:pt x="57" y="1137"/>
                  </a:lnTo>
                  <a:lnTo>
                    <a:pt x="64" y="1149"/>
                  </a:lnTo>
                  <a:lnTo>
                    <a:pt x="73" y="1159"/>
                  </a:lnTo>
                  <a:lnTo>
                    <a:pt x="82" y="1169"/>
                  </a:lnTo>
                  <a:lnTo>
                    <a:pt x="92" y="1179"/>
                  </a:lnTo>
                  <a:lnTo>
                    <a:pt x="103" y="1187"/>
                  </a:lnTo>
                  <a:lnTo>
                    <a:pt x="114" y="1195"/>
                  </a:lnTo>
                  <a:lnTo>
                    <a:pt x="127" y="1203"/>
                  </a:lnTo>
                  <a:lnTo>
                    <a:pt x="139" y="1209"/>
                  </a:lnTo>
                  <a:lnTo>
                    <a:pt x="154" y="1215"/>
                  </a:lnTo>
                  <a:lnTo>
                    <a:pt x="168" y="1220"/>
                  </a:lnTo>
                  <a:lnTo>
                    <a:pt x="183" y="1225"/>
                  </a:lnTo>
                  <a:lnTo>
                    <a:pt x="200" y="1228"/>
                  </a:lnTo>
                  <a:lnTo>
                    <a:pt x="216" y="1231"/>
                  </a:lnTo>
                  <a:lnTo>
                    <a:pt x="235" y="1234"/>
                  </a:lnTo>
                  <a:lnTo>
                    <a:pt x="253" y="1236"/>
                  </a:lnTo>
                  <a:lnTo>
                    <a:pt x="273" y="1237"/>
                  </a:lnTo>
                  <a:lnTo>
                    <a:pt x="292" y="1237"/>
                  </a:lnTo>
                  <a:lnTo>
                    <a:pt x="655" y="1237"/>
                  </a:lnTo>
                  <a:lnTo>
                    <a:pt x="676" y="1237"/>
                  </a:lnTo>
                  <a:lnTo>
                    <a:pt x="695" y="1236"/>
                  </a:lnTo>
                  <a:lnTo>
                    <a:pt x="711" y="1234"/>
                  </a:lnTo>
                  <a:lnTo>
                    <a:pt x="728" y="1231"/>
                  </a:lnTo>
                  <a:lnTo>
                    <a:pt x="743" y="1228"/>
                  </a:lnTo>
                  <a:lnTo>
                    <a:pt x="758" y="1224"/>
                  </a:lnTo>
                  <a:lnTo>
                    <a:pt x="771" y="1219"/>
                  </a:lnTo>
                  <a:lnTo>
                    <a:pt x="783" y="1214"/>
                  </a:lnTo>
                  <a:lnTo>
                    <a:pt x="795" y="1208"/>
                  </a:lnTo>
                  <a:lnTo>
                    <a:pt x="806" y="1201"/>
                  </a:lnTo>
                  <a:lnTo>
                    <a:pt x="816" y="1194"/>
                  </a:lnTo>
                  <a:lnTo>
                    <a:pt x="826" y="1185"/>
                  </a:lnTo>
                  <a:lnTo>
                    <a:pt x="835" y="1176"/>
                  </a:lnTo>
                  <a:lnTo>
                    <a:pt x="842" y="1167"/>
                  </a:lnTo>
                  <a:lnTo>
                    <a:pt x="851" y="1157"/>
                  </a:lnTo>
                  <a:lnTo>
                    <a:pt x="859" y="1146"/>
                  </a:lnTo>
                  <a:lnTo>
                    <a:pt x="866" y="1134"/>
                  </a:lnTo>
                  <a:lnTo>
                    <a:pt x="873" y="1121"/>
                  </a:lnTo>
                  <a:lnTo>
                    <a:pt x="880" y="1108"/>
                  </a:lnTo>
                  <a:lnTo>
                    <a:pt x="885" y="1094"/>
                  </a:lnTo>
                  <a:lnTo>
                    <a:pt x="891" y="1081"/>
                  </a:lnTo>
                  <a:lnTo>
                    <a:pt x="896" y="1065"/>
                  </a:lnTo>
                  <a:lnTo>
                    <a:pt x="901" y="1050"/>
                  </a:lnTo>
                  <a:lnTo>
                    <a:pt x="904" y="1033"/>
                  </a:lnTo>
                  <a:lnTo>
                    <a:pt x="909" y="1017"/>
                  </a:lnTo>
                  <a:lnTo>
                    <a:pt x="911" y="999"/>
                  </a:lnTo>
                  <a:lnTo>
                    <a:pt x="914" y="982"/>
                  </a:lnTo>
                  <a:lnTo>
                    <a:pt x="916" y="963"/>
                  </a:lnTo>
                  <a:lnTo>
                    <a:pt x="918" y="923"/>
                  </a:lnTo>
                  <a:lnTo>
                    <a:pt x="920" y="882"/>
                  </a:lnTo>
                  <a:lnTo>
                    <a:pt x="753" y="882"/>
                  </a:lnTo>
                  <a:lnTo>
                    <a:pt x="752" y="898"/>
                  </a:lnTo>
                  <a:lnTo>
                    <a:pt x="750" y="914"/>
                  </a:lnTo>
                  <a:lnTo>
                    <a:pt x="748" y="931"/>
                  </a:lnTo>
                  <a:lnTo>
                    <a:pt x="743" y="948"/>
                  </a:lnTo>
                  <a:lnTo>
                    <a:pt x="738" y="963"/>
                  </a:lnTo>
                  <a:lnTo>
                    <a:pt x="732" y="977"/>
                  </a:lnTo>
                  <a:lnTo>
                    <a:pt x="727" y="991"/>
                  </a:lnTo>
                  <a:lnTo>
                    <a:pt x="720" y="1002"/>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4" name="Freeform 19">
              <a:extLst>
                <a:ext uri="{FF2B5EF4-FFF2-40B4-BE49-F238E27FC236}">
                  <a16:creationId xmlns="" xmlns:a16="http://schemas.microsoft.com/office/drawing/2014/main" id="{BA11652D-7937-40B5-BA61-BAB0F24FB934}"/>
                </a:ext>
              </a:extLst>
            </p:cNvPr>
            <p:cNvSpPr>
              <a:spLocks/>
            </p:cNvSpPr>
            <p:nvPr userDrawn="1"/>
          </p:nvSpPr>
          <p:spPr bwMode="auto">
            <a:xfrm>
              <a:off x="4762" y="116"/>
              <a:ext cx="184" cy="247"/>
            </a:xfrm>
            <a:custGeom>
              <a:avLst/>
              <a:gdLst>
                <a:gd name="T0" fmla="*/ 694 w 919"/>
                <a:gd name="T1" fmla="*/ 1036 h 1236"/>
                <a:gd name="T2" fmla="*/ 670 w 919"/>
                <a:gd name="T3" fmla="*/ 1056 h 1236"/>
                <a:gd name="T4" fmla="*/ 636 w 919"/>
                <a:gd name="T5" fmla="*/ 1067 h 1236"/>
                <a:gd name="T6" fmla="*/ 396 w 919"/>
                <a:gd name="T7" fmla="*/ 1070 h 1236"/>
                <a:gd name="T8" fmla="*/ 320 w 919"/>
                <a:gd name="T9" fmla="*/ 1061 h 1236"/>
                <a:gd name="T10" fmla="*/ 281 w 919"/>
                <a:gd name="T11" fmla="*/ 1046 h 1236"/>
                <a:gd name="T12" fmla="*/ 250 w 919"/>
                <a:gd name="T13" fmla="*/ 1023 h 1236"/>
                <a:gd name="T14" fmla="*/ 228 w 919"/>
                <a:gd name="T15" fmla="*/ 991 h 1236"/>
                <a:gd name="T16" fmla="*/ 205 w 919"/>
                <a:gd name="T17" fmla="*/ 919 h 1236"/>
                <a:gd name="T18" fmla="*/ 194 w 919"/>
                <a:gd name="T19" fmla="*/ 799 h 1236"/>
                <a:gd name="T20" fmla="*/ 200 w 919"/>
                <a:gd name="T21" fmla="*/ 344 h 1236"/>
                <a:gd name="T22" fmla="*/ 223 w 919"/>
                <a:gd name="T23" fmla="*/ 255 h 1236"/>
                <a:gd name="T24" fmla="*/ 243 w 919"/>
                <a:gd name="T25" fmla="*/ 220 h 1236"/>
                <a:gd name="T26" fmla="*/ 272 w 919"/>
                <a:gd name="T27" fmla="*/ 194 h 1236"/>
                <a:gd name="T28" fmla="*/ 309 w 919"/>
                <a:gd name="T29" fmla="*/ 178 h 1236"/>
                <a:gd name="T30" fmla="*/ 369 w 919"/>
                <a:gd name="T31" fmla="*/ 167 h 1236"/>
                <a:gd name="T32" fmla="*/ 625 w 919"/>
                <a:gd name="T33" fmla="*/ 167 h 1236"/>
                <a:gd name="T34" fmla="*/ 664 w 919"/>
                <a:gd name="T35" fmla="*/ 177 h 1236"/>
                <a:gd name="T36" fmla="*/ 692 w 919"/>
                <a:gd name="T37" fmla="*/ 194 h 1236"/>
                <a:gd name="T38" fmla="*/ 725 w 919"/>
                <a:gd name="T39" fmla="*/ 235 h 1236"/>
                <a:gd name="T40" fmla="*/ 745 w 919"/>
                <a:gd name="T41" fmla="*/ 289 h 1236"/>
                <a:gd name="T42" fmla="*/ 752 w 919"/>
                <a:gd name="T43" fmla="*/ 355 h 1236"/>
                <a:gd name="T44" fmla="*/ 912 w 919"/>
                <a:gd name="T45" fmla="*/ 255 h 1236"/>
                <a:gd name="T46" fmla="*/ 899 w 919"/>
                <a:gd name="T47" fmla="*/ 187 h 1236"/>
                <a:gd name="T48" fmla="*/ 878 w 919"/>
                <a:gd name="T49" fmla="*/ 128 h 1236"/>
                <a:gd name="T50" fmla="*/ 849 w 919"/>
                <a:gd name="T51" fmla="*/ 80 h 1236"/>
                <a:gd name="T52" fmla="*/ 814 w 919"/>
                <a:gd name="T53" fmla="*/ 42 h 1236"/>
                <a:gd name="T54" fmla="*/ 770 w 919"/>
                <a:gd name="T55" fmla="*/ 17 h 1236"/>
                <a:gd name="T56" fmla="*/ 711 w 919"/>
                <a:gd name="T57" fmla="*/ 3 h 1236"/>
                <a:gd name="T58" fmla="*/ 292 w 919"/>
                <a:gd name="T59" fmla="*/ 0 h 1236"/>
                <a:gd name="T60" fmla="*/ 216 w 919"/>
                <a:gd name="T61" fmla="*/ 5 h 1236"/>
                <a:gd name="T62" fmla="*/ 153 w 919"/>
                <a:gd name="T63" fmla="*/ 22 h 1236"/>
                <a:gd name="T64" fmla="*/ 101 w 919"/>
                <a:gd name="T65" fmla="*/ 49 h 1236"/>
                <a:gd name="T66" fmla="*/ 64 w 919"/>
                <a:gd name="T67" fmla="*/ 88 h 1236"/>
                <a:gd name="T68" fmla="*/ 35 w 919"/>
                <a:gd name="T69" fmla="*/ 138 h 1236"/>
                <a:gd name="T70" fmla="*/ 15 w 919"/>
                <a:gd name="T71" fmla="*/ 199 h 1236"/>
                <a:gd name="T72" fmla="*/ 4 w 919"/>
                <a:gd name="T73" fmla="*/ 271 h 1236"/>
                <a:gd name="T74" fmla="*/ 1 w 919"/>
                <a:gd name="T75" fmla="*/ 924 h 1236"/>
                <a:gd name="T76" fmla="*/ 12 w 919"/>
                <a:gd name="T77" fmla="*/ 1020 h 1236"/>
                <a:gd name="T78" fmla="*/ 29 w 919"/>
                <a:gd name="T79" fmla="*/ 1083 h 1236"/>
                <a:gd name="T80" fmla="*/ 56 w 919"/>
                <a:gd name="T81" fmla="*/ 1136 h 1236"/>
                <a:gd name="T82" fmla="*/ 91 w 919"/>
                <a:gd name="T83" fmla="*/ 1178 h 1236"/>
                <a:gd name="T84" fmla="*/ 138 w 919"/>
                <a:gd name="T85" fmla="*/ 1208 h 1236"/>
                <a:gd name="T86" fmla="*/ 199 w 919"/>
                <a:gd name="T87" fmla="*/ 1227 h 1236"/>
                <a:gd name="T88" fmla="*/ 272 w 919"/>
                <a:gd name="T89" fmla="*/ 1235 h 1236"/>
                <a:gd name="T90" fmla="*/ 693 w 919"/>
                <a:gd name="T91" fmla="*/ 1234 h 1236"/>
                <a:gd name="T92" fmla="*/ 757 w 919"/>
                <a:gd name="T93" fmla="*/ 1223 h 1236"/>
                <a:gd name="T94" fmla="*/ 804 w 919"/>
                <a:gd name="T95" fmla="*/ 1200 h 1236"/>
                <a:gd name="T96" fmla="*/ 842 w 919"/>
                <a:gd name="T97" fmla="*/ 1166 h 1236"/>
                <a:gd name="T98" fmla="*/ 871 w 919"/>
                <a:gd name="T99" fmla="*/ 1120 h 1236"/>
                <a:gd name="T100" fmla="*/ 895 w 919"/>
                <a:gd name="T101" fmla="*/ 1065 h 1236"/>
                <a:gd name="T102" fmla="*/ 910 w 919"/>
                <a:gd name="T103" fmla="*/ 999 h 1236"/>
                <a:gd name="T104" fmla="*/ 919 w 919"/>
                <a:gd name="T105" fmla="*/ 881 h 1236"/>
                <a:gd name="T106" fmla="*/ 746 w 919"/>
                <a:gd name="T107" fmla="*/ 929 h 1236"/>
                <a:gd name="T108" fmla="*/ 725 w 919"/>
                <a:gd name="T109" fmla="*/ 990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19" h="1236">
                  <a:moveTo>
                    <a:pt x="718" y="1001"/>
                  </a:moveTo>
                  <a:lnTo>
                    <a:pt x="708" y="1016"/>
                  </a:lnTo>
                  <a:lnTo>
                    <a:pt x="698" y="1029"/>
                  </a:lnTo>
                  <a:lnTo>
                    <a:pt x="694" y="1036"/>
                  </a:lnTo>
                  <a:lnTo>
                    <a:pt x="688" y="1042"/>
                  </a:lnTo>
                  <a:lnTo>
                    <a:pt x="683" y="1047"/>
                  </a:lnTo>
                  <a:lnTo>
                    <a:pt x="676" y="1051"/>
                  </a:lnTo>
                  <a:lnTo>
                    <a:pt x="670" y="1056"/>
                  </a:lnTo>
                  <a:lnTo>
                    <a:pt x="662" y="1059"/>
                  </a:lnTo>
                  <a:lnTo>
                    <a:pt x="654" y="1062"/>
                  </a:lnTo>
                  <a:lnTo>
                    <a:pt x="645" y="1065"/>
                  </a:lnTo>
                  <a:lnTo>
                    <a:pt x="636" y="1067"/>
                  </a:lnTo>
                  <a:lnTo>
                    <a:pt x="625" y="1069"/>
                  </a:lnTo>
                  <a:lnTo>
                    <a:pt x="611" y="1070"/>
                  </a:lnTo>
                  <a:lnTo>
                    <a:pt x="598" y="1070"/>
                  </a:lnTo>
                  <a:lnTo>
                    <a:pt x="396" y="1070"/>
                  </a:lnTo>
                  <a:lnTo>
                    <a:pt x="369" y="1069"/>
                  </a:lnTo>
                  <a:lnTo>
                    <a:pt x="343" y="1066"/>
                  </a:lnTo>
                  <a:lnTo>
                    <a:pt x="331" y="1064"/>
                  </a:lnTo>
                  <a:lnTo>
                    <a:pt x="320" y="1061"/>
                  </a:lnTo>
                  <a:lnTo>
                    <a:pt x="309" y="1058"/>
                  </a:lnTo>
                  <a:lnTo>
                    <a:pt x="299" y="1055"/>
                  </a:lnTo>
                  <a:lnTo>
                    <a:pt x="289" y="1050"/>
                  </a:lnTo>
                  <a:lnTo>
                    <a:pt x="281" y="1046"/>
                  </a:lnTo>
                  <a:lnTo>
                    <a:pt x="272" y="1040"/>
                  </a:lnTo>
                  <a:lnTo>
                    <a:pt x="264" y="1035"/>
                  </a:lnTo>
                  <a:lnTo>
                    <a:pt x="256" y="1029"/>
                  </a:lnTo>
                  <a:lnTo>
                    <a:pt x="250" y="1023"/>
                  </a:lnTo>
                  <a:lnTo>
                    <a:pt x="243" y="1016"/>
                  </a:lnTo>
                  <a:lnTo>
                    <a:pt x="238" y="1009"/>
                  </a:lnTo>
                  <a:lnTo>
                    <a:pt x="232" y="1001"/>
                  </a:lnTo>
                  <a:lnTo>
                    <a:pt x="228" y="991"/>
                  </a:lnTo>
                  <a:lnTo>
                    <a:pt x="223" y="981"/>
                  </a:lnTo>
                  <a:lnTo>
                    <a:pt x="219" y="970"/>
                  </a:lnTo>
                  <a:lnTo>
                    <a:pt x="211" y="946"/>
                  </a:lnTo>
                  <a:lnTo>
                    <a:pt x="205" y="919"/>
                  </a:lnTo>
                  <a:lnTo>
                    <a:pt x="200" y="892"/>
                  </a:lnTo>
                  <a:lnTo>
                    <a:pt x="197" y="861"/>
                  </a:lnTo>
                  <a:lnTo>
                    <a:pt x="195" y="831"/>
                  </a:lnTo>
                  <a:lnTo>
                    <a:pt x="194" y="799"/>
                  </a:lnTo>
                  <a:lnTo>
                    <a:pt x="194" y="435"/>
                  </a:lnTo>
                  <a:lnTo>
                    <a:pt x="195" y="404"/>
                  </a:lnTo>
                  <a:lnTo>
                    <a:pt x="197" y="374"/>
                  </a:lnTo>
                  <a:lnTo>
                    <a:pt x="200" y="344"/>
                  </a:lnTo>
                  <a:lnTo>
                    <a:pt x="205" y="316"/>
                  </a:lnTo>
                  <a:lnTo>
                    <a:pt x="211" y="289"/>
                  </a:lnTo>
                  <a:lnTo>
                    <a:pt x="219" y="266"/>
                  </a:lnTo>
                  <a:lnTo>
                    <a:pt x="223" y="255"/>
                  </a:lnTo>
                  <a:lnTo>
                    <a:pt x="228" y="245"/>
                  </a:lnTo>
                  <a:lnTo>
                    <a:pt x="232" y="235"/>
                  </a:lnTo>
                  <a:lnTo>
                    <a:pt x="238" y="227"/>
                  </a:lnTo>
                  <a:lnTo>
                    <a:pt x="243" y="220"/>
                  </a:lnTo>
                  <a:lnTo>
                    <a:pt x="250" y="213"/>
                  </a:lnTo>
                  <a:lnTo>
                    <a:pt x="256" y="206"/>
                  </a:lnTo>
                  <a:lnTo>
                    <a:pt x="264" y="200"/>
                  </a:lnTo>
                  <a:lnTo>
                    <a:pt x="272" y="194"/>
                  </a:lnTo>
                  <a:lnTo>
                    <a:pt x="281" y="190"/>
                  </a:lnTo>
                  <a:lnTo>
                    <a:pt x="289" y="186"/>
                  </a:lnTo>
                  <a:lnTo>
                    <a:pt x="299" y="181"/>
                  </a:lnTo>
                  <a:lnTo>
                    <a:pt x="309" y="178"/>
                  </a:lnTo>
                  <a:lnTo>
                    <a:pt x="320" y="175"/>
                  </a:lnTo>
                  <a:lnTo>
                    <a:pt x="331" y="171"/>
                  </a:lnTo>
                  <a:lnTo>
                    <a:pt x="343" y="169"/>
                  </a:lnTo>
                  <a:lnTo>
                    <a:pt x="369" y="167"/>
                  </a:lnTo>
                  <a:lnTo>
                    <a:pt x="396" y="166"/>
                  </a:lnTo>
                  <a:lnTo>
                    <a:pt x="598" y="166"/>
                  </a:lnTo>
                  <a:lnTo>
                    <a:pt x="611" y="166"/>
                  </a:lnTo>
                  <a:lnTo>
                    <a:pt x="625" y="167"/>
                  </a:lnTo>
                  <a:lnTo>
                    <a:pt x="636" y="168"/>
                  </a:lnTo>
                  <a:lnTo>
                    <a:pt x="647" y="170"/>
                  </a:lnTo>
                  <a:lnTo>
                    <a:pt x="655" y="173"/>
                  </a:lnTo>
                  <a:lnTo>
                    <a:pt x="664" y="177"/>
                  </a:lnTo>
                  <a:lnTo>
                    <a:pt x="672" y="180"/>
                  </a:lnTo>
                  <a:lnTo>
                    <a:pt x="680" y="184"/>
                  </a:lnTo>
                  <a:lnTo>
                    <a:pt x="686" y="189"/>
                  </a:lnTo>
                  <a:lnTo>
                    <a:pt x="692" y="194"/>
                  </a:lnTo>
                  <a:lnTo>
                    <a:pt x="698" y="200"/>
                  </a:lnTo>
                  <a:lnTo>
                    <a:pt x="704" y="206"/>
                  </a:lnTo>
                  <a:lnTo>
                    <a:pt x="714" y="220"/>
                  </a:lnTo>
                  <a:lnTo>
                    <a:pt x="725" y="235"/>
                  </a:lnTo>
                  <a:lnTo>
                    <a:pt x="730" y="246"/>
                  </a:lnTo>
                  <a:lnTo>
                    <a:pt x="736" y="259"/>
                  </a:lnTo>
                  <a:lnTo>
                    <a:pt x="740" y="274"/>
                  </a:lnTo>
                  <a:lnTo>
                    <a:pt x="745" y="289"/>
                  </a:lnTo>
                  <a:lnTo>
                    <a:pt x="748" y="304"/>
                  </a:lnTo>
                  <a:lnTo>
                    <a:pt x="750" y="322"/>
                  </a:lnTo>
                  <a:lnTo>
                    <a:pt x="751" y="338"/>
                  </a:lnTo>
                  <a:lnTo>
                    <a:pt x="752" y="355"/>
                  </a:lnTo>
                  <a:lnTo>
                    <a:pt x="919" y="355"/>
                  </a:lnTo>
                  <a:lnTo>
                    <a:pt x="918" y="313"/>
                  </a:lnTo>
                  <a:lnTo>
                    <a:pt x="914" y="274"/>
                  </a:lnTo>
                  <a:lnTo>
                    <a:pt x="912" y="255"/>
                  </a:lnTo>
                  <a:lnTo>
                    <a:pt x="910" y="237"/>
                  </a:lnTo>
                  <a:lnTo>
                    <a:pt x="907" y="220"/>
                  </a:lnTo>
                  <a:lnTo>
                    <a:pt x="903" y="203"/>
                  </a:lnTo>
                  <a:lnTo>
                    <a:pt x="899" y="187"/>
                  </a:lnTo>
                  <a:lnTo>
                    <a:pt x="895" y="171"/>
                  </a:lnTo>
                  <a:lnTo>
                    <a:pt x="890" y="156"/>
                  </a:lnTo>
                  <a:lnTo>
                    <a:pt x="885" y="142"/>
                  </a:lnTo>
                  <a:lnTo>
                    <a:pt x="878" y="128"/>
                  </a:lnTo>
                  <a:lnTo>
                    <a:pt x="871" y="115"/>
                  </a:lnTo>
                  <a:lnTo>
                    <a:pt x="865" y="103"/>
                  </a:lnTo>
                  <a:lnTo>
                    <a:pt x="857" y="91"/>
                  </a:lnTo>
                  <a:lnTo>
                    <a:pt x="849" y="80"/>
                  </a:lnTo>
                  <a:lnTo>
                    <a:pt x="842" y="69"/>
                  </a:lnTo>
                  <a:lnTo>
                    <a:pt x="833" y="60"/>
                  </a:lnTo>
                  <a:lnTo>
                    <a:pt x="824" y="51"/>
                  </a:lnTo>
                  <a:lnTo>
                    <a:pt x="814" y="42"/>
                  </a:lnTo>
                  <a:lnTo>
                    <a:pt x="804" y="35"/>
                  </a:lnTo>
                  <a:lnTo>
                    <a:pt x="793" y="28"/>
                  </a:lnTo>
                  <a:lnTo>
                    <a:pt x="782" y="23"/>
                  </a:lnTo>
                  <a:lnTo>
                    <a:pt x="770" y="17"/>
                  </a:lnTo>
                  <a:lnTo>
                    <a:pt x="757" y="13"/>
                  </a:lnTo>
                  <a:lnTo>
                    <a:pt x="742" y="8"/>
                  </a:lnTo>
                  <a:lnTo>
                    <a:pt x="727" y="5"/>
                  </a:lnTo>
                  <a:lnTo>
                    <a:pt x="711" y="3"/>
                  </a:lnTo>
                  <a:lnTo>
                    <a:pt x="693" y="1"/>
                  </a:lnTo>
                  <a:lnTo>
                    <a:pt x="674" y="0"/>
                  </a:lnTo>
                  <a:lnTo>
                    <a:pt x="654" y="0"/>
                  </a:lnTo>
                  <a:lnTo>
                    <a:pt x="292" y="0"/>
                  </a:lnTo>
                  <a:lnTo>
                    <a:pt x="272" y="0"/>
                  </a:lnTo>
                  <a:lnTo>
                    <a:pt x="252" y="1"/>
                  </a:lnTo>
                  <a:lnTo>
                    <a:pt x="233" y="3"/>
                  </a:lnTo>
                  <a:lnTo>
                    <a:pt x="216" y="5"/>
                  </a:lnTo>
                  <a:lnTo>
                    <a:pt x="199" y="8"/>
                  </a:lnTo>
                  <a:lnTo>
                    <a:pt x="183" y="12"/>
                  </a:lnTo>
                  <a:lnTo>
                    <a:pt x="167" y="16"/>
                  </a:lnTo>
                  <a:lnTo>
                    <a:pt x="153" y="22"/>
                  </a:lnTo>
                  <a:lnTo>
                    <a:pt x="138" y="28"/>
                  </a:lnTo>
                  <a:lnTo>
                    <a:pt x="125" y="34"/>
                  </a:lnTo>
                  <a:lnTo>
                    <a:pt x="113" y="41"/>
                  </a:lnTo>
                  <a:lnTo>
                    <a:pt x="101" y="49"/>
                  </a:lnTo>
                  <a:lnTo>
                    <a:pt x="91" y="58"/>
                  </a:lnTo>
                  <a:lnTo>
                    <a:pt x="81" y="68"/>
                  </a:lnTo>
                  <a:lnTo>
                    <a:pt x="71" y="78"/>
                  </a:lnTo>
                  <a:lnTo>
                    <a:pt x="64" y="88"/>
                  </a:lnTo>
                  <a:lnTo>
                    <a:pt x="56" y="100"/>
                  </a:lnTo>
                  <a:lnTo>
                    <a:pt x="48" y="112"/>
                  </a:lnTo>
                  <a:lnTo>
                    <a:pt x="41" y="125"/>
                  </a:lnTo>
                  <a:lnTo>
                    <a:pt x="35" y="138"/>
                  </a:lnTo>
                  <a:lnTo>
                    <a:pt x="29" y="153"/>
                  </a:lnTo>
                  <a:lnTo>
                    <a:pt x="25" y="167"/>
                  </a:lnTo>
                  <a:lnTo>
                    <a:pt x="19" y="183"/>
                  </a:lnTo>
                  <a:lnTo>
                    <a:pt x="15" y="199"/>
                  </a:lnTo>
                  <a:lnTo>
                    <a:pt x="12" y="216"/>
                  </a:lnTo>
                  <a:lnTo>
                    <a:pt x="8" y="234"/>
                  </a:lnTo>
                  <a:lnTo>
                    <a:pt x="6" y="253"/>
                  </a:lnTo>
                  <a:lnTo>
                    <a:pt x="4" y="271"/>
                  </a:lnTo>
                  <a:lnTo>
                    <a:pt x="1" y="312"/>
                  </a:lnTo>
                  <a:lnTo>
                    <a:pt x="0" y="356"/>
                  </a:lnTo>
                  <a:lnTo>
                    <a:pt x="0" y="880"/>
                  </a:lnTo>
                  <a:lnTo>
                    <a:pt x="1" y="924"/>
                  </a:lnTo>
                  <a:lnTo>
                    <a:pt x="4" y="963"/>
                  </a:lnTo>
                  <a:lnTo>
                    <a:pt x="6" y="983"/>
                  </a:lnTo>
                  <a:lnTo>
                    <a:pt x="8" y="1002"/>
                  </a:lnTo>
                  <a:lnTo>
                    <a:pt x="12" y="1020"/>
                  </a:lnTo>
                  <a:lnTo>
                    <a:pt x="15" y="1036"/>
                  </a:lnTo>
                  <a:lnTo>
                    <a:pt x="19" y="1053"/>
                  </a:lnTo>
                  <a:lnTo>
                    <a:pt x="25" y="1068"/>
                  </a:lnTo>
                  <a:lnTo>
                    <a:pt x="29" y="1083"/>
                  </a:lnTo>
                  <a:lnTo>
                    <a:pt x="35" y="1098"/>
                  </a:lnTo>
                  <a:lnTo>
                    <a:pt x="41" y="1111"/>
                  </a:lnTo>
                  <a:lnTo>
                    <a:pt x="48" y="1124"/>
                  </a:lnTo>
                  <a:lnTo>
                    <a:pt x="56" y="1136"/>
                  </a:lnTo>
                  <a:lnTo>
                    <a:pt x="64" y="1147"/>
                  </a:lnTo>
                  <a:lnTo>
                    <a:pt x="71" y="1158"/>
                  </a:lnTo>
                  <a:lnTo>
                    <a:pt x="81" y="1168"/>
                  </a:lnTo>
                  <a:lnTo>
                    <a:pt x="91" y="1178"/>
                  </a:lnTo>
                  <a:lnTo>
                    <a:pt x="101" y="1187"/>
                  </a:lnTo>
                  <a:lnTo>
                    <a:pt x="113" y="1194"/>
                  </a:lnTo>
                  <a:lnTo>
                    <a:pt x="125" y="1202"/>
                  </a:lnTo>
                  <a:lnTo>
                    <a:pt x="138" y="1208"/>
                  </a:lnTo>
                  <a:lnTo>
                    <a:pt x="153" y="1214"/>
                  </a:lnTo>
                  <a:lnTo>
                    <a:pt x="167" y="1219"/>
                  </a:lnTo>
                  <a:lnTo>
                    <a:pt x="183" y="1224"/>
                  </a:lnTo>
                  <a:lnTo>
                    <a:pt x="199" y="1227"/>
                  </a:lnTo>
                  <a:lnTo>
                    <a:pt x="216" y="1231"/>
                  </a:lnTo>
                  <a:lnTo>
                    <a:pt x="233" y="1233"/>
                  </a:lnTo>
                  <a:lnTo>
                    <a:pt x="252" y="1235"/>
                  </a:lnTo>
                  <a:lnTo>
                    <a:pt x="272" y="1235"/>
                  </a:lnTo>
                  <a:lnTo>
                    <a:pt x="292" y="1236"/>
                  </a:lnTo>
                  <a:lnTo>
                    <a:pt x="654" y="1236"/>
                  </a:lnTo>
                  <a:lnTo>
                    <a:pt x="674" y="1235"/>
                  </a:lnTo>
                  <a:lnTo>
                    <a:pt x="693" y="1234"/>
                  </a:lnTo>
                  <a:lnTo>
                    <a:pt x="711" y="1233"/>
                  </a:lnTo>
                  <a:lnTo>
                    <a:pt x="727" y="1231"/>
                  </a:lnTo>
                  <a:lnTo>
                    <a:pt x="742" y="1227"/>
                  </a:lnTo>
                  <a:lnTo>
                    <a:pt x="757" y="1223"/>
                  </a:lnTo>
                  <a:lnTo>
                    <a:pt x="770" y="1219"/>
                  </a:lnTo>
                  <a:lnTo>
                    <a:pt x="782" y="1213"/>
                  </a:lnTo>
                  <a:lnTo>
                    <a:pt x="793" y="1207"/>
                  </a:lnTo>
                  <a:lnTo>
                    <a:pt x="804" y="1200"/>
                  </a:lnTo>
                  <a:lnTo>
                    <a:pt x="814" y="1192"/>
                  </a:lnTo>
                  <a:lnTo>
                    <a:pt x="824" y="1185"/>
                  </a:lnTo>
                  <a:lnTo>
                    <a:pt x="833" y="1176"/>
                  </a:lnTo>
                  <a:lnTo>
                    <a:pt x="842" y="1166"/>
                  </a:lnTo>
                  <a:lnTo>
                    <a:pt x="849" y="1156"/>
                  </a:lnTo>
                  <a:lnTo>
                    <a:pt x="857" y="1144"/>
                  </a:lnTo>
                  <a:lnTo>
                    <a:pt x="865" y="1133"/>
                  </a:lnTo>
                  <a:lnTo>
                    <a:pt x="871" y="1120"/>
                  </a:lnTo>
                  <a:lnTo>
                    <a:pt x="878" y="1108"/>
                  </a:lnTo>
                  <a:lnTo>
                    <a:pt x="885" y="1093"/>
                  </a:lnTo>
                  <a:lnTo>
                    <a:pt x="890" y="1079"/>
                  </a:lnTo>
                  <a:lnTo>
                    <a:pt x="895" y="1065"/>
                  </a:lnTo>
                  <a:lnTo>
                    <a:pt x="899" y="1049"/>
                  </a:lnTo>
                  <a:lnTo>
                    <a:pt x="903" y="1033"/>
                  </a:lnTo>
                  <a:lnTo>
                    <a:pt x="907" y="1016"/>
                  </a:lnTo>
                  <a:lnTo>
                    <a:pt x="910" y="999"/>
                  </a:lnTo>
                  <a:lnTo>
                    <a:pt x="912" y="981"/>
                  </a:lnTo>
                  <a:lnTo>
                    <a:pt x="914" y="962"/>
                  </a:lnTo>
                  <a:lnTo>
                    <a:pt x="918" y="923"/>
                  </a:lnTo>
                  <a:lnTo>
                    <a:pt x="919" y="881"/>
                  </a:lnTo>
                  <a:lnTo>
                    <a:pt x="751" y="881"/>
                  </a:lnTo>
                  <a:lnTo>
                    <a:pt x="751" y="896"/>
                  </a:lnTo>
                  <a:lnTo>
                    <a:pt x="749" y="913"/>
                  </a:lnTo>
                  <a:lnTo>
                    <a:pt x="746" y="929"/>
                  </a:lnTo>
                  <a:lnTo>
                    <a:pt x="741" y="946"/>
                  </a:lnTo>
                  <a:lnTo>
                    <a:pt x="737" y="962"/>
                  </a:lnTo>
                  <a:lnTo>
                    <a:pt x="731" y="977"/>
                  </a:lnTo>
                  <a:lnTo>
                    <a:pt x="725" y="990"/>
                  </a:lnTo>
                  <a:lnTo>
                    <a:pt x="718" y="1001"/>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5" name="Rectangle 20">
              <a:extLst>
                <a:ext uri="{FF2B5EF4-FFF2-40B4-BE49-F238E27FC236}">
                  <a16:creationId xmlns="" xmlns:a16="http://schemas.microsoft.com/office/drawing/2014/main" id="{B79A7B0E-3D27-4C2A-AC5A-8851EE4B3D99}"/>
                </a:ext>
              </a:extLst>
            </p:cNvPr>
            <p:cNvSpPr>
              <a:spLocks noChangeArrowheads="1"/>
            </p:cNvSpPr>
            <p:nvPr userDrawn="1"/>
          </p:nvSpPr>
          <p:spPr bwMode="auto">
            <a:xfrm>
              <a:off x="4606" y="236"/>
              <a:ext cx="109" cy="22"/>
            </a:xfrm>
            <a:prstGeom prst="rect">
              <a:avLst/>
            </a:prstGeom>
            <a:solidFill>
              <a:srgbClr val="2B2A2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6" name="Freeform 21">
              <a:extLst>
                <a:ext uri="{FF2B5EF4-FFF2-40B4-BE49-F238E27FC236}">
                  <a16:creationId xmlns="" xmlns:a16="http://schemas.microsoft.com/office/drawing/2014/main" id="{0CE65E79-864E-4E01-AFA1-C67FCF58CC49}"/>
                </a:ext>
              </a:extLst>
            </p:cNvPr>
            <p:cNvSpPr>
              <a:spLocks noEditPoints="1"/>
            </p:cNvSpPr>
            <p:nvPr userDrawn="1"/>
          </p:nvSpPr>
          <p:spPr bwMode="auto">
            <a:xfrm>
              <a:off x="4965" y="116"/>
              <a:ext cx="207" cy="247"/>
            </a:xfrm>
            <a:custGeom>
              <a:avLst/>
              <a:gdLst>
                <a:gd name="T0" fmla="*/ 201 w 1036"/>
                <a:gd name="T1" fmla="*/ 813 h 1236"/>
                <a:gd name="T2" fmla="*/ 218 w 1036"/>
                <a:gd name="T3" fmla="*/ 936 h 1236"/>
                <a:gd name="T4" fmla="*/ 237 w 1036"/>
                <a:gd name="T5" fmla="*/ 1000 h 1236"/>
                <a:gd name="T6" fmla="*/ 270 w 1036"/>
                <a:gd name="T7" fmla="*/ 1033 h 1236"/>
                <a:gd name="T8" fmla="*/ 327 w 1036"/>
                <a:gd name="T9" fmla="*/ 1057 h 1236"/>
                <a:gd name="T10" fmla="*/ 404 w 1036"/>
                <a:gd name="T11" fmla="*/ 1072 h 1236"/>
                <a:gd name="T12" fmla="*/ 494 w 1036"/>
                <a:gd name="T13" fmla="*/ 1079 h 1236"/>
                <a:gd name="T14" fmla="*/ 585 w 1036"/>
                <a:gd name="T15" fmla="*/ 1077 h 1236"/>
                <a:gd name="T16" fmla="*/ 669 w 1036"/>
                <a:gd name="T17" fmla="*/ 1066 h 1236"/>
                <a:gd name="T18" fmla="*/ 737 w 1036"/>
                <a:gd name="T19" fmla="*/ 1046 h 1236"/>
                <a:gd name="T20" fmla="*/ 783 w 1036"/>
                <a:gd name="T21" fmla="*/ 1016 h 1236"/>
                <a:gd name="T22" fmla="*/ 807 w 1036"/>
                <a:gd name="T23" fmla="*/ 970 h 1236"/>
                <a:gd name="T24" fmla="*/ 824 w 1036"/>
                <a:gd name="T25" fmla="*/ 890 h 1236"/>
                <a:gd name="T26" fmla="*/ 838 w 1036"/>
                <a:gd name="T27" fmla="*/ 686 h 1236"/>
                <a:gd name="T28" fmla="*/ 832 w 1036"/>
                <a:gd name="T29" fmla="*/ 422 h 1236"/>
                <a:gd name="T30" fmla="*/ 814 w 1036"/>
                <a:gd name="T31" fmla="*/ 297 h 1236"/>
                <a:gd name="T32" fmla="*/ 792 w 1036"/>
                <a:gd name="T33" fmla="*/ 232 h 1236"/>
                <a:gd name="T34" fmla="*/ 760 w 1036"/>
                <a:gd name="T35" fmla="*/ 199 h 1236"/>
                <a:gd name="T36" fmla="*/ 703 w 1036"/>
                <a:gd name="T37" fmla="*/ 177 h 1236"/>
                <a:gd name="T38" fmla="*/ 627 w 1036"/>
                <a:gd name="T39" fmla="*/ 162 h 1236"/>
                <a:gd name="T40" fmla="*/ 470 w 1036"/>
                <a:gd name="T41" fmla="*/ 157 h 1236"/>
                <a:gd name="T42" fmla="*/ 365 w 1036"/>
                <a:gd name="T43" fmla="*/ 169 h 1236"/>
                <a:gd name="T44" fmla="*/ 296 w 1036"/>
                <a:gd name="T45" fmla="*/ 187 h 1236"/>
                <a:gd name="T46" fmla="*/ 252 w 1036"/>
                <a:gd name="T47" fmla="*/ 212 h 1236"/>
                <a:gd name="T48" fmla="*/ 228 w 1036"/>
                <a:gd name="T49" fmla="*/ 257 h 1236"/>
                <a:gd name="T50" fmla="*/ 211 w 1036"/>
                <a:gd name="T51" fmla="*/ 340 h 1236"/>
                <a:gd name="T52" fmla="*/ 196 w 1036"/>
                <a:gd name="T53" fmla="*/ 548 h 1236"/>
                <a:gd name="T54" fmla="*/ 1 w 1036"/>
                <a:gd name="T55" fmla="*/ 508 h 1236"/>
                <a:gd name="T56" fmla="*/ 14 w 1036"/>
                <a:gd name="T57" fmla="*/ 362 h 1236"/>
                <a:gd name="T58" fmla="*/ 41 w 1036"/>
                <a:gd name="T59" fmla="*/ 244 h 1236"/>
                <a:gd name="T60" fmla="*/ 80 w 1036"/>
                <a:gd name="T61" fmla="*/ 155 h 1236"/>
                <a:gd name="T62" fmla="*/ 134 w 1036"/>
                <a:gd name="T63" fmla="*/ 92 h 1236"/>
                <a:gd name="T64" fmla="*/ 211 w 1036"/>
                <a:gd name="T65" fmla="*/ 47 h 1236"/>
                <a:gd name="T66" fmla="*/ 315 w 1036"/>
                <a:gd name="T67" fmla="*/ 17 h 1236"/>
                <a:gd name="T68" fmla="*/ 443 w 1036"/>
                <a:gd name="T69" fmla="*/ 2 h 1236"/>
                <a:gd name="T70" fmla="*/ 589 w 1036"/>
                <a:gd name="T71" fmla="*/ 2 h 1236"/>
                <a:gd name="T72" fmla="*/ 717 w 1036"/>
                <a:gd name="T73" fmla="*/ 17 h 1236"/>
                <a:gd name="T74" fmla="*/ 821 w 1036"/>
                <a:gd name="T75" fmla="*/ 47 h 1236"/>
                <a:gd name="T76" fmla="*/ 899 w 1036"/>
                <a:gd name="T77" fmla="*/ 92 h 1236"/>
                <a:gd name="T78" fmla="*/ 954 w 1036"/>
                <a:gd name="T79" fmla="*/ 155 h 1236"/>
                <a:gd name="T80" fmla="*/ 994 w 1036"/>
                <a:gd name="T81" fmla="*/ 244 h 1236"/>
                <a:gd name="T82" fmla="*/ 1020 w 1036"/>
                <a:gd name="T83" fmla="*/ 362 h 1236"/>
                <a:gd name="T84" fmla="*/ 1034 w 1036"/>
                <a:gd name="T85" fmla="*/ 508 h 1236"/>
                <a:gd name="T86" fmla="*/ 1034 w 1036"/>
                <a:gd name="T87" fmla="*/ 686 h 1236"/>
                <a:gd name="T88" fmla="*/ 1020 w 1036"/>
                <a:gd name="T89" fmla="*/ 850 h 1236"/>
                <a:gd name="T90" fmla="*/ 995 w 1036"/>
                <a:gd name="T91" fmla="*/ 980 h 1236"/>
                <a:gd name="T92" fmla="*/ 955 w 1036"/>
                <a:gd name="T93" fmla="*/ 1077 h 1236"/>
                <a:gd name="T94" fmla="*/ 902 w 1036"/>
                <a:gd name="T95" fmla="*/ 1141 h 1236"/>
                <a:gd name="T96" fmla="*/ 824 w 1036"/>
                <a:gd name="T97" fmla="*/ 1187 h 1236"/>
                <a:gd name="T98" fmla="*/ 721 w 1036"/>
                <a:gd name="T99" fmla="*/ 1219 h 1236"/>
                <a:gd name="T100" fmla="*/ 591 w 1036"/>
                <a:gd name="T101" fmla="*/ 1234 h 1236"/>
                <a:gd name="T102" fmla="*/ 440 w 1036"/>
                <a:gd name="T103" fmla="*/ 1234 h 1236"/>
                <a:gd name="T104" fmla="*/ 305 w 1036"/>
                <a:gd name="T105" fmla="*/ 1219 h 1236"/>
                <a:gd name="T106" fmla="*/ 200 w 1036"/>
                <a:gd name="T107" fmla="*/ 1189 h 1236"/>
                <a:gd name="T108" fmla="*/ 123 w 1036"/>
                <a:gd name="T109" fmla="*/ 1144 h 1236"/>
                <a:gd name="T110" fmla="*/ 72 w 1036"/>
                <a:gd name="T111" fmla="*/ 1081 h 1236"/>
                <a:gd name="T112" fmla="*/ 37 w 1036"/>
                <a:gd name="T113" fmla="*/ 985 h 1236"/>
                <a:gd name="T114" fmla="*/ 13 w 1036"/>
                <a:gd name="T115" fmla="*/ 854 h 1236"/>
                <a:gd name="T116" fmla="*/ 1 w 1036"/>
                <a:gd name="T117" fmla="*/ 688 h 1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36" h="1236">
                  <a:moveTo>
                    <a:pt x="195" y="618"/>
                  </a:moveTo>
                  <a:lnTo>
                    <a:pt x="196" y="687"/>
                  </a:lnTo>
                  <a:lnTo>
                    <a:pt x="198" y="752"/>
                  </a:lnTo>
                  <a:lnTo>
                    <a:pt x="201" y="813"/>
                  </a:lnTo>
                  <a:lnTo>
                    <a:pt x="207" y="867"/>
                  </a:lnTo>
                  <a:lnTo>
                    <a:pt x="210" y="892"/>
                  </a:lnTo>
                  <a:lnTo>
                    <a:pt x="214" y="915"/>
                  </a:lnTo>
                  <a:lnTo>
                    <a:pt x="218" y="936"/>
                  </a:lnTo>
                  <a:lnTo>
                    <a:pt x="222" y="956"/>
                  </a:lnTo>
                  <a:lnTo>
                    <a:pt x="227" y="972"/>
                  </a:lnTo>
                  <a:lnTo>
                    <a:pt x="231" y="988"/>
                  </a:lnTo>
                  <a:lnTo>
                    <a:pt x="237" y="1000"/>
                  </a:lnTo>
                  <a:lnTo>
                    <a:pt x="242" y="1010"/>
                  </a:lnTo>
                  <a:lnTo>
                    <a:pt x="250" y="1018"/>
                  </a:lnTo>
                  <a:lnTo>
                    <a:pt x="259" y="1026"/>
                  </a:lnTo>
                  <a:lnTo>
                    <a:pt x="270" y="1033"/>
                  </a:lnTo>
                  <a:lnTo>
                    <a:pt x="282" y="1040"/>
                  </a:lnTo>
                  <a:lnTo>
                    <a:pt x="295" y="1046"/>
                  </a:lnTo>
                  <a:lnTo>
                    <a:pt x="311" y="1051"/>
                  </a:lnTo>
                  <a:lnTo>
                    <a:pt x="327" y="1057"/>
                  </a:lnTo>
                  <a:lnTo>
                    <a:pt x="345" y="1061"/>
                  </a:lnTo>
                  <a:lnTo>
                    <a:pt x="365" y="1066"/>
                  </a:lnTo>
                  <a:lnTo>
                    <a:pt x="384" y="1069"/>
                  </a:lnTo>
                  <a:lnTo>
                    <a:pt x="404" y="1072"/>
                  </a:lnTo>
                  <a:lnTo>
                    <a:pt x="426" y="1075"/>
                  </a:lnTo>
                  <a:lnTo>
                    <a:pt x="448" y="1077"/>
                  </a:lnTo>
                  <a:lnTo>
                    <a:pt x="470" y="1078"/>
                  </a:lnTo>
                  <a:lnTo>
                    <a:pt x="494" y="1079"/>
                  </a:lnTo>
                  <a:lnTo>
                    <a:pt x="517" y="1079"/>
                  </a:lnTo>
                  <a:lnTo>
                    <a:pt x="540" y="1079"/>
                  </a:lnTo>
                  <a:lnTo>
                    <a:pt x="562" y="1078"/>
                  </a:lnTo>
                  <a:lnTo>
                    <a:pt x="585" y="1077"/>
                  </a:lnTo>
                  <a:lnTo>
                    <a:pt x="607" y="1075"/>
                  </a:lnTo>
                  <a:lnTo>
                    <a:pt x="628" y="1072"/>
                  </a:lnTo>
                  <a:lnTo>
                    <a:pt x="649" y="1069"/>
                  </a:lnTo>
                  <a:lnTo>
                    <a:pt x="669" y="1066"/>
                  </a:lnTo>
                  <a:lnTo>
                    <a:pt x="687" y="1061"/>
                  </a:lnTo>
                  <a:lnTo>
                    <a:pt x="705" y="1057"/>
                  </a:lnTo>
                  <a:lnTo>
                    <a:pt x="722" y="1051"/>
                  </a:lnTo>
                  <a:lnTo>
                    <a:pt x="737" y="1046"/>
                  </a:lnTo>
                  <a:lnTo>
                    <a:pt x="750" y="1039"/>
                  </a:lnTo>
                  <a:lnTo>
                    <a:pt x="764" y="1032"/>
                  </a:lnTo>
                  <a:lnTo>
                    <a:pt x="773" y="1025"/>
                  </a:lnTo>
                  <a:lnTo>
                    <a:pt x="783" y="1016"/>
                  </a:lnTo>
                  <a:lnTo>
                    <a:pt x="790" y="1007"/>
                  </a:lnTo>
                  <a:lnTo>
                    <a:pt x="797" y="998"/>
                  </a:lnTo>
                  <a:lnTo>
                    <a:pt x="802" y="985"/>
                  </a:lnTo>
                  <a:lnTo>
                    <a:pt x="807" y="970"/>
                  </a:lnTo>
                  <a:lnTo>
                    <a:pt x="812" y="954"/>
                  </a:lnTo>
                  <a:lnTo>
                    <a:pt x="816" y="934"/>
                  </a:lnTo>
                  <a:lnTo>
                    <a:pt x="820" y="913"/>
                  </a:lnTo>
                  <a:lnTo>
                    <a:pt x="824" y="890"/>
                  </a:lnTo>
                  <a:lnTo>
                    <a:pt x="827" y="864"/>
                  </a:lnTo>
                  <a:lnTo>
                    <a:pt x="833" y="810"/>
                  </a:lnTo>
                  <a:lnTo>
                    <a:pt x="836" y="751"/>
                  </a:lnTo>
                  <a:lnTo>
                    <a:pt x="838" y="686"/>
                  </a:lnTo>
                  <a:lnTo>
                    <a:pt x="840" y="618"/>
                  </a:lnTo>
                  <a:lnTo>
                    <a:pt x="838" y="549"/>
                  </a:lnTo>
                  <a:lnTo>
                    <a:pt x="836" y="483"/>
                  </a:lnTo>
                  <a:lnTo>
                    <a:pt x="832" y="422"/>
                  </a:lnTo>
                  <a:lnTo>
                    <a:pt x="826" y="367"/>
                  </a:lnTo>
                  <a:lnTo>
                    <a:pt x="823" y="342"/>
                  </a:lnTo>
                  <a:lnTo>
                    <a:pt x="819" y="318"/>
                  </a:lnTo>
                  <a:lnTo>
                    <a:pt x="814" y="297"/>
                  </a:lnTo>
                  <a:lnTo>
                    <a:pt x="810" y="277"/>
                  </a:lnTo>
                  <a:lnTo>
                    <a:pt x="804" y="259"/>
                  </a:lnTo>
                  <a:lnTo>
                    <a:pt x="799" y="244"/>
                  </a:lnTo>
                  <a:lnTo>
                    <a:pt x="792" y="232"/>
                  </a:lnTo>
                  <a:lnTo>
                    <a:pt x="786" y="221"/>
                  </a:lnTo>
                  <a:lnTo>
                    <a:pt x="779" y="213"/>
                  </a:lnTo>
                  <a:lnTo>
                    <a:pt x="770" y="206"/>
                  </a:lnTo>
                  <a:lnTo>
                    <a:pt x="760" y="199"/>
                  </a:lnTo>
                  <a:lnTo>
                    <a:pt x="748" y="193"/>
                  </a:lnTo>
                  <a:lnTo>
                    <a:pt x="734" y="187"/>
                  </a:lnTo>
                  <a:lnTo>
                    <a:pt x="719" y="182"/>
                  </a:lnTo>
                  <a:lnTo>
                    <a:pt x="703" y="177"/>
                  </a:lnTo>
                  <a:lnTo>
                    <a:pt x="685" y="172"/>
                  </a:lnTo>
                  <a:lnTo>
                    <a:pt x="667" y="169"/>
                  </a:lnTo>
                  <a:lnTo>
                    <a:pt x="647" y="166"/>
                  </a:lnTo>
                  <a:lnTo>
                    <a:pt x="627" y="162"/>
                  </a:lnTo>
                  <a:lnTo>
                    <a:pt x="606" y="160"/>
                  </a:lnTo>
                  <a:lnTo>
                    <a:pt x="562" y="157"/>
                  </a:lnTo>
                  <a:lnTo>
                    <a:pt x="517" y="157"/>
                  </a:lnTo>
                  <a:lnTo>
                    <a:pt x="470" y="157"/>
                  </a:lnTo>
                  <a:lnTo>
                    <a:pt x="426" y="160"/>
                  </a:lnTo>
                  <a:lnTo>
                    <a:pt x="405" y="162"/>
                  </a:lnTo>
                  <a:lnTo>
                    <a:pt x="384" y="166"/>
                  </a:lnTo>
                  <a:lnTo>
                    <a:pt x="365" y="169"/>
                  </a:lnTo>
                  <a:lnTo>
                    <a:pt x="346" y="172"/>
                  </a:lnTo>
                  <a:lnTo>
                    <a:pt x="328" y="177"/>
                  </a:lnTo>
                  <a:lnTo>
                    <a:pt x="312" y="181"/>
                  </a:lnTo>
                  <a:lnTo>
                    <a:pt x="296" y="187"/>
                  </a:lnTo>
                  <a:lnTo>
                    <a:pt x="283" y="192"/>
                  </a:lnTo>
                  <a:lnTo>
                    <a:pt x="271" y="198"/>
                  </a:lnTo>
                  <a:lnTo>
                    <a:pt x="261" y="204"/>
                  </a:lnTo>
                  <a:lnTo>
                    <a:pt x="252" y="212"/>
                  </a:lnTo>
                  <a:lnTo>
                    <a:pt x="246" y="220"/>
                  </a:lnTo>
                  <a:lnTo>
                    <a:pt x="239" y="230"/>
                  </a:lnTo>
                  <a:lnTo>
                    <a:pt x="233" y="243"/>
                  </a:lnTo>
                  <a:lnTo>
                    <a:pt x="228" y="257"/>
                  </a:lnTo>
                  <a:lnTo>
                    <a:pt x="223" y="275"/>
                  </a:lnTo>
                  <a:lnTo>
                    <a:pt x="219" y="294"/>
                  </a:lnTo>
                  <a:lnTo>
                    <a:pt x="215" y="315"/>
                  </a:lnTo>
                  <a:lnTo>
                    <a:pt x="211" y="340"/>
                  </a:lnTo>
                  <a:lnTo>
                    <a:pt x="208" y="365"/>
                  </a:lnTo>
                  <a:lnTo>
                    <a:pt x="203" y="420"/>
                  </a:lnTo>
                  <a:lnTo>
                    <a:pt x="198" y="481"/>
                  </a:lnTo>
                  <a:lnTo>
                    <a:pt x="196" y="548"/>
                  </a:lnTo>
                  <a:lnTo>
                    <a:pt x="195" y="618"/>
                  </a:lnTo>
                  <a:close/>
                  <a:moveTo>
                    <a:pt x="0" y="592"/>
                  </a:moveTo>
                  <a:lnTo>
                    <a:pt x="0" y="549"/>
                  </a:lnTo>
                  <a:lnTo>
                    <a:pt x="1" y="508"/>
                  </a:lnTo>
                  <a:lnTo>
                    <a:pt x="3" y="468"/>
                  </a:lnTo>
                  <a:lnTo>
                    <a:pt x="6" y="431"/>
                  </a:lnTo>
                  <a:lnTo>
                    <a:pt x="10" y="396"/>
                  </a:lnTo>
                  <a:lnTo>
                    <a:pt x="14" y="362"/>
                  </a:lnTo>
                  <a:lnTo>
                    <a:pt x="20" y="330"/>
                  </a:lnTo>
                  <a:lnTo>
                    <a:pt x="25" y="299"/>
                  </a:lnTo>
                  <a:lnTo>
                    <a:pt x="33" y="270"/>
                  </a:lnTo>
                  <a:lnTo>
                    <a:pt x="41" y="244"/>
                  </a:lnTo>
                  <a:lnTo>
                    <a:pt x="49" y="219"/>
                  </a:lnTo>
                  <a:lnTo>
                    <a:pt x="58" y="195"/>
                  </a:lnTo>
                  <a:lnTo>
                    <a:pt x="69" y="175"/>
                  </a:lnTo>
                  <a:lnTo>
                    <a:pt x="80" y="155"/>
                  </a:lnTo>
                  <a:lnTo>
                    <a:pt x="91" y="137"/>
                  </a:lnTo>
                  <a:lnTo>
                    <a:pt x="104" y="121"/>
                  </a:lnTo>
                  <a:lnTo>
                    <a:pt x="119" y="106"/>
                  </a:lnTo>
                  <a:lnTo>
                    <a:pt x="134" y="92"/>
                  </a:lnTo>
                  <a:lnTo>
                    <a:pt x="151" y="80"/>
                  </a:lnTo>
                  <a:lnTo>
                    <a:pt x="169" y="68"/>
                  </a:lnTo>
                  <a:lnTo>
                    <a:pt x="189" y="57"/>
                  </a:lnTo>
                  <a:lnTo>
                    <a:pt x="211" y="47"/>
                  </a:lnTo>
                  <a:lnTo>
                    <a:pt x="234" y="38"/>
                  </a:lnTo>
                  <a:lnTo>
                    <a:pt x="260" y="30"/>
                  </a:lnTo>
                  <a:lnTo>
                    <a:pt x="286" y="23"/>
                  </a:lnTo>
                  <a:lnTo>
                    <a:pt x="315" y="17"/>
                  </a:lnTo>
                  <a:lnTo>
                    <a:pt x="345" y="12"/>
                  </a:lnTo>
                  <a:lnTo>
                    <a:pt x="376" y="7"/>
                  </a:lnTo>
                  <a:lnTo>
                    <a:pt x="409" y="4"/>
                  </a:lnTo>
                  <a:lnTo>
                    <a:pt x="443" y="2"/>
                  </a:lnTo>
                  <a:lnTo>
                    <a:pt x="479" y="0"/>
                  </a:lnTo>
                  <a:lnTo>
                    <a:pt x="517" y="0"/>
                  </a:lnTo>
                  <a:lnTo>
                    <a:pt x="554" y="0"/>
                  </a:lnTo>
                  <a:lnTo>
                    <a:pt x="589" y="2"/>
                  </a:lnTo>
                  <a:lnTo>
                    <a:pt x="625" y="4"/>
                  </a:lnTo>
                  <a:lnTo>
                    <a:pt x="657" y="7"/>
                  </a:lnTo>
                  <a:lnTo>
                    <a:pt x="689" y="12"/>
                  </a:lnTo>
                  <a:lnTo>
                    <a:pt x="717" y="17"/>
                  </a:lnTo>
                  <a:lnTo>
                    <a:pt x="746" y="23"/>
                  </a:lnTo>
                  <a:lnTo>
                    <a:pt x="772" y="30"/>
                  </a:lnTo>
                  <a:lnTo>
                    <a:pt x="798" y="38"/>
                  </a:lnTo>
                  <a:lnTo>
                    <a:pt x="821" y="47"/>
                  </a:lnTo>
                  <a:lnTo>
                    <a:pt x="843" y="57"/>
                  </a:lnTo>
                  <a:lnTo>
                    <a:pt x="863" y="68"/>
                  </a:lnTo>
                  <a:lnTo>
                    <a:pt x="881" y="80"/>
                  </a:lnTo>
                  <a:lnTo>
                    <a:pt x="899" y="92"/>
                  </a:lnTo>
                  <a:lnTo>
                    <a:pt x="915" y="106"/>
                  </a:lnTo>
                  <a:lnTo>
                    <a:pt x="929" y="121"/>
                  </a:lnTo>
                  <a:lnTo>
                    <a:pt x="942" y="137"/>
                  </a:lnTo>
                  <a:lnTo>
                    <a:pt x="954" y="155"/>
                  </a:lnTo>
                  <a:lnTo>
                    <a:pt x="965" y="175"/>
                  </a:lnTo>
                  <a:lnTo>
                    <a:pt x="975" y="195"/>
                  </a:lnTo>
                  <a:lnTo>
                    <a:pt x="985" y="219"/>
                  </a:lnTo>
                  <a:lnTo>
                    <a:pt x="994" y="244"/>
                  </a:lnTo>
                  <a:lnTo>
                    <a:pt x="1002" y="270"/>
                  </a:lnTo>
                  <a:lnTo>
                    <a:pt x="1009" y="299"/>
                  </a:lnTo>
                  <a:lnTo>
                    <a:pt x="1015" y="330"/>
                  </a:lnTo>
                  <a:lnTo>
                    <a:pt x="1020" y="362"/>
                  </a:lnTo>
                  <a:lnTo>
                    <a:pt x="1025" y="396"/>
                  </a:lnTo>
                  <a:lnTo>
                    <a:pt x="1029" y="431"/>
                  </a:lnTo>
                  <a:lnTo>
                    <a:pt x="1031" y="468"/>
                  </a:lnTo>
                  <a:lnTo>
                    <a:pt x="1034" y="508"/>
                  </a:lnTo>
                  <a:lnTo>
                    <a:pt x="1035" y="549"/>
                  </a:lnTo>
                  <a:lnTo>
                    <a:pt x="1036" y="592"/>
                  </a:lnTo>
                  <a:lnTo>
                    <a:pt x="1035" y="640"/>
                  </a:lnTo>
                  <a:lnTo>
                    <a:pt x="1034" y="686"/>
                  </a:lnTo>
                  <a:lnTo>
                    <a:pt x="1031" y="730"/>
                  </a:lnTo>
                  <a:lnTo>
                    <a:pt x="1029" y="773"/>
                  </a:lnTo>
                  <a:lnTo>
                    <a:pt x="1026" y="813"/>
                  </a:lnTo>
                  <a:lnTo>
                    <a:pt x="1020" y="850"/>
                  </a:lnTo>
                  <a:lnTo>
                    <a:pt x="1016" y="886"/>
                  </a:lnTo>
                  <a:lnTo>
                    <a:pt x="1009" y="919"/>
                  </a:lnTo>
                  <a:lnTo>
                    <a:pt x="1003" y="951"/>
                  </a:lnTo>
                  <a:lnTo>
                    <a:pt x="995" y="980"/>
                  </a:lnTo>
                  <a:lnTo>
                    <a:pt x="986" y="1007"/>
                  </a:lnTo>
                  <a:lnTo>
                    <a:pt x="977" y="1033"/>
                  </a:lnTo>
                  <a:lnTo>
                    <a:pt x="966" y="1056"/>
                  </a:lnTo>
                  <a:lnTo>
                    <a:pt x="955" y="1077"/>
                  </a:lnTo>
                  <a:lnTo>
                    <a:pt x="944" y="1095"/>
                  </a:lnTo>
                  <a:lnTo>
                    <a:pt x="931" y="1112"/>
                  </a:lnTo>
                  <a:lnTo>
                    <a:pt x="918" y="1126"/>
                  </a:lnTo>
                  <a:lnTo>
                    <a:pt x="902" y="1141"/>
                  </a:lnTo>
                  <a:lnTo>
                    <a:pt x="885" y="1154"/>
                  </a:lnTo>
                  <a:lnTo>
                    <a:pt x="866" y="1166"/>
                  </a:lnTo>
                  <a:lnTo>
                    <a:pt x="846" y="1177"/>
                  </a:lnTo>
                  <a:lnTo>
                    <a:pt x="824" y="1187"/>
                  </a:lnTo>
                  <a:lnTo>
                    <a:pt x="801" y="1197"/>
                  </a:lnTo>
                  <a:lnTo>
                    <a:pt x="776" y="1204"/>
                  </a:lnTo>
                  <a:lnTo>
                    <a:pt x="749" y="1212"/>
                  </a:lnTo>
                  <a:lnTo>
                    <a:pt x="721" y="1219"/>
                  </a:lnTo>
                  <a:lnTo>
                    <a:pt x="691" y="1224"/>
                  </a:lnTo>
                  <a:lnTo>
                    <a:pt x="659" y="1229"/>
                  </a:lnTo>
                  <a:lnTo>
                    <a:pt x="626" y="1232"/>
                  </a:lnTo>
                  <a:lnTo>
                    <a:pt x="591" y="1234"/>
                  </a:lnTo>
                  <a:lnTo>
                    <a:pt x="554" y="1235"/>
                  </a:lnTo>
                  <a:lnTo>
                    <a:pt x="517" y="1236"/>
                  </a:lnTo>
                  <a:lnTo>
                    <a:pt x="477" y="1235"/>
                  </a:lnTo>
                  <a:lnTo>
                    <a:pt x="440" y="1234"/>
                  </a:lnTo>
                  <a:lnTo>
                    <a:pt x="403" y="1232"/>
                  </a:lnTo>
                  <a:lnTo>
                    <a:pt x="369" y="1229"/>
                  </a:lnTo>
                  <a:lnTo>
                    <a:pt x="336" y="1224"/>
                  </a:lnTo>
                  <a:lnTo>
                    <a:pt x="305" y="1219"/>
                  </a:lnTo>
                  <a:lnTo>
                    <a:pt x="276" y="1213"/>
                  </a:lnTo>
                  <a:lnTo>
                    <a:pt x="249" y="1205"/>
                  </a:lnTo>
                  <a:lnTo>
                    <a:pt x="223" y="1198"/>
                  </a:lnTo>
                  <a:lnTo>
                    <a:pt x="200" y="1189"/>
                  </a:lnTo>
                  <a:lnTo>
                    <a:pt x="178" y="1179"/>
                  </a:lnTo>
                  <a:lnTo>
                    <a:pt x="158" y="1168"/>
                  </a:lnTo>
                  <a:lnTo>
                    <a:pt x="140" y="1156"/>
                  </a:lnTo>
                  <a:lnTo>
                    <a:pt x="123" y="1144"/>
                  </a:lnTo>
                  <a:lnTo>
                    <a:pt x="109" y="1131"/>
                  </a:lnTo>
                  <a:lnTo>
                    <a:pt x="96" y="1115"/>
                  </a:lnTo>
                  <a:lnTo>
                    <a:pt x="83" y="1100"/>
                  </a:lnTo>
                  <a:lnTo>
                    <a:pt x="72" y="1081"/>
                  </a:lnTo>
                  <a:lnTo>
                    <a:pt x="63" y="1060"/>
                  </a:lnTo>
                  <a:lnTo>
                    <a:pt x="54" y="1038"/>
                  </a:lnTo>
                  <a:lnTo>
                    <a:pt x="45" y="1013"/>
                  </a:lnTo>
                  <a:lnTo>
                    <a:pt x="37" y="985"/>
                  </a:lnTo>
                  <a:lnTo>
                    <a:pt x="29" y="956"/>
                  </a:lnTo>
                  <a:lnTo>
                    <a:pt x="23" y="925"/>
                  </a:lnTo>
                  <a:lnTo>
                    <a:pt x="17" y="891"/>
                  </a:lnTo>
                  <a:lnTo>
                    <a:pt x="13" y="854"/>
                  </a:lnTo>
                  <a:lnTo>
                    <a:pt x="9" y="816"/>
                  </a:lnTo>
                  <a:lnTo>
                    <a:pt x="5" y="776"/>
                  </a:lnTo>
                  <a:lnTo>
                    <a:pt x="3" y="733"/>
                  </a:lnTo>
                  <a:lnTo>
                    <a:pt x="1" y="688"/>
                  </a:lnTo>
                  <a:lnTo>
                    <a:pt x="0" y="641"/>
                  </a:lnTo>
                  <a:lnTo>
                    <a:pt x="0" y="592"/>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37" name="Freeform 22">
              <a:extLst>
                <a:ext uri="{FF2B5EF4-FFF2-40B4-BE49-F238E27FC236}">
                  <a16:creationId xmlns="" xmlns:a16="http://schemas.microsoft.com/office/drawing/2014/main" id="{DE7AAE50-29DB-40F2-B1FE-0437D97FDB25}"/>
                </a:ext>
              </a:extLst>
            </p:cNvPr>
            <p:cNvSpPr>
              <a:spLocks noEditPoints="1"/>
            </p:cNvSpPr>
            <p:nvPr userDrawn="1"/>
          </p:nvSpPr>
          <p:spPr bwMode="auto">
            <a:xfrm>
              <a:off x="5184" y="118"/>
              <a:ext cx="251" cy="243"/>
            </a:xfrm>
            <a:custGeom>
              <a:avLst/>
              <a:gdLst>
                <a:gd name="T0" fmla="*/ 877 w 1256"/>
                <a:gd name="T1" fmla="*/ 924 h 1218"/>
                <a:gd name="T2" fmla="*/ 949 w 1256"/>
                <a:gd name="T3" fmla="*/ 913 h 1218"/>
                <a:gd name="T4" fmla="*/ 1000 w 1256"/>
                <a:gd name="T5" fmla="*/ 894 h 1218"/>
                <a:gd name="T6" fmla="*/ 1037 w 1256"/>
                <a:gd name="T7" fmla="*/ 867 h 1218"/>
                <a:gd name="T8" fmla="*/ 1060 w 1256"/>
                <a:gd name="T9" fmla="*/ 829 h 1218"/>
                <a:gd name="T10" fmla="*/ 1083 w 1256"/>
                <a:gd name="T11" fmla="*/ 717 h 1218"/>
                <a:gd name="T12" fmla="*/ 1088 w 1256"/>
                <a:gd name="T13" fmla="*/ 563 h 1218"/>
                <a:gd name="T14" fmla="*/ 1072 w 1256"/>
                <a:gd name="T15" fmla="*/ 415 h 1218"/>
                <a:gd name="T16" fmla="*/ 1050 w 1256"/>
                <a:gd name="T17" fmla="*/ 349 h 1218"/>
                <a:gd name="T18" fmla="*/ 1021 w 1256"/>
                <a:gd name="T19" fmla="*/ 318 h 1218"/>
                <a:gd name="T20" fmla="*/ 976 w 1256"/>
                <a:gd name="T21" fmla="*/ 295 h 1218"/>
                <a:gd name="T22" fmla="*/ 921 w 1256"/>
                <a:gd name="T23" fmla="*/ 280 h 1218"/>
                <a:gd name="T24" fmla="*/ 712 w 1256"/>
                <a:gd name="T25" fmla="*/ 274 h 1218"/>
                <a:gd name="T26" fmla="*/ 379 w 1256"/>
                <a:gd name="T27" fmla="*/ 275 h 1218"/>
                <a:gd name="T28" fmla="*/ 309 w 1256"/>
                <a:gd name="T29" fmla="*/ 286 h 1218"/>
                <a:gd name="T30" fmla="*/ 258 w 1256"/>
                <a:gd name="T31" fmla="*/ 305 h 1218"/>
                <a:gd name="T32" fmla="*/ 221 w 1256"/>
                <a:gd name="T33" fmla="*/ 333 h 1218"/>
                <a:gd name="T34" fmla="*/ 199 w 1256"/>
                <a:gd name="T35" fmla="*/ 372 h 1218"/>
                <a:gd name="T36" fmla="*/ 182 w 1256"/>
                <a:gd name="T37" fmla="*/ 432 h 1218"/>
                <a:gd name="T38" fmla="*/ 169 w 1256"/>
                <a:gd name="T39" fmla="*/ 563 h 1218"/>
                <a:gd name="T40" fmla="*/ 174 w 1256"/>
                <a:gd name="T41" fmla="*/ 717 h 1218"/>
                <a:gd name="T42" fmla="*/ 190 w 1256"/>
                <a:gd name="T43" fmla="*/ 801 h 1218"/>
                <a:gd name="T44" fmla="*/ 209 w 1256"/>
                <a:gd name="T45" fmla="*/ 851 h 1218"/>
                <a:gd name="T46" fmla="*/ 237 w 1256"/>
                <a:gd name="T47" fmla="*/ 882 h 1218"/>
                <a:gd name="T48" fmla="*/ 282 w 1256"/>
                <a:gd name="T49" fmla="*/ 904 h 1218"/>
                <a:gd name="T50" fmla="*/ 381 w 1256"/>
                <a:gd name="T51" fmla="*/ 924 h 1218"/>
                <a:gd name="T52" fmla="*/ 712 w 1256"/>
                <a:gd name="T53" fmla="*/ 0 h 1218"/>
                <a:gd name="T54" fmla="*/ 894 w 1256"/>
                <a:gd name="T55" fmla="*/ 118 h 1218"/>
                <a:gd name="T56" fmla="*/ 988 w 1256"/>
                <a:gd name="T57" fmla="*/ 132 h 1218"/>
                <a:gd name="T58" fmla="*/ 1066 w 1256"/>
                <a:gd name="T59" fmla="*/ 161 h 1218"/>
                <a:gd name="T60" fmla="*/ 1131 w 1256"/>
                <a:gd name="T61" fmla="*/ 205 h 1218"/>
                <a:gd name="T62" fmla="*/ 1181 w 1256"/>
                <a:gd name="T63" fmla="*/ 263 h 1218"/>
                <a:gd name="T64" fmla="*/ 1217 w 1256"/>
                <a:gd name="T65" fmla="*/ 338 h 1218"/>
                <a:gd name="T66" fmla="*/ 1242 w 1256"/>
                <a:gd name="T67" fmla="*/ 431 h 1218"/>
                <a:gd name="T68" fmla="*/ 1255 w 1256"/>
                <a:gd name="T69" fmla="*/ 541 h 1218"/>
                <a:gd name="T70" fmla="*/ 1255 w 1256"/>
                <a:gd name="T71" fmla="*/ 663 h 1218"/>
                <a:gd name="T72" fmla="*/ 1242 w 1256"/>
                <a:gd name="T73" fmla="*/ 772 h 1218"/>
                <a:gd name="T74" fmla="*/ 1217 w 1256"/>
                <a:gd name="T75" fmla="*/ 864 h 1218"/>
                <a:gd name="T76" fmla="*/ 1181 w 1256"/>
                <a:gd name="T77" fmla="*/ 938 h 1218"/>
                <a:gd name="T78" fmla="*/ 1131 w 1256"/>
                <a:gd name="T79" fmla="*/ 995 h 1218"/>
                <a:gd name="T80" fmla="*/ 1067 w 1256"/>
                <a:gd name="T81" fmla="*/ 1038 h 1218"/>
                <a:gd name="T82" fmla="*/ 988 w 1256"/>
                <a:gd name="T83" fmla="*/ 1067 h 1218"/>
                <a:gd name="T84" fmla="*/ 894 w 1256"/>
                <a:gd name="T85" fmla="*/ 1081 h 1218"/>
                <a:gd name="T86" fmla="*/ 712 w 1256"/>
                <a:gd name="T87" fmla="*/ 1218 h 1218"/>
                <a:gd name="T88" fmla="*/ 388 w 1256"/>
                <a:gd name="T89" fmla="*/ 1082 h 1218"/>
                <a:gd name="T90" fmla="*/ 292 w 1256"/>
                <a:gd name="T91" fmla="*/ 1071 h 1218"/>
                <a:gd name="T92" fmla="*/ 210 w 1256"/>
                <a:gd name="T93" fmla="*/ 1047 h 1218"/>
                <a:gd name="T94" fmla="*/ 142 w 1256"/>
                <a:gd name="T95" fmla="*/ 1007 h 1218"/>
                <a:gd name="T96" fmla="*/ 88 w 1256"/>
                <a:gd name="T97" fmla="*/ 953 h 1218"/>
                <a:gd name="T98" fmla="*/ 48 w 1256"/>
                <a:gd name="T99" fmla="*/ 883 h 1218"/>
                <a:gd name="T100" fmla="*/ 20 w 1256"/>
                <a:gd name="T101" fmla="*/ 796 h 1218"/>
                <a:gd name="T102" fmla="*/ 4 w 1256"/>
                <a:gd name="T103" fmla="*/ 691 h 1218"/>
                <a:gd name="T104" fmla="*/ 0 w 1256"/>
                <a:gd name="T105" fmla="*/ 570 h 1218"/>
                <a:gd name="T106" fmla="*/ 10 w 1256"/>
                <a:gd name="T107" fmla="*/ 457 h 1218"/>
                <a:gd name="T108" fmla="*/ 33 w 1256"/>
                <a:gd name="T109" fmla="*/ 360 h 1218"/>
                <a:gd name="T110" fmla="*/ 69 w 1256"/>
                <a:gd name="T111" fmla="*/ 281 h 1218"/>
                <a:gd name="T112" fmla="*/ 117 w 1256"/>
                <a:gd name="T113" fmla="*/ 218 h 1218"/>
                <a:gd name="T114" fmla="*/ 180 w 1256"/>
                <a:gd name="T115" fmla="*/ 171 h 1218"/>
                <a:gd name="T116" fmla="*/ 256 w 1256"/>
                <a:gd name="T117" fmla="*/ 138 h 1218"/>
                <a:gd name="T118" fmla="*/ 347 w 1256"/>
                <a:gd name="T119" fmla="*/ 120 h 1218"/>
                <a:gd name="T120" fmla="*/ 545 w 1256"/>
                <a:gd name="T121" fmla="*/ 116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6" h="1218">
                  <a:moveTo>
                    <a:pt x="712" y="274"/>
                  </a:moveTo>
                  <a:lnTo>
                    <a:pt x="712" y="925"/>
                  </a:lnTo>
                  <a:lnTo>
                    <a:pt x="849" y="925"/>
                  </a:lnTo>
                  <a:lnTo>
                    <a:pt x="877" y="924"/>
                  </a:lnTo>
                  <a:lnTo>
                    <a:pt x="906" y="920"/>
                  </a:lnTo>
                  <a:lnTo>
                    <a:pt x="921" y="918"/>
                  </a:lnTo>
                  <a:lnTo>
                    <a:pt x="935" y="916"/>
                  </a:lnTo>
                  <a:lnTo>
                    <a:pt x="949" y="913"/>
                  </a:lnTo>
                  <a:lnTo>
                    <a:pt x="963" y="908"/>
                  </a:lnTo>
                  <a:lnTo>
                    <a:pt x="976" y="904"/>
                  </a:lnTo>
                  <a:lnTo>
                    <a:pt x="988" y="899"/>
                  </a:lnTo>
                  <a:lnTo>
                    <a:pt x="1000" y="894"/>
                  </a:lnTo>
                  <a:lnTo>
                    <a:pt x="1011" y="888"/>
                  </a:lnTo>
                  <a:lnTo>
                    <a:pt x="1021" y="882"/>
                  </a:lnTo>
                  <a:lnTo>
                    <a:pt x="1030" y="875"/>
                  </a:lnTo>
                  <a:lnTo>
                    <a:pt x="1037" y="867"/>
                  </a:lnTo>
                  <a:lnTo>
                    <a:pt x="1044" y="860"/>
                  </a:lnTo>
                  <a:lnTo>
                    <a:pt x="1050" y="851"/>
                  </a:lnTo>
                  <a:lnTo>
                    <a:pt x="1054" y="840"/>
                  </a:lnTo>
                  <a:lnTo>
                    <a:pt x="1060" y="829"/>
                  </a:lnTo>
                  <a:lnTo>
                    <a:pt x="1064" y="816"/>
                  </a:lnTo>
                  <a:lnTo>
                    <a:pt x="1072" y="786"/>
                  </a:lnTo>
                  <a:lnTo>
                    <a:pt x="1077" y="753"/>
                  </a:lnTo>
                  <a:lnTo>
                    <a:pt x="1083" y="717"/>
                  </a:lnTo>
                  <a:lnTo>
                    <a:pt x="1086" y="679"/>
                  </a:lnTo>
                  <a:lnTo>
                    <a:pt x="1088" y="641"/>
                  </a:lnTo>
                  <a:lnTo>
                    <a:pt x="1088" y="602"/>
                  </a:lnTo>
                  <a:lnTo>
                    <a:pt x="1088" y="563"/>
                  </a:lnTo>
                  <a:lnTo>
                    <a:pt x="1086" y="524"/>
                  </a:lnTo>
                  <a:lnTo>
                    <a:pt x="1083" y="486"/>
                  </a:lnTo>
                  <a:lnTo>
                    <a:pt x="1077" y="449"/>
                  </a:lnTo>
                  <a:lnTo>
                    <a:pt x="1072" y="415"/>
                  </a:lnTo>
                  <a:lnTo>
                    <a:pt x="1064" y="385"/>
                  </a:lnTo>
                  <a:lnTo>
                    <a:pt x="1060" y="372"/>
                  </a:lnTo>
                  <a:lnTo>
                    <a:pt x="1054" y="360"/>
                  </a:lnTo>
                  <a:lnTo>
                    <a:pt x="1050" y="349"/>
                  </a:lnTo>
                  <a:lnTo>
                    <a:pt x="1044" y="340"/>
                  </a:lnTo>
                  <a:lnTo>
                    <a:pt x="1037" y="333"/>
                  </a:lnTo>
                  <a:lnTo>
                    <a:pt x="1030" y="325"/>
                  </a:lnTo>
                  <a:lnTo>
                    <a:pt x="1021" y="318"/>
                  </a:lnTo>
                  <a:lnTo>
                    <a:pt x="1011" y="312"/>
                  </a:lnTo>
                  <a:lnTo>
                    <a:pt x="1000" y="305"/>
                  </a:lnTo>
                  <a:lnTo>
                    <a:pt x="988" y="300"/>
                  </a:lnTo>
                  <a:lnTo>
                    <a:pt x="976" y="295"/>
                  </a:lnTo>
                  <a:lnTo>
                    <a:pt x="963" y="291"/>
                  </a:lnTo>
                  <a:lnTo>
                    <a:pt x="949" y="286"/>
                  </a:lnTo>
                  <a:lnTo>
                    <a:pt x="935" y="283"/>
                  </a:lnTo>
                  <a:lnTo>
                    <a:pt x="921" y="280"/>
                  </a:lnTo>
                  <a:lnTo>
                    <a:pt x="906" y="278"/>
                  </a:lnTo>
                  <a:lnTo>
                    <a:pt x="877" y="275"/>
                  </a:lnTo>
                  <a:lnTo>
                    <a:pt x="849" y="274"/>
                  </a:lnTo>
                  <a:lnTo>
                    <a:pt x="712" y="274"/>
                  </a:lnTo>
                  <a:close/>
                  <a:moveTo>
                    <a:pt x="545" y="925"/>
                  </a:moveTo>
                  <a:lnTo>
                    <a:pt x="545" y="274"/>
                  </a:lnTo>
                  <a:lnTo>
                    <a:pt x="407" y="274"/>
                  </a:lnTo>
                  <a:lnTo>
                    <a:pt x="379" y="275"/>
                  </a:lnTo>
                  <a:lnTo>
                    <a:pt x="352" y="278"/>
                  </a:lnTo>
                  <a:lnTo>
                    <a:pt x="338" y="280"/>
                  </a:lnTo>
                  <a:lnTo>
                    <a:pt x="323" y="283"/>
                  </a:lnTo>
                  <a:lnTo>
                    <a:pt x="309" y="286"/>
                  </a:lnTo>
                  <a:lnTo>
                    <a:pt x="296" y="291"/>
                  </a:lnTo>
                  <a:lnTo>
                    <a:pt x="282" y="295"/>
                  </a:lnTo>
                  <a:lnTo>
                    <a:pt x="270" y="300"/>
                  </a:lnTo>
                  <a:lnTo>
                    <a:pt x="258" y="305"/>
                  </a:lnTo>
                  <a:lnTo>
                    <a:pt x="247" y="312"/>
                  </a:lnTo>
                  <a:lnTo>
                    <a:pt x="237" y="318"/>
                  </a:lnTo>
                  <a:lnTo>
                    <a:pt x="228" y="325"/>
                  </a:lnTo>
                  <a:lnTo>
                    <a:pt x="221" y="333"/>
                  </a:lnTo>
                  <a:lnTo>
                    <a:pt x="214" y="340"/>
                  </a:lnTo>
                  <a:lnTo>
                    <a:pt x="209" y="349"/>
                  </a:lnTo>
                  <a:lnTo>
                    <a:pt x="203" y="360"/>
                  </a:lnTo>
                  <a:lnTo>
                    <a:pt x="199" y="372"/>
                  </a:lnTo>
                  <a:lnTo>
                    <a:pt x="194" y="385"/>
                  </a:lnTo>
                  <a:lnTo>
                    <a:pt x="190" y="400"/>
                  </a:lnTo>
                  <a:lnTo>
                    <a:pt x="185" y="415"/>
                  </a:lnTo>
                  <a:lnTo>
                    <a:pt x="182" y="432"/>
                  </a:lnTo>
                  <a:lnTo>
                    <a:pt x="180" y="449"/>
                  </a:lnTo>
                  <a:lnTo>
                    <a:pt x="174" y="486"/>
                  </a:lnTo>
                  <a:lnTo>
                    <a:pt x="171" y="524"/>
                  </a:lnTo>
                  <a:lnTo>
                    <a:pt x="169" y="563"/>
                  </a:lnTo>
                  <a:lnTo>
                    <a:pt x="168" y="602"/>
                  </a:lnTo>
                  <a:lnTo>
                    <a:pt x="169" y="641"/>
                  </a:lnTo>
                  <a:lnTo>
                    <a:pt x="171" y="679"/>
                  </a:lnTo>
                  <a:lnTo>
                    <a:pt x="174" y="717"/>
                  </a:lnTo>
                  <a:lnTo>
                    <a:pt x="180" y="753"/>
                  </a:lnTo>
                  <a:lnTo>
                    <a:pt x="182" y="769"/>
                  </a:lnTo>
                  <a:lnTo>
                    <a:pt x="185" y="786"/>
                  </a:lnTo>
                  <a:lnTo>
                    <a:pt x="190" y="801"/>
                  </a:lnTo>
                  <a:lnTo>
                    <a:pt x="194" y="816"/>
                  </a:lnTo>
                  <a:lnTo>
                    <a:pt x="199" y="829"/>
                  </a:lnTo>
                  <a:lnTo>
                    <a:pt x="203" y="840"/>
                  </a:lnTo>
                  <a:lnTo>
                    <a:pt x="209" y="851"/>
                  </a:lnTo>
                  <a:lnTo>
                    <a:pt x="214" y="860"/>
                  </a:lnTo>
                  <a:lnTo>
                    <a:pt x="221" y="867"/>
                  </a:lnTo>
                  <a:lnTo>
                    <a:pt x="228" y="875"/>
                  </a:lnTo>
                  <a:lnTo>
                    <a:pt x="237" y="882"/>
                  </a:lnTo>
                  <a:lnTo>
                    <a:pt x="247" y="888"/>
                  </a:lnTo>
                  <a:lnTo>
                    <a:pt x="258" y="894"/>
                  </a:lnTo>
                  <a:lnTo>
                    <a:pt x="270" y="899"/>
                  </a:lnTo>
                  <a:lnTo>
                    <a:pt x="282" y="904"/>
                  </a:lnTo>
                  <a:lnTo>
                    <a:pt x="296" y="908"/>
                  </a:lnTo>
                  <a:lnTo>
                    <a:pt x="323" y="916"/>
                  </a:lnTo>
                  <a:lnTo>
                    <a:pt x="352" y="920"/>
                  </a:lnTo>
                  <a:lnTo>
                    <a:pt x="381" y="924"/>
                  </a:lnTo>
                  <a:lnTo>
                    <a:pt x="409" y="925"/>
                  </a:lnTo>
                  <a:lnTo>
                    <a:pt x="545" y="925"/>
                  </a:lnTo>
                  <a:close/>
                  <a:moveTo>
                    <a:pt x="545" y="0"/>
                  </a:moveTo>
                  <a:lnTo>
                    <a:pt x="712" y="0"/>
                  </a:lnTo>
                  <a:lnTo>
                    <a:pt x="712" y="116"/>
                  </a:lnTo>
                  <a:lnTo>
                    <a:pt x="841" y="116"/>
                  </a:lnTo>
                  <a:lnTo>
                    <a:pt x="868" y="116"/>
                  </a:lnTo>
                  <a:lnTo>
                    <a:pt x="894" y="118"/>
                  </a:lnTo>
                  <a:lnTo>
                    <a:pt x="918" y="120"/>
                  </a:lnTo>
                  <a:lnTo>
                    <a:pt x="943" y="124"/>
                  </a:lnTo>
                  <a:lnTo>
                    <a:pt x="966" y="127"/>
                  </a:lnTo>
                  <a:lnTo>
                    <a:pt x="988" y="132"/>
                  </a:lnTo>
                  <a:lnTo>
                    <a:pt x="1009" y="138"/>
                  </a:lnTo>
                  <a:lnTo>
                    <a:pt x="1029" y="145"/>
                  </a:lnTo>
                  <a:lnTo>
                    <a:pt x="1048" y="152"/>
                  </a:lnTo>
                  <a:lnTo>
                    <a:pt x="1066" y="161"/>
                  </a:lnTo>
                  <a:lnTo>
                    <a:pt x="1084" y="171"/>
                  </a:lnTo>
                  <a:lnTo>
                    <a:pt x="1100" y="181"/>
                  </a:lnTo>
                  <a:lnTo>
                    <a:pt x="1116" y="193"/>
                  </a:lnTo>
                  <a:lnTo>
                    <a:pt x="1131" y="205"/>
                  </a:lnTo>
                  <a:lnTo>
                    <a:pt x="1144" y="218"/>
                  </a:lnTo>
                  <a:lnTo>
                    <a:pt x="1158" y="233"/>
                  </a:lnTo>
                  <a:lnTo>
                    <a:pt x="1170" y="247"/>
                  </a:lnTo>
                  <a:lnTo>
                    <a:pt x="1181" y="263"/>
                  </a:lnTo>
                  <a:lnTo>
                    <a:pt x="1191" y="281"/>
                  </a:lnTo>
                  <a:lnTo>
                    <a:pt x="1201" y="299"/>
                  </a:lnTo>
                  <a:lnTo>
                    <a:pt x="1209" y="318"/>
                  </a:lnTo>
                  <a:lnTo>
                    <a:pt x="1217" y="338"/>
                  </a:lnTo>
                  <a:lnTo>
                    <a:pt x="1225" y="360"/>
                  </a:lnTo>
                  <a:lnTo>
                    <a:pt x="1231" y="382"/>
                  </a:lnTo>
                  <a:lnTo>
                    <a:pt x="1237" y="406"/>
                  </a:lnTo>
                  <a:lnTo>
                    <a:pt x="1242" y="431"/>
                  </a:lnTo>
                  <a:lnTo>
                    <a:pt x="1246" y="457"/>
                  </a:lnTo>
                  <a:lnTo>
                    <a:pt x="1250" y="483"/>
                  </a:lnTo>
                  <a:lnTo>
                    <a:pt x="1252" y="512"/>
                  </a:lnTo>
                  <a:lnTo>
                    <a:pt x="1255" y="541"/>
                  </a:lnTo>
                  <a:lnTo>
                    <a:pt x="1256" y="570"/>
                  </a:lnTo>
                  <a:lnTo>
                    <a:pt x="1256" y="602"/>
                  </a:lnTo>
                  <a:lnTo>
                    <a:pt x="1256" y="633"/>
                  </a:lnTo>
                  <a:lnTo>
                    <a:pt x="1255" y="663"/>
                  </a:lnTo>
                  <a:lnTo>
                    <a:pt x="1252" y="691"/>
                  </a:lnTo>
                  <a:lnTo>
                    <a:pt x="1250" y="720"/>
                  </a:lnTo>
                  <a:lnTo>
                    <a:pt x="1247" y="746"/>
                  </a:lnTo>
                  <a:lnTo>
                    <a:pt x="1242" y="772"/>
                  </a:lnTo>
                  <a:lnTo>
                    <a:pt x="1237" y="797"/>
                  </a:lnTo>
                  <a:lnTo>
                    <a:pt x="1231" y="820"/>
                  </a:lnTo>
                  <a:lnTo>
                    <a:pt x="1225" y="842"/>
                  </a:lnTo>
                  <a:lnTo>
                    <a:pt x="1217" y="864"/>
                  </a:lnTo>
                  <a:lnTo>
                    <a:pt x="1209" y="884"/>
                  </a:lnTo>
                  <a:lnTo>
                    <a:pt x="1201" y="904"/>
                  </a:lnTo>
                  <a:lnTo>
                    <a:pt x="1191" y="921"/>
                  </a:lnTo>
                  <a:lnTo>
                    <a:pt x="1181" y="938"/>
                  </a:lnTo>
                  <a:lnTo>
                    <a:pt x="1170" y="954"/>
                  </a:lnTo>
                  <a:lnTo>
                    <a:pt x="1158" y="969"/>
                  </a:lnTo>
                  <a:lnTo>
                    <a:pt x="1144" y="983"/>
                  </a:lnTo>
                  <a:lnTo>
                    <a:pt x="1131" y="995"/>
                  </a:lnTo>
                  <a:lnTo>
                    <a:pt x="1117" y="1007"/>
                  </a:lnTo>
                  <a:lnTo>
                    <a:pt x="1101" y="1018"/>
                  </a:lnTo>
                  <a:lnTo>
                    <a:pt x="1085" y="1029"/>
                  </a:lnTo>
                  <a:lnTo>
                    <a:pt x="1067" y="1038"/>
                  </a:lnTo>
                  <a:lnTo>
                    <a:pt x="1048" y="1047"/>
                  </a:lnTo>
                  <a:lnTo>
                    <a:pt x="1030" y="1054"/>
                  </a:lnTo>
                  <a:lnTo>
                    <a:pt x="1010" y="1061"/>
                  </a:lnTo>
                  <a:lnTo>
                    <a:pt x="988" y="1067"/>
                  </a:lnTo>
                  <a:lnTo>
                    <a:pt x="966" y="1071"/>
                  </a:lnTo>
                  <a:lnTo>
                    <a:pt x="944" y="1075"/>
                  </a:lnTo>
                  <a:lnTo>
                    <a:pt x="920" y="1079"/>
                  </a:lnTo>
                  <a:lnTo>
                    <a:pt x="894" y="1081"/>
                  </a:lnTo>
                  <a:lnTo>
                    <a:pt x="869" y="1082"/>
                  </a:lnTo>
                  <a:lnTo>
                    <a:pt x="841" y="1083"/>
                  </a:lnTo>
                  <a:lnTo>
                    <a:pt x="712" y="1083"/>
                  </a:lnTo>
                  <a:lnTo>
                    <a:pt x="712" y="1218"/>
                  </a:lnTo>
                  <a:lnTo>
                    <a:pt x="545" y="1218"/>
                  </a:lnTo>
                  <a:lnTo>
                    <a:pt x="545" y="1083"/>
                  </a:lnTo>
                  <a:lnTo>
                    <a:pt x="415" y="1083"/>
                  </a:lnTo>
                  <a:lnTo>
                    <a:pt x="388" y="1082"/>
                  </a:lnTo>
                  <a:lnTo>
                    <a:pt x="363" y="1081"/>
                  </a:lnTo>
                  <a:lnTo>
                    <a:pt x="339" y="1079"/>
                  </a:lnTo>
                  <a:lnTo>
                    <a:pt x="314" y="1075"/>
                  </a:lnTo>
                  <a:lnTo>
                    <a:pt x="292" y="1071"/>
                  </a:lnTo>
                  <a:lnTo>
                    <a:pt x="270" y="1067"/>
                  </a:lnTo>
                  <a:lnTo>
                    <a:pt x="249" y="1061"/>
                  </a:lnTo>
                  <a:lnTo>
                    <a:pt x="230" y="1053"/>
                  </a:lnTo>
                  <a:lnTo>
                    <a:pt x="210" y="1047"/>
                  </a:lnTo>
                  <a:lnTo>
                    <a:pt x="192" y="1038"/>
                  </a:lnTo>
                  <a:lnTo>
                    <a:pt x="174" y="1028"/>
                  </a:lnTo>
                  <a:lnTo>
                    <a:pt x="158" y="1018"/>
                  </a:lnTo>
                  <a:lnTo>
                    <a:pt x="142" y="1007"/>
                  </a:lnTo>
                  <a:lnTo>
                    <a:pt x="128" y="995"/>
                  </a:lnTo>
                  <a:lnTo>
                    <a:pt x="114" y="982"/>
                  </a:lnTo>
                  <a:lnTo>
                    <a:pt x="101" y="968"/>
                  </a:lnTo>
                  <a:lnTo>
                    <a:pt x="88" y="953"/>
                  </a:lnTo>
                  <a:lnTo>
                    <a:pt x="77" y="937"/>
                  </a:lnTo>
                  <a:lnTo>
                    <a:pt x="66" y="920"/>
                  </a:lnTo>
                  <a:lnTo>
                    <a:pt x="57" y="903"/>
                  </a:lnTo>
                  <a:lnTo>
                    <a:pt x="48" y="883"/>
                  </a:lnTo>
                  <a:lnTo>
                    <a:pt x="40" y="863"/>
                  </a:lnTo>
                  <a:lnTo>
                    <a:pt x="32" y="841"/>
                  </a:lnTo>
                  <a:lnTo>
                    <a:pt x="26" y="819"/>
                  </a:lnTo>
                  <a:lnTo>
                    <a:pt x="20" y="796"/>
                  </a:lnTo>
                  <a:lnTo>
                    <a:pt x="15" y="772"/>
                  </a:lnTo>
                  <a:lnTo>
                    <a:pt x="10" y="745"/>
                  </a:lnTo>
                  <a:lnTo>
                    <a:pt x="7" y="719"/>
                  </a:lnTo>
                  <a:lnTo>
                    <a:pt x="4" y="691"/>
                  </a:lnTo>
                  <a:lnTo>
                    <a:pt x="1" y="663"/>
                  </a:lnTo>
                  <a:lnTo>
                    <a:pt x="0" y="633"/>
                  </a:lnTo>
                  <a:lnTo>
                    <a:pt x="0" y="602"/>
                  </a:lnTo>
                  <a:lnTo>
                    <a:pt x="0" y="570"/>
                  </a:lnTo>
                  <a:lnTo>
                    <a:pt x="1" y="541"/>
                  </a:lnTo>
                  <a:lnTo>
                    <a:pt x="4" y="512"/>
                  </a:lnTo>
                  <a:lnTo>
                    <a:pt x="7" y="483"/>
                  </a:lnTo>
                  <a:lnTo>
                    <a:pt x="10" y="457"/>
                  </a:lnTo>
                  <a:lnTo>
                    <a:pt x="15" y="431"/>
                  </a:lnTo>
                  <a:lnTo>
                    <a:pt x="20" y="406"/>
                  </a:lnTo>
                  <a:lnTo>
                    <a:pt x="26" y="382"/>
                  </a:lnTo>
                  <a:lnTo>
                    <a:pt x="33" y="360"/>
                  </a:lnTo>
                  <a:lnTo>
                    <a:pt x="41" y="338"/>
                  </a:lnTo>
                  <a:lnTo>
                    <a:pt x="49" y="318"/>
                  </a:lnTo>
                  <a:lnTo>
                    <a:pt x="59" y="299"/>
                  </a:lnTo>
                  <a:lnTo>
                    <a:pt x="69" y="281"/>
                  </a:lnTo>
                  <a:lnTo>
                    <a:pt x="80" y="263"/>
                  </a:lnTo>
                  <a:lnTo>
                    <a:pt x="92" y="247"/>
                  </a:lnTo>
                  <a:lnTo>
                    <a:pt x="104" y="233"/>
                  </a:lnTo>
                  <a:lnTo>
                    <a:pt x="117" y="218"/>
                  </a:lnTo>
                  <a:lnTo>
                    <a:pt x="131" y="205"/>
                  </a:lnTo>
                  <a:lnTo>
                    <a:pt x="147" y="193"/>
                  </a:lnTo>
                  <a:lnTo>
                    <a:pt x="162" y="181"/>
                  </a:lnTo>
                  <a:lnTo>
                    <a:pt x="180" y="171"/>
                  </a:lnTo>
                  <a:lnTo>
                    <a:pt x="198" y="161"/>
                  </a:lnTo>
                  <a:lnTo>
                    <a:pt x="216" y="152"/>
                  </a:lnTo>
                  <a:lnTo>
                    <a:pt x="236" y="145"/>
                  </a:lnTo>
                  <a:lnTo>
                    <a:pt x="256" y="138"/>
                  </a:lnTo>
                  <a:lnTo>
                    <a:pt x="278" y="132"/>
                  </a:lnTo>
                  <a:lnTo>
                    <a:pt x="300" y="127"/>
                  </a:lnTo>
                  <a:lnTo>
                    <a:pt x="323" y="124"/>
                  </a:lnTo>
                  <a:lnTo>
                    <a:pt x="347" y="120"/>
                  </a:lnTo>
                  <a:lnTo>
                    <a:pt x="373" y="118"/>
                  </a:lnTo>
                  <a:lnTo>
                    <a:pt x="399" y="116"/>
                  </a:lnTo>
                  <a:lnTo>
                    <a:pt x="426" y="116"/>
                  </a:lnTo>
                  <a:lnTo>
                    <a:pt x="545" y="116"/>
                  </a:lnTo>
                  <a:lnTo>
                    <a:pt x="545" y="0"/>
                  </a:lnTo>
                  <a:close/>
                </a:path>
              </a:pathLst>
            </a:custGeom>
            <a:solidFill>
              <a:srgbClr val="2B2A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grpSp>
      <p:grpSp>
        <p:nvGrpSpPr>
          <p:cNvPr id="43" name="Group 80">
            <a:extLst>
              <a:ext uri="{FF2B5EF4-FFF2-40B4-BE49-F238E27FC236}">
                <a16:creationId xmlns="" xmlns:a16="http://schemas.microsoft.com/office/drawing/2014/main" id="{DECEC79C-D781-43B1-8E7E-BF1B49D005DF}"/>
              </a:ext>
            </a:extLst>
          </p:cNvPr>
          <p:cNvGrpSpPr>
            <a:grpSpLocks noChangeAspect="1"/>
          </p:cNvGrpSpPr>
          <p:nvPr userDrawn="1"/>
        </p:nvGrpSpPr>
        <p:grpSpPr bwMode="auto">
          <a:xfrm>
            <a:off x="8892053" y="196432"/>
            <a:ext cx="1013947" cy="295200"/>
            <a:chOff x="2646" y="2022"/>
            <a:chExt cx="948" cy="276"/>
          </a:xfrm>
        </p:grpSpPr>
        <p:sp>
          <p:nvSpPr>
            <p:cNvPr id="44" name="AutoShape 79">
              <a:extLst>
                <a:ext uri="{FF2B5EF4-FFF2-40B4-BE49-F238E27FC236}">
                  <a16:creationId xmlns="" xmlns:a16="http://schemas.microsoft.com/office/drawing/2014/main" id="{DBC13431-A47C-4DCA-B22C-8FE8B181486C}"/>
                </a:ext>
              </a:extLst>
            </p:cNvPr>
            <p:cNvSpPr>
              <a:spLocks noChangeAspect="1" noChangeArrowheads="1" noTextEdit="1"/>
            </p:cNvSpPr>
            <p:nvPr userDrawn="1"/>
          </p:nvSpPr>
          <p:spPr bwMode="auto">
            <a:xfrm>
              <a:off x="2646" y="2022"/>
              <a:ext cx="94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0" name="Freeform 81">
              <a:extLst>
                <a:ext uri="{FF2B5EF4-FFF2-40B4-BE49-F238E27FC236}">
                  <a16:creationId xmlns="" xmlns:a16="http://schemas.microsoft.com/office/drawing/2014/main" id="{1FE91590-1C98-4BFA-BCB9-47D9ADB31579}"/>
                </a:ext>
              </a:extLst>
            </p:cNvPr>
            <p:cNvSpPr>
              <a:spLocks/>
            </p:cNvSpPr>
            <p:nvPr userDrawn="1"/>
          </p:nvSpPr>
          <p:spPr bwMode="auto">
            <a:xfrm>
              <a:off x="3179" y="2022"/>
              <a:ext cx="415" cy="276"/>
            </a:xfrm>
            <a:custGeom>
              <a:avLst/>
              <a:gdLst>
                <a:gd name="T0" fmla="*/ 0 w 7050"/>
                <a:gd name="T1" fmla="*/ 4692 h 4692"/>
                <a:gd name="T2" fmla="*/ 7050 w 7050"/>
                <a:gd name="T3" fmla="*/ 4692 h 4692"/>
                <a:gd name="T4" fmla="*/ 7050 w 7050"/>
                <a:gd name="T5" fmla="*/ 0 h 4692"/>
                <a:gd name="T6" fmla="*/ 3319 w 7050"/>
                <a:gd name="T7" fmla="*/ 0 h 4692"/>
                <a:gd name="T8" fmla="*/ 3286 w 7050"/>
                <a:gd name="T9" fmla="*/ 0 h 4692"/>
                <a:gd name="T10" fmla="*/ 0 w 7050"/>
                <a:gd name="T11" fmla="*/ 4692 h 4692"/>
              </a:gdLst>
              <a:ahLst/>
              <a:cxnLst>
                <a:cxn ang="0">
                  <a:pos x="T0" y="T1"/>
                </a:cxn>
                <a:cxn ang="0">
                  <a:pos x="T2" y="T3"/>
                </a:cxn>
                <a:cxn ang="0">
                  <a:pos x="T4" y="T5"/>
                </a:cxn>
                <a:cxn ang="0">
                  <a:pos x="T6" y="T7"/>
                </a:cxn>
                <a:cxn ang="0">
                  <a:pos x="T8" y="T9"/>
                </a:cxn>
                <a:cxn ang="0">
                  <a:pos x="T10" y="T11"/>
                </a:cxn>
              </a:cxnLst>
              <a:rect l="0" t="0" r="r" b="b"/>
              <a:pathLst>
                <a:path w="7050" h="4692">
                  <a:moveTo>
                    <a:pt x="0" y="4692"/>
                  </a:moveTo>
                  <a:lnTo>
                    <a:pt x="7050" y="4692"/>
                  </a:lnTo>
                  <a:lnTo>
                    <a:pt x="7050" y="0"/>
                  </a:lnTo>
                  <a:lnTo>
                    <a:pt x="3319" y="0"/>
                  </a:lnTo>
                  <a:lnTo>
                    <a:pt x="3286" y="0"/>
                  </a:lnTo>
                  <a:lnTo>
                    <a:pt x="0" y="4692"/>
                  </a:lnTo>
                  <a:close/>
                </a:path>
              </a:pathLst>
            </a:custGeom>
            <a:solidFill>
              <a:srgbClr val="D351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1" name="Freeform 82">
              <a:extLst>
                <a:ext uri="{FF2B5EF4-FFF2-40B4-BE49-F238E27FC236}">
                  <a16:creationId xmlns="" xmlns:a16="http://schemas.microsoft.com/office/drawing/2014/main" id="{9C07BB20-69C9-40DF-92AB-8AEBFB4B6892}"/>
                </a:ext>
              </a:extLst>
            </p:cNvPr>
            <p:cNvSpPr>
              <a:spLocks/>
            </p:cNvSpPr>
            <p:nvPr userDrawn="1"/>
          </p:nvSpPr>
          <p:spPr bwMode="auto">
            <a:xfrm>
              <a:off x="2839" y="2022"/>
              <a:ext cx="535" cy="276"/>
            </a:xfrm>
            <a:custGeom>
              <a:avLst/>
              <a:gdLst>
                <a:gd name="T0" fmla="*/ 3285 w 9082"/>
                <a:gd name="T1" fmla="*/ 4692 h 4692"/>
                <a:gd name="T2" fmla="*/ 5780 w 9082"/>
                <a:gd name="T3" fmla="*/ 4692 h 4692"/>
                <a:gd name="T4" fmla="*/ 9082 w 9082"/>
                <a:gd name="T5" fmla="*/ 0 h 4692"/>
                <a:gd name="T6" fmla="*/ 0 w 9082"/>
                <a:gd name="T7" fmla="*/ 0 h 4692"/>
                <a:gd name="T8" fmla="*/ 3285 w 9082"/>
                <a:gd name="T9" fmla="*/ 4692 h 4692"/>
              </a:gdLst>
              <a:ahLst/>
              <a:cxnLst>
                <a:cxn ang="0">
                  <a:pos x="T0" y="T1"/>
                </a:cxn>
                <a:cxn ang="0">
                  <a:pos x="T2" y="T3"/>
                </a:cxn>
                <a:cxn ang="0">
                  <a:pos x="T4" y="T5"/>
                </a:cxn>
                <a:cxn ang="0">
                  <a:pos x="T6" y="T7"/>
                </a:cxn>
                <a:cxn ang="0">
                  <a:pos x="T8" y="T9"/>
                </a:cxn>
              </a:cxnLst>
              <a:rect l="0" t="0" r="r" b="b"/>
              <a:pathLst>
                <a:path w="9082" h="4692">
                  <a:moveTo>
                    <a:pt x="3285" y="4692"/>
                  </a:moveTo>
                  <a:lnTo>
                    <a:pt x="5780" y="4692"/>
                  </a:lnTo>
                  <a:lnTo>
                    <a:pt x="9082" y="0"/>
                  </a:lnTo>
                  <a:lnTo>
                    <a:pt x="0" y="0"/>
                  </a:lnTo>
                  <a:lnTo>
                    <a:pt x="3285" y="4692"/>
                  </a:lnTo>
                  <a:close/>
                </a:path>
              </a:pathLst>
            </a:custGeom>
            <a:solidFill>
              <a:srgbClr val="F8B2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2" name="Freeform 83">
              <a:extLst>
                <a:ext uri="{FF2B5EF4-FFF2-40B4-BE49-F238E27FC236}">
                  <a16:creationId xmlns="" xmlns:a16="http://schemas.microsoft.com/office/drawing/2014/main" id="{D2470C12-5E2A-4553-B67B-3C7B8B3D94ED}"/>
                </a:ext>
              </a:extLst>
            </p:cNvPr>
            <p:cNvSpPr>
              <a:spLocks/>
            </p:cNvSpPr>
            <p:nvPr userDrawn="1"/>
          </p:nvSpPr>
          <p:spPr bwMode="auto">
            <a:xfrm>
              <a:off x="2646" y="2022"/>
              <a:ext cx="387" cy="276"/>
            </a:xfrm>
            <a:custGeom>
              <a:avLst/>
              <a:gdLst>
                <a:gd name="T0" fmla="*/ 0 w 6571"/>
                <a:gd name="T1" fmla="*/ 4692 h 4692"/>
                <a:gd name="T2" fmla="*/ 6571 w 6571"/>
                <a:gd name="T3" fmla="*/ 4692 h 4692"/>
                <a:gd name="T4" fmla="*/ 3286 w 6571"/>
                <a:gd name="T5" fmla="*/ 0 h 4692"/>
                <a:gd name="T6" fmla="*/ 0 w 6571"/>
                <a:gd name="T7" fmla="*/ 4692 h 4692"/>
              </a:gdLst>
              <a:ahLst/>
              <a:cxnLst>
                <a:cxn ang="0">
                  <a:pos x="T0" y="T1"/>
                </a:cxn>
                <a:cxn ang="0">
                  <a:pos x="T2" y="T3"/>
                </a:cxn>
                <a:cxn ang="0">
                  <a:pos x="T4" y="T5"/>
                </a:cxn>
                <a:cxn ang="0">
                  <a:pos x="T6" y="T7"/>
                </a:cxn>
              </a:cxnLst>
              <a:rect l="0" t="0" r="r" b="b"/>
              <a:pathLst>
                <a:path w="6571" h="4692">
                  <a:moveTo>
                    <a:pt x="0" y="4692"/>
                  </a:moveTo>
                  <a:lnTo>
                    <a:pt x="6571" y="4692"/>
                  </a:lnTo>
                  <a:lnTo>
                    <a:pt x="3286" y="0"/>
                  </a:lnTo>
                  <a:lnTo>
                    <a:pt x="0" y="4692"/>
                  </a:lnTo>
                  <a:close/>
                </a:path>
              </a:pathLst>
            </a:custGeom>
            <a:solidFill>
              <a:srgbClr val="FFC1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3" name="Freeform 84">
              <a:extLst>
                <a:ext uri="{FF2B5EF4-FFF2-40B4-BE49-F238E27FC236}">
                  <a16:creationId xmlns="" xmlns:a16="http://schemas.microsoft.com/office/drawing/2014/main" id="{D625BA3D-C3BB-47DB-95D5-90CA73F7638E}"/>
                </a:ext>
              </a:extLst>
            </p:cNvPr>
            <p:cNvSpPr>
              <a:spLocks/>
            </p:cNvSpPr>
            <p:nvPr userDrawn="1"/>
          </p:nvSpPr>
          <p:spPr bwMode="auto">
            <a:xfrm>
              <a:off x="2646" y="2022"/>
              <a:ext cx="194" cy="276"/>
            </a:xfrm>
            <a:custGeom>
              <a:avLst/>
              <a:gdLst>
                <a:gd name="T0" fmla="*/ 0 w 3302"/>
                <a:gd name="T1" fmla="*/ 0 h 4692"/>
                <a:gd name="T2" fmla="*/ 0 w 3302"/>
                <a:gd name="T3" fmla="*/ 4692 h 4692"/>
                <a:gd name="T4" fmla="*/ 3302 w 3302"/>
                <a:gd name="T5" fmla="*/ 0 h 4692"/>
                <a:gd name="T6" fmla="*/ 0 w 3302"/>
                <a:gd name="T7" fmla="*/ 0 h 4692"/>
              </a:gdLst>
              <a:ahLst/>
              <a:cxnLst>
                <a:cxn ang="0">
                  <a:pos x="T0" y="T1"/>
                </a:cxn>
                <a:cxn ang="0">
                  <a:pos x="T2" y="T3"/>
                </a:cxn>
                <a:cxn ang="0">
                  <a:pos x="T4" y="T5"/>
                </a:cxn>
                <a:cxn ang="0">
                  <a:pos x="T6" y="T7"/>
                </a:cxn>
              </a:cxnLst>
              <a:rect l="0" t="0" r="r" b="b"/>
              <a:pathLst>
                <a:path w="3302" h="4692">
                  <a:moveTo>
                    <a:pt x="0" y="0"/>
                  </a:moveTo>
                  <a:lnTo>
                    <a:pt x="0" y="4692"/>
                  </a:lnTo>
                  <a:lnTo>
                    <a:pt x="3302" y="0"/>
                  </a:lnTo>
                  <a:lnTo>
                    <a:pt x="0" y="0"/>
                  </a:lnTo>
                  <a:close/>
                </a:path>
              </a:pathLst>
            </a:custGeom>
            <a:solidFill>
              <a:srgbClr val="FFD7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grpSp>
      <p:cxnSp>
        <p:nvCxnSpPr>
          <p:cNvPr id="13" name="Прямая соединительная линия 12"/>
          <p:cNvCxnSpPr/>
          <p:nvPr userDrawn="1"/>
        </p:nvCxnSpPr>
        <p:spPr>
          <a:xfrm>
            <a:off x="0" y="686105"/>
            <a:ext cx="9906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Прямоугольник: скругленные углы 37">
            <a:extLst>
              <a:ext uri="{FF2B5EF4-FFF2-40B4-BE49-F238E27FC236}">
                <a16:creationId xmlns="" xmlns:a16="http://schemas.microsoft.com/office/drawing/2014/main" id="{01843A93-6469-4307-B93C-542F8EAA9123}"/>
              </a:ext>
            </a:extLst>
          </p:cNvPr>
          <p:cNvSpPr/>
          <p:nvPr userDrawn="1"/>
        </p:nvSpPr>
        <p:spPr>
          <a:xfrm>
            <a:off x="1845807" y="90074"/>
            <a:ext cx="10800" cy="504000"/>
          </a:xfrm>
          <a:prstGeom prst="roundRect">
            <a:avLst>
              <a:gd name="adj" fmla="val 50000"/>
            </a:avLst>
          </a:prstGeom>
          <a:solidFill>
            <a:srgbClr val="6B6B6B"/>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66787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120">
          <p15:clr>
            <a:srgbClr val="FBAE40"/>
          </p15:clr>
        </p15:guide>
        <p15:guide id="2" orient="horz" pos="2160">
          <p15:clr>
            <a:srgbClr val="FBAE40"/>
          </p15:clr>
        </p15:guide>
        <p15:guide id="3" pos="172">
          <p15:clr>
            <a:srgbClr val="FBAE40"/>
          </p15:clr>
        </p15:guide>
        <p15:guide id="4" pos="6068">
          <p15:clr>
            <a:srgbClr val="FBAE40"/>
          </p15:clr>
        </p15:guide>
        <p15:guide id="5" orient="horz" pos="4156">
          <p15:clr>
            <a:srgbClr val="FBAE40"/>
          </p15:clr>
        </p15:guide>
        <p15:guide id="6" orient="horz" pos="57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7_Header_Сибинтек_Софт_01">
    <p:spTree>
      <p:nvGrpSpPr>
        <p:cNvPr id="1" name=""/>
        <p:cNvGrpSpPr/>
        <p:nvPr/>
      </p:nvGrpSpPr>
      <p:grpSpPr>
        <a:xfrm>
          <a:off x="0" y="0"/>
          <a:ext cx="0" cy="0"/>
          <a:chOff x="0" y="0"/>
          <a:chExt cx="0" cy="0"/>
        </a:xfrm>
      </p:grpSpPr>
      <p:sp>
        <p:nvSpPr>
          <p:cNvPr id="5" name="Прямоугольник 4"/>
          <p:cNvSpPr/>
          <p:nvPr userDrawn="1"/>
        </p:nvSpPr>
        <p:spPr>
          <a:xfrm>
            <a:off x="1845807" y="0"/>
            <a:ext cx="8060193" cy="688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6587" tIns="45423" rIns="90846" bIns="45423" rtlCol="0" anchor="ctr"/>
          <a:lstStyle/>
          <a:p>
            <a:pPr algn="ctr"/>
            <a:endParaRPr lang="ru-RU" sz="1212"/>
          </a:p>
        </p:txBody>
      </p:sp>
      <p:pic>
        <p:nvPicPr>
          <p:cNvPr id="7" name="Рисунок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814" y="205912"/>
            <a:ext cx="1292850" cy="269432"/>
          </a:xfrm>
          <a:prstGeom prst="rect">
            <a:avLst/>
          </a:prstGeom>
        </p:spPr>
      </p:pic>
      <p:cxnSp>
        <p:nvCxnSpPr>
          <p:cNvPr id="13" name="Прямая соединительная линия 12"/>
          <p:cNvCxnSpPr/>
          <p:nvPr userDrawn="1"/>
        </p:nvCxnSpPr>
        <p:spPr>
          <a:xfrm>
            <a:off x="0" y="686105"/>
            <a:ext cx="9906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Группа 41">
            <a:extLst>
              <a:ext uri="{FF2B5EF4-FFF2-40B4-BE49-F238E27FC236}">
                <a16:creationId xmlns="" xmlns:a16="http://schemas.microsoft.com/office/drawing/2014/main" id="{1CD0163D-ED12-4424-BC81-D2BA461EEFF5}"/>
              </a:ext>
            </a:extLst>
          </p:cNvPr>
          <p:cNvGrpSpPr>
            <a:grpSpLocks noChangeAspect="1"/>
          </p:cNvGrpSpPr>
          <p:nvPr userDrawn="1"/>
        </p:nvGrpSpPr>
        <p:grpSpPr>
          <a:xfrm>
            <a:off x="8959044" y="198260"/>
            <a:ext cx="946956" cy="291542"/>
            <a:chOff x="6842125" y="5068887"/>
            <a:chExt cx="1438156" cy="447675"/>
          </a:xfrm>
        </p:grpSpPr>
        <p:sp>
          <p:nvSpPr>
            <p:cNvPr id="38" name="Полилиния: фигура 37">
              <a:extLst>
                <a:ext uri="{FF2B5EF4-FFF2-40B4-BE49-F238E27FC236}">
                  <a16:creationId xmlns="" xmlns:a16="http://schemas.microsoft.com/office/drawing/2014/main" id="{15E4E03C-29DB-491E-A89D-7560A2A9D6A7}"/>
                </a:ext>
              </a:extLst>
            </p:cNvPr>
            <p:cNvSpPr/>
            <p:nvPr/>
          </p:nvSpPr>
          <p:spPr>
            <a:xfrm>
              <a:off x="7700453" y="5068887"/>
              <a:ext cx="579828" cy="447675"/>
            </a:xfrm>
            <a:custGeom>
              <a:avLst/>
              <a:gdLst>
                <a:gd name="connsiteX0" fmla="*/ 0 w 579828"/>
                <a:gd name="connsiteY0" fmla="*/ 447675 h 447675"/>
                <a:gd name="connsiteX1" fmla="*/ 3432 w 579828"/>
                <a:gd name="connsiteY1" fmla="*/ 447675 h 447675"/>
                <a:gd name="connsiteX2" fmla="*/ 579828 w 579828"/>
                <a:gd name="connsiteY2" fmla="*/ 447675 h 447675"/>
                <a:gd name="connsiteX3" fmla="*/ 579828 w 579828"/>
                <a:gd name="connsiteY3" fmla="*/ 0 h 447675"/>
                <a:gd name="connsiteX4" fmla="*/ 226276 w 579828"/>
                <a:gd name="connsiteY4" fmla="*/ 0 h 447675"/>
                <a:gd name="connsiteX5" fmla="*/ 224473 w 579828"/>
                <a:gd name="connsiteY5" fmla="*/ 0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828" h="447675">
                  <a:moveTo>
                    <a:pt x="0" y="447675"/>
                  </a:moveTo>
                  <a:lnTo>
                    <a:pt x="3432" y="447675"/>
                  </a:lnTo>
                  <a:lnTo>
                    <a:pt x="579828" y="447675"/>
                  </a:lnTo>
                  <a:lnTo>
                    <a:pt x="579828" y="0"/>
                  </a:lnTo>
                  <a:lnTo>
                    <a:pt x="226276" y="0"/>
                  </a:lnTo>
                  <a:lnTo>
                    <a:pt x="224473" y="0"/>
                  </a:lnTo>
                  <a:close/>
                </a:path>
              </a:pathLst>
            </a:custGeom>
            <a:solidFill>
              <a:srgbClr val="D35149"/>
            </a:solidFill>
            <a:ln w="359" cap="flat">
              <a:noFill/>
              <a:prstDash val="solid"/>
              <a:miter/>
            </a:ln>
          </p:spPr>
          <p:txBody>
            <a:bodyPr rtlCol="0" anchor="ctr"/>
            <a:lstStyle/>
            <a:p>
              <a:endParaRPr lang="ru-RU" sz="1212"/>
            </a:p>
          </p:txBody>
        </p:sp>
        <p:sp>
          <p:nvSpPr>
            <p:cNvPr id="39" name="Полилиния: фигура 38">
              <a:extLst>
                <a:ext uri="{FF2B5EF4-FFF2-40B4-BE49-F238E27FC236}">
                  <a16:creationId xmlns="" xmlns:a16="http://schemas.microsoft.com/office/drawing/2014/main" id="{A17ABBAF-2C58-4A87-818B-BCB721E7F917}"/>
                </a:ext>
              </a:extLst>
            </p:cNvPr>
            <p:cNvSpPr/>
            <p:nvPr/>
          </p:nvSpPr>
          <p:spPr>
            <a:xfrm>
              <a:off x="7066601" y="5068887"/>
              <a:ext cx="858324" cy="447675"/>
            </a:xfrm>
            <a:custGeom>
              <a:avLst/>
              <a:gdLst>
                <a:gd name="connsiteX0" fmla="*/ 224469 w 858324"/>
                <a:gd name="connsiteY0" fmla="*/ 447675 h 447675"/>
                <a:gd name="connsiteX1" fmla="*/ 226359 w 858324"/>
                <a:gd name="connsiteY1" fmla="*/ 447675 h 447675"/>
                <a:gd name="connsiteX2" fmla="*/ 633852 w 858324"/>
                <a:gd name="connsiteY2" fmla="*/ 447675 h 447675"/>
                <a:gd name="connsiteX3" fmla="*/ 858325 w 858324"/>
                <a:gd name="connsiteY3" fmla="*/ 0 h 447675"/>
                <a:gd name="connsiteX4" fmla="*/ 1040 w 858324"/>
                <a:gd name="connsiteY4" fmla="*/ 0 h 447675"/>
                <a:gd name="connsiteX5" fmla="*/ 473 w 858324"/>
                <a:gd name="connsiteY5" fmla="*/ 0 h 447675"/>
                <a:gd name="connsiteX6" fmla="*/ 0 w 858324"/>
                <a:gd name="connsiteY6" fmla="*/ 0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8324" h="447675">
                  <a:moveTo>
                    <a:pt x="224469" y="447675"/>
                  </a:moveTo>
                  <a:lnTo>
                    <a:pt x="226359" y="447675"/>
                  </a:lnTo>
                  <a:lnTo>
                    <a:pt x="633852" y="447675"/>
                  </a:lnTo>
                  <a:lnTo>
                    <a:pt x="858325" y="0"/>
                  </a:lnTo>
                  <a:lnTo>
                    <a:pt x="1040" y="0"/>
                  </a:lnTo>
                  <a:lnTo>
                    <a:pt x="473" y="0"/>
                  </a:lnTo>
                  <a:lnTo>
                    <a:pt x="0" y="0"/>
                  </a:lnTo>
                  <a:close/>
                </a:path>
              </a:pathLst>
            </a:custGeom>
            <a:solidFill>
              <a:srgbClr val="F8B244"/>
            </a:solidFill>
            <a:ln w="359" cap="flat">
              <a:noFill/>
              <a:prstDash val="solid"/>
              <a:miter/>
            </a:ln>
          </p:spPr>
          <p:txBody>
            <a:bodyPr rtlCol="0" anchor="ctr"/>
            <a:lstStyle/>
            <a:p>
              <a:endParaRPr lang="ru-RU" sz="1212"/>
            </a:p>
          </p:txBody>
        </p:sp>
        <p:sp>
          <p:nvSpPr>
            <p:cNvPr id="40" name="Полилиния: фигура 39">
              <a:extLst>
                <a:ext uri="{FF2B5EF4-FFF2-40B4-BE49-F238E27FC236}">
                  <a16:creationId xmlns="" xmlns:a16="http://schemas.microsoft.com/office/drawing/2014/main" id="{31D4FE74-F1E2-4152-9BC8-5744441CD436}"/>
                </a:ext>
              </a:extLst>
            </p:cNvPr>
            <p:cNvSpPr/>
            <p:nvPr/>
          </p:nvSpPr>
          <p:spPr>
            <a:xfrm>
              <a:off x="6842125" y="5068887"/>
              <a:ext cx="448945" cy="447675"/>
            </a:xfrm>
            <a:custGeom>
              <a:avLst/>
              <a:gdLst>
                <a:gd name="connsiteX0" fmla="*/ 0 w 448945"/>
                <a:gd name="connsiteY0" fmla="*/ 447675 h 447675"/>
                <a:gd name="connsiteX1" fmla="*/ 2403 w 448945"/>
                <a:gd name="connsiteY1" fmla="*/ 447675 h 447675"/>
                <a:gd name="connsiteX2" fmla="*/ 448945 w 448945"/>
                <a:gd name="connsiteY2" fmla="*/ 447675 h 447675"/>
                <a:gd name="connsiteX3" fmla="*/ 224476 w 448945"/>
                <a:gd name="connsiteY3" fmla="*/ 0 h 447675"/>
              </a:gdLst>
              <a:ahLst/>
              <a:cxnLst>
                <a:cxn ang="0">
                  <a:pos x="connsiteX0" y="connsiteY0"/>
                </a:cxn>
                <a:cxn ang="0">
                  <a:pos x="connsiteX1" y="connsiteY1"/>
                </a:cxn>
                <a:cxn ang="0">
                  <a:pos x="connsiteX2" y="connsiteY2"/>
                </a:cxn>
                <a:cxn ang="0">
                  <a:pos x="connsiteX3" y="connsiteY3"/>
                </a:cxn>
              </a:cxnLst>
              <a:rect l="l" t="t" r="r" b="b"/>
              <a:pathLst>
                <a:path w="448945" h="447675">
                  <a:moveTo>
                    <a:pt x="0" y="447675"/>
                  </a:moveTo>
                  <a:lnTo>
                    <a:pt x="2403" y="447675"/>
                  </a:lnTo>
                  <a:lnTo>
                    <a:pt x="448945" y="447675"/>
                  </a:lnTo>
                  <a:lnTo>
                    <a:pt x="224476" y="0"/>
                  </a:lnTo>
                  <a:close/>
                </a:path>
              </a:pathLst>
            </a:custGeom>
            <a:solidFill>
              <a:srgbClr val="FFC13A"/>
            </a:solidFill>
            <a:ln w="359" cap="flat">
              <a:noFill/>
              <a:prstDash val="solid"/>
              <a:miter/>
            </a:ln>
          </p:spPr>
          <p:txBody>
            <a:bodyPr rtlCol="0" anchor="ctr"/>
            <a:lstStyle/>
            <a:p>
              <a:endParaRPr lang="ru-RU" sz="1212"/>
            </a:p>
          </p:txBody>
        </p:sp>
        <p:sp>
          <p:nvSpPr>
            <p:cNvPr id="41" name="Полилиния: фигура 40">
              <a:extLst>
                <a:ext uri="{FF2B5EF4-FFF2-40B4-BE49-F238E27FC236}">
                  <a16:creationId xmlns="" xmlns:a16="http://schemas.microsoft.com/office/drawing/2014/main" id="{D8A8C0F2-DE90-45FB-A726-C267F481731C}"/>
                </a:ext>
              </a:extLst>
            </p:cNvPr>
            <p:cNvSpPr/>
            <p:nvPr/>
          </p:nvSpPr>
          <p:spPr>
            <a:xfrm>
              <a:off x="6842125" y="5068887"/>
              <a:ext cx="224476" cy="447675"/>
            </a:xfrm>
            <a:custGeom>
              <a:avLst/>
              <a:gdLst>
                <a:gd name="connsiteX0" fmla="*/ 0 w 224476"/>
                <a:gd name="connsiteY0" fmla="*/ 0 h 447675"/>
                <a:gd name="connsiteX1" fmla="*/ 0 w 224476"/>
                <a:gd name="connsiteY1" fmla="*/ 447675 h 447675"/>
                <a:gd name="connsiteX2" fmla="*/ 224476 w 224476"/>
                <a:gd name="connsiteY2" fmla="*/ 0 h 447675"/>
              </a:gdLst>
              <a:ahLst/>
              <a:cxnLst>
                <a:cxn ang="0">
                  <a:pos x="connsiteX0" y="connsiteY0"/>
                </a:cxn>
                <a:cxn ang="0">
                  <a:pos x="connsiteX1" y="connsiteY1"/>
                </a:cxn>
                <a:cxn ang="0">
                  <a:pos x="connsiteX2" y="connsiteY2"/>
                </a:cxn>
              </a:cxnLst>
              <a:rect l="l" t="t" r="r" b="b"/>
              <a:pathLst>
                <a:path w="224476" h="447675">
                  <a:moveTo>
                    <a:pt x="0" y="0"/>
                  </a:moveTo>
                  <a:lnTo>
                    <a:pt x="0" y="447675"/>
                  </a:lnTo>
                  <a:lnTo>
                    <a:pt x="224476" y="0"/>
                  </a:lnTo>
                  <a:close/>
                </a:path>
              </a:pathLst>
            </a:custGeom>
            <a:solidFill>
              <a:srgbClr val="FFD701"/>
            </a:solidFill>
            <a:ln w="359" cap="flat">
              <a:noFill/>
              <a:prstDash val="solid"/>
              <a:miter/>
            </a:ln>
          </p:spPr>
          <p:txBody>
            <a:bodyPr rtlCol="0" anchor="ctr"/>
            <a:lstStyle/>
            <a:p>
              <a:endParaRPr lang="ru-RU" sz="1212"/>
            </a:p>
          </p:txBody>
        </p:sp>
      </p:grpSp>
      <p:sp>
        <p:nvSpPr>
          <p:cNvPr id="45" name="Текст 44">
            <a:extLst>
              <a:ext uri="{FF2B5EF4-FFF2-40B4-BE49-F238E27FC236}">
                <a16:creationId xmlns="" xmlns:a16="http://schemas.microsoft.com/office/drawing/2014/main" id="{25A1BD90-2D50-4233-8B35-F82ECEA15CCD}"/>
              </a:ext>
            </a:extLst>
          </p:cNvPr>
          <p:cNvSpPr>
            <a:spLocks noGrp="1" noChangeAspect="1"/>
          </p:cNvSpPr>
          <p:nvPr>
            <p:ph type="body" sz="quarter" idx="10" hasCustomPrompt="1"/>
          </p:nvPr>
        </p:nvSpPr>
        <p:spPr>
          <a:xfrm>
            <a:off x="9208245" y="143327"/>
            <a:ext cx="372592" cy="317197"/>
          </a:xfrm>
          <a:prstGeom prst="hexagon">
            <a:avLst/>
          </a:prstGeom>
          <a:solidFill>
            <a:schemeClr val="accent1">
              <a:lumMod val="20000"/>
              <a:lumOff val="80000"/>
            </a:schemeClr>
          </a:solidFill>
          <a:ln w="3175">
            <a:noFill/>
          </a:ln>
        </p:spPr>
        <p:txBody>
          <a:bodyPr lIns="0" tIns="0" rIns="0" bIns="0" anchor="ctr"/>
          <a:lstStyle>
            <a:lvl1pPr marL="0" indent="0" algn="ctr">
              <a:buNone/>
              <a:defRPr sz="1296" b="1">
                <a:solidFill>
                  <a:srgbClr val="F9BD27"/>
                </a:solidFill>
                <a:latin typeface="Arial" panose="020B0604020202020204" pitchFamily="34" charset="0"/>
                <a:cs typeface="Arial" panose="020B0604020202020204" pitchFamily="34" charset="0"/>
              </a:defRPr>
            </a:lvl1pPr>
          </a:lstStyle>
          <a:p>
            <a:pPr lvl="0"/>
            <a:r>
              <a:rPr lang="ru-RU" dirty="0"/>
              <a:t>№</a:t>
            </a:r>
          </a:p>
        </p:txBody>
      </p:sp>
      <p:sp>
        <p:nvSpPr>
          <p:cNvPr id="47" name="Заголовок 46">
            <a:extLst>
              <a:ext uri="{FF2B5EF4-FFF2-40B4-BE49-F238E27FC236}">
                <a16:creationId xmlns="" xmlns:a16="http://schemas.microsoft.com/office/drawing/2014/main" id="{F7F1D3BA-BC18-475E-BE3D-9A54117FDCD2}"/>
              </a:ext>
            </a:extLst>
          </p:cNvPr>
          <p:cNvSpPr>
            <a:spLocks noGrp="1"/>
          </p:cNvSpPr>
          <p:nvPr>
            <p:ph type="title" hasCustomPrompt="1"/>
          </p:nvPr>
        </p:nvSpPr>
        <p:spPr>
          <a:xfrm>
            <a:off x="1845807" y="143327"/>
            <a:ext cx="7113238" cy="540821"/>
          </a:xfrm>
          <a:prstGeom prst="rect">
            <a:avLst/>
          </a:prstGeom>
          <a:noFill/>
        </p:spPr>
        <p:txBody>
          <a:bodyPr lIns="216000" anchor="ctr"/>
          <a:lstStyle>
            <a:lvl1pPr algn="l">
              <a:defRPr sz="1296" b="1">
                <a:latin typeface="Arial" panose="020B0604020202020204" pitchFamily="34" charset="0"/>
                <a:cs typeface="Arial" panose="020B0604020202020204" pitchFamily="34" charset="0"/>
              </a:defRPr>
            </a:lvl1pPr>
          </a:lstStyle>
          <a:p>
            <a:r>
              <a:rPr lang="ru-RU" dirty="0"/>
              <a:t>ОБРАЗЕЦ ЗАГОЛОВКА</a:t>
            </a:r>
          </a:p>
        </p:txBody>
      </p:sp>
      <p:sp>
        <p:nvSpPr>
          <p:cNvPr id="48" name="Нижний колонтитул 47">
            <a:extLst>
              <a:ext uri="{FF2B5EF4-FFF2-40B4-BE49-F238E27FC236}">
                <a16:creationId xmlns="" xmlns:a16="http://schemas.microsoft.com/office/drawing/2014/main" id="{8E78B35F-5196-40F9-BA5B-3D58964066E6}"/>
              </a:ext>
            </a:extLst>
          </p:cNvPr>
          <p:cNvSpPr>
            <a:spLocks noGrp="1"/>
          </p:cNvSpPr>
          <p:nvPr>
            <p:ph type="ftr" sz="quarter" idx="11"/>
          </p:nvPr>
        </p:nvSpPr>
        <p:spPr/>
        <p:txBody>
          <a:bodyPr/>
          <a:lstStyle/>
          <a:p>
            <a:endParaRPr lang="ru-RU" dirty="0"/>
          </a:p>
        </p:txBody>
      </p:sp>
      <p:sp>
        <p:nvSpPr>
          <p:cNvPr id="49" name="Номер слайда 48">
            <a:extLst>
              <a:ext uri="{FF2B5EF4-FFF2-40B4-BE49-F238E27FC236}">
                <a16:creationId xmlns="" xmlns:a16="http://schemas.microsoft.com/office/drawing/2014/main" id="{DB2598F8-02B5-4C65-9A36-F577B2C1101D}"/>
              </a:ext>
            </a:extLst>
          </p:cNvPr>
          <p:cNvSpPr>
            <a:spLocks noGrp="1"/>
          </p:cNvSpPr>
          <p:nvPr>
            <p:ph type="sldNum" sz="quarter" idx="12"/>
          </p:nvPr>
        </p:nvSpPr>
        <p:spPr/>
        <p:txBody>
          <a:bodyPr/>
          <a:lstStyle/>
          <a:p>
            <a:fld id="{5100B139-BD82-4293-9FDA-44725340297B}" type="slidenum">
              <a:rPr lang="ru-RU" smtClean="0"/>
              <a:pPr/>
              <a:t>‹#›</a:t>
            </a:fld>
            <a:endParaRPr lang="ru-RU"/>
          </a:p>
        </p:txBody>
      </p:sp>
      <p:sp>
        <p:nvSpPr>
          <p:cNvPr id="2" name="Прямоугольник: скругленные углы 1">
            <a:extLst>
              <a:ext uri="{FF2B5EF4-FFF2-40B4-BE49-F238E27FC236}">
                <a16:creationId xmlns="" xmlns:a16="http://schemas.microsoft.com/office/drawing/2014/main" id="{293CD58F-7663-4A9A-AE67-A4CFFE442DC0}"/>
              </a:ext>
            </a:extLst>
          </p:cNvPr>
          <p:cNvSpPr/>
          <p:nvPr userDrawn="1"/>
        </p:nvSpPr>
        <p:spPr>
          <a:xfrm>
            <a:off x="1778003" y="145782"/>
            <a:ext cx="7075" cy="396497"/>
          </a:xfrm>
          <a:prstGeom prst="roundRect">
            <a:avLst>
              <a:gd name="adj" fmla="val 50000"/>
            </a:avLst>
          </a:prstGeom>
          <a:solidFill>
            <a:srgbClr val="6B6B6B"/>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212"/>
          </a:p>
        </p:txBody>
      </p:sp>
    </p:spTree>
    <p:extLst>
      <p:ext uri="{BB962C8B-B14F-4D97-AF65-F5344CB8AC3E}">
        <p14:creationId xmlns:p14="http://schemas.microsoft.com/office/powerpoint/2010/main" val="146384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Пользовательский макет">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57178"/>
            <a:ext cx="3130384" cy="290335"/>
          </a:xfrm>
          <a:prstGeom prst="rect">
            <a:avLst/>
          </a:prstGeom>
        </p:spPr>
      </p:pic>
      <p:pic>
        <p:nvPicPr>
          <p:cNvPr id="5" name="Рисунок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25527" y="6198354"/>
            <a:ext cx="2079863" cy="273744"/>
          </a:xfrm>
          <a:prstGeom prst="rect">
            <a:avLst/>
          </a:prstGeom>
        </p:spPr>
      </p:pic>
      <p:pic>
        <p:nvPicPr>
          <p:cNvPr id="6" name="Рисунок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08388" y="335986"/>
            <a:ext cx="673520" cy="680212"/>
          </a:xfrm>
          <a:prstGeom prst="rect">
            <a:avLst/>
          </a:prstGeom>
        </p:spPr>
      </p:pic>
      <p:sp>
        <p:nvSpPr>
          <p:cNvPr id="8" name="Текст 7"/>
          <p:cNvSpPr>
            <a:spLocks noGrp="1"/>
          </p:cNvSpPr>
          <p:nvPr>
            <p:ph type="body" sz="quarter" idx="10" hasCustomPrompt="1"/>
          </p:nvPr>
        </p:nvSpPr>
        <p:spPr>
          <a:xfrm>
            <a:off x="8708388" y="6483619"/>
            <a:ext cx="673520" cy="374382"/>
          </a:xfrm>
          <a:prstGeom prst="rect">
            <a:avLst/>
          </a:prstGeom>
        </p:spPr>
        <p:txBody>
          <a:bodyPr/>
          <a:lstStyle>
            <a:lvl1pPr marL="0" indent="0" algn="ctr">
              <a:lnSpc>
                <a:spcPct val="100000"/>
              </a:lnSpc>
              <a:spcBef>
                <a:spcPts val="0"/>
              </a:spcBef>
              <a:buFontTx/>
              <a:buNone/>
              <a:defRPr sz="952">
                <a:solidFill>
                  <a:schemeClr val="tx1">
                    <a:lumMod val="50000"/>
                    <a:lumOff val="50000"/>
                  </a:schemeClr>
                </a:solidFill>
              </a:defRPr>
            </a:lvl1pPr>
          </a:lstStyle>
          <a:p>
            <a:pPr lvl="0"/>
            <a:fld id="{CC2A3BF2-8EDA-498F-AFB2-2647E551DFC4}" type="slidenum">
              <a:rPr lang="en-US" smtClean="0"/>
              <a:t>‹#›</a:t>
            </a:fld>
            <a:endParaRPr lang="ru-RU" dirty="0"/>
          </a:p>
        </p:txBody>
      </p:sp>
      <p:sp>
        <p:nvSpPr>
          <p:cNvPr id="10" name="Текст 9"/>
          <p:cNvSpPr>
            <a:spLocks noGrp="1"/>
          </p:cNvSpPr>
          <p:nvPr>
            <p:ph type="body" sz="quarter" idx="11" hasCustomPrompt="1"/>
          </p:nvPr>
        </p:nvSpPr>
        <p:spPr>
          <a:xfrm>
            <a:off x="450073" y="0"/>
            <a:ext cx="7236453" cy="1002345"/>
          </a:xfrm>
          <a:prstGeom prst="rect">
            <a:avLst/>
          </a:prstGeom>
        </p:spPr>
        <p:txBody>
          <a:bodyPr lIns="90000" tIns="36000" bIns="72000" anchor="ctr"/>
          <a:lstStyle>
            <a:lvl1pPr marL="0" indent="0">
              <a:lnSpc>
                <a:spcPct val="100000"/>
              </a:lnSpc>
              <a:spcBef>
                <a:spcPts val="0"/>
              </a:spcBef>
              <a:buFontTx/>
              <a:buNone/>
              <a:defRPr sz="1270" baseline="0">
                <a:solidFill>
                  <a:schemeClr val="tx1">
                    <a:lumMod val="95000"/>
                    <a:lumOff val="5000"/>
                  </a:schemeClr>
                </a:solidFill>
              </a:defRPr>
            </a:lvl1pPr>
            <a:lvl2pPr marL="457103" indent="0">
              <a:buFontTx/>
              <a:buNone/>
              <a:defRPr sz="1451"/>
            </a:lvl2pPr>
            <a:lvl3pPr marL="914208" indent="0">
              <a:buFontTx/>
              <a:buNone/>
              <a:defRPr sz="1451"/>
            </a:lvl3pPr>
            <a:lvl4pPr marL="1371312" indent="0">
              <a:buFontTx/>
              <a:buNone/>
              <a:defRPr sz="1451"/>
            </a:lvl4pPr>
            <a:lvl5pPr marL="1828416" indent="0">
              <a:buFontTx/>
              <a:buNone/>
              <a:defRPr sz="1451"/>
            </a:lvl5pPr>
          </a:lstStyle>
          <a:p>
            <a:pPr lvl="0"/>
            <a:r>
              <a:rPr lang="ru-RU" dirty="0" smtClean="0"/>
              <a:t>Название слайда</a:t>
            </a:r>
            <a:endParaRPr lang="ru-RU" dirty="0"/>
          </a:p>
        </p:txBody>
      </p:sp>
    </p:spTree>
    <p:extLst>
      <p:ext uri="{BB962C8B-B14F-4D97-AF65-F5344CB8AC3E}">
        <p14:creationId xmlns:p14="http://schemas.microsoft.com/office/powerpoint/2010/main" val="3541036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extLst mod="1">
    <p:ext uri="{DCECCB84-F9BA-43D5-87BE-67443E8EF086}">
      <p15:sldGuideLst xmlns:p15="http://schemas.microsoft.com/office/powerpoint/2012/main">
        <p15:guide id="1" orient="horz" pos="342">
          <p15:clr>
            <a:srgbClr val="FBAE40"/>
          </p15:clr>
        </p15:guide>
        <p15:guide id="2" pos="47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Header_РН_Стандарт_0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2"/>
            </p:custDataLst>
          </p:nvPr>
        </p:nvGraphicFramePr>
        <p:xfrm>
          <a:off x="1472" y="1441"/>
          <a:ext cx="1470" cy="1440"/>
        </p:xfrm>
        <a:graphic>
          <a:graphicData uri="http://schemas.openxmlformats.org/presentationml/2006/ole">
            <mc:AlternateContent xmlns:mc="http://schemas.openxmlformats.org/markup-compatibility/2006">
              <mc:Choice xmlns:v="urn:schemas-microsoft-com:vml" Requires="v">
                <p:oleObj spid="_x0000_s28697" name="think-cell Slide" r:id="rId4" imgW="395" imgH="394" progId="TCLayout.ActiveDocument.1">
                  <p:embed/>
                </p:oleObj>
              </mc:Choice>
              <mc:Fallback>
                <p:oleObj name="think-cell Slide" r:id="rId4" imgW="395" imgH="394" progId="TCLayout.ActiveDocument.1">
                  <p:embed/>
                  <p:pic>
                    <p:nvPicPr>
                      <p:cNvPr id="0" name=""/>
                      <p:cNvPicPr/>
                      <p:nvPr/>
                    </p:nvPicPr>
                    <p:blipFill>
                      <a:blip r:embed="rId5"/>
                      <a:stretch>
                        <a:fillRect/>
                      </a:stretch>
                    </p:blipFill>
                    <p:spPr>
                      <a:xfrm>
                        <a:off x="1472" y="1441"/>
                        <a:ext cx="1470" cy="1440"/>
                      </a:xfrm>
                      <a:prstGeom prst="rect">
                        <a:avLst/>
                      </a:prstGeom>
                    </p:spPr>
                  </p:pic>
                </p:oleObj>
              </mc:Fallback>
            </mc:AlternateContent>
          </a:graphicData>
        </a:graphic>
      </p:graphicFrame>
      <p:sp>
        <p:nvSpPr>
          <p:cNvPr id="37" name="Прямоугольник 36"/>
          <p:cNvSpPr/>
          <p:nvPr/>
        </p:nvSpPr>
        <p:spPr>
          <a:xfrm>
            <a:off x="8904258" y="1180"/>
            <a:ext cx="1001746" cy="704361"/>
          </a:xfrm>
          <a:prstGeom prst="rect">
            <a:avLst/>
          </a:prstGeom>
          <a:solidFill>
            <a:srgbClr val="FCCE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83" tIns="27040" rIns="54083" bIns="27040" spcCol="0" rtlCol="0" anchor="ctr"/>
          <a:lstStyle/>
          <a:p>
            <a:pPr algn="ctr" defTabSz="791304"/>
            <a:endParaRPr lang="ru-RU" sz="816" b="1">
              <a:solidFill>
                <a:prstClr val="white"/>
              </a:solidFill>
            </a:endParaRPr>
          </a:p>
        </p:txBody>
      </p:sp>
      <p:pic>
        <p:nvPicPr>
          <p:cNvPr id="38"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r="59644"/>
          <a:stretch/>
        </p:blipFill>
        <p:spPr bwMode="auto">
          <a:xfrm>
            <a:off x="8272792" y="-6143"/>
            <a:ext cx="1631609" cy="70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 name="Группа 38"/>
          <p:cNvGrpSpPr/>
          <p:nvPr/>
        </p:nvGrpSpPr>
        <p:grpSpPr>
          <a:xfrm>
            <a:off x="245170" y="72566"/>
            <a:ext cx="453575" cy="576266"/>
            <a:chOff x="3897313" y="638175"/>
            <a:chExt cx="1193800" cy="1533525"/>
          </a:xfrm>
        </p:grpSpPr>
        <p:sp>
          <p:nvSpPr>
            <p:cNvPr id="40" name="Freeform 14"/>
            <p:cNvSpPr>
              <a:spLocks/>
            </p:cNvSpPr>
            <p:nvPr/>
          </p:nvSpPr>
          <p:spPr bwMode="auto">
            <a:xfrm>
              <a:off x="3897313" y="638175"/>
              <a:ext cx="1193800" cy="1533525"/>
            </a:xfrm>
            <a:custGeom>
              <a:avLst/>
              <a:gdLst>
                <a:gd name="T0" fmla="*/ 1682 w 4689"/>
                <a:gd name="T1" fmla="*/ 0 h 6018"/>
                <a:gd name="T2" fmla="*/ 1682 w 4689"/>
                <a:gd name="T3" fmla="*/ 500 h 6018"/>
                <a:gd name="T4" fmla="*/ 1124 w 4689"/>
                <a:gd name="T5" fmla="*/ 500 h 6018"/>
                <a:gd name="T6" fmla="*/ 1124 w 4689"/>
                <a:gd name="T7" fmla="*/ 1000 h 6018"/>
                <a:gd name="T8" fmla="*/ 563 w 4689"/>
                <a:gd name="T9" fmla="*/ 1000 h 6018"/>
                <a:gd name="T10" fmla="*/ 563 w 4689"/>
                <a:gd name="T11" fmla="*/ 1515 h 6018"/>
                <a:gd name="T12" fmla="*/ 0 w 4689"/>
                <a:gd name="T13" fmla="*/ 1515 h 6018"/>
                <a:gd name="T14" fmla="*/ 0 w 4689"/>
                <a:gd name="T15" fmla="*/ 3222 h 6018"/>
                <a:gd name="T16" fmla="*/ 1131 w 4689"/>
                <a:gd name="T17" fmla="*/ 4202 h 6018"/>
                <a:gd name="T18" fmla="*/ 1131 w 4689"/>
                <a:gd name="T19" fmla="*/ 6018 h 6018"/>
                <a:gd name="T20" fmla="*/ 3564 w 4689"/>
                <a:gd name="T21" fmla="*/ 6018 h 6018"/>
                <a:gd name="T22" fmla="*/ 3564 w 4689"/>
                <a:gd name="T23" fmla="*/ 4210 h 6018"/>
                <a:gd name="T24" fmla="*/ 4689 w 4689"/>
                <a:gd name="T25" fmla="*/ 3221 h 6018"/>
                <a:gd name="T26" fmla="*/ 4689 w 4689"/>
                <a:gd name="T27" fmla="*/ 1515 h 6018"/>
                <a:gd name="T28" fmla="*/ 4130 w 4689"/>
                <a:gd name="T29" fmla="*/ 1515 h 6018"/>
                <a:gd name="T30" fmla="*/ 4130 w 4689"/>
                <a:gd name="T31" fmla="*/ 1005 h 6018"/>
                <a:gd name="T32" fmla="*/ 3564 w 4689"/>
                <a:gd name="T33" fmla="*/ 1005 h 6018"/>
                <a:gd name="T34" fmla="*/ 3564 w 4689"/>
                <a:gd name="T35" fmla="*/ 500 h 6018"/>
                <a:gd name="T36" fmla="*/ 2999 w 4689"/>
                <a:gd name="T37" fmla="*/ 500 h 6018"/>
                <a:gd name="T38" fmla="*/ 2999 w 4689"/>
                <a:gd name="T39" fmla="*/ 0 h 6018"/>
                <a:gd name="T40" fmla="*/ 1682 w 4689"/>
                <a:gd name="T41" fmla="*/ 0 h 6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89" h="6018">
                  <a:moveTo>
                    <a:pt x="1682" y="0"/>
                  </a:moveTo>
                  <a:lnTo>
                    <a:pt x="1682" y="500"/>
                  </a:lnTo>
                  <a:lnTo>
                    <a:pt x="1124" y="500"/>
                  </a:lnTo>
                  <a:lnTo>
                    <a:pt x="1124" y="1000"/>
                  </a:lnTo>
                  <a:lnTo>
                    <a:pt x="563" y="1000"/>
                  </a:lnTo>
                  <a:lnTo>
                    <a:pt x="563" y="1515"/>
                  </a:lnTo>
                  <a:lnTo>
                    <a:pt x="0" y="1515"/>
                  </a:lnTo>
                  <a:lnTo>
                    <a:pt x="0" y="3222"/>
                  </a:lnTo>
                  <a:cubicBezTo>
                    <a:pt x="0" y="3222"/>
                    <a:pt x="990" y="4077"/>
                    <a:pt x="1131" y="4202"/>
                  </a:cubicBezTo>
                  <a:lnTo>
                    <a:pt x="1131" y="6018"/>
                  </a:lnTo>
                  <a:lnTo>
                    <a:pt x="3564" y="6018"/>
                  </a:lnTo>
                  <a:lnTo>
                    <a:pt x="3564" y="4210"/>
                  </a:lnTo>
                  <a:cubicBezTo>
                    <a:pt x="3703" y="4088"/>
                    <a:pt x="4689" y="3221"/>
                    <a:pt x="4689" y="3221"/>
                  </a:cubicBezTo>
                  <a:lnTo>
                    <a:pt x="4689" y="1515"/>
                  </a:lnTo>
                  <a:lnTo>
                    <a:pt x="4130" y="1515"/>
                  </a:lnTo>
                  <a:lnTo>
                    <a:pt x="4130" y="1005"/>
                  </a:lnTo>
                  <a:lnTo>
                    <a:pt x="3564" y="1005"/>
                  </a:lnTo>
                  <a:lnTo>
                    <a:pt x="3564" y="500"/>
                  </a:lnTo>
                  <a:lnTo>
                    <a:pt x="2999" y="500"/>
                  </a:lnTo>
                  <a:lnTo>
                    <a:pt x="2999" y="0"/>
                  </a:lnTo>
                  <a:lnTo>
                    <a:pt x="1682" y="0"/>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1" name="Rectangle 15"/>
            <p:cNvSpPr>
              <a:spLocks noChangeArrowheads="1"/>
            </p:cNvSpPr>
            <p:nvPr/>
          </p:nvSpPr>
          <p:spPr bwMode="auto">
            <a:xfrm>
              <a:off x="4289425" y="1497013"/>
              <a:ext cx="120650" cy="573088"/>
            </a:xfrm>
            <a:prstGeom prst="rect">
              <a:avLst/>
            </a:prstGeom>
            <a:solidFill>
              <a:srgbClr val="FCCE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2" name="Rectangle 16"/>
            <p:cNvSpPr>
              <a:spLocks noChangeArrowheads="1"/>
            </p:cNvSpPr>
            <p:nvPr/>
          </p:nvSpPr>
          <p:spPr bwMode="auto">
            <a:xfrm>
              <a:off x="4432300" y="1379538"/>
              <a:ext cx="122238" cy="690563"/>
            </a:xfrm>
            <a:prstGeom prst="rect">
              <a:avLst/>
            </a:prstGeom>
            <a:solidFill>
              <a:srgbClr val="FCCE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3" name="Rectangle 17"/>
            <p:cNvSpPr>
              <a:spLocks noChangeArrowheads="1"/>
            </p:cNvSpPr>
            <p:nvPr/>
          </p:nvSpPr>
          <p:spPr bwMode="auto">
            <a:xfrm>
              <a:off x="4576763" y="1497013"/>
              <a:ext cx="120650" cy="573088"/>
            </a:xfrm>
            <a:prstGeom prst="rect">
              <a:avLst/>
            </a:prstGeom>
            <a:solidFill>
              <a:srgbClr val="FCCE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4" name="Freeform 18"/>
            <p:cNvSpPr>
              <a:spLocks/>
            </p:cNvSpPr>
            <p:nvPr/>
          </p:nvSpPr>
          <p:spPr bwMode="auto">
            <a:xfrm>
              <a:off x="4000500" y="1123950"/>
              <a:ext cx="122238" cy="396875"/>
            </a:xfrm>
            <a:custGeom>
              <a:avLst/>
              <a:gdLst>
                <a:gd name="T0" fmla="*/ 476 w 476"/>
                <a:gd name="T1" fmla="*/ 1553 h 1553"/>
                <a:gd name="T2" fmla="*/ 0 w 476"/>
                <a:gd name="T3" fmla="*/ 1150 h 1553"/>
                <a:gd name="T4" fmla="*/ 0 w 476"/>
                <a:gd name="T5" fmla="*/ 0 h 1553"/>
                <a:gd name="T6" fmla="*/ 476 w 476"/>
                <a:gd name="T7" fmla="*/ 0 h 1553"/>
                <a:gd name="T8" fmla="*/ 476 w 476"/>
                <a:gd name="T9" fmla="*/ 1553 h 1553"/>
              </a:gdLst>
              <a:ahLst/>
              <a:cxnLst>
                <a:cxn ang="0">
                  <a:pos x="T0" y="T1"/>
                </a:cxn>
                <a:cxn ang="0">
                  <a:pos x="T2" y="T3"/>
                </a:cxn>
                <a:cxn ang="0">
                  <a:pos x="T4" y="T5"/>
                </a:cxn>
                <a:cxn ang="0">
                  <a:pos x="T6" y="T7"/>
                </a:cxn>
                <a:cxn ang="0">
                  <a:pos x="T8" y="T9"/>
                </a:cxn>
              </a:cxnLst>
              <a:rect l="0" t="0" r="r" b="b"/>
              <a:pathLst>
                <a:path w="476" h="1553">
                  <a:moveTo>
                    <a:pt x="476" y="1553"/>
                  </a:moveTo>
                  <a:lnTo>
                    <a:pt x="0" y="1150"/>
                  </a:lnTo>
                  <a:lnTo>
                    <a:pt x="0" y="0"/>
                  </a:lnTo>
                  <a:lnTo>
                    <a:pt x="476" y="0"/>
                  </a:lnTo>
                  <a:lnTo>
                    <a:pt x="476" y="1553"/>
                  </a:lnTo>
                  <a:close/>
                </a:path>
              </a:pathLst>
            </a:custGeom>
            <a:solidFill>
              <a:srgbClr val="00010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5" name="Freeform 19"/>
            <p:cNvSpPr>
              <a:spLocks/>
            </p:cNvSpPr>
            <p:nvPr/>
          </p:nvSpPr>
          <p:spPr bwMode="auto">
            <a:xfrm>
              <a:off x="4144963" y="995363"/>
              <a:ext cx="122238" cy="652463"/>
            </a:xfrm>
            <a:custGeom>
              <a:avLst/>
              <a:gdLst>
                <a:gd name="T0" fmla="*/ 478 w 478"/>
                <a:gd name="T1" fmla="*/ 2564 h 2564"/>
                <a:gd name="T2" fmla="*/ 0 w 478"/>
                <a:gd name="T3" fmla="*/ 2120 h 2564"/>
                <a:gd name="T4" fmla="*/ 0 w 478"/>
                <a:gd name="T5" fmla="*/ 0 h 2564"/>
                <a:gd name="T6" fmla="*/ 478 w 478"/>
                <a:gd name="T7" fmla="*/ 0 h 2564"/>
                <a:gd name="T8" fmla="*/ 478 w 478"/>
                <a:gd name="T9" fmla="*/ 2564 h 2564"/>
              </a:gdLst>
              <a:ahLst/>
              <a:cxnLst>
                <a:cxn ang="0">
                  <a:pos x="T0" y="T1"/>
                </a:cxn>
                <a:cxn ang="0">
                  <a:pos x="T2" y="T3"/>
                </a:cxn>
                <a:cxn ang="0">
                  <a:pos x="T4" y="T5"/>
                </a:cxn>
                <a:cxn ang="0">
                  <a:pos x="T6" y="T7"/>
                </a:cxn>
                <a:cxn ang="0">
                  <a:pos x="T8" y="T9"/>
                </a:cxn>
              </a:cxnLst>
              <a:rect l="0" t="0" r="r" b="b"/>
              <a:pathLst>
                <a:path w="478" h="2564">
                  <a:moveTo>
                    <a:pt x="478" y="2564"/>
                  </a:moveTo>
                  <a:lnTo>
                    <a:pt x="0" y="2120"/>
                  </a:lnTo>
                  <a:lnTo>
                    <a:pt x="0" y="0"/>
                  </a:lnTo>
                  <a:lnTo>
                    <a:pt x="478" y="0"/>
                  </a:lnTo>
                  <a:lnTo>
                    <a:pt x="478" y="2564"/>
                  </a:lnTo>
                  <a:close/>
                </a:path>
              </a:pathLst>
            </a:custGeom>
            <a:solidFill>
              <a:srgbClr val="00010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6" name="Rectangle 20"/>
            <p:cNvSpPr>
              <a:spLocks noChangeArrowheads="1"/>
            </p:cNvSpPr>
            <p:nvPr/>
          </p:nvSpPr>
          <p:spPr bwMode="auto">
            <a:xfrm>
              <a:off x="4289425" y="866775"/>
              <a:ext cx="120650" cy="612775"/>
            </a:xfrm>
            <a:prstGeom prst="rect">
              <a:avLst/>
            </a:prstGeom>
            <a:solidFill>
              <a:srgbClr val="00010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7" name="Rectangle 21"/>
            <p:cNvSpPr>
              <a:spLocks noChangeArrowheads="1"/>
            </p:cNvSpPr>
            <p:nvPr/>
          </p:nvSpPr>
          <p:spPr bwMode="auto">
            <a:xfrm>
              <a:off x="4432300" y="738188"/>
              <a:ext cx="122238" cy="615950"/>
            </a:xfrm>
            <a:prstGeom prst="rect">
              <a:avLst/>
            </a:prstGeom>
            <a:solidFill>
              <a:srgbClr val="00010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8" name="Freeform 22"/>
            <p:cNvSpPr>
              <a:spLocks/>
            </p:cNvSpPr>
            <p:nvPr/>
          </p:nvSpPr>
          <p:spPr bwMode="auto">
            <a:xfrm>
              <a:off x="4864100" y="1123950"/>
              <a:ext cx="122238" cy="396875"/>
            </a:xfrm>
            <a:custGeom>
              <a:avLst/>
              <a:gdLst>
                <a:gd name="T0" fmla="*/ 0 w 477"/>
                <a:gd name="T1" fmla="*/ 1553 h 1553"/>
                <a:gd name="T2" fmla="*/ 477 w 477"/>
                <a:gd name="T3" fmla="*/ 1150 h 1553"/>
                <a:gd name="T4" fmla="*/ 477 w 477"/>
                <a:gd name="T5" fmla="*/ 0 h 1553"/>
                <a:gd name="T6" fmla="*/ 0 w 477"/>
                <a:gd name="T7" fmla="*/ 0 h 1553"/>
                <a:gd name="T8" fmla="*/ 0 w 477"/>
                <a:gd name="T9" fmla="*/ 1553 h 1553"/>
              </a:gdLst>
              <a:ahLst/>
              <a:cxnLst>
                <a:cxn ang="0">
                  <a:pos x="T0" y="T1"/>
                </a:cxn>
                <a:cxn ang="0">
                  <a:pos x="T2" y="T3"/>
                </a:cxn>
                <a:cxn ang="0">
                  <a:pos x="T4" y="T5"/>
                </a:cxn>
                <a:cxn ang="0">
                  <a:pos x="T6" y="T7"/>
                </a:cxn>
                <a:cxn ang="0">
                  <a:pos x="T8" y="T9"/>
                </a:cxn>
              </a:cxnLst>
              <a:rect l="0" t="0" r="r" b="b"/>
              <a:pathLst>
                <a:path w="477" h="1553">
                  <a:moveTo>
                    <a:pt x="0" y="1553"/>
                  </a:moveTo>
                  <a:lnTo>
                    <a:pt x="477" y="1150"/>
                  </a:lnTo>
                  <a:lnTo>
                    <a:pt x="477" y="0"/>
                  </a:lnTo>
                  <a:lnTo>
                    <a:pt x="0" y="0"/>
                  </a:lnTo>
                  <a:lnTo>
                    <a:pt x="0" y="1553"/>
                  </a:lnTo>
                  <a:close/>
                </a:path>
              </a:pathLst>
            </a:custGeom>
            <a:solidFill>
              <a:srgbClr val="00010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49" name="Freeform 23"/>
            <p:cNvSpPr>
              <a:spLocks/>
            </p:cNvSpPr>
            <p:nvPr/>
          </p:nvSpPr>
          <p:spPr bwMode="auto">
            <a:xfrm>
              <a:off x="4721225" y="995363"/>
              <a:ext cx="120650" cy="652463"/>
            </a:xfrm>
            <a:custGeom>
              <a:avLst/>
              <a:gdLst>
                <a:gd name="T0" fmla="*/ 0 w 475"/>
                <a:gd name="T1" fmla="*/ 2564 h 2564"/>
                <a:gd name="T2" fmla="*/ 475 w 475"/>
                <a:gd name="T3" fmla="*/ 2120 h 2564"/>
                <a:gd name="T4" fmla="*/ 475 w 475"/>
                <a:gd name="T5" fmla="*/ 0 h 2564"/>
                <a:gd name="T6" fmla="*/ 0 w 475"/>
                <a:gd name="T7" fmla="*/ 0 h 2564"/>
                <a:gd name="T8" fmla="*/ 0 w 475"/>
                <a:gd name="T9" fmla="*/ 2564 h 2564"/>
              </a:gdLst>
              <a:ahLst/>
              <a:cxnLst>
                <a:cxn ang="0">
                  <a:pos x="T0" y="T1"/>
                </a:cxn>
                <a:cxn ang="0">
                  <a:pos x="T2" y="T3"/>
                </a:cxn>
                <a:cxn ang="0">
                  <a:pos x="T4" y="T5"/>
                </a:cxn>
                <a:cxn ang="0">
                  <a:pos x="T6" y="T7"/>
                </a:cxn>
                <a:cxn ang="0">
                  <a:pos x="T8" y="T9"/>
                </a:cxn>
              </a:cxnLst>
              <a:rect l="0" t="0" r="r" b="b"/>
              <a:pathLst>
                <a:path w="475" h="2564">
                  <a:moveTo>
                    <a:pt x="0" y="2564"/>
                  </a:moveTo>
                  <a:lnTo>
                    <a:pt x="475" y="2120"/>
                  </a:lnTo>
                  <a:lnTo>
                    <a:pt x="475" y="0"/>
                  </a:lnTo>
                  <a:lnTo>
                    <a:pt x="0" y="0"/>
                  </a:lnTo>
                  <a:lnTo>
                    <a:pt x="0" y="2564"/>
                  </a:lnTo>
                  <a:close/>
                </a:path>
              </a:pathLst>
            </a:custGeom>
            <a:solidFill>
              <a:srgbClr val="00010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sp>
          <p:nvSpPr>
            <p:cNvPr id="50" name="Rectangle 24"/>
            <p:cNvSpPr>
              <a:spLocks noChangeArrowheads="1"/>
            </p:cNvSpPr>
            <p:nvPr/>
          </p:nvSpPr>
          <p:spPr bwMode="auto">
            <a:xfrm>
              <a:off x="4576763" y="866775"/>
              <a:ext cx="120650" cy="612775"/>
            </a:xfrm>
            <a:prstGeom prst="rect">
              <a:avLst/>
            </a:prstGeom>
            <a:solidFill>
              <a:srgbClr val="00010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791304"/>
              <a:endParaRPr lang="ru-RU" sz="1542">
                <a:solidFill>
                  <a:prstClr val="black"/>
                </a:solidFill>
              </a:endParaRPr>
            </a:p>
          </p:txBody>
        </p:sp>
      </p:grpSp>
      <p:cxnSp>
        <p:nvCxnSpPr>
          <p:cNvPr id="51" name="Прямая соединительная линия 50"/>
          <p:cNvCxnSpPr/>
          <p:nvPr userDrawn="1"/>
        </p:nvCxnSpPr>
        <p:spPr bwMode="auto">
          <a:xfrm>
            <a:off x="10" y="700677"/>
            <a:ext cx="9905999" cy="0"/>
          </a:xfrm>
          <a:prstGeom prst="line">
            <a:avLst/>
          </a:prstGeom>
          <a:noFill/>
          <a:ln w="28575" cap="flat" cmpd="sng" algn="ctr">
            <a:solidFill>
              <a:schemeClr val="tx2"/>
            </a:solidFill>
            <a:prstDash val="solid"/>
            <a:round/>
            <a:headEnd type="none" w="med" len="med"/>
            <a:tailEnd type="none" w="med" len="med"/>
          </a:ln>
          <a:effectLst/>
        </p:spPr>
      </p:cxnSp>
      <p:pic>
        <p:nvPicPr>
          <p:cNvPr id="9" name="Picture 8"/>
          <p:cNvPicPr>
            <a:picLocks noChangeAspect="1"/>
          </p:cNvPicPr>
          <p:nvPr userDrawn="1"/>
        </p:nvPicPr>
        <p:blipFill>
          <a:blip r:embed="rId7"/>
          <a:stretch>
            <a:fillRect/>
          </a:stretch>
        </p:blipFill>
        <p:spPr>
          <a:xfrm>
            <a:off x="8931718" y="92575"/>
            <a:ext cx="588730" cy="577074"/>
          </a:xfrm>
          <a:prstGeom prst="rect">
            <a:avLst/>
          </a:prstGeom>
        </p:spPr>
      </p:pic>
      <p:sp>
        <p:nvSpPr>
          <p:cNvPr id="10" name="Title 9"/>
          <p:cNvSpPr>
            <a:spLocks noGrp="1"/>
          </p:cNvSpPr>
          <p:nvPr>
            <p:ph type="title"/>
          </p:nvPr>
        </p:nvSpPr>
        <p:spPr>
          <a:xfrm>
            <a:off x="902010" y="158469"/>
            <a:ext cx="7330974" cy="537346"/>
          </a:xfrm>
          <a:prstGeom prst="rect">
            <a:avLst/>
          </a:prstGeom>
        </p:spPr>
        <p:txBody>
          <a:bodyPr lIns="0" rIns="0" anchor="ctr"/>
          <a:lstStyle>
            <a:lvl1pPr algn="l">
              <a:defRPr sz="1814" b="1">
                <a:latin typeface="Arial" panose="020B0604020202020204" pitchFamily="34" charset="0"/>
                <a:cs typeface="Arial" panose="020B0604020202020204" pitchFamily="34" charset="0"/>
              </a:defRPr>
            </a:lvl1pPr>
          </a:lstStyle>
          <a:p>
            <a:r>
              <a:rPr lang="en-US" dirty="0"/>
              <a:t>Click to edit Master title style</a:t>
            </a:r>
            <a:endParaRPr lang="ru-RU" dirty="0"/>
          </a:p>
        </p:txBody>
      </p:sp>
    </p:spTree>
    <p:extLst>
      <p:ext uri="{BB962C8B-B14F-4D97-AF65-F5344CB8AC3E}">
        <p14:creationId xmlns:p14="http://schemas.microsoft.com/office/powerpoint/2010/main" val="1749881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367">
          <p15:clr>
            <a:srgbClr val="FBAE40"/>
          </p15:clr>
        </p15:guide>
        <p15:guide id="2" orient="horz" pos="4490">
          <p15:clr>
            <a:srgbClr val="FBAE40"/>
          </p15:clr>
        </p15:guide>
        <p15:guide id="3" pos="192">
          <p15:clr>
            <a:srgbClr val="FBAE40"/>
          </p15:clr>
        </p15:guide>
        <p15:guide id="4" pos="6543">
          <p15:clr>
            <a:srgbClr val="FBAE40"/>
          </p15:clr>
        </p15:guide>
        <p15:guide id="5" orient="horz" pos="248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0546" y="365125"/>
            <a:ext cx="8544908"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80546" y="1825625"/>
            <a:ext cx="8544908" cy="435088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80547" y="6356804"/>
            <a:ext cx="2229587" cy="365125"/>
          </a:xfrm>
          <a:prstGeom prst="rect">
            <a:avLst/>
          </a:prstGeom>
        </p:spPr>
        <p:txBody>
          <a:bodyPr vert="horz" lIns="91440" tIns="45720" rIns="91440" bIns="45720" rtlCol="0" anchor="ctr"/>
          <a:lstStyle>
            <a:lvl1pPr algn="l">
              <a:defRPr sz="857">
                <a:solidFill>
                  <a:schemeClr val="tx1">
                    <a:tint val="75000"/>
                  </a:schemeClr>
                </a:solidFill>
              </a:defRPr>
            </a:lvl1pPr>
          </a:lstStyle>
          <a:p>
            <a:endParaRPr lang="ru-RU" dirty="0"/>
          </a:p>
        </p:txBody>
      </p:sp>
      <p:sp>
        <p:nvSpPr>
          <p:cNvPr id="5" name="Нижний колонтитул 4"/>
          <p:cNvSpPr>
            <a:spLocks noGrp="1"/>
          </p:cNvSpPr>
          <p:nvPr>
            <p:ph type="ftr" sz="quarter" idx="3"/>
          </p:nvPr>
        </p:nvSpPr>
        <p:spPr>
          <a:xfrm>
            <a:off x="3281118" y="6356804"/>
            <a:ext cx="3343766" cy="365125"/>
          </a:xfrm>
          <a:prstGeom prst="rect">
            <a:avLst/>
          </a:prstGeom>
        </p:spPr>
        <p:txBody>
          <a:bodyPr vert="horz" lIns="91440" tIns="45720" rIns="91440" bIns="45720" rtlCol="0" anchor="ctr"/>
          <a:lstStyle>
            <a:lvl1pPr algn="ctr">
              <a:defRPr sz="857">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995867" y="6356804"/>
            <a:ext cx="2229587" cy="365125"/>
          </a:xfrm>
          <a:prstGeom prst="rect">
            <a:avLst/>
          </a:prstGeom>
        </p:spPr>
        <p:txBody>
          <a:bodyPr vert="horz" lIns="91440" tIns="45720" rIns="91440" bIns="45720" rtlCol="0" anchor="ctr"/>
          <a:lstStyle>
            <a:lvl1pPr algn="r">
              <a:defRPr sz="857">
                <a:solidFill>
                  <a:schemeClr val="tx1">
                    <a:tint val="75000"/>
                  </a:schemeClr>
                </a:solidFill>
              </a:defRPr>
            </a:lvl1pPr>
          </a:lstStyle>
          <a:p>
            <a:fld id="{74DEA43E-C2CD-4344-B302-86C9C0599DE5}" type="slidenum">
              <a:rPr lang="ru-RU" smtClean="0"/>
              <a:t>‹#›</a:t>
            </a:fld>
            <a:endParaRPr lang="ru-RU" dirty="0"/>
          </a:p>
        </p:txBody>
      </p:sp>
    </p:spTree>
    <p:extLst>
      <p:ext uri="{BB962C8B-B14F-4D97-AF65-F5344CB8AC3E}">
        <p14:creationId xmlns:p14="http://schemas.microsoft.com/office/powerpoint/2010/main" val="4090011740"/>
      </p:ext>
    </p:extLst>
  </p:cSld>
  <p:clrMap bg1="lt1" tx1="dk1" bg2="lt2" tx2="dk2" accent1="accent1" accent2="accent2" accent3="accent3" accent4="accent4" accent5="accent5" accent6="accent6" hlink="hlink" folHlink="folHlink"/>
  <p:sldLayoutIdLst>
    <p:sldLayoutId id="2147483743" r:id="rId1"/>
    <p:sldLayoutId id="2147483785" r:id="rId2"/>
    <p:sldLayoutId id="2147483794" r:id="rId3"/>
    <p:sldLayoutId id="2147483795" r:id="rId4"/>
    <p:sldLayoutId id="2147483800" r:id="rId5"/>
    <p:sldLayoutId id="2147483801" r:id="rId6"/>
    <p:sldLayoutId id="214748380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53156" rtl="0" eaLnBrk="1" latinLnBrk="0" hangingPunct="1">
        <a:lnSpc>
          <a:spcPct val="90000"/>
        </a:lnSpc>
        <a:spcBef>
          <a:spcPct val="0"/>
        </a:spcBef>
        <a:buNone/>
        <a:defRPr sz="3143" kern="1200">
          <a:solidFill>
            <a:schemeClr val="tx1"/>
          </a:solidFill>
          <a:latin typeface="+mj-lt"/>
          <a:ea typeface="+mj-ea"/>
          <a:cs typeface="+mj-cs"/>
        </a:defRPr>
      </a:lvl1pPr>
    </p:titleStyle>
    <p:bodyStyle>
      <a:lvl1pPr marL="163289" indent="-163289" algn="l" defTabSz="653156" rtl="0" eaLnBrk="1" latinLnBrk="0" hangingPunct="1">
        <a:lnSpc>
          <a:spcPct val="90000"/>
        </a:lnSpc>
        <a:spcBef>
          <a:spcPts val="714"/>
        </a:spcBef>
        <a:buFont typeface="Arial" panose="020B0604020202020204" pitchFamily="34" charset="0"/>
        <a:buChar char="•"/>
        <a:defRPr sz="2000" kern="1200">
          <a:solidFill>
            <a:schemeClr val="tx1"/>
          </a:solidFill>
          <a:latin typeface="+mn-lt"/>
          <a:ea typeface="+mn-ea"/>
          <a:cs typeface="+mn-cs"/>
        </a:defRPr>
      </a:lvl1pPr>
      <a:lvl2pPr marL="489867" indent="-163289" algn="l" defTabSz="653156" rtl="0" eaLnBrk="1" latinLnBrk="0" hangingPunct="1">
        <a:lnSpc>
          <a:spcPct val="90000"/>
        </a:lnSpc>
        <a:spcBef>
          <a:spcPts val="357"/>
        </a:spcBef>
        <a:buFont typeface="Arial" panose="020B0604020202020204" pitchFamily="34" charset="0"/>
        <a:buChar char="•"/>
        <a:defRPr sz="1714" kern="1200">
          <a:solidFill>
            <a:schemeClr val="tx1"/>
          </a:solidFill>
          <a:latin typeface="+mn-lt"/>
          <a:ea typeface="+mn-ea"/>
          <a:cs typeface="+mn-cs"/>
        </a:defRPr>
      </a:lvl2pPr>
      <a:lvl3pPr marL="816445" indent="-163289" algn="l" defTabSz="653156" rtl="0" eaLnBrk="1" latinLnBrk="0" hangingPunct="1">
        <a:lnSpc>
          <a:spcPct val="90000"/>
        </a:lnSpc>
        <a:spcBef>
          <a:spcPts val="357"/>
        </a:spcBef>
        <a:buFont typeface="Arial" panose="020B0604020202020204" pitchFamily="34" charset="0"/>
        <a:buChar char="•"/>
        <a:defRPr sz="1429" kern="1200">
          <a:solidFill>
            <a:schemeClr val="tx1"/>
          </a:solidFill>
          <a:latin typeface="+mn-lt"/>
          <a:ea typeface="+mn-ea"/>
          <a:cs typeface="+mn-cs"/>
        </a:defRPr>
      </a:lvl3pPr>
      <a:lvl4pPr marL="1143023"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4pPr>
      <a:lvl5pPr marL="1469601"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5pPr>
      <a:lvl6pPr marL="1796179"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6pPr>
      <a:lvl7pPr marL="2122757"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7pPr>
      <a:lvl8pPr marL="2449335"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8pPr>
      <a:lvl9pPr marL="2775913"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9pPr>
    </p:bodyStyle>
    <p:otherStyle>
      <a:defPPr>
        <a:defRPr lang="ru-RU"/>
      </a:defPPr>
      <a:lvl1pPr marL="0" algn="l" defTabSz="653156" rtl="0" eaLnBrk="1" latinLnBrk="0" hangingPunct="1">
        <a:defRPr sz="1286" kern="1200">
          <a:solidFill>
            <a:schemeClr val="tx1"/>
          </a:solidFill>
          <a:latin typeface="+mn-lt"/>
          <a:ea typeface="+mn-ea"/>
          <a:cs typeface="+mn-cs"/>
        </a:defRPr>
      </a:lvl1pPr>
      <a:lvl2pPr marL="326578" algn="l" defTabSz="653156" rtl="0" eaLnBrk="1" latinLnBrk="0" hangingPunct="1">
        <a:defRPr sz="1286" kern="1200">
          <a:solidFill>
            <a:schemeClr val="tx1"/>
          </a:solidFill>
          <a:latin typeface="+mn-lt"/>
          <a:ea typeface="+mn-ea"/>
          <a:cs typeface="+mn-cs"/>
        </a:defRPr>
      </a:lvl2pPr>
      <a:lvl3pPr marL="653156" algn="l" defTabSz="653156" rtl="0" eaLnBrk="1" latinLnBrk="0" hangingPunct="1">
        <a:defRPr sz="1286" kern="1200">
          <a:solidFill>
            <a:schemeClr val="tx1"/>
          </a:solidFill>
          <a:latin typeface="+mn-lt"/>
          <a:ea typeface="+mn-ea"/>
          <a:cs typeface="+mn-cs"/>
        </a:defRPr>
      </a:lvl3pPr>
      <a:lvl4pPr marL="979734" algn="l" defTabSz="653156" rtl="0" eaLnBrk="1" latinLnBrk="0" hangingPunct="1">
        <a:defRPr sz="1286" kern="1200">
          <a:solidFill>
            <a:schemeClr val="tx1"/>
          </a:solidFill>
          <a:latin typeface="+mn-lt"/>
          <a:ea typeface="+mn-ea"/>
          <a:cs typeface="+mn-cs"/>
        </a:defRPr>
      </a:lvl4pPr>
      <a:lvl5pPr marL="1306312" algn="l" defTabSz="653156" rtl="0" eaLnBrk="1" latinLnBrk="0" hangingPunct="1">
        <a:defRPr sz="1286" kern="1200">
          <a:solidFill>
            <a:schemeClr val="tx1"/>
          </a:solidFill>
          <a:latin typeface="+mn-lt"/>
          <a:ea typeface="+mn-ea"/>
          <a:cs typeface="+mn-cs"/>
        </a:defRPr>
      </a:lvl5pPr>
      <a:lvl6pPr marL="1632890" algn="l" defTabSz="653156" rtl="0" eaLnBrk="1" latinLnBrk="0" hangingPunct="1">
        <a:defRPr sz="1286" kern="1200">
          <a:solidFill>
            <a:schemeClr val="tx1"/>
          </a:solidFill>
          <a:latin typeface="+mn-lt"/>
          <a:ea typeface="+mn-ea"/>
          <a:cs typeface="+mn-cs"/>
        </a:defRPr>
      </a:lvl6pPr>
      <a:lvl7pPr marL="1959468" algn="l" defTabSz="653156" rtl="0" eaLnBrk="1" latinLnBrk="0" hangingPunct="1">
        <a:defRPr sz="1286" kern="1200">
          <a:solidFill>
            <a:schemeClr val="tx1"/>
          </a:solidFill>
          <a:latin typeface="+mn-lt"/>
          <a:ea typeface="+mn-ea"/>
          <a:cs typeface="+mn-cs"/>
        </a:defRPr>
      </a:lvl7pPr>
      <a:lvl8pPr marL="2286046" algn="l" defTabSz="653156" rtl="0" eaLnBrk="1" latinLnBrk="0" hangingPunct="1">
        <a:defRPr sz="1286" kern="1200">
          <a:solidFill>
            <a:schemeClr val="tx1"/>
          </a:solidFill>
          <a:latin typeface="+mn-lt"/>
          <a:ea typeface="+mn-ea"/>
          <a:cs typeface="+mn-cs"/>
        </a:defRPr>
      </a:lvl8pPr>
      <a:lvl9pPr marL="2612624" algn="l" defTabSz="653156" rtl="0" eaLnBrk="1" latinLnBrk="0" hangingPunct="1">
        <a:defRPr sz="128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9.bin"/><Relationship Id="rId18" Type="http://schemas.openxmlformats.org/officeDocument/2006/relationships/oleObject" Target="../embeddings/oleObject14.bin"/><Relationship Id="rId3" Type="http://schemas.openxmlformats.org/officeDocument/2006/relationships/notesSlide" Target="../notesSlides/notesSlide5.xml"/><Relationship Id="rId7" Type="http://schemas.openxmlformats.org/officeDocument/2006/relationships/image" Target="../media/image19.wmf"/><Relationship Id="rId12" Type="http://schemas.openxmlformats.org/officeDocument/2006/relationships/oleObject" Target="../embeddings/oleObject8.bin"/><Relationship Id="rId17" Type="http://schemas.openxmlformats.org/officeDocument/2006/relationships/oleObject" Target="../embeddings/oleObject13.bin"/><Relationship Id="rId2" Type="http://schemas.openxmlformats.org/officeDocument/2006/relationships/slideLayout" Target="../slideLayouts/slideLayout4.xml"/><Relationship Id="rId16" Type="http://schemas.openxmlformats.org/officeDocument/2006/relationships/oleObject" Target="../embeddings/oleObject12.bin"/><Relationship Id="rId1" Type="http://schemas.openxmlformats.org/officeDocument/2006/relationships/vmlDrawing" Target="../drawings/vmlDrawing4.vml"/><Relationship Id="rId6" Type="http://schemas.openxmlformats.org/officeDocument/2006/relationships/image" Target="../media/image17.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11.bin"/><Relationship Id="rId10" Type="http://schemas.openxmlformats.org/officeDocument/2006/relationships/oleObject" Target="../embeddings/oleObject6.bin"/><Relationship Id="rId4" Type="http://schemas.openxmlformats.org/officeDocument/2006/relationships/image" Target="../media/image18.jpeg"/><Relationship Id="rId9" Type="http://schemas.openxmlformats.org/officeDocument/2006/relationships/oleObject" Target="../embeddings/oleObject5.bin"/><Relationship Id="rId1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4.png"/><Relationship Id="rId11" Type="http://schemas.openxmlformats.org/officeDocument/2006/relationships/image" Target="../media/image28.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10.xml"/><Relationship Id="rId16"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704528" y="3573016"/>
            <a:ext cx="4608512" cy="1224136"/>
          </a:xfrm>
        </p:spPr>
        <p:txBody>
          <a:bodyPr anchor="ctr">
            <a:noAutofit/>
          </a:bodyPr>
          <a:lstStyle/>
          <a:p>
            <a:pPr lvl="0" defTabSz="961811">
              <a:defRPr/>
            </a:pPr>
            <a:r>
              <a:rPr lang="ru-RU" dirty="0">
                <a:solidFill>
                  <a:prstClr val="black"/>
                </a:solidFill>
                <a:latin typeface="Arial" panose="020B0604020202020204" pitchFamily="34" charset="0"/>
                <a:cs typeface="Arial" panose="020B0604020202020204" pitchFamily="34" charset="0"/>
              </a:rPr>
              <a:t>Производственные и бизнес системы на примере одной из систем</a:t>
            </a:r>
          </a:p>
        </p:txBody>
      </p:sp>
      <p:sp>
        <p:nvSpPr>
          <p:cNvPr id="4" name="Заголовок 3"/>
          <p:cNvSpPr txBox="1">
            <a:spLocks/>
          </p:cNvSpPr>
          <p:nvPr/>
        </p:nvSpPr>
        <p:spPr>
          <a:xfrm>
            <a:off x="722667" y="6093296"/>
            <a:ext cx="2140287" cy="445882"/>
          </a:xfrm>
          <a:prstGeom prst="rect">
            <a:avLst/>
          </a:prstGeom>
        </p:spPr>
        <p:txBody>
          <a:bodyPr vert="horz" lIns="91440" tIns="45720" rIns="91440" bIns="45720" rtlCol="0" anchor="t" anchorCtr="0">
            <a:noAutofit/>
          </a:bodyPr>
          <a:lstStyle>
            <a:lvl1pPr algn="l" defTabSz="653156" rtl="0" eaLnBrk="1" latinLnBrk="0" hangingPunct="1">
              <a:lnSpc>
                <a:spcPct val="90000"/>
              </a:lnSpc>
              <a:spcBef>
                <a:spcPct val="0"/>
              </a:spcBef>
              <a:buNone/>
              <a:defRPr sz="3143" kern="1200">
                <a:solidFill>
                  <a:schemeClr val="tx1"/>
                </a:solidFill>
                <a:latin typeface="+mj-lt"/>
                <a:ea typeface="+mj-ea"/>
                <a:cs typeface="+mj-cs"/>
              </a:defRPr>
            </a:lvl1pPr>
          </a:lstStyle>
          <a:p>
            <a:pPr>
              <a:lnSpc>
                <a:spcPct val="100000"/>
              </a:lnSpc>
            </a:pPr>
            <a:r>
              <a:rPr lang="ru-RU" sz="1400" b="1" dirty="0" smtClean="0"/>
              <a:t>Май, 2025</a:t>
            </a:r>
            <a:endParaRPr lang="ru-RU" sz="1400" b="1" dirty="0"/>
          </a:p>
        </p:txBody>
      </p:sp>
    </p:spTree>
    <p:extLst>
      <p:ext uri="{BB962C8B-B14F-4D97-AF65-F5344CB8AC3E}">
        <p14:creationId xmlns:p14="http://schemas.microsoft.com/office/powerpoint/2010/main" val="150529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Сибинтек</a:t>
            </a:r>
            <a:r>
              <a:rPr lang="ru-RU" dirty="0"/>
              <a:t> сегодня</a:t>
            </a:r>
          </a:p>
        </p:txBody>
      </p:sp>
      <p:sp>
        <p:nvSpPr>
          <p:cNvPr id="3" name="Номер слайда 2"/>
          <p:cNvSpPr>
            <a:spLocks noGrp="1"/>
          </p:cNvSpPr>
          <p:nvPr>
            <p:ph type="sldNum" sz="quarter" idx="12"/>
          </p:nvPr>
        </p:nvSpPr>
        <p:spPr/>
        <p:txBody>
          <a:bodyPr/>
          <a:lstStyle/>
          <a:p>
            <a:fld id="{5100B139-BD82-4293-9FDA-44725340297B}" type="slidenum">
              <a:rPr lang="ru-RU" smtClean="0"/>
              <a:pPr/>
              <a:t>2</a:t>
            </a:fld>
            <a:endParaRPr lang="ru-RU"/>
          </a:p>
        </p:txBody>
      </p:sp>
      <p:grpSp>
        <p:nvGrpSpPr>
          <p:cNvPr id="169" name="Группа 168"/>
          <p:cNvGrpSpPr/>
          <p:nvPr/>
        </p:nvGrpSpPr>
        <p:grpSpPr>
          <a:xfrm>
            <a:off x="6128010" y="5194528"/>
            <a:ext cx="3427771" cy="1385503"/>
            <a:chOff x="380995" y="4909837"/>
            <a:chExt cx="3659245" cy="2001282"/>
          </a:xfrm>
        </p:grpSpPr>
        <p:sp>
          <p:nvSpPr>
            <p:cNvPr id="170" name="Прямоугольник 14"/>
            <p:cNvSpPr>
              <a:spLocks noChangeArrowheads="1"/>
            </p:cNvSpPr>
            <p:nvPr/>
          </p:nvSpPr>
          <p:spPr bwMode="auto">
            <a:xfrm>
              <a:off x="1531344" y="4909837"/>
              <a:ext cx="2508896"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БЕ Москва</a:t>
              </a:r>
            </a:p>
          </p:txBody>
        </p:sp>
        <p:sp>
          <p:nvSpPr>
            <p:cNvPr id="171" name="Прямоугольник 14"/>
            <p:cNvSpPr>
              <a:spLocks noChangeArrowheads="1"/>
            </p:cNvSpPr>
            <p:nvPr/>
          </p:nvSpPr>
          <p:spPr bwMode="auto">
            <a:xfrm>
              <a:off x="1531344" y="5141751"/>
              <a:ext cx="2508896"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Центр, г. Саратов</a:t>
              </a:r>
            </a:p>
          </p:txBody>
        </p:sp>
        <p:sp>
          <p:nvSpPr>
            <p:cNvPr id="172" name="Прямоугольник 14"/>
            <p:cNvSpPr>
              <a:spLocks noChangeArrowheads="1"/>
            </p:cNvSpPr>
            <p:nvPr/>
          </p:nvSpPr>
          <p:spPr bwMode="auto">
            <a:xfrm>
              <a:off x="1531344" y="5373666"/>
              <a:ext cx="2508896"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Юг, г. Туапсе</a:t>
              </a:r>
            </a:p>
          </p:txBody>
        </p:sp>
        <p:sp>
          <p:nvSpPr>
            <p:cNvPr id="173" name="Прямоугольник 14"/>
            <p:cNvSpPr>
              <a:spLocks noChangeArrowheads="1"/>
            </p:cNvSpPr>
            <p:nvPr/>
          </p:nvSpPr>
          <p:spPr bwMode="auto">
            <a:xfrm>
              <a:off x="1531344" y="5837494"/>
              <a:ext cx="2508896"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Поволжье, г. Самара</a:t>
              </a:r>
            </a:p>
          </p:txBody>
        </p:sp>
        <p:sp>
          <p:nvSpPr>
            <p:cNvPr id="174" name="Прямоугольник 14"/>
            <p:cNvSpPr>
              <a:spLocks noChangeArrowheads="1"/>
            </p:cNvSpPr>
            <p:nvPr/>
          </p:nvSpPr>
          <p:spPr bwMode="auto">
            <a:xfrm>
              <a:off x="380995" y="6069407"/>
              <a:ext cx="3659245"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Западная Сибирь, г. Нефтеюганск</a:t>
              </a:r>
            </a:p>
          </p:txBody>
        </p:sp>
        <p:sp>
          <p:nvSpPr>
            <p:cNvPr id="175" name="Прямоугольник 14"/>
            <p:cNvSpPr>
              <a:spLocks noChangeArrowheads="1"/>
            </p:cNvSpPr>
            <p:nvPr/>
          </p:nvSpPr>
          <p:spPr bwMode="auto">
            <a:xfrm>
              <a:off x="380995" y="6301321"/>
              <a:ext cx="3659245"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Восточная Сибирь, г. Красноярск</a:t>
              </a:r>
            </a:p>
          </p:txBody>
        </p:sp>
        <p:sp>
          <p:nvSpPr>
            <p:cNvPr id="176" name="Прямоугольник 14"/>
            <p:cNvSpPr>
              <a:spLocks noChangeArrowheads="1"/>
            </p:cNvSpPr>
            <p:nvPr/>
          </p:nvSpPr>
          <p:spPr bwMode="auto">
            <a:xfrm>
              <a:off x="380995" y="6533238"/>
              <a:ext cx="3659245"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Дальний Восток, г. Хабаровск</a:t>
              </a:r>
            </a:p>
          </p:txBody>
        </p:sp>
        <p:sp>
          <p:nvSpPr>
            <p:cNvPr id="177" name="Прямоугольник 14"/>
            <p:cNvSpPr>
              <a:spLocks noChangeArrowheads="1"/>
            </p:cNvSpPr>
            <p:nvPr/>
          </p:nvSpPr>
          <p:spPr bwMode="auto">
            <a:xfrm>
              <a:off x="1531344" y="5605578"/>
              <a:ext cx="2508896" cy="37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defTabSz="316493" fontAlgn="auto">
                <a:spcBef>
                  <a:spcPts val="0"/>
                </a:spcBef>
                <a:spcAft>
                  <a:spcPts val="0"/>
                </a:spcAft>
                <a:defRPr/>
              </a:pPr>
              <a:r>
                <a:rPr lang="ru-RU" altLang="ru-RU" sz="1050" dirty="0">
                  <a:solidFill>
                    <a:srgbClr val="475B79"/>
                  </a:solidFill>
                  <a:latin typeface="Arial" panose="020B0604020202020204" pitchFamily="34" charset="0"/>
                  <a:cs typeface="Arial" panose="020B0604020202020204" pitchFamily="34" charset="0"/>
                </a:rPr>
                <a:t>Макрорегион Урал, г. Уфа</a:t>
              </a:r>
            </a:p>
          </p:txBody>
        </p:sp>
      </p:grpSp>
      <p:sp>
        <p:nvSpPr>
          <p:cNvPr id="178" name="Овал 177"/>
          <p:cNvSpPr/>
          <p:nvPr/>
        </p:nvSpPr>
        <p:spPr>
          <a:xfrm>
            <a:off x="1912225" y="5718912"/>
            <a:ext cx="757368" cy="714709"/>
          </a:xfrm>
          <a:prstGeom prst="ellipse">
            <a:avLst/>
          </a:prstGeom>
          <a:solidFill>
            <a:srgbClr val="F6C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6493" fontAlgn="auto">
              <a:spcBef>
                <a:spcPts val="0"/>
              </a:spcBef>
              <a:spcAft>
                <a:spcPts val="0"/>
              </a:spcAft>
            </a:pPr>
            <a:r>
              <a:rPr lang="ru-RU" sz="5538" b="1" dirty="0" smtClean="0">
                <a:solidFill>
                  <a:prstClr val="white"/>
                </a:solidFill>
                <a:latin typeface="Arial" panose="020B0604020202020204" pitchFamily="34" charset="0"/>
                <a:cs typeface="Arial" panose="020B0604020202020204" pitchFamily="34" charset="0"/>
              </a:rPr>
              <a:t>8</a:t>
            </a:r>
            <a:endParaRPr lang="ru-RU" sz="5538" b="1" dirty="0">
              <a:solidFill>
                <a:prstClr val="white"/>
              </a:solidFill>
              <a:latin typeface="Arial" panose="020B0604020202020204" pitchFamily="34" charset="0"/>
              <a:cs typeface="Arial" panose="020B0604020202020204" pitchFamily="34" charset="0"/>
            </a:endParaRPr>
          </a:p>
        </p:txBody>
      </p:sp>
      <p:sp>
        <p:nvSpPr>
          <p:cNvPr id="179" name="TextBox 178"/>
          <p:cNvSpPr txBox="1"/>
          <p:nvPr/>
        </p:nvSpPr>
        <p:spPr>
          <a:xfrm>
            <a:off x="2576226" y="6188024"/>
            <a:ext cx="1221504" cy="305468"/>
          </a:xfrm>
          <a:prstGeom prst="rect">
            <a:avLst/>
          </a:prstGeom>
          <a:noFill/>
        </p:spPr>
        <p:txBody>
          <a:bodyPr wrap="square" rtlCol="0">
            <a:spAutoFit/>
          </a:bodyPr>
          <a:lstStyle/>
          <a:p>
            <a:pPr defTabSz="316493" fontAlgn="auto">
              <a:spcBef>
                <a:spcPts val="0"/>
              </a:spcBef>
              <a:spcAft>
                <a:spcPts val="0"/>
              </a:spcAft>
            </a:pPr>
            <a:r>
              <a:rPr lang="ru-RU" sz="1385" dirty="0">
                <a:solidFill>
                  <a:srgbClr val="475B79"/>
                </a:solidFill>
                <a:latin typeface="Arial" panose="020B0604020202020204" pitchFamily="34" charset="0"/>
                <a:cs typeface="Arial" panose="020B0604020202020204" pitchFamily="34" charset="0"/>
              </a:rPr>
              <a:t>РЕГИОНОВ</a:t>
            </a:r>
          </a:p>
        </p:txBody>
      </p:sp>
      <p:grpSp>
        <p:nvGrpSpPr>
          <p:cNvPr id="180" name="Группа 179"/>
          <p:cNvGrpSpPr/>
          <p:nvPr/>
        </p:nvGrpSpPr>
        <p:grpSpPr>
          <a:xfrm>
            <a:off x="1845807" y="5296179"/>
            <a:ext cx="5176194" cy="270650"/>
            <a:chOff x="5263016" y="5733159"/>
            <a:chExt cx="3697654" cy="170033"/>
          </a:xfrm>
        </p:grpSpPr>
        <p:sp>
          <p:nvSpPr>
            <p:cNvPr id="181" name="5-Point Star 250"/>
            <p:cNvSpPr/>
            <p:nvPr/>
          </p:nvSpPr>
          <p:spPr bwMode="auto">
            <a:xfrm>
              <a:off x="5263016" y="5733159"/>
              <a:ext cx="183094" cy="170033"/>
            </a:xfrm>
            <a:prstGeom prst="star5">
              <a:avLst>
                <a:gd name="adj" fmla="val 26387"/>
                <a:gd name="hf" fmla="val 105146"/>
                <a:gd name="vf" fmla="val 110557"/>
              </a:avLst>
            </a:prstGeom>
            <a:solidFill>
              <a:srgbClr val="FFD200"/>
            </a:solidFill>
            <a:ln w="3175" cap="flat" cmpd="sng" algn="ctr">
              <a:solidFill>
                <a:sysClr val="window" lastClr="FFFFFF"/>
              </a:solid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4800" dirty="0">
                <a:solidFill>
                  <a:srgbClr val="475B79"/>
                </a:solidFill>
                <a:latin typeface="Arial" panose="020B0604020202020204" pitchFamily="34" charset="0"/>
                <a:cs typeface="Arial" panose="020B0604020202020204" pitchFamily="34" charset="0"/>
              </a:endParaRPr>
            </a:p>
          </p:txBody>
        </p:sp>
        <p:sp>
          <p:nvSpPr>
            <p:cNvPr id="182" name="TextBox 251"/>
            <p:cNvSpPr txBox="1">
              <a:spLocks noChangeArrowheads="1"/>
            </p:cNvSpPr>
            <p:nvPr/>
          </p:nvSpPr>
          <p:spPr bwMode="auto">
            <a:xfrm>
              <a:off x="5491315" y="5762465"/>
              <a:ext cx="1824350" cy="116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dirty="0">
                  <a:solidFill>
                    <a:srgbClr val="475B79"/>
                  </a:solidFill>
                  <a:latin typeface="Arial" panose="020B0604020202020204" pitchFamily="34" charset="0"/>
                </a:rPr>
                <a:t>Центры </a:t>
              </a:r>
              <a:r>
                <a:rPr kumimoji="0" lang="ru-RU" altLang="ru-RU" dirty="0" smtClean="0">
                  <a:solidFill>
                    <a:srgbClr val="475B79"/>
                  </a:solidFill>
                  <a:latin typeface="Arial" panose="020B0604020202020204" pitchFamily="34" charset="0"/>
                </a:rPr>
                <a:t>макрорегионов  </a:t>
              </a:r>
              <a:endParaRPr kumimoji="0" lang="ru-RU" altLang="ru-RU" b="1" dirty="0">
                <a:solidFill>
                  <a:srgbClr val="475B79"/>
                </a:solidFill>
                <a:latin typeface="Arial" panose="020B0604020202020204" pitchFamily="34" charset="0"/>
              </a:endParaRPr>
            </a:p>
          </p:txBody>
        </p:sp>
        <p:sp>
          <p:nvSpPr>
            <p:cNvPr id="183" name="Diamond 255"/>
            <p:cNvSpPr>
              <a:spLocks noChangeArrowheads="1"/>
            </p:cNvSpPr>
            <p:nvPr/>
          </p:nvSpPr>
          <p:spPr bwMode="auto">
            <a:xfrm>
              <a:off x="6704482" y="5759584"/>
              <a:ext cx="115993" cy="132158"/>
            </a:xfrm>
            <a:prstGeom prst="diamond">
              <a:avLst/>
            </a:prstGeom>
            <a:solidFill>
              <a:srgbClr val="FFD200"/>
            </a:solidFill>
            <a:ln w="3175">
              <a:solidFill>
                <a:srgbClr val="FFFFFF"/>
              </a:solidFill>
              <a:miter lim="800000"/>
              <a:headEnd/>
              <a:tailEnd/>
            </a:ln>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4800" dirty="0">
                <a:solidFill>
                  <a:srgbClr val="475B79"/>
                </a:solidFill>
                <a:latin typeface="Arial" panose="020B0604020202020204" pitchFamily="34" charset="0"/>
              </a:endParaRPr>
            </a:p>
          </p:txBody>
        </p:sp>
        <p:sp>
          <p:nvSpPr>
            <p:cNvPr id="184" name="TextBox 256"/>
            <p:cNvSpPr txBox="1">
              <a:spLocks noChangeArrowheads="1"/>
            </p:cNvSpPr>
            <p:nvPr/>
          </p:nvSpPr>
          <p:spPr bwMode="auto">
            <a:xfrm>
              <a:off x="6887842" y="5761802"/>
              <a:ext cx="2072828" cy="116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dirty="0">
                  <a:solidFill>
                    <a:srgbClr val="475B79"/>
                  </a:solidFill>
                  <a:latin typeface="Arial" panose="020B0604020202020204" pitchFamily="34" charset="0"/>
                </a:rPr>
                <a:t>Региональные подразделения</a:t>
              </a:r>
              <a:endParaRPr kumimoji="0" lang="ru-RU" altLang="ru-RU" b="1" dirty="0">
                <a:solidFill>
                  <a:srgbClr val="475B79"/>
                </a:solidFill>
                <a:latin typeface="Arial" panose="020B0604020202020204" pitchFamily="34" charset="0"/>
              </a:endParaRPr>
            </a:p>
          </p:txBody>
        </p:sp>
      </p:grpSp>
      <p:grpSp>
        <p:nvGrpSpPr>
          <p:cNvPr id="185" name="Группа 184"/>
          <p:cNvGrpSpPr/>
          <p:nvPr/>
        </p:nvGrpSpPr>
        <p:grpSpPr>
          <a:xfrm>
            <a:off x="81060" y="1276539"/>
            <a:ext cx="1807710" cy="2327257"/>
            <a:chOff x="477351" y="3376364"/>
            <a:chExt cx="4742453" cy="4039436"/>
          </a:xfrm>
        </p:grpSpPr>
        <p:grpSp>
          <p:nvGrpSpPr>
            <p:cNvPr id="186" name="Группа 6"/>
            <p:cNvGrpSpPr>
              <a:grpSpLocks/>
            </p:cNvGrpSpPr>
            <p:nvPr/>
          </p:nvGrpSpPr>
          <p:grpSpPr bwMode="auto">
            <a:xfrm>
              <a:off x="503424" y="5178394"/>
              <a:ext cx="4525775" cy="1129484"/>
              <a:chOff x="213398" y="3573461"/>
              <a:chExt cx="4525775" cy="1129406"/>
            </a:xfrm>
          </p:grpSpPr>
          <p:sp>
            <p:nvSpPr>
              <p:cNvPr id="198" name="TextBox 666"/>
              <p:cNvSpPr txBox="1">
                <a:spLocks noChangeArrowheads="1"/>
              </p:cNvSpPr>
              <p:nvPr/>
            </p:nvSpPr>
            <p:spPr bwMode="auto">
              <a:xfrm>
                <a:off x="213398" y="3573461"/>
                <a:ext cx="4478338" cy="64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ru-RU"/>
                </a:defPPr>
                <a:lvl1pPr>
                  <a:defRPr sz="3600">
                    <a:solidFill>
                      <a:schemeClr val="bg1"/>
                    </a:solidFill>
                    <a:latin typeface="EurofontC" pitchFamily="50" charset="0"/>
                  </a:defRPr>
                </a:lvl1pPr>
              </a:lstStyle>
              <a:p>
                <a:pPr defTabSz="316493" fontAlgn="auto">
                  <a:spcBef>
                    <a:spcPts val="0"/>
                  </a:spcBef>
                  <a:spcAft>
                    <a:spcPts val="0"/>
                  </a:spcAft>
                  <a:defRPr/>
                </a:pPr>
                <a:r>
                  <a:rPr lang="en-US" altLang="ru-RU" sz="1800" b="1" spc="52" dirty="0">
                    <a:solidFill>
                      <a:srgbClr val="475B79"/>
                    </a:solidFill>
                    <a:latin typeface="Arial" panose="020B0604020202020204" pitchFamily="34" charset="0"/>
                    <a:cs typeface="Arial" panose="020B0604020202020204" pitchFamily="34" charset="0"/>
                  </a:rPr>
                  <a:t>&gt;</a:t>
                </a:r>
                <a:r>
                  <a:rPr lang="ru-RU" altLang="ru-RU" sz="1800" b="1" spc="52" dirty="0">
                    <a:solidFill>
                      <a:srgbClr val="475B79"/>
                    </a:solidFill>
                    <a:latin typeface="Arial" panose="020B0604020202020204" pitchFamily="34" charset="0"/>
                    <a:cs typeface="Arial" panose="020B0604020202020204" pitchFamily="34" charset="0"/>
                  </a:rPr>
                  <a:t> 500</a:t>
                </a:r>
              </a:p>
            </p:txBody>
          </p:sp>
          <p:sp>
            <p:nvSpPr>
              <p:cNvPr id="199" name="Прямоугольник 12"/>
              <p:cNvSpPr>
                <a:spLocks noChangeArrowheads="1"/>
              </p:cNvSpPr>
              <p:nvPr/>
            </p:nvSpPr>
            <p:spPr bwMode="auto">
              <a:xfrm>
                <a:off x="689508" y="4061859"/>
                <a:ext cx="4049665" cy="64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316493" fontAlgn="auto">
                  <a:spcBef>
                    <a:spcPts val="0"/>
                  </a:spcBef>
                  <a:spcAft>
                    <a:spcPts val="0"/>
                  </a:spcAft>
                  <a:defRPr/>
                </a:pPr>
                <a:r>
                  <a:rPr lang="ru-RU" altLang="ru-RU" sz="900" b="1" cap="all" dirty="0">
                    <a:solidFill>
                      <a:srgbClr val="475B79"/>
                    </a:solidFill>
                    <a:latin typeface="Arial" panose="020B0604020202020204" pitchFamily="34" charset="0"/>
                    <a:cs typeface="Arial" panose="020B0604020202020204" pitchFamily="34" charset="0"/>
                  </a:rPr>
                  <a:t>Реализуемых</a:t>
                </a:r>
                <a:r>
                  <a:rPr lang="en-US" altLang="ru-RU" sz="900" b="1" cap="all" dirty="0">
                    <a:solidFill>
                      <a:srgbClr val="475B79"/>
                    </a:solidFill>
                    <a:latin typeface="Arial" panose="020B0604020202020204" pitchFamily="34" charset="0"/>
                    <a:cs typeface="Arial" panose="020B0604020202020204" pitchFamily="34" charset="0"/>
                  </a:rPr>
                  <a:t/>
                </a:r>
                <a:br>
                  <a:rPr lang="en-US" altLang="ru-RU" sz="900" b="1" cap="all" dirty="0">
                    <a:solidFill>
                      <a:srgbClr val="475B79"/>
                    </a:solidFill>
                    <a:latin typeface="Arial" panose="020B0604020202020204" pitchFamily="34" charset="0"/>
                    <a:cs typeface="Arial" panose="020B0604020202020204" pitchFamily="34" charset="0"/>
                  </a:rPr>
                </a:br>
                <a:r>
                  <a:rPr lang="ru-RU" altLang="ru-RU" sz="900" b="1" cap="all" dirty="0">
                    <a:solidFill>
                      <a:srgbClr val="475B79"/>
                    </a:solidFill>
                    <a:latin typeface="Arial" panose="020B0604020202020204" pitchFamily="34" charset="0"/>
                    <a:cs typeface="Arial" panose="020B0604020202020204" pitchFamily="34" charset="0"/>
                  </a:rPr>
                  <a:t>проектов в год</a:t>
                </a:r>
              </a:p>
            </p:txBody>
          </p:sp>
        </p:grpSp>
        <p:grpSp>
          <p:nvGrpSpPr>
            <p:cNvPr id="187" name="Группа 8"/>
            <p:cNvGrpSpPr>
              <a:grpSpLocks/>
            </p:cNvGrpSpPr>
            <p:nvPr/>
          </p:nvGrpSpPr>
          <p:grpSpPr bwMode="auto">
            <a:xfrm>
              <a:off x="506538" y="6221992"/>
              <a:ext cx="4322105" cy="1193808"/>
              <a:chOff x="194285" y="4720381"/>
              <a:chExt cx="4321725" cy="1193743"/>
            </a:xfrm>
          </p:grpSpPr>
          <p:sp>
            <p:nvSpPr>
              <p:cNvPr id="196" name="Прямоугольник 13"/>
              <p:cNvSpPr>
                <a:spLocks noChangeArrowheads="1"/>
              </p:cNvSpPr>
              <p:nvPr/>
            </p:nvSpPr>
            <p:spPr bwMode="auto">
              <a:xfrm>
                <a:off x="194285" y="4720381"/>
                <a:ext cx="2462147" cy="64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316493" fontAlgn="auto">
                  <a:spcBef>
                    <a:spcPts val="0"/>
                  </a:spcBef>
                  <a:spcAft>
                    <a:spcPts val="0"/>
                  </a:spcAft>
                  <a:defRPr/>
                </a:pPr>
                <a:r>
                  <a:rPr lang="en-US" altLang="ru-RU" sz="1800" b="1" spc="52" dirty="0">
                    <a:solidFill>
                      <a:srgbClr val="475B79"/>
                    </a:solidFill>
                    <a:latin typeface="Arial" panose="020B0604020202020204" pitchFamily="34" charset="0"/>
                    <a:cs typeface="Arial" panose="020B0604020202020204" pitchFamily="34" charset="0"/>
                  </a:rPr>
                  <a:t>&gt; </a:t>
                </a:r>
                <a:r>
                  <a:rPr lang="ru-RU" altLang="ru-RU" sz="1800" b="1" spc="52" dirty="0">
                    <a:solidFill>
                      <a:srgbClr val="475B79"/>
                    </a:solidFill>
                    <a:latin typeface="Arial" panose="020B0604020202020204" pitchFamily="34" charset="0"/>
                    <a:cs typeface="Arial" panose="020B0604020202020204" pitchFamily="34" charset="0"/>
                  </a:rPr>
                  <a:t>500</a:t>
                </a:r>
              </a:p>
            </p:txBody>
          </p:sp>
          <p:sp>
            <p:nvSpPr>
              <p:cNvPr id="197" name="Прямоугольник 14"/>
              <p:cNvSpPr>
                <a:spLocks noChangeArrowheads="1"/>
              </p:cNvSpPr>
              <p:nvPr/>
            </p:nvSpPr>
            <p:spPr bwMode="auto">
              <a:xfrm>
                <a:off x="667240" y="5273106"/>
                <a:ext cx="3848770" cy="64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316493" fontAlgn="auto">
                  <a:spcBef>
                    <a:spcPts val="0"/>
                  </a:spcBef>
                  <a:spcAft>
                    <a:spcPts val="0"/>
                  </a:spcAft>
                  <a:defRPr/>
                </a:pPr>
                <a:r>
                  <a:rPr lang="ru-RU" altLang="ru-RU" sz="900" b="1" cap="all" dirty="0">
                    <a:solidFill>
                      <a:srgbClr val="475B79"/>
                    </a:solidFill>
                    <a:latin typeface="Arial" panose="020B0604020202020204" pitchFamily="34" charset="0"/>
                    <a:cs typeface="Arial" panose="020B0604020202020204" pitchFamily="34" charset="0"/>
                  </a:rPr>
                  <a:t>Информационных</a:t>
                </a:r>
                <a:r>
                  <a:rPr lang="en-US" altLang="ru-RU" sz="900" b="1" cap="all" dirty="0">
                    <a:solidFill>
                      <a:srgbClr val="475B79"/>
                    </a:solidFill>
                    <a:latin typeface="Arial" panose="020B0604020202020204" pitchFamily="34" charset="0"/>
                    <a:cs typeface="Arial" panose="020B0604020202020204" pitchFamily="34" charset="0"/>
                  </a:rPr>
                  <a:t/>
                </a:r>
                <a:br>
                  <a:rPr lang="en-US" altLang="ru-RU" sz="900" b="1" cap="all" dirty="0">
                    <a:solidFill>
                      <a:srgbClr val="475B79"/>
                    </a:solidFill>
                    <a:latin typeface="Arial" panose="020B0604020202020204" pitchFamily="34" charset="0"/>
                    <a:cs typeface="Arial" panose="020B0604020202020204" pitchFamily="34" charset="0"/>
                  </a:rPr>
                </a:br>
                <a:r>
                  <a:rPr lang="ru-RU" altLang="ru-RU" sz="900" b="1" cap="all" dirty="0">
                    <a:solidFill>
                      <a:srgbClr val="475B79"/>
                    </a:solidFill>
                    <a:latin typeface="Arial" panose="020B0604020202020204" pitchFamily="34" charset="0"/>
                    <a:cs typeface="Arial" panose="020B0604020202020204" pitchFamily="34" charset="0"/>
                  </a:rPr>
                  <a:t>систем</a:t>
                </a:r>
              </a:p>
            </p:txBody>
          </p:sp>
        </p:grpSp>
        <p:grpSp>
          <p:nvGrpSpPr>
            <p:cNvPr id="188" name="Группа 3"/>
            <p:cNvGrpSpPr>
              <a:grpSpLocks/>
            </p:cNvGrpSpPr>
            <p:nvPr/>
          </p:nvGrpSpPr>
          <p:grpSpPr bwMode="auto">
            <a:xfrm>
              <a:off x="477351" y="3376364"/>
              <a:ext cx="4695880" cy="1127489"/>
              <a:chOff x="133569" y="1049333"/>
              <a:chExt cx="4695880" cy="1127429"/>
            </a:xfrm>
          </p:grpSpPr>
          <p:sp>
            <p:nvSpPr>
              <p:cNvPr id="194" name="TextBox 666"/>
              <p:cNvSpPr txBox="1">
                <a:spLocks noChangeArrowheads="1"/>
              </p:cNvSpPr>
              <p:nvPr/>
            </p:nvSpPr>
            <p:spPr bwMode="auto">
              <a:xfrm>
                <a:off x="133569" y="1049333"/>
                <a:ext cx="3930651" cy="64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316493" fontAlgn="auto">
                  <a:spcBef>
                    <a:spcPts val="0"/>
                  </a:spcBef>
                  <a:spcAft>
                    <a:spcPts val="0"/>
                  </a:spcAft>
                  <a:defRPr/>
                </a:pPr>
                <a:r>
                  <a:rPr lang="en-US" altLang="ru-RU" sz="1800" b="1" spc="52" dirty="0">
                    <a:solidFill>
                      <a:srgbClr val="475B79"/>
                    </a:solidFill>
                    <a:latin typeface="Arial" panose="020B0604020202020204" pitchFamily="34" charset="0"/>
                    <a:cs typeface="Arial" panose="020B0604020202020204" pitchFamily="34" charset="0"/>
                  </a:rPr>
                  <a:t>&gt;</a:t>
                </a:r>
                <a:r>
                  <a:rPr lang="en-US" altLang="ru-RU" sz="1400" b="1" spc="52" dirty="0">
                    <a:solidFill>
                      <a:srgbClr val="475B79"/>
                    </a:solidFill>
                    <a:latin typeface="Arial" panose="020B0604020202020204" pitchFamily="34" charset="0"/>
                    <a:cs typeface="Arial" panose="020B0604020202020204" pitchFamily="34" charset="0"/>
                  </a:rPr>
                  <a:t> </a:t>
                </a:r>
                <a:r>
                  <a:rPr lang="ru-RU" altLang="ru-RU" sz="1800" b="1" spc="52" dirty="0">
                    <a:solidFill>
                      <a:srgbClr val="475B79"/>
                    </a:solidFill>
                    <a:latin typeface="Arial" panose="020B0604020202020204" pitchFamily="34" charset="0"/>
                    <a:cs typeface="Arial" panose="020B0604020202020204" pitchFamily="34" charset="0"/>
                  </a:rPr>
                  <a:t>100 000</a:t>
                </a:r>
              </a:p>
            </p:txBody>
          </p:sp>
          <p:sp>
            <p:nvSpPr>
              <p:cNvPr id="195" name="Прямоугольник 10"/>
              <p:cNvSpPr>
                <a:spLocks noChangeArrowheads="1"/>
              </p:cNvSpPr>
              <p:nvPr/>
            </p:nvSpPr>
            <p:spPr bwMode="auto">
              <a:xfrm>
                <a:off x="635752" y="1535744"/>
                <a:ext cx="4193697" cy="64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316493" fontAlgn="auto">
                  <a:spcBef>
                    <a:spcPts val="0"/>
                  </a:spcBef>
                  <a:spcAft>
                    <a:spcPts val="0"/>
                  </a:spcAft>
                  <a:defRPr/>
                </a:pPr>
                <a:r>
                  <a:rPr lang="ru-RU" altLang="ru-RU" sz="900" b="1" cap="all" dirty="0">
                    <a:solidFill>
                      <a:srgbClr val="475B79"/>
                    </a:solidFill>
                    <a:latin typeface="Arial" panose="020B0604020202020204" pitchFamily="34" charset="0"/>
                    <a:cs typeface="Arial" panose="020B0604020202020204" pitchFamily="34" charset="0"/>
                  </a:rPr>
                  <a:t>Обслуживаемых пользователей</a:t>
                </a:r>
              </a:p>
            </p:txBody>
          </p:sp>
        </p:grpSp>
        <p:grpSp>
          <p:nvGrpSpPr>
            <p:cNvPr id="189" name="Группа 188"/>
            <p:cNvGrpSpPr/>
            <p:nvPr/>
          </p:nvGrpSpPr>
          <p:grpSpPr>
            <a:xfrm>
              <a:off x="507592" y="4191317"/>
              <a:ext cx="4712212" cy="1046318"/>
              <a:chOff x="521600" y="2106646"/>
              <a:chExt cx="4712212" cy="1046318"/>
            </a:xfrm>
          </p:grpSpPr>
          <p:grpSp>
            <p:nvGrpSpPr>
              <p:cNvPr id="190" name="Группа 4"/>
              <p:cNvGrpSpPr>
                <a:grpSpLocks/>
              </p:cNvGrpSpPr>
              <p:nvPr/>
            </p:nvGrpSpPr>
            <p:grpSpPr bwMode="auto">
              <a:xfrm>
                <a:off x="750888" y="2106646"/>
                <a:ext cx="4482924" cy="1046318"/>
                <a:chOff x="522431" y="2213016"/>
                <a:chExt cx="4481898" cy="1046255"/>
              </a:xfrm>
            </p:grpSpPr>
            <p:sp>
              <p:nvSpPr>
                <p:cNvPr id="192" name="Прямоугольник 11"/>
                <p:cNvSpPr>
                  <a:spLocks noChangeArrowheads="1"/>
                </p:cNvSpPr>
                <p:nvPr/>
              </p:nvSpPr>
              <p:spPr bwMode="auto">
                <a:xfrm>
                  <a:off x="765030" y="2858639"/>
                  <a:ext cx="4239299" cy="400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316493" fontAlgn="auto">
                    <a:spcBef>
                      <a:spcPts val="0"/>
                    </a:spcBef>
                    <a:spcAft>
                      <a:spcPts val="0"/>
                    </a:spcAft>
                    <a:defRPr/>
                  </a:pPr>
                  <a:r>
                    <a:rPr lang="ru-RU" altLang="ru-RU" sz="900" b="1" cap="all" dirty="0">
                      <a:solidFill>
                        <a:srgbClr val="475B79"/>
                      </a:solidFill>
                      <a:latin typeface="Arial" panose="020B0604020202020204" pitchFamily="34" charset="0"/>
                      <a:cs typeface="Arial" panose="020B0604020202020204" pitchFamily="34" charset="0"/>
                    </a:rPr>
                    <a:t>заказчиков</a:t>
                  </a:r>
                </a:p>
              </p:txBody>
            </p:sp>
            <p:sp>
              <p:nvSpPr>
                <p:cNvPr id="193" name="Прямоугольник 15"/>
                <p:cNvSpPr>
                  <a:spLocks noChangeArrowheads="1"/>
                </p:cNvSpPr>
                <p:nvPr/>
              </p:nvSpPr>
              <p:spPr bwMode="auto">
                <a:xfrm>
                  <a:off x="522431" y="2213016"/>
                  <a:ext cx="1501434" cy="64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316493" fontAlgn="auto">
                    <a:spcBef>
                      <a:spcPts val="0"/>
                    </a:spcBef>
                    <a:spcAft>
                      <a:spcPts val="0"/>
                    </a:spcAft>
                    <a:defRPr/>
                  </a:pPr>
                  <a:endParaRPr lang="ru-RU" altLang="ru-RU" sz="1800" b="1" spc="52" dirty="0">
                    <a:solidFill>
                      <a:srgbClr val="475B79"/>
                    </a:solidFill>
                    <a:latin typeface="Arial" panose="020B0604020202020204" pitchFamily="34" charset="0"/>
                    <a:cs typeface="Arial" panose="020B0604020202020204" pitchFamily="34" charset="0"/>
                  </a:endParaRPr>
                </a:p>
              </p:txBody>
            </p:sp>
          </p:grpSp>
          <p:sp>
            <p:nvSpPr>
              <p:cNvPr id="191" name="Прямоугольник 190"/>
              <p:cNvSpPr/>
              <p:nvPr/>
            </p:nvSpPr>
            <p:spPr>
              <a:xfrm>
                <a:off x="521600" y="2270098"/>
                <a:ext cx="3631724" cy="641054"/>
              </a:xfrm>
              <a:prstGeom prst="rect">
                <a:avLst/>
              </a:prstGeom>
            </p:spPr>
            <p:txBody>
              <a:bodyPr wrap="square">
                <a:spAutoFit/>
              </a:bodyPr>
              <a:lstStyle/>
              <a:p>
                <a:pPr defTabSz="316493" fontAlgn="auto">
                  <a:spcBef>
                    <a:spcPts val="0"/>
                  </a:spcBef>
                  <a:spcAft>
                    <a:spcPts val="0"/>
                  </a:spcAft>
                  <a:defRPr/>
                </a:pPr>
                <a:r>
                  <a:rPr lang="en-US" altLang="ru-RU" sz="1800" b="1" spc="52" dirty="0">
                    <a:solidFill>
                      <a:srgbClr val="475B79"/>
                    </a:solidFill>
                    <a:latin typeface="Arial" panose="020B0604020202020204" pitchFamily="34" charset="0"/>
                    <a:cs typeface="Arial" panose="020B0604020202020204" pitchFamily="34" charset="0"/>
                  </a:rPr>
                  <a:t>&gt; </a:t>
                </a:r>
                <a:r>
                  <a:rPr lang="ru-RU" altLang="ru-RU" sz="1800" b="1" spc="52" dirty="0">
                    <a:solidFill>
                      <a:srgbClr val="475B79"/>
                    </a:solidFill>
                    <a:latin typeface="Arial" panose="020B0604020202020204" pitchFamily="34" charset="0"/>
                    <a:cs typeface="Arial" panose="020B0604020202020204" pitchFamily="34" charset="0"/>
                  </a:rPr>
                  <a:t>1 0</a:t>
                </a:r>
                <a:r>
                  <a:rPr lang="en-US" altLang="ru-RU" sz="1800" b="1" spc="52" dirty="0">
                    <a:solidFill>
                      <a:srgbClr val="475B79"/>
                    </a:solidFill>
                    <a:latin typeface="Arial" panose="020B0604020202020204" pitchFamily="34" charset="0"/>
                    <a:cs typeface="Arial" panose="020B0604020202020204" pitchFamily="34" charset="0"/>
                  </a:rPr>
                  <a:t>00</a:t>
                </a:r>
                <a:endParaRPr lang="ru-RU" sz="900" b="1" kern="0" dirty="0">
                  <a:solidFill>
                    <a:srgbClr val="475B79"/>
                  </a:solidFill>
                  <a:latin typeface="Arial" panose="020B0604020202020204" pitchFamily="34" charset="0"/>
                  <a:cs typeface="Arial" panose="020B0604020202020204" pitchFamily="34" charset="0"/>
                </a:endParaRPr>
              </a:p>
            </p:txBody>
          </p:sp>
        </p:grpSp>
      </p:grpSp>
      <p:sp>
        <p:nvSpPr>
          <p:cNvPr id="200" name="Прямоугольник 13"/>
          <p:cNvSpPr>
            <a:spLocks noChangeArrowheads="1"/>
          </p:cNvSpPr>
          <p:nvPr/>
        </p:nvSpPr>
        <p:spPr bwMode="auto">
          <a:xfrm>
            <a:off x="91749" y="3584947"/>
            <a:ext cx="1888017"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316493" fontAlgn="auto">
              <a:spcBef>
                <a:spcPts val="0"/>
              </a:spcBef>
              <a:spcAft>
                <a:spcPts val="0"/>
              </a:spcAft>
              <a:defRPr/>
            </a:pPr>
            <a:r>
              <a:rPr lang="en-US" altLang="ru-RU" sz="1662" b="1" spc="52" dirty="0">
                <a:solidFill>
                  <a:srgbClr val="475B79"/>
                </a:solidFill>
                <a:latin typeface="Arial" panose="020B0604020202020204" pitchFamily="34" charset="0"/>
                <a:cs typeface="Arial" panose="020B0604020202020204" pitchFamily="34" charset="0"/>
              </a:rPr>
              <a:t>&gt; </a:t>
            </a:r>
            <a:r>
              <a:rPr lang="ru-RU" altLang="ru-RU" sz="1662" b="1" spc="52" dirty="0">
                <a:solidFill>
                  <a:srgbClr val="475B79"/>
                </a:solidFill>
                <a:latin typeface="Arial" panose="020B0604020202020204" pitchFamily="34" charset="0"/>
                <a:cs typeface="Arial" panose="020B0604020202020204" pitchFamily="34" charset="0"/>
              </a:rPr>
              <a:t>2 000</a:t>
            </a:r>
          </a:p>
        </p:txBody>
      </p:sp>
      <p:sp>
        <p:nvSpPr>
          <p:cNvPr id="201" name="Прямоугольник 12"/>
          <p:cNvSpPr>
            <a:spLocks noChangeArrowheads="1"/>
          </p:cNvSpPr>
          <p:nvPr/>
        </p:nvSpPr>
        <p:spPr bwMode="auto">
          <a:xfrm>
            <a:off x="263639" y="3841303"/>
            <a:ext cx="144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316493" fontAlgn="auto">
              <a:spcBef>
                <a:spcPts val="0"/>
              </a:spcBef>
              <a:spcAft>
                <a:spcPts val="0"/>
              </a:spcAft>
              <a:defRPr/>
            </a:pPr>
            <a:r>
              <a:rPr lang="ru-RU" altLang="ru-RU" sz="900" b="1" cap="all" dirty="0">
                <a:solidFill>
                  <a:srgbClr val="475B79"/>
                </a:solidFill>
                <a:latin typeface="Arial" panose="020B0604020202020204" pitchFamily="34" charset="0"/>
                <a:cs typeface="Arial" panose="020B0604020202020204" pitchFamily="34" charset="0"/>
              </a:rPr>
              <a:t>Предоставляемых</a:t>
            </a:r>
          </a:p>
          <a:p>
            <a:pPr defTabSz="316493" fontAlgn="auto">
              <a:spcBef>
                <a:spcPts val="0"/>
              </a:spcBef>
              <a:spcAft>
                <a:spcPts val="0"/>
              </a:spcAft>
              <a:defRPr/>
            </a:pPr>
            <a:r>
              <a:rPr lang="ru-RU" altLang="ru-RU" sz="900" b="1" cap="all" dirty="0">
                <a:solidFill>
                  <a:srgbClr val="475B79"/>
                </a:solidFill>
                <a:latin typeface="Arial" panose="020B0604020202020204" pitchFamily="34" charset="0"/>
                <a:cs typeface="Arial" panose="020B0604020202020204" pitchFamily="34" charset="0"/>
              </a:rPr>
              <a:t>сервисов</a:t>
            </a:r>
          </a:p>
        </p:txBody>
      </p:sp>
      <p:sp>
        <p:nvSpPr>
          <p:cNvPr id="202" name="Прямоугольник 13"/>
          <p:cNvSpPr>
            <a:spLocks noChangeArrowheads="1"/>
          </p:cNvSpPr>
          <p:nvPr/>
        </p:nvSpPr>
        <p:spPr bwMode="auto">
          <a:xfrm>
            <a:off x="281283" y="4115751"/>
            <a:ext cx="1888017"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316493" fontAlgn="auto">
              <a:spcBef>
                <a:spcPts val="0"/>
              </a:spcBef>
              <a:spcAft>
                <a:spcPts val="0"/>
              </a:spcAft>
              <a:defRPr/>
            </a:pPr>
            <a:r>
              <a:rPr lang="ru-RU" altLang="ru-RU" sz="1662" b="1" spc="52" dirty="0">
                <a:solidFill>
                  <a:srgbClr val="475B79"/>
                </a:solidFill>
                <a:latin typeface="Arial" panose="020B0604020202020204" pitchFamily="34" charset="0"/>
                <a:cs typeface="Arial" panose="020B0604020202020204" pitchFamily="34" charset="0"/>
              </a:rPr>
              <a:t>52</a:t>
            </a:r>
          </a:p>
        </p:txBody>
      </p:sp>
      <p:sp>
        <p:nvSpPr>
          <p:cNvPr id="203" name="Прямоугольник 12"/>
          <p:cNvSpPr>
            <a:spLocks noChangeArrowheads="1"/>
          </p:cNvSpPr>
          <p:nvPr/>
        </p:nvSpPr>
        <p:spPr bwMode="auto">
          <a:xfrm>
            <a:off x="274270" y="4395607"/>
            <a:ext cx="10839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316493" fontAlgn="auto">
              <a:spcBef>
                <a:spcPts val="0"/>
              </a:spcBef>
              <a:spcAft>
                <a:spcPts val="0"/>
              </a:spcAft>
              <a:defRPr/>
            </a:pPr>
            <a:r>
              <a:rPr lang="ru-RU" altLang="ru-RU" sz="900" b="1" cap="all" dirty="0" smtClean="0">
                <a:solidFill>
                  <a:srgbClr val="475B79"/>
                </a:solidFill>
                <a:latin typeface="Arial" panose="020B0604020202020204" pitchFamily="34" charset="0"/>
                <a:cs typeface="Arial" panose="020B0604020202020204" pitchFamily="34" charset="0"/>
              </a:rPr>
              <a:t>Центра</a:t>
            </a:r>
          </a:p>
          <a:p>
            <a:pPr defTabSz="316493" fontAlgn="auto">
              <a:spcBef>
                <a:spcPts val="0"/>
              </a:spcBef>
              <a:spcAft>
                <a:spcPts val="0"/>
              </a:spcAft>
              <a:defRPr/>
            </a:pPr>
            <a:r>
              <a:rPr lang="ru-RU" altLang="ru-RU" sz="900" b="1" cap="all" dirty="0" smtClean="0">
                <a:solidFill>
                  <a:srgbClr val="475B79"/>
                </a:solidFill>
                <a:latin typeface="Arial" panose="020B0604020202020204" pitchFamily="34" charset="0"/>
                <a:cs typeface="Arial" panose="020B0604020202020204" pitchFamily="34" charset="0"/>
              </a:rPr>
              <a:t>компетенций</a:t>
            </a:r>
            <a:endParaRPr lang="ru-RU" altLang="ru-RU" sz="900" b="1" cap="all" dirty="0">
              <a:solidFill>
                <a:srgbClr val="475B79"/>
              </a:solidFill>
              <a:latin typeface="Arial" panose="020B0604020202020204" pitchFamily="34" charset="0"/>
              <a:cs typeface="Arial" panose="020B0604020202020204" pitchFamily="34" charset="0"/>
            </a:endParaRPr>
          </a:p>
        </p:txBody>
      </p:sp>
      <p:grpSp>
        <p:nvGrpSpPr>
          <p:cNvPr id="204" name="Группа 203"/>
          <p:cNvGrpSpPr/>
          <p:nvPr/>
        </p:nvGrpSpPr>
        <p:grpSpPr>
          <a:xfrm>
            <a:off x="1670568" y="817843"/>
            <a:ext cx="8285335" cy="4340520"/>
            <a:chOff x="1827061" y="736323"/>
            <a:chExt cx="9619171" cy="4522804"/>
          </a:xfrm>
        </p:grpSpPr>
        <p:sp>
          <p:nvSpPr>
            <p:cNvPr id="205" name="Прямоугольник 204"/>
            <p:cNvSpPr/>
            <p:nvPr/>
          </p:nvSpPr>
          <p:spPr>
            <a:xfrm>
              <a:off x="3307904" y="3019113"/>
              <a:ext cx="2464296" cy="12685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57143" indent="-118682" algn="just" defTabSz="316493" fontAlgn="auto">
                <a:spcBef>
                  <a:spcPts val="156"/>
                </a:spcBef>
                <a:spcAft>
                  <a:spcPts val="0"/>
                </a:spcAft>
                <a:buFontTx/>
                <a:buAutoNum type="arabicPeriod" startAt="3"/>
                <a:defRPr/>
              </a:pPr>
              <a:endParaRPr lang="en-US" sz="600" dirty="0">
                <a:solidFill>
                  <a:srgbClr val="53505E"/>
                </a:solidFill>
                <a:latin typeface="Arial" panose="020B0604020202020204" pitchFamily="34" charset="0"/>
                <a:cs typeface="Arial" panose="020B0604020202020204" pitchFamily="34" charset="0"/>
              </a:endParaRPr>
            </a:p>
          </p:txBody>
        </p:sp>
        <p:grpSp>
          <p:nvGrpSpPr>
            <p:cNvPr id="206" name="Группа 205"/>
            <p:cNvGrpSpPr/>
            <p:nvPr/>
          </p:nvGrpSpPr>
          <p:grpSpPr>
            <a:xfrm>
              <a:off x="1827061" y="736323"/>
              <a:ext cx="9619171" cy="4522804"/>
              <a:chOff x="9266168" y="1613693"/>
              <a:chExt cx="6900737" cy="3828752"/>
            </a:xfrm>
          </p:grpSpPr>
          <p:grpSp>
            <p:nvGrpSpPr>
              <p:cNvPr id="209" name="Группа 131"/>
              <p:cNvGrpSpPr>
                <a:grpSpLocks/>
              </p:cNvGrpSpPr>
              <p:nvPr/>
            </p:nvGrpSpPr>
            <p:grpSpPr bwMode="auto">
              <a:xfrm>
                <a:off x="9355145" y="1613693"/>
                <a:ext cx="6811760" cy="3828752"/>
                <a:chOff x="319388" y="1812997"/>
                <a:chExt cx="6614872" cy="3538940"/>
              </a:xfrm>
            </p:grpSpPr>
            <p:grpSp>
              <p:nvGrpSpPr>
                <p:cNvPr id="211" name="Группа 132"/>
                <p:cNvGrpSpPr>
                  <a:grpSpLocks/>
                </p:cNvGrpSpPr>
                <p:nvPr/>
              </p:nvGrpSpPr>
              <p:grpSpPr bwMode="auto">
                <a:xfrm>
                  <a:off x="319388" y="1812997"/>
                  <a:ext cx="6614872" cy="3538940"/>
                  <a:chOff x="2925764" y="1225538"/>
                  <a:chExt cx="6614987" cy="3540094"/>
                </a:xfrm>
              </p:grpSpPr>
              <p:grpSp>
                <p:nvGrpSpPr>
                  <p:cNvPr id="217" name="Group 14"/>
                  <p:cNvGrpSpPr>
                    <a:grpSpLocks noChangeAspect="1"/>
                  </p:cNvGrpSpPr>
                  <p:nvPr/>
                </p:nvGrpSpPr>
                <p:grpSpPr bwMode="auto">
                  <a:xfrm>
                    <a:off x="2925764" y="1225538"/>
                    <a:ext cx="6515101" cy="3540094"/>
                    <a:chOff x="1005" y="1295"/>
                    <a:chExt cx="4104" cy="2230"/>
                  </a:xfrm>
                </p:grpSpPr>
                <p:sp>
                  <p:nvSpPr>
                    <p:cNvPr id="329" name="AutoShape 13"/>
                    <p:cNvSpPr>
                      <a:spLocks noChangeAspect="1" noChangeArrowheads="1" noTextEdit="1"/>
                    </p:cNvSpPr>
                    <p:nvPr/>
                  </p:nvSpPr>
                  <p:spPr bwMode="auto">
                    <a:xfrm>
                      <a:off x="1006" y="1295"/>
                      <a:ext cx="4102" cy="2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316493" fontAlgn="auto">
                        <a:spcBef>
                          <a:spcPts val="0"/>
                        </a:spcBef>
                        <a:spcAft>
                          <a:spcPts val="0"/>
                        </a:spcAft>
                      </a:pPr>
                      <a:endParaRPr lang="ru-RU" sz="600" dirty="0">
                        <a:solidFill>
                          <a:srgbClr val="53505E"/>
                        </a:solidFill>
                        <a:latin typeface="+mn-lt"/>
                        <a:cs typeface="Arial" panose="020B0604020202020204" pitchFamily="34" charset="0"/>
                      </a:endParaRPr>
                    </a:p>
                  </p:txBody>
                </p:sp>
                <p:sp>
                  <p:nvSpPr>
                    <p:cNvPr id="330" name="Freeform 16"/>
                    <p:cNvSpPr>
                      <a:spLocks/>
                    </p:cNvSpPr>
                    <p:nvPr/>
                  </p:nvSpPr>
                  <p:spPr bwMode="auto">
                    <a:xfrm>
                      <a:off x="1180" y="1640"/>
                      <a:ext cx="161" cy="218"/>
                    </a:xfrm>
                    <a:custGeom>
                      <a:avLst/>
                      <a:gdLst>
                        <a:gd name="T0" fmla="*/ 88 w 161"/>
                        <a:gd name="T1" fmla="*/ 0 h 218"/>
                        <a:gd name="T2" fmla="*/ 0 w 161"/>
                        <a:gd name="T3" fmla="*/ 0 h 218"/>
                        <a:gd name="T4" fmla="*/ 0 w 161"/>
                        <a:gd name="T5" fmla="*/ 150 h 218"/>
                        <a:gd name="T6" fmla="*/ 74 w 161"/>
                        <a:gd name="T7" fmla="*/ 150 h 218"/>
                        <a:gd name="T8" fmla="*/ 74 w 161"/>
                        <a:gd name="T9" fmla="*/ 218 h 218"/>
                        <a:gd name="T10" fmla="*/ 161 w 161"/>
                        <a:gd name="T11" fmla="*/ 218 h 218"/>
                        <a:gd name="T12" fmla="*/ 161 w 161"/>
                        <a:gd name="T13" fmla="*/ 68 h 218"/>
                        <a:gd name="T14" fmla="*/ 88 w 161"/>
                        <a:gd name="T15" fmla="*/ 68 h 218"/>
                        <a:gd name="T16" fmla="*/ 88 w 161"/>
                        <a:gd name="T17" fmla="*/ 0 h 2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18">
                          <a:moveTo>
                            <a:pt x="88" y="0"/>
                          </a:moveTo>
                          <a:lnTo>
                            <a:pt x="0" y="0"/>
                          </a:lnTo>
                          <a:lnTo>
                            <a:pt x="0" y="150"/>
                          </a:lnTo>
                          <a:lnTo>
                            <a:pt x="74" y="150"/>
                          </a:lnTo>
                          <a:lnTo>
                            <a:pt x="74" y="218"/>
                          </a:lnTo>
                          <a:lnTo>
                            <a:pt x="161" y="218"/>
                          </a:lnTo>
                          <a:lnTo>
                            <a:pt x="161" y="68"/>
                          </a:lnTo>
                          <a:lnTo>
                            <a:pt x="88" y="68"/>
                          </a:lnTo>
                          <a:lnTo>
                            <a:pt x="88" y="0"/>
                          </a:lnTo>
                          <a:close/>
                        </a:path>
                      </a:pathLst>
                    </a:custGeom>
                    <a:solidFill>
                      <a:srgbClr val="D9D9D9"/>
                    </a:solidFill>
                    <a:ln w="19050">
                      <a:solidFill>
                        <a:srgbClr val="F6CC45"/>
                      </a:solidFill>
                      <a:round/>
                      <a:headEnd/>
                      <a:tailEnd/>
                    </a:ln>
                    <a:extLst/>
                  </p:spPr>
                  <p:txBody>
                    <a:bodyPr/>
                    <a:lstStyle/>
                    <a:p>
                      <a:pPr defTabSz="316493" fontAlgn="auto">
                        <a:spcBef>
                          <a:spcPts val="0"/>
                        </a:spcBef>
                        <a:spcAft>
                          <a:spcPts val="0"/>
                        </a:spcAft>
                      </a:pPr>
                      <a:endParaRPr lang="ru-RU" sz="600" dirty="0">
                        <a:solidFill>
                          <a:srgbClr val="53505E"/>
                        </a:solidFill>
                        <a:latin typeface="+mn-lt"/>
                        <a:cs typeface="Arial" panose="020B0604020202020204" pitchFamily="34" charset="0"/>
                      </a:endParaRPr>
                    </a:p>
                  </p:txBody>
                </p:sp>
                <p:sp>
                  <p:nvSpPr>
                    <p:cNvPr id="331" name="Freeform 17"/>
                    <p:cNvSpPr>
                      <a:spLocks/>
                    </p:cNvSpPr>
                    <p:nvPr/>
                  </p:nvSpPr>
                  <p:spPr bwMode="auto">
                    <a:xfrm>
                      <a:off x="1141" y="1727"/>
                      <a:ext cx="161" cy="218"/>
                    </a:xfrm>
                    <a:custGeom>
                      <a:avLst/>
                      <a:gdLst>
                        <a:gd name="T0" fmla="*/ 88 w 161"/>
                        <a:gd name="T1" fmla="*/ 0 h 218"/>
                        <a:gd name="T2" fmla="*/ 0 w 161"/>
                        <a:gd name="T3" fmla="*/ 0 h 218"/>
                        <a:gd name="T4" fmla="*/ 0 w 161"/>
                        <a:gd name="T5" fmla="*/ 150 h 218"/>
                        <a:gd name="T6" fmla="*/ 74 w 161"/>
                        <a:gd name="T7" fmla="*/ 150 h 218"/>
                        <a:gd name="T8" fmla="*/ 74 w 161"/>
                        <a:gd name="T9" fmla="*/ 218 h 218"/>
                        <a:gd name="T10" fmla="*/ 161 w 161"/>
                        <a:gd name="T11" fmla="*/ 218 h 218"/>
                        <a:gd name="T12" fmla="*/ 161 w 161"/>
                        <a:gd name="T13" fmla="*/ 68 h 218"/>
                        <a:gd name="T14" fmla="*/ 88 w 161"/>
                        <a:gd name="T15" fmla="*/ 68 h 218"/>
                        <a:gd name="T16" fmla="*/ 88 w 161"/>
                        <a:gd name="T17" fmla="*/ 0 h 2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18">
                          <a:moveTo>
                            <a:pt x="88" y="0"/>
                          </a:moveTo>
                          <a:lnTo>
                            <a:pt x="0" y="0"/>
                          </a:lnTo>
                          <a:lnTo>
                            <a:pt x="0" y="150"/>
                          </a:lnTo>
                          <a:lnTo>
                            <a:pt x="74" y="150"/>
                          </a:lnTo>
                          <a:lnTo>
                            <a:pt x="74" y="218"/>
                          </a:lnTo>
                          <a:lnTo>
                            <a:pt x="161" y="218"/>
                          </a:lnTo>
                          <a:lnTo>
                            <a:pt x="161" y="68"/>
                          </a:lnTo>
                          <a:lnTo>
                            <a:pt x="88" y="68"/>
                          </a:lnTo>
                          <a:lnTo>
                            <a:pt x="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defTabSz="316493" fontAlgn="auto">
                        <a:spcBef>
                          <a:spcPts val="0"/>
                        </a:spcBef>
                        <a:spcAft>
                          <a:spcPts val="0"/>
                        </a:spcAft>
                      </a:pPr>
                      <a:endParaRPr lang="ru-RU" sz="600" dirty="0">
                        <a:solidFill>
                          <a:srgbClr val="53505E"/>
                        </a:solidFill>
                        <a:latin typeface="+mn-lt"/>
                        <a:cs typeface="Arial" panose="020B0604020202020204" pitchFamily="34" charset="0"/>
                      </a:endParaRPr>
                    </a:p>
                  </p:txBody>
                </p:sp>
                <p:sp>
                  <p:nvSpPr>
                    <p:cNvPr id="332" name="Freeform 18"/>
                    <p:cNvSpPr>
                      <a:spLocks/>
                    </p:cNvSpPr>
                    <p:nvPr/>
                  </p:nvSpPr>
                  <p:spPr bwMode="auto">
                    <a:xfrm>
                      <a:off x="1005" y="1295"/>
                      <a:ext cx="4104" cy="2230"/>
                    </a:xfrm>
                    <a:custGeom>
                      <a:avLst/>
                      <a:gdLst>
                        <a:gd name="T0" fmla="*/ 3803 w 4104"/>
                        <a:gd name="T1" fmla="*/ 648 h 2230"/>
                        <a:gd name="T2" fmla="*/ 3955 w 4104"/>
                        <a:gd name="T3" fmla="*/ 860 h 2230"/>
                        <a:gd name="T4" fmla="*/ 4104 w 4104"/>
                        <a:gd name="T5" fmla="*/ 1219 h 2230"/>
                        <a:gd name="T6" fmla="*/ 3943 w 4104"/>
                        <a:gd name="T7" fmla="*/ 1880 h 2230"/>
                        <a:gd name="T8" fmla="*/ 3946 w 4104"/>
                        <a:gd name="T9" fmla="*/ 1301 h 2230"/>
                        <a:gd name="T10" fmla="*/ 3800 w 4104"/>
                        <a:gd name="T11" fmla="*/ 1162 h 2230"/>
                        <a:gd name="T12" fmla="*/ 3649 w 4104"/>
                        <a:gd name="T13" fmla="*/ 801 h 2230"/>
                        <a:gd name="T14" fmla="*/ 3508 w 4104"/>
                        <a:gd name="T15" fmla="*/ 1162 h 2230"/>
                        <a:gd name="T16" fmla="*/ 3348 w 4104"/>
                        <a:gd name="T17" fmla="*/ 1301 h 2230"/>
                        <a:gd name="T18" fmla="*/ 3579 w 4104"/>
                        <a:gd name="T19" fmla="*/ 1355 h 2230"/>
                        <a:gd name="T20" fmla="*/ 3731 w 4104"/>
                        <a:gd name="T21" fmla="*/ 1497 h 2230"/>
                        <a:gd name="T22" fmla="*/ 3806 w 4104"/>
                        <a:gd name="T23" fmla="*/ 1786 h 2230"/>
                        <a:gd name="T24" fmla="*/ 3797 w 4104"/>
                        <a:gd name="T25" fmla="*/ 1796 h 2230"/>
                        <a:gd name="T26" fmla="*/ 3657 w 4104"/>
                        <a:gd name="T27" fmla="*/ 1716 h 2230"/>
                        <a:gd name="T28" fmla="*/ 3582 w 4104"/>
                        <a:gd name="T29" fmla="*/ 2230 h 2230"/>
                        <a:gd name="T30" fmla="*/ 3421 w 4104"/>
                        <a:gd name="T31" fmla="*/ 2070 h 2230"/>
                        <a:gd name="T32" fmla="*/ 3423 w 4104"/>
                        <a:gd name="T33" fmla="*/ 1935 h 2230"/>
                        <a:gd name="T34" fmla="*/ 3123 w 4104"/>
                        <a:gd name="T35" fmla="*/ 1794 h 2230"/>
                        <a:gd name="T36" fmla="*/ 2975 w 4104"/>
                        <a:gd name="T37" fmla="*/ 1935 h 2230"/>
                        <a:gd name="T38" fmla="*/ 2694 w 4104"/>
                        <a:gd name="T39" fmla="*/ 2081 h 2230"/>
                        <a:gd name="T40" fmla="*/ 2297 w 4104"/>
                        <a:gd name="T41" fmla="*/ 2081 h 2230"/>
                        <a:gd name="T42" fmla="*/ 2163 w 4104"/>
                        <a:gd name="T43" fmla="*/ 2155 h 2230"/>
                        <a:gd name="T44" fmla="*/ 1992 w 4104"/>
                        <a:gd name="T45" fmla="*/ 2007 h 2230"/>
                        <a:gd name="T46" fmla="*/ 1865 w 4104"/>
                        <a:gd name="T47" fmla="*/ 2155 h 2230"/>
                        <a:gd name="T48" fmla="*/ 1632 w 4104"/>
                        <a:gd name="T49" fmla="*/ 2007 h 2230"/>
                        <a:gd name="T50" fmla="*/ 1487 w 4104"/>
                        <a:gd name="T51" fmla="*/ 1794 h 2230"/>
                        <a:gd name="T52" fmla="*/ 1335 w 4104"/>
                        <a:gd name="T53" fmla="*/ 1651 h 2230"/>
                        <a:gd name="T54" fmla="*/ 967 w 4104"/>
                        <a:gd name="T55" fmla="*/ 1651 h 2230"/>
                        <a:gd name="T56" fmla="*/ 736 w 4104"/>
                        <a:gd name="T57" fmla="*/ 1651 h 2230"/>
                        <a:gd name="T58" fmla="*/ 516 w 4104"/>
                        <a:gd name="T59" fmla="*/ 1432 h 2230"/>
                        <a:gd name="T60" fmla="*/ 225 w 4104"/>
                        <a:gd name="T61" fmla="*/ 1654 h 2230"/>
                        <a:gd name="T62" fmla="*/ 65 w 4104"/>
                        <a:gd name="T63" fmla="*/ 1654 h 2230"/>
                        <a:gd name="T64" fmla="*/ 0 w 4104"/>
                        <a:gd name="T65" fmla="*/ 1227 h 2230"/>
                        <a:gd name="T66" fmla="*/ 295 w 4104"/>
                        <a:gd name="T67" fmla="*/ 793 h 2230"/>
                        <a:gd name="T68" fmla="*/ 519 w 4104"/>
                        <a:gd name="T69" fmla="*/ 583 h 2230"/>
                        <a:gd name="T70" fmla="*/ 888 w 4104"/>
                        <a:gd name="T71" fmla="*/ 437 h 2230"/>
                        <a:gd name="T72" fmla="*/ 1116 w 4104"/>
                        <a:gd name="T73" fmla="*/ 291 h 2230"/>
                        <a:gd name="T74" fmla="*/ 1180 w 4104"/>
                        <a:gd name="T75" fmla="*/ 725 h 2230"/>
                        <a:gd name="T76" fmla="*/ 1486 w 4104"/>
                        <a:gd name="T77" fmla="*/ 434 h 2230"/>
                        <a:gd name="T78" fmla="*/ 1568 w 4104"/>
                        <a:gd name="T79" fmla="*/ 588 h 2230"/>
                        <a:gd name="T80" fmla="*/ 1633 w 4104"/>
                        <a:gd name="T81" fmla="*/ 722 h 2230"/>
                        <a:gd name="T82" fmla="*/ 1788 w 4104"/>
                        <a:gd name="T83" fmla="*/ 722 h 2230"/>
                        <a:gd name="T84" fmla="*/ 2080 w 4104"/>
                        <a:gd name="T85" fmla="*/ 573 h 2230"/>
                        <a:gd name="T86" fmla="*/ 2142 w 4104"/>
                        <a:gd name="T87" fmla="*/ 435 h 2230"/>
                        <a:gd name="T88" fmla="*/ 2243 w 4104"/>
                        <a:gd name="T89" fmla="*/ 431 h 2230"/>
                        <a:gd name="T90" fmla="*/ 2389 w 4104"/>
                        <a:gd name="T91" fmla="*/ 573 h 2230"/>
                        <a:gd name="T92" fmla="*/ 2457 w 4104"/>
                        <a:gd name="T93" fmla="*/ 722 h 2230"/>
                        <a:gd name="T94" fmla="*/ 2754 w 4104"/>
                        <a:gd name="T95" fmla="*/ 722 h 2230"/>
                        <a:gd name="T96" fmla="*/ 2898 w 4104"/>
                        <a:gd name="T97" fmla="*/ 580 h 2230"/>
                        <a:gd name="T98" fmla="*/ 2673 w 4104"/>
                        <a:gd name="T99" fmla="*/ 434 h 2230"/>
                        <a:gd name="T100" fmla="*/ 2982 w 4104"/>
                        <a:gd name="T101" fmla="*/ 505 h 2230"/>
                        <a:gd name="T102" fmla="*/ 3271 w 4104"/>
                        <a:gd name="T103" fmla="*/ 363 h 2230"/>
                        <a:gd name="T104" fmla="*/ 3423 w 4104"/>
                        <a:gd name="T105" fmla="*/ 217 h 2230"/>
                        <a:gd name="T106" fmla="*/ 3645 w 4104"/>
                        <a:gd name="T107" fmla="*/ 75 h 2230"/>
                        <a:gd name="T108" fmla="*/ 3875 w 4104"/>
                        <a:gd name="T109" fmla="*/ 75 h 22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104" h="2230">
                          <a:moveTo>
                            <a:pt x="3731" y="289"/>
                          </a:moveTo>
                          <a:lnTo>
                            <a:pt x="3879" y="289"/>
                          </a:lnTo>
                          <a:lnTo>
                            <a:pt x="3879" y="648"/>
                          </a:lnTo>
                          <a:lnTo>
                            <a:pt x="3803" y="648"/>
                          </a:lnTo>
                          <a:lnTo>
                            <a:pt x="3803" y="722"/>
                          </a:lnTo>
                          <a:lnTo>
                            <a:pt x="3879" y="722"/>
                          </a:lnTo>
                          <a:lnTo>
                            <a:pt x="3879" y="860"/>
                          </a:lnTo>
                          <a:lnTo>
                            <a:pt x="3955" y="860"/>
                          </a:lnTo>
                          <a:lnTo>
                            <a:pt x="3955" y="934"/>
                          </a:lnTo>
                          <a:lnTo>
                            <a:pt x="4033" y="934"/>
                          </a:lnTo>
                          <a:lnTo>
                            <a:pt x="4033" y="1219"/>
                          </a:lnTo>
                          <a:lnTo>
                            <a:pt x="4104" y="1219"/>
                          </a:lnTo>
                          <a:lnTo>
                            <a:pt x="4104" y="1728"/>
                          </a:lnTo>
                          <a:lnTo>
                            <a:pt x="4029" y="1728"/>
                          </a:lnTo>
                          <a:lnTo>
                            <a:pt x="4029" y="1880"/>
                          </a:lnTo>
                          <a:lnTo>
                            <a:pt x="3943" y="1880"/>
                          </a:lnTo>
                          <a:lnTo>
                            <a:pt x="3943" y="1718"/>
                          </a:lnTo>
                          <a:lnTo>
                            <a:pt x="4017" y="1718"/>
                          </a:lnTo>
                          <a:lnTo>
                            <a:pt x="4017" y="1301"/>
                          </a:lnTo>
                          <a:lnTo>
                            <a:pt x="3946" y="1301"/>
                          </a:lnTo>
                          <a:lnTo>
                            <a:pt x="3946" y="1230"/>
                          </a:lnTo>
                          <a:lnTo>
                            <a:pt x="3875" y="1230"/>
                          </a:lnTo>
                          <a:lnTo>
                            <a:pt x="3875" y="1162"/>
                          </a:lnTo>
                          <a:lnTo>
                            <a:pt x="3800" y="1162"/>
                          </a:lnTo>
                          <a:lnTo>
                            <a:pt x="3800" y="1084"/>
                          </a:lnTo>
                          <a:lnTo>
                            <a:pt x="3722" y="1084"/>
                          </a:lnTo>
                          <a:lnTo>
                            <a:pt x="3722" y="801"/>
                          </a:lnTo>
                          <a:lnTo>
                            <a:pt x="3649" y="801"/>
                          </a:lnTo>
                          <a:lnTo>
                            <a:pt x="3649" y="862"/>
                          </a:lnTo>
                          <a:lnTo>
                            <a:pt x="3649" y="1081"/>
                          </a:lnTo>
                          <a:lnTo>
                            <a:pt x="3508" y="1081"/>
                          </a:lnTo>
                          <a:lnTo>
                            <a:pt x="3508" y="1162"/>
                          </a:lnTo>
                          <a:lnTo>
                            <a:pt x="3426" y="1162"/>
                          </a:lnTo>
                          <a:lnTo>
                            <a:pt x="3426" y="1216"/>
                          </a:lnTo>
                          <a:lnTo>
                            <a:pt x="3426" y="1301"/>
                          </a:lnTo>
                          <a:lnTo>
                            <a:pt x="3348" y="1301"/>
                          </a:lnTo>
                          <a:lnTo>
                            <a:pt x="3348" y="1431"/>
                          </a:lnTo>
                          <a:lnTo>
                            <a:pt x="3492" y="1431"/>
                          </a:lnTo>
                          <a:lnTo>
                            <a:pt x="3492" y="1355"/>
                          </a:lnTo>
                          <a:lnTo>
                            <a:pt x="3579" y="1355"/>
                          </a:lnTo>
                          <a:lnTo>
                            <a:pt x="3579" y="1431"/>
                          </a:lnTo>
                          <a:lnTo>
                            <a:pt x="3649" y="1431"/>
                          </a:lnTo>
                          <a:lnTo>
                            <a:pt x="3649" y="1497"/>
                          </a:lnTo>
                          <a:lnTo>
                            <a:pt x="3731" y="1497"/>
                          </a:lnTo>
                          <a:lnTo>
                            <a:pt x="3731" y="1574"/>
                          </a:lnTo>
                          <a:lnTo>
                            <a:pt x="3806" y="1574"/>
                          </a:lnTo>
                          <a:lnTo>
                            <a:pt x="3806" y="1651"/>
                          </a:lnTo>
                          <a:lnTo>
                            <a:pt x="3806" y="1786"/>
                          </a:lnTo>
                          <a:lnTo>
                            <a:pt x="3883" y="1786"/>
                          </a:lnTo>
                          <a:lnTo>
                            <a:pt x="3883" y="1871"/>
                          </a:lnTo>
                          <a:lnTo>
                            <a:pt x="3797" y="1871"/>
                          </a:lnTo>
                          <a:lnTo>
                            <a:pt x="3797" y="1796"/>
                          </a:lnTo>
                          <a:lnTo>
                            <a:pt x="3719" y="1796"/>
                          </a:lnTo>
                          <a:lnTo>
                            <a:pt x="3719" y="1651"/>
                          </a:lnTo>
                          <a:lnTo>
                            <a:pt x="3657" y="1651"/>
                          </a:lnTo>
                          <a:lnTo>
                            <a:pt x="3657" y="1716"/>
                          </a:lnTo>
                          <a:lnTo>
                            <a:pt x="3657" y="1794"/>
                          </a:lnTo>
                          <a:lnTo>
                            <a:pt x="3657" y="2149"/>
                          </a:lnTo>
                          <a:lnTo>
                            <a:pt x="3582" y="2149"/>
                          </a:lnTo>
                          <a:lnTo>
                            <a:pt x="3582" y="2230"/>
                          </a:lnTo>
                          <a:lnTo>
                            <a:pt x="3495" y="2230"/>
                          </a:lnTo>
                          <a:lnTo>
                            <a:pt x="3495" y="2155"/>
                          </a:lnTo>
                          <a:lnTo>
                            <a:pt x="3421" y="2155"/>
                          </a:lnTo>
                          <a:lnTo>
                            <a:pt x="3421" y="2070"/>
                          </a:lnTo>
                          <a:lnTo>
                            <a:pt x="3499" y="2070"/>
                          </a:lnTo>
                          <a:lnTo>
                            <a:pt x="3499" y="1871"/>
                          </a:lnTo>
                          <a:lnTo>
                            <a:pt x="3423" y="1871"/>
                          </a:lnTo>
                          <a:lnTo>
                            <a:pt x="3423" y="1935"/>
                          </a:lnTo>
                          <a:lnTo>
                            <a:pt x="3194" y="1935"/>
                          </a:lnTo>
                          <a:lnTo>
                            <a:pt x="3194" y="1867"/>
                          </a:lnTo>
                          <a:lnTo>
                            <a:pt x="3123" y="1867"/>
                          </a:lnTo>
                          <a:lnTo>
                            <a:pt x="3123" y="1794"/>
                          </a:lnTo>
                          <a:lnTo>
                            <a:pt x="2907" y="1794"/>
                          </a:lnTo>
                          <a:lnTo>
                            <a:pt x="2907" y="1850"/>
                          </a:lnTo>
                          <a:lnTo>
                            <a:pt x="2975" y="1850"/>
                          </a:lnTo>
                          <a:lnTo>
                            <a:pt x="2975" y="1935"/>
                          </a:lnTo>
                          <a:lnTo>
                            <a:pt x="2975" y="2007"/>
                          </a:lnTo>
                          <a:lnTo>
                            <a:pt x="2843" y="2007"/>
                          </a:lnTo>
                          <a:lnTo>
                            <a:pt x="2843" y="2081"/>
                          </a:lnTo>
                          <a:lnTo>
                            <a:pt x="2694" y="2081"/>
                          </a:lnTo>
                          <a:lnTo>
                            <a:pt x="2694" y="2155"/>
                          </a:lnTo>
                          <a:lnTo>
                            <a:pt x="2514" y="2155"/>
                          </a:lnTo>
                          <a:lnTo>
                            <a:pt x="2514" y="2081"/>
                          </a:lnTo>
                          <a:lnTo>
                            <a:pt x="2297" y="2081"/>
                          </a:lnTo>
                          <a:lnTo>
                            <a:pt x="2297" y="2007"/>
                          </a:lnTo>
                          <a:lnTo>
                            <a:pt x="2163" y="2007"/>
                          </a:lnTo>
                          <a:lnTo>
                            <a:pt x="2163" y="2084"/>
                          </a:lnTo>
                          <a:lnTo>
                            <a:pt x="2163" y="2155"/>
                          </a:lnTo>
                          <a:lnTo>
                            <a:pt x="2076" y="2155"/>
                          </a:lnTo>
                          <a:lnTo>
                            <a:pt x="2076" y="2084"/>
                          </a:lnTo>
                          <a:lnTo>
                            <a:pt x="1992" y="2084"/>
                          </a:lnTo>
                          <a:lnTo>
                            <a:pt x="1992" y="2007"/>
                          </a:lnTo>
                          <a:lnTo>
                            <a:pt x="1930" y="2007"/>
                          </a:lnTo>
                          <a:lnTo>
                            <a:pt x="1930" y="2081"/>
                          </a:lnTo>
                          <a:lnTo>
                            <a:pt x="1865" y="2081"/>
                          </a:lnTo>
                          <a:lnTo>
                            <a:pt x="1865" y="2155"/>
                          </a:lnTo>
                          <a:lnTo>
                            <a:pt x="1700" y="2155"/>
                          </a:lnTo>
                          <a:lnTo>
                            <a:pt x="1700" y="2081"/>
                          </a:lnTo>
                          <a:lnTo>
                            <a:pt x="1632" y="2081"/>
                          </a:lnTo>
                          <a:lnTo>
                            <a:pt x="1632" y="2007"/>
                          </a:lnTo>
                          <a:lnTo>
                            <a:pt x="1555" y="2007"/>
                          </a:lnTo>
                          <a:lnTo>
                            <a:pt x="1555" y="1933"/>
                          </a:lnTo>
                          <a:lnTo>
                            <a:pt x="1487" y="1933"/>
                          </a:lnTo>
                          <a:lnTo>
                            <a:pt x="1487" y="1794"/>
                          </a:lnTo>
                          <a:lnTo>
                            <a:pt x="1410" y="1794"/>
                          </a:lnTo>
                          <a:lnTo>
                            <a:pt x="1410" y="1726"/>
                          </a:lnTo>
                          <a:lnTo>
                            <a:pt x="1335" y="1726"/>
                          </a:lnTo>
                          <a:lnTo>
                            <a:pt x="1335" y="1651"/>
                          </a:lnTo>
                          <a:lnTo>
                            <a:pt x="1257" y="1651"/>
                          </a:lnTo>
                          <a:lnTo>
                            <a:pt x="1257" y="1578"/>
                          </a:lnTo>
                          <a:lnTo>
                            <a:pt x="967" y="1578"/>
                          </a:lnTo>
                          <a:lnTo>
                            <a:pt x="967" y="1651"/>
                          </a:lnTo>
                          <a:lnTo>
                            <a:pt x="967" y="1725"/>
                          </a:lnTo>
                          <a:lnTo>
                            <a:pt x="881" y="1725"/>
                          </a:lnTo>
                          <a:lnTo>
                            <a:pt x="881" y="1651"/>
                          </a:lnTo>
                          <a:lnTo>
                            <a:pt x="736" y="1651"/>
                          </a:lnTo>
                          <a:lnTo>
                            <a:pt x="736" y="1578"/>
                          </a:lnTo>
                          <a:lnTo>
                            <a:pt x="668" y="1578"/>
                          </a:lnTo>
                          <a:lnTo>
                            <a:pt x="668" y="1432"/>
                          </a:lnTo>
                          <a:lnTo>
                            <a:pt x="516" y="1432"/>
                          </a:lnTo>
                          <a:lnTo>
                            <a:pt x="516" y="1509"/>
                          </a:lnTo>
                          <a:lnTo>
                            <a:pt x="445" y="1509"/>
                          </a:lnTo>
                          <a:lnTo>
                            <a:pt x="445" y="1654"/>
                          </a:lnTo>
                          <a:lnTo>
                            <a:pt x="225" y="1654"/>
                          </a:lnTo>
                          <a:lnTo>
                            <a:pt x="225" y="1793"/>
                          </a:lnTo>
                          <a:lnTo>
                            <a:pt x="139" y="1793"/>
                          </a:lnTo>
                          <a:lnTo>
                            <a:pt x="139" y="1654"/>
                          </a:lnTo>
                          <a:lnTo>
                            <a:pt x="65" y="1654"/>
                          </a:lnTo>
                          <a:lnTo>
                            <a:pt x="65" y="1509"/>
                          </a:lnTo>
                          <a:lnTo>
                            <a:pt x="0" y="1509"/>
                          </a:lnTo>
                          <a:lnTo>
                            <a:pt x="0" y="1431"/>
                          </a:lnTo>
                          <a:lnTo>
                            <a:pt x="0" y="1227"/>
                          </a:lnTo>
                          <a:lnTo>
                            <a:pt x="217" y="1227"/>
                          </a:lnTo>
                          <a:lnTo>
                            <a:pt x="217" y="861"/>
                          </a:lnTo>
                          <a:lnTo>
                            <a:pt x="295" y="861"/>
                          </a:lnTo>
                          <a:lnTo>
                            <a:pt x="295" y="793"/>
                          </a:lnTo>
                          <a:lnTo>
                            <a:pt x="363" y="793"/>
                          </a:lnTo>
                          <a:lnTo>
                            <a:pt x="363" y="726"/>
                          </a:lnTo>
                          <a:lnTo>
                            <a:pt x="363" y="583"/>
                          </a:lnTo>
                          <a:lnTo>
                            <a:pt x="519" y="583"/>
                          </a:lnTo>
                          <a:lnTo>
                            <a:pt x="519" y="512"/>
                          </a:lnTo>
                          <a:lnTo>
                            <a:pt x="807" y="512"/>
                          </a:lnTo>
                          <a:lnTo>
                            <a:pt x="807" y="437"/>
                          </a:lnTo>
                          <a:lnTo>
                            <a:pt x="888" y="437"/>
                          </a:lnTo>
                          <a:lnTo>
                            <a:pt x="888" y="363"/>
                          </a:lnTo>
                          <a:lnTo>
                            <a:pt x="959" y="363"/>
                          </a:lnTo>
                          <a:lnTo>
                            <a:pt x="959" y="291"/>
                          </a:lnTo>
                          <a:lnTo>
                            <a:pt x="1116" y="291"/>
                          </a:lnTo>
                          <a:lnTo>
                            <a:pt x="1116" y="370"/>
                          </a:lnTo>
                          <a:lnTo>
                            <a:pt x="1116" y="583"/>
                          </a:lnTo>
                          <a:lnTo>
                            <a:pt x="1180" y="583"/>
                          </a:lnTo>
                          <a:lnTo>
                            <a:pt x="1180" y="725"/>
                          </a:lnTo>
                          <a:lnTo>
                            <a:pt x="1403" y="725"/>
                          </a:lnTo>
                          <a:lnTo>
                            <a:pt x="1403" y="509"/>
                          </a:lnTo>
                          <a:lnTo>
                            <a:pt x="1486" y="509"/>
                          </a:lnTo>
                          <a:lnTo>
                            <a:pt x="1486" y="434"/>
                          </a:lnTo>
                          <a:lnTo>
                            <a:pt x="1708" y="434"/>
                          </a:lnTo>
                          <a:lnTo>
                            <a:pt x="1708" y="512"/>
                          </a:lnTo>
                          <a:lnTo>
                            <a:pt x="1568" y="512"/>
                          </a:lnTo>
                          <a:lnTo>
                            <a:pt x="1568" y="588"/>
                          </a:lnTo>
                          <a:lnTo>
                            <a:pt x="1492" y="588"/>
                          </a:lnTo>
                          <a:lnTo>
                            <a:pt x="1492" y="793"/>
                          </a:lnTo>
                          <a:lnTo>
                            <a:pt x="1633" y="793"/>
                          </a:lnTo>
                          <a:lnTo>
                            <a:pt x="1633" y="722"/>
                          </a:lnTo>
                          <a:lnTo>
                            <a:pt x="1705" y="722"/>
                          </a:lnTo>
                          <a:lnTo>
                            <a:pt x="1705" y="647"/>
                          </a:lnTo>
                          <a:lnTo>
                            <a:pt x="1788" y="647"/>
                          </a:lnTo>
                          <a:lnTo>
                            <a:pt x="1788" y="722"/>
                          </a:lnTo>
                          <a:lnTo>
                            <a:pt x="1999" y="722"/>
                          </a:lnTo>
                          <a:lnTo>
                            <a:pt x="1999" y="648"/>
                          </a:lnTo>
                          <a:lnTo>
                            <a:pt x="2080" y="648"/>
                          </a:lnTo>
                          <a:lnTo>
                            <a:pt x="2080" y="573"/>
                          </a:lnTo>
                          <a:lnTo>
                            <a:pt x="2216" y="573"/>
                          </a:lnTo>
                          <a:lnTo>
                            <a:pt x="2216" y="503"/>
                          </a:lnTo>
                          <a:lnTo>
                            <a:pt x="2142" y="503"/>
                          </a:lnTo>
                          <a:lnTo>
                            <a:pt x="2142" y="435"/>
                          </a:lnTo>
                          <a:lnTo>
                            <a:pt x="2071" y="435"/>
                          </a:lnTo>
                          <a:lnTo>
                            <a:pt x="2071" y="288"/>
                          </a:lnTo>
                          <a:lnTo>
                            <a:pt x="2243" y="288"/>
                          </a:lnTo>
                          <a:lnTo>
                            <a:pt x="2243" y="431"/>
                          </a:lnTo>
                          <a:lnTo>
                            <a:pt x="2314" y="431"/>
                          </a:lnTo>
                          <a:lnTo>
                            <a:pt x="2314" y="502"/>
                          </a:lnTo>
                          <a:lnTo>
                            <a:pt x="2389" y="502"/>
                          </a:lnTo>
                          <a:lnTo>
                            <a:pt x="2389" y="573"/>
                          </a:lnTo>
                          <a:lnTo>
                            <a:pt x="2457" y="573"/>
                          </a:lnTo>
                          <a:lnTo>
                            <a:pt x="2457" y="648"/>
                          </a:lnTo>
                          <a:lnTo>
                            <a:pt x="2457" y="652"/>
                          </a:lnTo>
                          <a:lnTo>
                            <a:pt x="2457" y="722"/>
                          </a:lnTo>
                          <a:lnTo>
                            <a:pt x="2603" y="722"/>
                          </a:lnTo>
                          <a:lnTo>
                            <a:pt x="2603" y="648"/>
                          </a:lnTo>
                          <a:lnTo>
                            <a:pt x="2754" y="648"/>
                          </a:lnTo>
                          <a:lnTo>
                            <a:pt x="2754" y="722"/>
                          </a:lnTo>
                          <a:lnTo>
                            <a:pt x="2827" y="722"/>
                          </a:lnTo>
                          <a:lnTo>
                            <a:pt x="2827" y="648"/>
                          </a:lnTo>
                          <a:lnTo>
                            <a:pt x="2898" y="648"/>
                          </a:lnTo>
                          <a:lnTo>
                            <a:pt x="2898" y="580"/>
                          </a:lnTo>
                          <a:lnTo>
                            <a:pt x="2754" y="580"/>
                          </a:lnTo>
                          <a:lnTo>
                            <a:pt x="2754" y="512"/>
                          </a:lnTo>
                          <a:lnTo>
                            <a:pt x="2673" y="512"/>
                          </a:lnTo>
                          <a:lnTo>
                            <a:pt x="2673" y="434"/>
                          </a:lnTo>
                          <a:lnTo>
                            <a:pt x="2754" y="434"/>
                          </a:lnTo>
                          <a:lnTo>
                            <a:pt x="2754" y="359"/>
                          </a:lnTo>
                          <a:lnTo>
                            <a:pt x="2982" y="359"/>
                          </a:lnTo>
                          <a:lnTo>
                            <a:pt x="2982" y="505"/>
                          </a:lnTo>
                          <a:lnTo>
                            <a:pt x="3130" y="505"/>
                          </a:lnTo>
                          <a:lnTo>
                            <a:pt x="3130" y="427"/>
                          </a:lnTo>
                          <a:lnTo>
                            <a:pt x="3271" y="427"/>
                          </a:lnTo>
                          <a:lnTo>
                            <a:pt x="3271" y="363"/>
                          </a:lnTo>
                          <a:lnTo>
                            <a:pt x="3350" y="363"/>
                          </a:lnTo>
                          <a:lnTo>
                            <a:pt x="3350" y="294"/>
                          </a:lnTo>
                          <a:lnTo>
                            <a:pt x="3350" y="217"/>
                          </a:lnTo>
                          <a:lnTo>
                            <a:pt x="3423" y="217"/>
                          </a:lnTo>
                          <a:lnTo>
                            <a:pt x="3423" y="145"/>
                          </a:lnTo>
                          <a:lnTo>
                            <a:pt x="3572" y="145"/>
                          </a:lnTo>
                          <a:lnTo>
                            <a:pt x="3572" y="75"/>
                          </a:lnTo>
                          <a:lnTo>
                            <a:pt x="3645" y="75"/>
                          </a:lnTo>
                          <a:lnTo>
                            <a:pt x="3645" y="0"/>
                          </a:lnTo>
                          <a:lnTo>
                            <a:pt x="3807" y="0"/>
                          </a:lnTo>
                          <a:lnTo>
                            <a:pt x="3807" y="75"/>
                          </a:lnTo>
                          <a:lnTo>
                            <a:pt x="3875" y="75"/>
                          </a:lnTo>
                          <a:lnTo>
                            <a:pt x="3875" y="151"/>
                          </a:lnTo>
                          <a:lnTo>
                            <a:pt x="3731" y="151"/>
                          </a:lnTo>
                          <a:lnTo>
                            <a:pt x="3731" y="289"/>
                          </a:lnTo>
                          <a:close/>
                        </a:path>
                      </a:pathLst>
                    </a:custGeom>
                    <a:solidFill>
                      <a:srgbClr val="D9D9D9"/>
                    </a:solidFill>
                    <a:ln w="19050">
                      <a:solidFill>
                        <a:srgbClr val="FFD200"/>
                      </a:solidFill>
                      <a:round/>
                      <a:headEnd/>
                      <a:tailEnd/>
                    </a:ln>
                    <a:extLst/>
                  </p:spPr>
                  <p:txBody>
                    <a:bodyPr/>
                    <a:lstStyle/>
                    <a:p>
                      <a:pPr defTabSz="316493" fontAlgn="auto">
                        <a:spcBef>
                          <a:spcPts val="0"/>
                        </a:spcBef>
                        <a:spcAft>
                          <a:spcPts val="0"/>
                        </a:spcAft>
                      </a:pPr>
                      <a:endParaRPr lang="ru-RU" sz="600" dirty="0">
                        <a:solidFill>
                          <a:srgbClr val="53505E"/>
                        </a:solidFill>
                        <a:latin typeface="+mn-lt"/>
                        <a:cs typeface="Arial" panose="020B0604020202020204" pitchFamily="34" charset="0"/>
                      </a:endParaRPr>
                    </a:p>
                  </p:txBody>
                </p:sp>
              </p:grpSp>
              <p:sp>
                <p:nvSpPr>
                  <p:cNvPr id="218" name="Freeform 131"/>
                  <p:cNvSpPr>
                    <a:spLocks/>
                  </p:cNvSpPr>
                  <p:nvPr/>
                </p:nvSpPr>
                <p:spPr bwMode="auto">
                  <a:xfrm rot="518698">
                    <a:off x="4865441" y="2723030"/>
                    <a:ext cx="1052540" cy="751127"/>
                  </a:xfrm>
                  <a:custGeom>
                    <a:avLst/>
                    <a:gdLst/>
                    <a:ahLst/>
                    <a:cxnLst>
                      <a:cxn ang="0">
                        <a:pos x="982" y="1239"/>
                      </a:cxn>
                      <a:cxn ang="0">
                        <a:pos x="1036" y="1198"/>
                      </a:cxn>
                      <a:cxn ang="0">
                        <a:pos x="1082" y="1136"/>
                      </a:cxn>
                      <a:cxn ang="0">
                        <a:pos x="1149" y="1027"/>
                      </a:cxn>
                      <a:cxn ang="0">
                        <a:pos x="1223" y="1044"/>
                      </a:cxn>
                      <a:cxn ang="0">
                        <a:pos x="1350" y="1068"/>
                      </a:cxn>
                      <a:cxn ang="0">
                        <a:pos x="1449" y="1099"/>
                      </a:cxn>
                      <a:cxn ang="0">
                        <a:pos x="1512" y="1108"/>
                      </a:cxn>
                      <a:cxn ang="0">
                        <a:pos x="1590" y="1059"/>
                      </a:cxn>
                      <a:cxn ang="0">
                        <a:pos x="1643" y="1090"/>
                      </a:cxn>
                      <a:cxn ang="0">
                        <a:pos x="1673" y="1059"/>
                      </a:cxn>
                      <a:cxn ang="0">
                        <a:pos x="1766" y="1008"/>
                      </a:cxn>
                      <a:cxn ang="0">
                        <a:pos x="1739" y="972"/>
                      </a:cxn>
                      <a:cxn ang="0">
                        <a:pos x="1684" y="908"/>
                      </a:cxn>
                      <a:cxn ang="0">
                        <a:pos x="1646" y="838"/>
                      </a:cxn>
                      <a:cxn ang="0">
                        <a:pos x="1589" y="823"/>
                      </a:cxn>
                      <a:cxn ang="0">
                        <a:pos x="1550" y="775"/>
                      </a:cxn>
                      <a:cxn ang="0">
                        <a:pos x="1498" y="779"/>
                      </a:cxn>
                      <a:cxn ang="0">
                        <a:pos x="1452" y="720"/>
                      </a:cxn>
                      <a:cxn ang="0">
                        <a:pos x="1405" y="737"/>
                      </a:cxn>
                      <a:cxn ang="0">
                        <a:pos x="1350" y="779"/>
                      </a:cxn>
                      <a:cxn ang="0">
                        <a:pos x="1229" y="760"/>
                      </a:cxn>
                      <a:cxn ang="0">
                        <a:pos x="1149" y="672"/>
                      </a:cxn>
                      <a:cxn ang="0">
                        <a:pos x="998" y="632"/>
                      </a:cxn>
                      <a:cxn ang="0">
                        <a:pos x="859" y="570"/>
                      </a:cxn>
                      <a:cxn ang="0">
                        <a:pos x="836" y="508"/>
                      </a:cxn>
                      <a:cxn ang="0">
                        <a:pos x="811" y="437"/>
                      </a:cxn>
                      <a:cxn ang="0">
                        <a:pos x="745" y="357"/>
                      </a:cxn>
                      <a:cxn ang="0">
                        <a:pos x="693" y="367"/>
                      </a:cxn>
                      <a:cxn ang="0">
                        <a:pos x="649" y="367"/>
                      </a:cxn>
                      <a:cxn ang="0">
                        <a:pos x="597" y="363"/>
                      </a:cxn>
                      <a:cxn ang="0">
                        <a:pos x="555" y="256"/>
                      </a:cxn>
                      <a:cxn ang="0">
                        <a:pos x="424" y="249"/>
                      </a:cxn>
                      <a:cxn ang="0">
                        <a:pos x="385" y="210"/>
                      </a:cxn>
                      <a:cxn ang="0">
                        <a:pos x="349" y="169"/>
                      </a:cxn>
                      <a:cxn ang="0">
                        <a:pos x="384" y="91"/>
                      </a:cxn>
                      <a:cxn ang="0">
                        <a:pos x="378" y="0"/>
                      </a:cxn>
                      <a:cxn ang="0">
                        <a:pos x="293" y="56"/>
                      </a:cxn>
                      <a:cxn ang="0">
                        <a:pos x="245" y="62"/>
                      </a:cxn>
                      <a:cxn ang="0">
                        <a:pos x="189" y="63"/>
                      </a:cxn>
                      <a:cxn ang="0">
                        <a:pos x="143" y="169"/>
                      </a:cxn>
                      <a:cxn ang="0">
                        <a:pos x="81" y="244"/>
                      </a:cxn>
                      <a:cxn ang="0">
                        <a:pos x="30" y="396"/>
                      </a:cxn>
                      <a:cxn ang="0">
                        <a:pos x="3" y="455"/>
                      </a:cxn>
                      <a:cxn ang="0">
                        <a:pos x="40" y="514"/>
                      </a:cxn>
                      <a:cxn ang="0">
                        <a:pos x="120" y="613"/>
                      </a:cxn>
                      <a:cxn ang="0">
                        <a:pos x="154" y="672"/>
                      </a:cxn>
                      <a:cxn ang="0">
                        <a:pos x="145" y="760"/>
                      </a:cxn>
                      <a:cxn ang="0">
                        <a:pos x="149" y="926"/>
                      </a:cxn>
                      <a:cxn ang="0">
                        <a:pos x="173" y="975"/>
                      </a:cxn>
                      <a:cxn ang="0">
                        <a:pos x="227" y="1024"/>
                      </a:cxn>
                      <a:cxn ang="0">
                        <a:pos x="262" y="1127"/>
                      </a:cxn>
                      <a:cxn ang="0">
                        <a:pos x="330" y="1107"/>
                      </a:cxn>
                      <a:cxn ang="0">
                        <a:pos x="418" y="1088"/>
                      </a:cxn>
                      <a:cxn ang="0">
                        <a:pos x="468" y="1064"/>
                      </a:cxn>
                      <a:cxn ang="0">
                        <a:pos x="505" y="1045"/>
                      </a:cxn>
                      <a:cxn ang="0">
                        <a:pos x="538" y="1008"/>
                      </a:cxn>
                      <a:cxn ang="0">
                        <a:pos x="627" y="1047"/>
                      </a:cxn>
                      <a:cxn ang="0">
                        <a:pos x="690" y="1066"/>
                      </a:cxn>
                      <a:cxn ang="0">
                        <a:pos x="749" y="1183"/>
                      </a:cxn>
                      <a:cxn ang="0">
                        <a:pos x="829" y="1273"/>
                      </a:cxn>
                    </a:cxnLst>
                    <a:rect l="0" t="0" r="r" b="b"/>
                    <a:pathLst>
                      <a:path w="1771" h="1307">
                        <a:moveTo>
                          <a:pt x="932" y="1307"/>
                        </a:moveTo>
                        <a:lnTo>
                          <a:pt x="954" y="1307"/>
                        </a:lnTo>
                        <a:lnTo>
                          <a:pt x="954" y="1307"/>
                        </a:lnTo>
                        <a:lnTo>
                          <a:pt x="954" y="1307"/>
                        </a:lnTo>
                        <a:lnTo>
                          <a:pt x="960" y="1297"/>
                        </a:lnTo>
                        <a:lnTo>
                          <a:pt x="965" y="1287"/>
                        </a:lnTo>
                        <a:lnTo>
                          <a:pt x="972" y="1267"/>
                        </a:lnTo>
                        <a:lnTo>
                          <a:pt x="979" y="1247"/>
                        </a:lnTo>
                        <a:lnTo>
                          <a:pt x="982" y="1239"/>
                        </a:lnTo>
                        <a:lnTo>
                          <a:pt x="987" y="1230"/>
                        </a:lnTo>
                        <a:lnTo>
                          <a:pt x="987" y="1230"/>
                        </a:lnTo>
                        <a:lnTo>
                          <a:pt x="991" y="1224"/>
                        </a:lnTo>
                        <a:lnTo>
                          <a:pt x="995" y="1219"/>
                        </a:lnTo>
                        <a:lnTo>
                          <a:pt x="1000" y="1215"/>
                        </a:lnTo>
                        <a:lnTo>
                          <a:pt x="1004" y="1212"/>
                        </a:lnTo>
                        <a:lnTo>
                          <a:pt x="1014" y="1206"/>
                        </a:lnTo>
                        <a:lnTo>
                          <a:pt x="1026" y="1201"/>
                        </a:lnTo>
                        <a:lnTo>
                          <a:pt x="1036" y="1198"/>
                        </a:lnTo>
                        <a:lnTo>
                          <a:pt x="1047" y="1193"/>
                        </a:lnTo>
                        <a:lnTo>
                          <a:pt x="1052" y="1190"/>
                        </a:lnTo>
                        <a:lnTo>
                          <a:pt x="1057" y="1185"/>
                        </a:lnTo>
                        <a:lnTo>
                          <a:pt x="1061" y="1181"/>
                        </a:lnTo>
                        <a:lnTo>
                          <a:pt x="1064" y="1175"/>
                        </a:lnTo>
                        <a:lnTo>
                          <a:pt x="1064" y="1175"/>
                        </a:lnTo>
                        <a:lnTo>
                          <a:pt x="1069" y="1168"/>
                        </a:lnTo>
                        <a:lnTo>
                          <a:pt x="1073" y="1159"/>
                        </a:lnTo>
                        <a:lnTo>
                          <a:pt x="1082" y="1136"/>
                        </a:lnTo>
                        <a:lnTo>
                          <a:pt x="1090" y="1112"/>
                        </a:lnTo>
                        <a:lnTo>
                          <a:pt x="1100" y="1086"/>
                        </a:lnTo>
                        <a:lnTo>
                          <a:pt x="1105" y="1074"/>
                        </a:lnTo>
                        <a:lnTo>
                          <a:pt x="1110" y="1063"/>
                        </a:lnTo>
                        <a:lnTo>
                          <a:pt x="1117" y="1052"/>
                        </a:lnTo>
                        <a:lnTo>
                          <a:pt x="1124" y="1043"/>
                        </a:lnTo>
                        <a:lnTo>
                          <a:pt x="1131" y="1036"/>
                        </a:lnTo>
                        <a:lnTo>
                          <a:pt x="1140" y="1030"/>
                        </a:lnTo>
                        <a:lnTo>
                          <a:pt x="1149" y="1027"/>
                        </a:lnTo>
                        <a:lnTo>
                          <a:pt x="1159" y="1024"/>
                        </a:lnTo>
                        <a:lnTo>
                          <a:pt x="1159" y="1024"/>
                        </a:lnTo>
                        <a:lnTo>
                          <a:pt x="1169" y="1025"/>
                        </a:lnTo>
                        <a:lnTo>
                          <a:pt x="1178" y="1028"/>
                        </a:lnTo>
                        <a:lnTo>
                          <a:pt x="1187" y="1030"/>
                        </a:lnTo>
                        <a:lnTo>
                          <a:pt x="1195" y="1032"/>
                        </a:lnTo>
                        <a:lnTo>
                          <a:pt x="1210" y="1039"/>
                        </a:lnTo>
                        <a:lnTo>
                          <a:pt x="1223" y="1044"/>
                        </a:lnTo>
                        <a:lnTo>
                          <a:pt x="1223" y="1044"/>
                        </a:lnTo>
                        <a:lnTo>
                          <a:pt x="1285" y="1044"/>
                        </a:lnTo>
                        <a:lnTo>
                          <a:pt x="1285" y="1044"/>
                        </a:lnTo>
                        <a:lnTo>
                          <a:pt x="1285" y="1044"/>
                        </a:lnTo>
                        <a:lnTo>
                          <a:pt x="1295" y="1051"/>
                        </a:lnTo>
                        <a:lnTo>
                          <a:pt x="1306" y="1056"/>
                        </a:lnTo>
                        <a:lnTo>
                          <a:pt x="1316" y="1061"/>
                        </a:lnTo>
                        <a:lnTo>
                          <a:pt x="1326" y="1064"/>
                        </a:lnTo>
                        <a:lnTo>
                          <a:pt x="1339" y="1067"/>
                        </a:lnTo>
                        <a:lnTo>
                          <a:pt x="1350" y="1068"/>
                        </a:lnTo>
                        <a:lnTo>
                          <a:pt x="1377" y="1069"/>
                        </a:lnTo>
                        <a:lnTo>
                          <a:pt x="1377" y="1069"/>
                        </a:lnTo>
                        <a:lnTo>
                          <a:pt x="1387" y="1069"/>
                        </a:lnTo>
                        <a:lnTo>
                          <a:pt x="1397" y="1070"/>
                        </a:lnTo>
                        <a:lnTo>
                          <a:pt x="1405" y="1073"/>
                        </a:lnTo>
                        <a:lnTo>
                          <a:pt x="1413" y="1076"/>
                        </a:lnTo>
                        <a:lnTo>
                          <a:pt x="1426" y="1083"/>
                        </a:lnTo>
                        <a:lnTo>
                          <a:pt x="1438" y="1091"/>
                        </a:lnTo>
                        <a:lnTo>
                          <a:pt x="1449" y="1099"/>
                        </a:lnTo>
                        <a:lnTo>
                          <a:pt x="1462" y="1106"/>
                        </a:lnTo>
                        <a:lnTo>
                          <a:pt x="1469" y="1109"/>
                        </a:lnTo>
                        <a:lnTo>
                          <a:pt x="1477" y="1111"/>
                        </a:lnTo>
                        <a:lnTo>
                          <a:pt x="1485" y="1113"/>
                        </a:lnTo>
                        <a:lnTo>
                          <a:pt x="1494" y="1113"/>
                        </a:lnTo>
                        <a:lnTo>
                          <a:pt x="1494" y="1113"/>
                        </a:lnTo>
                        <a:lnTo>
                          <a:pt x="1500" y="1113"/>
                        </a:lnTo>
                        <a:lnTo>
                          <a:pt x="1506" y="1111"/>
                        </a:lnTo>
                        <a:lnTo>
                          <a:pt x="1512" y="1108"/>
                        </a:lnTo>
                        <a:lnTo>
                          <a:pt x="1516" y="1105"/>
                        </a:lnTo>
                        <a:lnTo>
                          <a:pt x="1527" y="1096"/>
                        </a:lnTo>
                        <a:lnTo>
                          <a:pt x="1536" y="1085"/>
                        </a:lnTo>
                        <a:lnTo>
                          <a:pt x="1547" y="1076"/>
                        </a:lnTo>
                        <a:lnTo>
                          <a:pt x="1559" y="1067"/>
                        </a:lnTo>
                        <a:lnTo>
                          <a:pt x="1566" y="1063"/>
                        </a:lnTo>
                        <a:lnTo>
                          <a:pt x="1573" y="1061"/>
                        </a:lnTo>
                        <a:lnTo>
                          <a:pt x="1581" y="1059"/>
                        </a:lnTo>
                        <a:lnTo>
                          <a:pt x="1590" y="1059"/>
                        </a:lnTo>
                        <a:lnTo>
                          <a:pt x="1590" y="1059"/>
                        </a:lnTo>
                        <a:lnTo>
                          <a:pt x="1594" y="1059"/>
                        </a:lnTo>
                        <a:lnTo>
                          <a:pt x="1599" y="1060"/>
                        </a:lnTo>
                        <a:lnTo>
                          <a:pt x="1607" y="1063"/>
                        </a:lnTo>
                        <a:lnTo>
                          <a:pt x="1614" y="1069"/>
                        </a:lnTo>
                        <a:lnTo>
                          <a:pt x="1621" y="1075"/>
                        </a:lnTo>
                        <a:lnTo>
                          <a:pt x="1628" y="1081"/>
                        </a:lnTo>
                        <a:lnTo>
                          <a:pt x="1636" y="1086"/>
                        </a:lnTo>
                        <a:lnTo>
                          <a:pt x="1643" y="1090"/>
                        </a:lnTo>
                        <a:lnTo>
                          <a:pt x="1647" y="1091"/>
                        </a:lnTo>
                        <a:lnTo>
                          <a:pt x="1652" y="1091"/>
                        </a:lnTo>
                        <a:lnTo>
                          <a:pt x="1652" y="1091"/>
                        </a:lnTo>
                        <a:lnTo>
                          <a:pt x="1653" y="1085"/>
                        </a:lnTo>
                        <a:lnTo>
                          <a:pt x="1654" y="1081"/>
                        </a:lnTo>
                        <a:lnTo>
                          <a:pt x="1655" y="1076"/>
                        </a:lnTo>
                        <a:lnTo>
                          <a:pt x="1658" y="1071"/>
                        </a:lnTo>
                        <a:lnTo>
                          <a:pt x="1665" y="1064"/>
                        </a:lnTo>
                        <a:lnTo>
                          <a:pt x="1673" y="1059"/>
                        </a:lnTo>
                        <a:lnTo>
                          <a:pt x="1682" y="1054"/>
                        </a:lnTo>
                        <a:lnTo>
                          <a:pt x="1692" y="1050"/>
                        </a:lnTo>
                        <a:lnTo>
                          <a:pt x="1715" y="1041"/>
                        </a:lnTo>
                        <a:lnTo>
                          <a:pt x="1727" y="1037"/>
                        </a:lnTo>
                        <a:lnTo>
                          <a:pt x="1737" y="1032"/>
                        </a:lnTo>
                        <a:lnTo>
                          <a:pt x="1747" y="1027"/>
                        </a:lnTo>
                        <a:lnTo>
                          <a:pt x="1756" y="1021"/>
                        </a:lnTo>
                        <a:lnTo>
                          <a:pt x="1764" y="1013"/>
                        </a:lnTo>
                        <a:lnTo>
                          <a:pt x="1766" y="1008"/>
                        </a:lnTo>
                        <a:lnTo>
                          <a:pt x="1768" y="1002"/>
                        </a:lnTo>
                        <a:lnTo>
                          <a:pt x="1769" y="998"/>
                        </a:lnTo>
                        <a:lnTo>
                          <a:pt x="1771" y="991"/>
                        </a:lnTo>
                        <a:lnTo>
                          <a:pt x="1771" y="984"/>
                        </a:lnTo>
                        <a:lnTo>
                          <a:pt x="1771" y="977"/>
                        </a:lnTo>
                        <a:lnTo>
                          <a:pt x="1771" y="977"/>
                        </a:lnTo>
                        <a:lnTo>
                          <a:pt x="1759" y="977"/>
                        </a:lnTo>
                        <a:lnTo>
                          <a:pt x="1749" y="975"/>
                        </a:lnTo>
                        <a:lnTo>
                          <a:pt x="1739" y="972"/>
                        </a:lnTo>
                        <a:lnTo>
                          <a:pt x="1730" y="968"/>
                        </a:lnTo>
                        <a:lnTo>
                          <a:pt x="1722" y="963"/>
                        </a:lnTo>
                        <a:lnTo>
                          <a:pt x="1715" y="957"/>
                        </a:lnTo>
                        <a:lnTo>
                          <a:pt x="1708" y="951"/>
                        </a:lnTo>
                        <a:lnTo>
                          <a:pt x="1701" y="944"/>
                        </a:lnTo>
                        <a:lnTo>
                          <a:pt x="1696" y="936"/>
                        </a:lnTo>
                        <a:lnTo>
                          <a:pt x="1691" y="926"/>
                        </a:lnTo>
                        <a:lnTo>
                          <a:pt x="1688" y="917"/>
                        </a:lnTo>
                        <a:lnTo>
                          <a:pt x="1684" y="908"/>
                        </a:lnTo>
                        <a:lnTo>
                          <a:pt x="1681" y="896"/>
                        </a:lnTo>
                        <a:lnTo>
                          <a:pt x="1680" y="886"/>
                        </a:lnTo>
                        <a:lnTo>
                          <a:pt x="1678" y="875"/>
                        </a:lnTo>
                        <a:lnTo>
                          <a:pt x="1677" y="863"/>
                        </a:lnTo>
                        <a:lnTo>
                          <a:pt x="1677" y="863"/>
                        </a:lnTo>
                        <a:lnTo>
                          <a:pt x="1672" y="860"/>
                        </a:lnTo>
                        <a:lnTo>
                          <a:pt x="1666" y="856"/>
                        </a:lnTo>
                        <a:lnTo>
                          <a:pt x="1655" y="847"/>
                        </a:lnTo>
                        <a:lnTo>
                          <a:pt x="1646" y="838"/>
                        </a:lnTo>
                        <a:lnTo>
                          <a:pt x="1640" y="833"/>
                        </a:lnTo>
                        <a:lnTo>
                          <a:pt x="1634" y="830"/>
                        </a:lnTo>
                        <a:lnTo>
                          <a:pt x="1634" y="830"/>
                        </a:lnTo>
                        <a:lnTo>
                          <a:pt x="1627" y="829"/>
                        </a:lnTo>
                        <a:lnTo>
                          <a:pt x="1621" y="827"/>
                        </a:lnTo>
                        <a:lnTo>
                          <a:pt x="1608" y="827"/>
                        </a:lnTo>
                        <a:lnTo>
                          <a:pt x="1601" y="827"/>
                        </a:lnTo>
                        <a:lnTo>
                          <a:pt x="1596" y="826"/>
                        </a:lnTo>
                        <a:lnTo>
                          <a:pt x="1589" y="823"/>
                        </a:lnTo>
                        <a:lnTo>
                          <a:pt x="1583" y="819"/>
                        </a:lnTo>
                        <a:lnTo>
                          <a:pt x="1583" y="819"/>
                        </a:lnTo>
                        <a:lnTo>
                          <a:pt x="1577" y="815"/>
                        </a:lnTo>
                        <a:lnTo>
                          <a:pt x="1574" y="809"/>
                        </a:lnTo>
                        <a:lnTo>
                          <a:pt x="1569" y="798"/>
                        </a:lnTo>
                        <a:lnTo>
                          <a:pt x="1566" y="791"/>
                        </a:lnTo>
                        <a:lnTo>
                          <a:pt x="1562" y="785"/>
                        </a:lnTo>
                        <a:lnTo>
                          <a:pt x="1556" y="779"/>
                        </a:lnTo>
                        <a:lnTo>
                          <a:pt x="1550" y="775"/>
                        </a:lnTo>
                        <a:lnTo>
                          <a:pt x="1550" y="775"/>
                        </a:lnTo>
                        <a:lnTo>
                          <a:pt x="1545" y="775"/>
                        </a:lnTo>
                        <a:lnTo>
                          <a:pt x="1542" y="773"/>
                        </a:lnTo>
                        <a:lnTo>
                          <a:pt x="1533" y="775"/>
                        </a:lnTo>
                        <a:lnTo>
                          <a:pt x="1519" y="780"/>
                        </a:lnTo>
                        <a:lnTo>
                          <a:pt x="1512" y="783"/>
                        </a:lnTo>
                        <a:lnTo>
                          <a:pt x="1505" y="781"/>
                        </a:lnTo>
                        <a:lnTo>
                          <a:pt x="1501" y="780"/>
                        </a:lnTo>
                        <a:lnTo>
                          <a:pt x="1498" y="779"/>
                        </a:lnTo>
                        <a:lnTo>
                          <a:pt x="1494" y="776"/>
                        </a:lnTo>
                        <a:lnTo>
                          <a:pt x="1491" y="771"/>
                        </a:lnTo>
                        <a:lnTo>
                          <a:pt x="1491" y="771"/>
                        </a:lnTo>
                        <a:lnTo>
                          <a:pt x="1485" y="765"/>
                        </a:lnTo>
                        <a:lnTo>
                          <a:pt x="1481" y="758"/>
                        </a:lnTo>
                        <a:lnTo>
                          <a:pt x="1469" y="740"/>
                        </a:lnTo>
                        <a:lnTo>
                          <a:pt x="1463" y="731"/>
                        </a:lnTo>
                        <a:lnTo>
                          <a:pt x="1456" y="724"/>
                        </a:lnTo>
                        <a:lnTo>
                          <a:pt x="1452" y="720"/>
                        </a:lnTo>
                        <a:lnTo>
                          <a:pt x="1448" y="718"/>
                        </a:lnTo>
                        <a:lnTo>
                          <a:pt x="1444" y="717"/>
                        </a:lnTo>
                        <a:lnTo>
                          <a:pt x="1439" y="717"/>
                        </a:lnTo>
                        <a:lnTo>
                          <a:pt x="1439" y="717"/>
                        </a:lnTo>
                        <a:lnTo>
                          <a:pt x="1432" y="717"/>
                        </a:lnTo>
                        <a:lnTo>
                          <a:pt x="1425" y="719"/>
                        </a:lnTo>
                        <a:lnTo>
                          <a:pt x="1420" y="723"/>
                        </a:lnTo>
                        <a:lnTo>
                          <a:pt x="1414" y="726"/>
                        </a:lnTo>
                        <a:lnTo>
                          <a:pt x="1405" y="737"/>
                        </a:lnTo>
                        <a:lnTo>
                          <a:pt x="1397" y="748"/>
                        </a:lnTo>
                        <a:lnTo>
                          <a:pt x="1387" y="760"/>
                        </a:lnTo>
                        <a:lnTo>
                          <a:pt x="1383" y="764"/>
                        </a:lnTo>
                        <a:lnTo>
                          <a:pt x="1377" y="769"/>
                        </a:lnTo>
                        <a:lnTo>
                          <a:pt x="1371" y="773"/>
                        </a:lnTo>
                        <a:lnTo>
                          <a:pt x="1365" y="777"/>
                        </a:lnTo>
                        <a:lnTo>
                          <a:pt x="1359" y="778"/>
                        </a:lnTo>
                        <a:lnTo>
                          <a:pt x="1350" y="779"/>
                        </a:lnTo>
                        <a:lnTo>
                          <a:pt x="1350" y="779"/>
                        </a:lnTo>
                        <a:lnTo>
                          <a:pt x="1332" y="778"/>
                        </a:lnTo>
                        <a:lnTo>
                          <a:pt x="1314" y="776"/>
                        </a:lnTo>
                        <a:lnTo>
                          <a:pt x="1296" y="772"/>
                        </a:lnTo>
                        <a:lnTo>
                          <a:pt x="1277" y="771"/>
                        </a:lnTo>
                        <a:lnTo>
                          <a:pt x="1277" y="771"/>
                        </a:lnTo>
                        <a:lnTo>
                          <a:pt x="1263" y="771"/>
                        </a:lnTo>
                        <a:lnTo>
                          <a:pt x="1249" y="768"/>
                        </a:lnTo>
                        <a:lnTo>
                          <a:pt x="1239" y="764"/>
                        </a:lnTo>
                        <a:lnTo>
                          <a:pt x="1229" y="760"/>
                        </a:lnTo>
                        <a:lnTo>
                          <a:pt x="1220" y="754"/>
                        </a:lnTo>
                        <a:lnTo>
                          <a:pt x="1212" y="747"/>
                        </a:lnTo>
                        <a:lnTo>
                          <a:pt x="1206" y="739"/>
                        </a:lnTo>
                        <a:lnTo>
                          <a:pt x="1200" y="731"/>
                        </a:lnTo>
                        <a:lnTo>
                          <a:pt x="1187" y="714"/>
                        </a:lnTo>
                        <a:lnTo>
                          <a:pt x="1174" y="695"/>
                        </a:lnTo>
                        <a:lnTo>
                          <a:pt x="1166" y="687"/>
                        </a:lnTo>
                        <a:lnTo>
                          <a:pt x="1158" y="679"/>
                        </a:lnTo>
                        <a:lnTo>
                          <a:pt x="1149" y="672"/>
                        </a:lnTo>
                        <a:lnTo>
                          <a:pt x="1138" y="665"/>
                        </a:lnTo>
                        <a:lnTo>
                          <a:pt x="1138" y="665"/>
                        </a:lnTo>
                        <a:lnTo>
                          <a:pt x="1124" y="661"/>
                        </a:lnTo>
                        <a:lnTo>
                          <a:pt x="1107" y="656"/>
                        </a:lnTo>
                        <a:lnTo>
                          <a:pt x="1067" y="649"/>
                        </a:lnTo>
                        <a:lnTo>
                          <a:pt x="1047" y="646"/>
                        </a:lnTo>
                        <a:lnTo>
                          <a:pt x="1026" y="641"/>
                        </a:lnTo>
                        <a:lnTo>
                          <a:pt x="1008" y="635"/>
                        </a:lnTo>
                        <a:lnTo>
                          <a:pt x="998" y="632"/>
                        </a:lnTo>
                        <a:lnTo>
                          <a:pt x="991" y="628"/>
                        </a:lnTo>
                        <a:lnTo>
                          <a:pt x="991" y="628"/>
                        </a:lnTo>
                        <a:lnTo>
                          <a:pt x="981" y="623"/>
                        </a:lnTo>
                        <a:lnTo>
                          <a:pt x="973" y="617"/>
                        </a:lnTo>
                        <a:lnTo>
                          <a:pt x="958" y="603"/>
                        </a:lnTo>
                        <a:lnTo>
                          <a:pt x="944" y="587"/>
                        </a:lnTo>
                        <a:lnTo>
                          <a:pt x="928" y="570"/>
                        </a:lnTo>
                        <a:lnTo>
                          <a:pt x="928" y="570"/>
                        </a:lnTo>
                        <a:lnTo>
                          <a:pt x="859" y="570"/>
                        </a:lnTo>
                        <a:lnTo>
                          <a:pt x="859" y="570"/>
                        </a:lnTo>
                        <a:lnTo>
                          <a:pt x="859" y="570"/>
                        </a:lnTo>
                        <a:lnTo>
                          <a:pt x="855" y="565"/>
                        </a:lnTo>
                        <a:lnTo>
                          <a:pt x="851" y="560"/>
                        </a:lnTo>
                        <a:lnTo>
                          <a:pt x="845" y="551"/>
                        </a:lnTo>
                        <a:lnTo>
                          <a:pt x="843" y="541"/>
                        </a:lnTo>
                        <a:lnTo>
                          <a:pt x="841" y="531"/>
                        </a:lnTo>
                        <a:lnTo>
                          <a:pt x="838" y="519"/>
                        </a:lnTo>
                        <a:lnTo>
                          <a:pt x="836" y="508"/>
                        </a:lnTo>
                        <a:lnTo>
                          <a:pt x="833" y="496"/>
                        </a:lnTo>
                        <a:lnTo>
                          <a:pt x="829" y="490"/>
                        </a:lnTo>
                        <a:lnTo>
                          <a:pt x="826" y="485"/>
                        </a:lnTo>
                        <a:lnTo>
                          <a:pt x="826" y="485"/>
                        </a:lnTo>
                        <a:lnTo>
                          <a:pt x="820" y="473"/>
                        </a:lnTo>
                        <a:lnTo>
                          <a:pt x="815" y="459"/>
                        </a:lnTo>
                        <a:lnTo>
                          <a:pt x="812" y="448"/>
                        </a:lnTo>
                        <a:lnTo>
                          <a:pt x="811" y="437"/>
                        </a:lnTo>
                        <a:lnTo>
                          <a:pt x="811" y="437"/>
                        </a:lnTo>
                        <a:lnTo>
                          <a:pt x="811" y="409"/>
                        </a:lnTo>
                        <a:lnTo>
                          <a:pt x="811" y="409"/>
                        </a:lnTo>
                        <a:lnTo>
                          <a:pt x="810" y="405"/>
                        </a:lnTo>
                        <a:lnTo>
                          <a:pt x="809" y="402"/>
                        </a:lnTo>
                        <a:lnTo>
                          <a:pt x="799" y="392"/>
                        </a:lnTo>
                        <a:lnTo>
                          <a:pt x="788" y="383"/>
                        </a:lnTo>
                        <a:lnTo>
                          <a:pt x="774" y="373"/>
                        </a:lnTo>
                        <a:lnTo>
                          <a:pt x="759" y="364"/>
                        </a:lnTo>
                        <a:lnTo>
                          <a:pt x="745" y="357"/>
                        </a:lnTo>
                        <a:lnTo>
                          <a:pt x="734" y="351"/>
                        </a:lnTo>
                        <a:lnTo>
                          <a:pt x="727" y="349"/>
                        </a:lnTo>
                        <a:lnTo>
                          <a:pt x="727" y="349"/>
                        </a:lnTo>
                        <a:lnTo>
                          <a:pt x="722" y="350"/>
                        </a:lnTo>
                        <a:lnTo>
                          <a:pt x="719" y="352"/>
                        </a:lnTo>
                        <a:lnTo>
                          <a:pt x="711" y="358"/>
                        </a:lnTo>
                        <a:lnTo>
                          <a:pt x="703" y="365"/>
                        </a:lnTo>
                        <a:lnTo>
                          <a:pt x="698" y="367"/>
                        </a:lnTo>
                        <a:lnTo>
                          <a:pt x="693" y="367"/>
                        </a:lnTo>
                        <a:lnTo>
                          <a:pt x="693" y="367"/>
                        </a:lnTo>
                        <a:lnTo>
                          <a:pt x="687" y="367"/>
                        </a:lnTo>
                        <a:lnTo>
                          <a:pt x="682" y="365"/>
                        </a:lnTo>
                        <a:lnTo>
                          <a:pt x="678" y="361"/>
                        </a:lnTo>
                        <a:lnTo>
                          <a:pt x="675" y="357"/>
                        </a:lnTo>
                        <a:lnTo>
                          <a:pt x="675" y="357"/>
                        </a:lnTo>
                        <a:lnTo>
                          <a:pt x="668" y="358"/>
                        </a:lnTo>
                        <a:lnTo>
                          <a:pt x="661" y="360"/>
                        </a:lnTo>
                        <a:lnTo>
                          <a:pt x="649" y="367"/>
                        </a:lnTo>
                        <a:lnTo>
                          <a:pt x="637" y="372"/>
                        </a:lnTo>
                        <a:lnTo>
                          <a:pt x="630" y="374"/>
                        </a:lnTo>
                        <a:lnTo>
                          <a:pt x="623" y="374"/>
                        </a:lnTo>
                        <a:lnTo>
                          <a:pt x="623" y="374"/>
                        </a:lnTo>
                        <a:lnTo>
                          <a:pt x="618" y="374"/>
                        </a:lnTo>
                        <a:lnTo>
                          <a:pt x="613" y="373"/>
                        </a:lnTo>
                        <a:lnTo>
                          <a:pt x="608" y="372"/>
                        </a:lnTo>
                        <a:lnTo>
                          <a:pt x="604" y="369"/>
                        </a:lnTo>
                        <a:lnTo>
                          <a:pt x="597" y="363"/>
                        </a:lnTo>
                        <a:lnTo>
                          <a:pt x="592" y="355"/>
                        </a:lnTo>
                        <a:lnTo>
                          <a:pt x="588" y="345"/>
                        </a:lnTo>
                        <a:lnTo>
                          <a:pt x="584" y="335"/>
                        </a:lnTo>
                        <a:lnTo>
                          <a:pt x="578" y="312"/>
                        </a:lnTo>
                        <a:lnTo>
                          <a:pt x="574" y="289"/>
                        </a:lnTo>
                        <a:lnTo>
                          <a:pt x="570" y="279"/>
                        </a:lnTo>
                        <a:lnTo>
                          <a:pt x="567" y="269"/>
                        </a:lnTo>
                        <a:lnTo>
                          <a:pt x="562" y="261"/>
                        </a:lnTo>
                        <a:lnTo>
                          <a:pt x="555" y="256"/>
                        </a:lnTo>
                        <a:lnTo>
                          <a:pt x="552" y="253"/>
                        </a:lnTo>
                        <a:lnTo>
                          <a:pt x="548" y="251"/>
                        </a:lnTo>
                        <a:lnTo>
                          <a:pt x="544" y="250"/>
                        </a:lnTo>
                        <a:lnTo>
                          <a:pt x="539" y="250"/>
                        </a:lnTo>
                        <a:lnTo>
                          <a:pt x="539" y="250"/>
                        </a:lnTo>
                        <a:lnTo>
                          <a:pt x="447" y="250"/>
                        </a:lnTo>
                        <a:lnTo>
                          <a:pt x="447" y="250"/>
                        </a:lnTo>
                        <a:lnTo>
                          <a:pt x="436" y="250"/>
                        </a:lnTo>
                        <a:lnTo>
                          <a:pt x="424" y="249"/>
                        </a:lnTo>
                        <a:lnTo>
                          <a:pt x="414" y="246"/>
                        </a:lnTo>
                        <a:lnTo>
                          <a:pt x="405" y="244"/>
                        </a:lnTo>
                        <a:lnTo>
                          <a:pt x="397" y="238"/>
                        </a:lnTo>
                        <a:lnTo>
                          <a:pt x="393" y="235"/>
                        </a:lnTo>
                        <a:lnTo>
                          <a:pt x="391" y="231"/>
                        </a:lnTo>
                        <a:lnTo>
                          <a:pt x="389" y="227"/>
                        </a:lnTo>
                        <a:lnTo>
                          <a:pt x="386" y="222"/>
                        </a:lnTo>
                        <a:lnTo>
                          <a:pt x="386" y="215"/>
                        </a:lnTo>
                        <a:lnTo>
                          <a:pt x="385" y="210"/>
                        </a:lnTo>
                        <a:lnTo>
                          <a:pt x="385" y="210"/>
                        </a:lnTo>
                        <a:lnTo>
                          <a:pt x="378" y="207"/>
                        </a:lnTo>
                        <a:lnTo>
                          <a:pt x="372" y="205"/>
                        </a:lnTo>
                        <a:lnTo>
                          <a:pt x="366" y="201"/>
                        </a:lnTo>
                        <a:lnTo>
                          <a:pt x="361" y="198"/>
                        </a:lnTo>
                        <a:lnTo>
                          <a:pt x="355" y="192"/>
                        </a:lnTo>
                        <a:lnTo>
                          <a:pt x="352" y="185"/>
                        </a:lnTo>
                        <a:lnTo>
                          <a:pt x="349" y="178"/>
                        </a:lnTo>
                        <a:lnTo>
                          <a:pt x="349" y="169"/>
                        </a:lnTo>
                        <a:lnTo>
                          <a:pt x="349" y="169"/>
                        </a:lnTo>
                        <a:lnTo>
                          <a:pt x="349" y="162"/>
                        </a:lnTo>
                        <a:lnTo>
                          <a:pt x="351" y="157"/>
                        </a:lnTo>
                        <a:lnTo>
                          <a:pt x="355" y="145"/>
                        </a:lnTo>
                        <a:lnTo>
                          <a:pt x="361" y="135"/>
                        </a:lnTo>
                        <a:lnTo>
                          <a:pt x="367" y="124"/>
                        </a:lnTo>
                        <a:lnTo>
                          <a:pt x="374" y="114"/>
                        </a:lnTo>
                        <a:lnTo>
                          <a:pt x="379" y="104"/>
                        </a:lnTo>
                        <a:lnTo>
                          <a:pt x="384" y="91"/>
                        </a:lnTo>
                        <a:lnTo>
                          <a:pt x="385" y="84"/>
                        </a:lnTo>
                        <a:lnTo>
                          <a:pt x="385" y="77"/>
                        </a:lnTo>
                        <a:lnTo>
                          <a:pt x="385" y="77"/>
                        </a:lnTo>
                        <a:lnTo>
                          <a:pt x="385" y="22"/>
                        </a:lnTo>
                        <a:lnTo>
                          <a:pt x="385" y="22"/>
                        </a:lnTo>
                        <a:lnTo>
                          <a:pt x="385" y="16"/>
                        </a:lnTo>
                        <a:lnTo>
                          <a:pt x="383" y="12"/>
                        </a:lnTo>
                        <a:lnTo>
                          <a:pt x="380" y="7"/>
                        </a:lnTo>
                        <a:lnTo>
                          <a:pt x="378" y="0"/>
                        </a:lnTo>
                        <a:lnTo>
                          <a:pt x="378" y="0"/>
                        </a:lnTo>
                        <a:lnTo>
                          <a:pt x="369" y="4"/>
                        </a:lnTo>
                        <a:lnTo>
                          <a:pt x="360" y="7"/>
                        </a:lnTo>
                        <a:lnTo>
                          <a:pt x="351" y="12"/>
                        </a:lnTo>
                        <a:lnTo>
                          <a:pt x="342" y="17"/>
                        </a:lnTo>
                        <a:lnTo>
                          <a:pt x="328" y="29"/>
                        </a:lnTo>
                        <a:lnTo>
                          <a:pt x="314" y="40"/>
                        </a:lnTo>
                        <a:lnTo>
                          <a:pt x="300" y="52"/>
                        </a:lnTo>
                        <a:lnTo>
                          <a:pt x="293" y="56"/>
                        </a:lnTo>
                        <a:lnTo>
                          <a:pt x="285" y="61"/>
                        </a:lnTo>
                        <a:lnTo>
                          <a:pt x="277" y="65"/>
                        </a:lnTo>
                        <a:lnTo>
                          <a:pt x="269" y="68"/>
                        </a:lnTo>
                        <a:lnTo>
                          <a:pt x="260" y="69"/>
                        </a:lnTo>
                        <a:lnTo>
                          <a:pt x="249" y="70"/>
                        </a:lnTo>
                        <a:lnTo>
                          <a:pt x="249" y="70"/>
                        </a:lnTo>
                        <a:lnTo>
                          <a:pt x="248" y="69"/>
                        </a:lnTo>
                        <a:lnTo>
                          <a:pt x="247" y="68"/>
                        </a:lnTo>
                        <a:lnTo>
                          <a:pt x="245" y="62"/>
                        </a:lnTo>
                        <a:lnTo>
                          <a:pt x="242" y="56"/>
                        </a:lnTo>
                        <a:lnTo>
                          <a:pt x="242" y="52"/>
                        </a:lnTo>
                        <a:lnTo>
                          <a:pt x="242" y="52"/>
                        </a:lnTo>
                        <a:lnTo>
                          <a:pt x="224" y="52"/>
                        </a:lnTo>
                        <a:lnTo>
                          <a:pt x="224" y="52"/>
                        </a:lnTo>
                        <a:lnTo>
                          <a:pt x="214" y="53"/>
                        </a:lnTo>
                        <a:lnTo>
                          <a:pt x="204" y="54"/>
                        </a:lnTo>
                        <a:lnTo>
                          <a:pt x="196" y="58"/>
                        </a:lnTo>
                        <a:lnTo>
                          <a:pt x="189" y="63"/>
                        </a:lnTo>
                        <a:lnTo>
                          <a:pt x="183" y="69"/>
                        </a:lnTo>
                        <a:lnTo>
                          <a:pt x="177" y="75"/>
                        </a:lnTo>
                        <a:lnTo>
                          <a:pt x="171" y="83"/>
                        </a:lnTo>
                        <a:lnTo>
                          <a:pt x="166" y="91"/>
                        </a:lnTo>
                        <a:lnTo>
                          <a:pt x="158" y="109"/>
                        </a:lnTo>
                        <a:lnTo>
                          <a:pt x="153" y="129"/>
                        </a:lnTo>
                        <a:lnTo>
                          <a:pt x="147" y="150"/>
                        </a:lnTo>
                        <a:lnTo>
                          <a:pt x="143" y="169"/>
                        </a:lnTo>
                        <a:lnTo>
                          <a:pt x="143" y="169"/>
                        </a:lnTo>
                        <a:lnTo>
                          <a:pt x="142" y="173"/>
                        </a:lnTo>
                        <a:lnTo>
                          <a:pt x="141" y="176"/>
                        </a:lnTo>
                        <a:lnTo>
                          <a:pt x="137" y="184"/>
                        </a:lnTo>
                        <a:lnTo>
                          <a:pt x="128" y="192"/>
                        </a:lnTo>
                        <a:lnTo>
                          <a:pt x="119" y="203"/>
                        </a:lnTo>
                        <a:lnTo>
                          <a:pt x="101" y="221"/>
                        </a:lnTo>
                        <a:lnTo>
                          <a:pt x="88" y="235"/>
                        </a:lnTo>
                        <a:lnTo>
                          <a:pt x="88" y="235"/>
                        </a:lnTo>
                        <a:lnTo>
                          <a:pt x="81" y="244"/>
                        </a:lnTo>
                        <a:lnTo>
                          <a:pt x="76" y="252"/>
                        </a:lnTo>
                        <a:lnTo>
                          <a:pt x="67" y="269"/>
                        </a:lnTo>
                        <a:lnTo>
                          <a:pt x="61" y="288"/>
                        </a:lnTo>
                        <a:lnTo>
                          <a:pt x="55" y="306"/>
                        </a:lnTo>
                        <a:lnTo>
                          <a:pt x="46" y="346"/>
                        </a:lnTo>
                        <a:lnTo>
                          <a:pt x="40" y="367"/>
                        </a:lnTo>
                        <a:lnTo>
                          <a:pt x="33" y="389"/>
                        </a:lnTo>
                        <a:lnTo>
                          <a:pt x="33" y="389"/>
                        </a:lnTo>
                        <a:lnTo>
                          <a:pt x="30" y="396"/>
                        </a:lnTo>
                        <a:lnTo>
                          <a:pt x="25" y="403"/>
                        </a:lnTo>
                        <a:lnTo>
                          <a:pt x="13" y="418"/>
                        </a:lnTo>
                        <a:lnTo>
                          <a:pt x="9" y="425"/>
                        </a:lnTo>
                        <a:lnTo>
                          <a:pt x="4" y="433"/>
                        </a:lnTo>
                        <a:lnTo>
                          <a:pt x="1" y="440"/>
                        </a:lnTo>
                        <a:lnTo>
                          <a:pt x="0" y="448"/>
                        </a:lnTo>
                        <a:lnTo>
                          <a:pt x="0" y="448"/>
                        </a:lnTo>
                        <a:lnTo>
                          <a:pt x="1" y="451"/>
                        </a:lnTo>
                        <a:lnTo>
                          <a:pt x="3" y="455"/>
                        </a:lnTo>
                        <a:lnTo>
                          <a:pt x="9" y="460"/>
                        </a:lnTo>
                        <a:lnTo>
                          <a:pt x="15" y="466"/>
                        </a:lnTo>
                        <a:lnTo>
                          <a:pt x="17" y="468"/>
                        </a:lnTo>
                        <a:lnTo>
                          <a:pt x="18" y="471"/>
                        </a:lnTo>
                        <a:lnTo>
                          <a:pt x="18" y="471"/>
                        </a:lnTo>
                        <a:lnTo>
                          <a:pt x="23" y="483"/>
                        </a:lnTo>
                        <a:lnTo>
                          <a:pt x="28" y="495"/>
                        </a:lnTo>
                        <a:lnTo>
                          <a:pt x="34" y="505"/>
                        </a:lnTo>
                        <a:lnTo>
                          <a:pt x="40" y="514"/>
                        </a:lnTo>
                        <a:lnTo>
                          <a:pt x="47" y="523"/>
                        </a:lnTo>
                        <a:lnTo>
                          <a:pt x="55" y="531"/>
                        </a:lnTo>
                        <a:lnTo>
                          <a:pt x="70" y="544"/>
                        </a:lnTo>
                        <a:lnTo>
                          <a:pt x="85" y="558"/>
                        </a:lnTo>
                        <a:lnTo>
                          <a:pt x="99" y="574"/>
                        </a:lnTo>
                        <a:lnTo>
                          <a:pt x="105" y="582"/>
                        </a:lnTo>
                        <a:lnTo>
                          <a:pt x="111" y="592"/>
                        </a:lnTo>
                        <a:lnTo>
                          <a:pt x="116" y="602"/>
                        </a:lnTo>
                        <a:lnTo>
                          <a:pt x="120" y="613"/>
                        </a:lnTo>
                        <a:lnTo>
                          <a:pt x="120" y="613"/>
                        </a:lnTo>
                        <a:lnTo>
                          <a:pt x="125" y="620"/>
                        </a:lnTo>
                        <a:lnTo>
                          <a:pt x="131" y="627"/>
                        </a:lnTo>
                        <a:lnTo>
                          <a:pt x="141" y="640"/>
                        </a:lnTo>
                        <a:lnTo>
                          <a:pt x="146" y="648"/>
                        </a:lnTo>
                        <a:lnTo>
                          <a:pt x="150" y="655"/>
                        </a:lnTo>
                        <a:lnTo>
                          <a:pt x="153" y="663"/>
                        </a:lnTo>
                        <a:lnTo>
                          <a:pt x="154" y="672"/>
                        </a:lnTo>
                        <a:lnTo>
                          <a:pt x="154" y="672"/>
                        </a:lnTo>
                        <a:lnTo>
                          <a:pt x="154" y="680"/>
                        </a:lnTo>
                        <a:lnTo>
                          <a:pt x="153" y="688"/>
                        </a:lnTo>
                        <a:lnTo>
                          <a:pt x="148" y="702"/>
                        </a:lnTo>
                        <a:lnTo>
                          <a:pt x="145" y="716"/>
                        </a:lnTo>
                        <a:lnTo>
                          <a:pt x="143" y="723"/>
                        </a:lnTo>
                        <a:lnTo>
                          <a:pt x="143" y="731"/>
                        </a:lnTo>
                        <a:lnTo>
                          <a:pt x="143" y="731"/>
                        </a:lnTo>
                        <a:lnTo>
                          <a:pt x="143" y="746"/>
                        </a:lnTo>
                        <a:lnTo>
                          <a:pt x="145" y="760"/>
                        </a:lnTo>
                        <a:lnTo>
                          <a:pt x="148" y="788"/>
                        </a:lnTo>
                        <a:lnTo>
                          <a:pt x="153" y="816"/>
                        </a:lnTo>
                        <a:lnTo>
                          <a:pt x="154" y="830"/>
                        </a:lnTo>
                        <a:lnTo>
                          <a:pt x="154" y="845"/>
                        </a:lnTo>
                        <a:lnTo>
                          <a:pt x="154" y="845"/>
                        </a:lnTo>
                        <a:lnTo>
                          <a:pt x="154" y="911"/>
                        </a:lnTo>
                        <a:lnTo>
                          <a:pt x="154" y="911"/>
                        </a:lnTo>
                        <a:lnTo>
                          <a:pt x="153" y="918"/>
                        </a:lnTo>
                        <a:lnTo>
                          <a:pt x="149" y="926"/>
                        </a:lnTo>
                        <a:lnTo>
                          <a:pt x="147" y="937"/>
                        </a:lnTo>
                        <a:lnTo>
                          <a:pt x="146" y="943"/>
                        </a:lnTo>
                        <a:lnTo>
                          <a:pt x="147" y="948"/>
                        </a:lnTo>
                        <a:lnTo>
                          <a:pt x="147" y="948"/>
                        </a:lnTo>
                        <a:lnTo>
                          <a:pt x="149" y="954"/>
                        </a:lnTo>
                        <a:lnTo>
                          <a:pt x="153" y="960"/>
                        </a:lnTo>
                        <a:lnTo>
                          <a:pt x="157" y="964"/>
                        </a:lnTo>
                        <a:lnTo>
                          <a:pt x="162" y="968"/>
                        </a:lnTo>
                        <a:lnTo>
                          <a:pt x="173" y="975"/>
                        </a:lnTo>
                        <a:lnTo>
                          <a:pt x="185" y="979"/>
                        </a:lnTo>
                        <a:lnTo>
                          <a:pt x="198" y="984"/>
                        </a:lnTo>
                        <a:lnTo>
                          <a:pt x="209" y="990"/>
                        </a:lnTo>
                        <a:lnTo>
                          <a:pt x="214" y="994"/>
                        </a:lnTo>
                        <a:lnTo>
                          <a:pt x="217" y="999"/>
                        </a:lnTo>
                        <a:lnTo>
                          <a:pt x="222" y="1004"/>
                        </a:lnTo>
                        <a:lnTo>
                          <a:pt x="224" y="1010"/>
                        </a:lnTo>
                        <a:lnTo>
                          <a:pt x="224" y="1010"/>
                        </a:lnTo>
                        <a:lnTo>
                          <a:pt x="227" y="1024"/>
                        </a:lnTo>
                        <a:lnTo>
                          <a:pt x="232" y="1041"/>
                        </a:lnTo>
                        <a:lnTo>
                          <a:pt x="239" y="1076"/>
                        </a:lnTo>
                        <a:lnTo>
                          <a:pt x="246" y="1117"/>
                        </a:lnTo>
                        <a:lnTo>
                          <a:pt x="246" y="1117"/>
                        </a:lnTo>
                        <a:lnTo>
                          <a:pt x="249" y="1117"/>
                        </a:lnTo>
                        <a:lnTo>
                          <a:pt x="249" y="1117"/>
                        </a:lnTo>
                        <a:lnTo>
                          <a:pt x="249" y="1117"/>
                        </a:lnTo>
                        <a:lnTo>
                          <a:pt x="255" y="1122"/>
                        </a:lnTo>
                        <a:lnTo>
                          <a:pt x="262" y="1127"/>
                        </a:lnTo>
                        <a:lnTo>
                          <a:pt x="271" y="1130"/>
                        </a:lnTo>
                        <a:lnTo>
                          <a:pt x="276" y="1131"/>
                        </a:lnTo>
                        <a:lnTo>
                          <a:pt x="283" y="1132"/>
                        </a:lnTo>
                        <a:lnTo>
                          <a:pt x="283" y="1132"/>
                        </a:lnTo>
                        <a:lnTo>
                          <a:pt x="295" y="1131"/>
                        </a:lnTo>
                        <a:lnTo>
                          <a:pt x="305" y="1128"/>
                        </a:lnTo>
                        <a:lnTo>
                          <a:pt x="313" y="1124"/>
                        </a:lnTo>
                        <a:lnTo>
                          <a:pt x="319" y="1119"/>
                        </a:lnTo>
                        <a:lnTo>
                          <a:pt x="330" y="1107"/>
                        </a:lnTo>
                        <a:lnTo>
                          <a:pt x="336" y="1100"/>
                        </a:lnTo>
                        <a:lnTo>
                          <a:pt x="341" y="1094"/>
                        </a:lnTo>
                        <a:lnTo>
                          <a:pt x="341" y="1094"/>
                        </a:lnTo>
                        <a:lnTo>
                          <a:pt x="348" y="1092"/>
                        </a:lnTo>
                        <a:lnTo>
                          <a:pt x="355" y="1090"/>
                        </a:lnTo>
                        <a:lnTo>
                          <a:pt x="370" y="1088"/>
                        </a:lnTo>
                        <a:lnTo>
                          <a:pt x="386" y="1086"/>
                        </a:lnTo>
                        <a:lnTo>
                          <a:pt x="402" y="1088"/>
                        </a:lnTo>
                        <a:lnTo>
                          <a:pt x="418" y="1088"/>
                        </a:lnTo>
                        <a:lnTo>
                          <a:pt x="432" y="1088"/>
                        </a:lnTo>
                        <a:lnTo>
                          <a:pt x="439" y="1086"/>
                        </a:lnTo>
                        <a:lnTo>
                          <a:pt x="445" y="1085"/>
                        </a:lnTo>
                        <a:lnTo>
                          <a:pt x="451" y="1083"/>
                        </a:lnTo>
                        <a:lnTo>
                          <a:pt x="455" y="1081"/>
                        </a:lnTo>
                        <a:lnTo>
                          <a:pt x="455" y="1081"/>
                        </a:lnTo>
                        <a:lnTo>
                          <a:pt x="459" y="1078"/>
                        </a:lnTo>
                        <a:lnTo>
                          <a:pt x="462" y="1074"/>
                        </a:lnTo>
                        <a:lnTo>
                          <a:pt x="468" y="1064"/>
                        </a:lnTo>
                        <a:lnTo>
                          <a:pt x="473" y="1055"/>
                        </a:lnTo>
                        <a:lnTo>
                          <a:pt x="475" y="1052"/>
                        </a:lnTo>
                        <a:lnTo>
                          <a:pt x="477" y="1051"/>
                        </a:lnTo>
                        <a:lnTo>
                          <a:pt x="477" y="1051"/>
                        </a:lnTo>
                        <a:lnTo>
                          <a:pt x="483" y="1047"/>
                        </a:lnTo>
                        <a:lnTo>
                          <a:pt x="489" y="1046"/>
                        </a:lnTo>
                        <a:lnTo>
                          <a:pt x="493" y="1045"/>
                        </a:lnTo>
                        <a:lnTo>
                          <a:pt x="499" y="1045"/>
                        </a:lnTo>
                        <a:lnTo>
                          <a:pt x="505" y="1045"/>
                        </a:lnTo>
                        <a:lnTo>
                          <a:pt x="510" y="1045"/>
                        </a:lnTo>
                        <a:lnTo>
                          <a:pt x="516" y="1043"/>
                        </a:lnTo>
                        <a:lnTo>
                          <a:pt x="521" y="1039"/>
                        </a:lnTo>
                        <a:lnTo>
                          <a:pt x="521" y="1039"/>
                        </a:lnTo>
                        <a:lnTo>
                          <a:pt x="525" y="1036"/>
                        </a:lnTo>
                        <a:lnTo>
                          <a:pt x="529" y="1031"/>
                        </a:lnTo>
                        <a:lnTo>
                          <a:pt x="532" y="1018"/>
                        </a:lnTo>
                        <a:lnTo>
                          <a:pt x="536" y="1013"/>
                        </a:lnTo>
                        <a:lnTo>
                          <a:pt x="538" y="1008"/>
                        </a:lnTo>
                        <a:lnTo>
                          <a:pt x="543" y="1005"/>
                        </a:lnTo>
                        <a:lnTo>
                          <a:pt x="546" y="1004"/>
                        </a:lnTo>
                        <a:lnTo>
                          <a:pt x="550" y="1004"/>
                        </a:lnTo>
                        <a:lnTo>
                          <a:pt x="550" y="1004"/>
                        </a:lnTo>
                        <a:lnTo>
                          <a:pt x="557" y="1005"/>
                        </a:lnTo>
                        <a:lnTo>
                          <a:pt x="567" y="1009"/>
                        </a:lnTo>
                        <a:lnTo>
                          <a:pt x="590" y="1022"/>
                        </a:lnTo>
                        <a:lnTo>
                          <a:pt x="613" y="1037"/>
                        </a:lnTo>
                        <a:lnTo>
                          <a:pt x="627" y="1047"/>
                        </a:lnTo>
                        <a:lnTo>
                          <a:pt x="627" y="1047"/>
                        </a:lnTo>
                        <a:lnTo>
                          <a:pt x="635" y="1051"/>
                        </a:lnTo>
                        <a:lnTo>
                          <a:pt x="643" y="1053"/>
                        </a:lnTo>
                        <a:lnTo>
                          <a:pt x="659" y="1055"/>
                        </a:lnTo>
                        <a:lnTo>
                          <a:pt x="666" y="1056"/>
                        </a:lnTo>
                        <a:lnTo>
                          <a:pt x="674" y="1058"/>
                        </a:lnTo>
                        <a:lnTo>
                          <a:pt x="682" y="1061"/>
                        </a:lnTo>
                        <a:lnTo>
                          <a:pt x="690" y="1066"/>
                        </a:lnTo>
                        <a:lnTo>
                          <a:pt x="690" y="1066"/>
                        </a:lnTo>
                        <a:lnTo>
                          <a:pt x="703" y="1077"/>
                        </a:lnTo>
                        <a:lnTo>
                          <a:pt x="713" y="1089"/>
                        </a:lnTo>
                        <a:lnTo>
                          <a:pt x="722" y="1101"/>
                        </a:lnTo>
                        <a:lnTo>
                          <a:pt x="730" y="1114"/>
                        </a:lnTo>
                        <a:lnTo>
                          <a:pt x="736" y="1129"/>
                        </a:lnTo>
                        <a:lnTo>
                          <a:pt x="742" y="1145"/>
                        </a:lnTo>
                        <a:lnTo>
                          <a:pt x="745" y="1163"/>
                        </a:lnTo>
                        <a:lnTo>
                          <a:pt x="749" y="1183"/>
                        </a:lnTo>
                        <a:lnTo>
                          <a:pt x="749" y="1183"/>
                        </a:lnTo>
                        <a:lnTo>
                          <a:pt x="766" y="1209"/>
                        </a:lnTo>
                        <a:lnTo>
                          <a:pt x="786" y="1238"/>
                        </a:lnTo>
                        <a:lnTo>
                          <a:pt x="786" y="1238"/>
                        </a:lnTo>
                        <a:lnTo>
                          <a:pt x="789" y="1245"/>
                        </a:lnTo>
                        <a:lnTo>
                          <a:pt x="795" y="1252"/>
                        </a:lnTo>
                        <a:lnTo>
                          <a:pt x="802" y="1258"/>
                        </a:lnTo>
                        <a:lnTo>
                          <a:pt x="810" y="1264"/>
                        </a:lnTo>
                        <a:lnTo>
                          <a:pt x="819" y="1268"/>
                        </a:lnTo>
                        <a:lnTo>
                          <a:pt x="829" y="1273"/>
                        </a:lnTo>
                        <a:lnTo>
                          <a:pt x="850" y="1281"/>
                        </a:lnTo>
                        <a:lnTo>
                          <a:pt x="873" y="1288"/>
                        </a:lnTo>
                        <a:lnTo>
                          <a:pt x="895" y="1295"/>
                        </a:lnTo>
                        <a:lnTo>
                          <a:pt x="914" y="1302"/>
                        </a:lnTo>
                        <a:lnTo>
                          <a:pt x="932" y="1307"/>
                        </a:lnTo>
                        <a:lnTo>
                          <a:pt x="932" y="1307"/>
                        </a:lnTo>
                        <a:lnTo>
                          <a:pt x="932" y="1307"/>
                        </a:lnTo>
                        <a:lnTo>
                          <a:pt x="932" y="1307"/>
                        </a:lnTo>
                        <a:close/>
                      </a:path>
                    </a:pathLst>
                  </a:custGeom>
                  <a:noFill/>
                  <a:ln w="9525" cap="flat" cmpd="sng" algn="ctr">
                    <a:noFill/>
                    <a:prstDash val="solid"/>
                    <a:headEnd/>
                    <a:tailEnd/>
                  </a:ln>
                  <a:effectLst/>
                </p:spPr>
                <p:txBody>
                  <a:bodyPr lIns="0" tIns="23006" rIns="0" bIns="0" anchor="ctr" anchorCtr="1"/>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indent="-171438" defTabSz="316493">
                      <a:lnSpc>
                        <a:spcPct val="90000"/>
                      </a:lnSpc>
                      <a:spcAft>
                        <a:spcPts val="575"/>
                      </a:spcAft>
                      <a:defRPr/>
                    </a:pPr>
                    <a:endParaRPr lang="ru-RU" sz="600" b="1" kern="0" dirty="0">
                      <a:solidFill>
                        <a:srgbClr val="53505E"/>
                      </a:solidFill>
                      <a:latin typeface="+mn-lt"/>
                      <a:cs typeface="Arial" panose="020B0604020202020204" pitchFamily="34" charset="0"/>
                    </a:endParaRPr>
                  </a:p>
                </p:txBody>
              </p:sp>
              <p:sp>
                <p:nvSpPr>
                  <p:cNvPr id="219" name="Freeform 65"/>
                  <p:cNvSpPr>
                    <a:spLocks/>
                  </p:cNvSpPr>
                  <p:nvPr/>
                </p:nvSpPr>
                <p:spPr bwMode="auto">
                  <a:xfrm rot="536518">
                    <a:off x="3884340" y="2481653"/>
                    <a:ext cx="203205" cy="176268"/>
                  </a:xfrm>
                  <a:custGeom>
                    <a:avLst/>
                    <a:gdLst/>
                    <a:ahLst/>
                    <a:cxnLst>
                      <a:cxn ang="0">
                        <a:pos x="187" y="280"/>
                      </a:cxn>
                      <a:cxn ang="0">
                        <a:pos x="196" y="269"/>
                      </a:cxn>
                      <a:cxn ang="0">
                        <a:pos x="217" y="261"/>
                      </a:cxn>
                      <a:cxn ang="0">
                        <a:pos x="238" y="251"/>
                      </a:cxn>
                      <a:cxn ang="0">
                        <a:pos x="248" y="233"/>
                      </a:cxn>
                      <a:cxn ang="0">
                        <a:pos x="265" y="223"/>
                      </a:cxn>
                      <a:cxn ang="0">
                        <a:pos x="308" y="208"/>
                      </a:cxn>
                      <a:cxn ang="0">
                        <a:pos x="337" y="178"/>
                      </a:cxn>
                      <a:cxn ang="0">
                        <a:pos x="336" y="165"/>
                      </a:cxn>
                      <a:cxn ang="0">
                        <a:pos x="321" y="160"/>
                      </a:cxn>
                      <a:cxn ang="0">
                        <a:pos x="307" y="144"/>
                      </a:cxn>
                      <a:cxn ang="0">
                        <a:pos x="292" y="95"/>
                      </a:cxn>
                      <a:cxn ang="0">
                        <a:pos x="278" y="48"/>
                      </a:cxn>
                      <a:cxn ang="0">
                        <a:pos x="261" y="30"/>
                      </a:cxn>
                      <a:cxn ang="0">
                        <a:pos x="246" y="26"/>
                      </a:cxn>
                      <a:cxn ang="0">
                        <a:pos x="241" y="28"/>
                      </a:cxn>
                      <a:cxn ang="0">
                        <a:pos x="232" y="40"/>
                      </a:cxn>
                      <a:cxn ang="0">
                        <a:pos x="226" y="40"/>
                      </a:cxn>
                      <a:cxn ang="0">
                        <a:pos x="213" y="34"/>
                      </a:cxn>
                      <a:cxn ang="0">
                        <a:pos x="194" y="12"/>
                      </a:cxn>
                      <a:cxn ang="0">
                        <a:pos x="179" y="2"/>
                      </a:cxn>
                      <a:cxn ang="0">
                        <a:pos x="169" y="0"/>
                      </a:cxn>
                      <a:cxn ang="0">
                        <a:pos x="147" y="3"/>
                      </a:cxn>
                      <a:cxn ang="0">
                        <a:pos x="142" y="0"/>
                      </a:cxn>
                      <a:cxn ang="0">
                        <a:pos x="129" y="10"/>
                      </a:cxn>
                      <a:cxn ang="0">
                        <a:pos x="95" y="11"/>
                      </a:cxn>
                      <a:cxn ang="0">
                        <a:pos x="94" y="27"/>
                      </a:cxn>
                      <a:cxn ang="0">
                        <a:pos x="84" y="48"/>
                      </a:cxn>
                      <a:cxn ang="0">
                        <a:pos x="64" y="68"/>
                      </a:cxn>
                      <a:cxn ang="0">
                        <a:pos x="59" y="81"/>
                      </a:cxn>
                      <a:cxn ang="0">
                        <a:pos x="59" y="94"/>
                      </a:cxn>
                      <a:cxn ang="0">
                        <a:pos x="66" y="108"/>
                      </a:cxn>
                      <a:cxn ang="0">
                        <a:pos x="79" y="114"/>
                      </a:cxn>
                      <a:cxn ang="0">
                        <a:pos x="84" y="132"/>
                      </a:cxn>
                      <a:cxn ang="0">
                        <a:pos x="80" y="149"/>
                      </a:cxn>
                      <a:cxn ang="0">
                        <a:pos x="64" y="169"/>
                      </a:cxn>
                      <a:cxn ang="0">
                        <a:pos x="26" y="196"/>
                      </a:cxn>
                      <a:cxn ang="0">
                        <a:pos x="8" y="218"/>
                      </a:cxn>
                      <a:cxn ang="0">
                        <a:pos x="0" y="249"/>
                      </a:cxn>
                      <a:cxn ang="0">
                        <a:pos x="3" y="268"/>
                      </a:cxn>
                      <a:cxn ang="0">
                        <a:pos x="18" y="295"/>
                      </a:cxn>
                      <a:cxn ang="0">
                        <a:pos x="36" y="308"/>
                      </a:cxn>
                      <a:cxn ang="0">
                        <a:pos x="46" y="308"/>
                      </a:cxn>
                      <a:cxn ang="0">
                        <a:pos x="66" y="299"/>
                      </a:cxn>
                      <a:cxn ang="0">
                        <a:pos x="86" y="280"/>
                      </a:cxn>
                      <a:cxn ang="0">
                        <a:pos x="102" y="276"/>
                      </a:cxn>
                      <a:cxn ang="0">
                        <a:pos x="123" y="277"/>
                      </a:cxn>
                      <a:cxn ang="0">
                        <a:pos x="172" y="286"/>
                      </a:cxn>
                      <a:cxn ang="0">
                        <a:pos x="187" y="286"/>
                      </a:cxn>
                    </a:cxnLst>
                    <a:rect l="0" t="0" r="r" b="b"/>
                    <a:pathLst>
                      <a:path w="341" h="309">
                        <a:moveTo>
                          <a:pt x="187" y="286"/>
                        </a:moveTo>
                        <a:lnTo>
                          <a:pt x="187" y="286"/>
                        </a:lnTo>
                        <a:lnTo>
                          <a:pt x="187" y="280"/>
                        </a:lnTo>
                        <a:lnTo>
                          <a:pt x="189" y="276"/>
                        </a:lnTo>
                        <a:lnTo>
                          <a:pt x="193" y="271"/>
                        </a:lnTo>
                        <a:lnTo>
                          <a:pt x="196" y="269"/>
                        </a:lnTo>
                        <a:lnTo>
                          <a:pt x="201" y="267"/>
                        </a:lnTo>
                        <a:lnTo>
                          <a:pt x="206" y="264"/>
                        </a:lnTo>
                        <a:lnTo>
                          <a:pt x="217" y="261"/>
                        </a:lnTo>
                        <a:lnTo>
                          <a:pt x="227" y="257"/>
                        </a:lnTo>
                        <a:lnTo>
                          <a:pt x="233" y="254"/>
                        </a:lnTo>
                        <a:lnTo>
                          <a:pt x="238" y="251"/>
                        </a:lnTo>
                        <a:lnTo>
                          <a:pt x="242" y="246"/>
                        </a:lnTo>
                        <a:lnTo>
                          <a:pt x="246" y="240"/>
                        </a:lnTo>
                        <a:lnTo>
                          <a:pt x="248" y="233"/>
                        </a:lnTo>
                        <a:lnTo>
                          <a:pt x="249" y="224"/>
                        </a:lnTo>
                        <a:lnTo>
                          <a:pt x="249" y="224"/>
                        </a:lnTo>
                        <a:lnTo>
                          <a:pt x="265" y="223"/>
                        </a:lnTo>
                        <a:lnTo>
                          <a:pt x="280" y="221"/>
                        </a:lnTo>
                        <a:lnTo>
                          <a:pt x="295" y="215"/>
                        </a:lnTo>
                        <a:lnTo>
                          <a:pt x="308" y="208"/>
                        </a:lnTo>
                        <a:lnTo>
                          <a:pt x="320" y="200"/>
                        </a:lnTo>
                        <a:lnTo>
                          <a:pt x="329" y="190"/>
                        </a:lnTo>
                        <a:lnTo>
                          <a:pt x="337" y="178"/>
                        </a:lnTo>
                        <a:lnTo>
                          <a:pt x="341" y="165"/>
                        </a:lnTo>
                        <a:lnTo>
                          <a:pt x="341" y="165"/>
                        </a:lnTo>
                        <a:lnTo>
                          <a:pt x="336" y="165"/>
                        </a:lnTo>
                        <a:lnTo>
                          <a:pt x="330" y="163"/>
                        </a:lnTo>
                        <a:lnTo>
                          <a:pt x="325" y="162"/>
                        </a:lnTo>
                        <a:lnTo>
                          <a:pt x="321" y="160"/>
                        </a:lnTo>
                        <a:lnTo>
                          <a:pt x="317" y="156"/>
                        </a:lnTo>
                        <a:lnTo>
                          <a:pt x="314" y="153"/>
                        </a:lnTo>
                        <a:lnTo>
                          <a:pt x="307" y="144"/>
                        </a:lnTo>
                        <a:lnTo>
                          <a:pt x="302" y="133"/>
                        </a:lnTo>
                        <a:lnTo>
                          <a:pt x="299" y="122"/>
                        </a:lnTo>
                        <a:lnTo>
                          <a:pt x="292" y="95"/>
                        </a:lnTo>
                        <a:lnTo>
                          <a:pt x="286" y="70"/>
                        </a:lnTo>
                        <a:lnTo>
                          <a:pt x="283" y="58"/>
                        </a:lnTo>
                        <a:lnTo>
                          <a:pt x="278" y="48"/>
                        </a:lnTo>
                        <a:lnTo>
                          <a:pt x="272" y="39"/>
                        </a:lnTo>
                        <a:lnTo>
                          <a:pt x="265" y="32"/>
                        </a:lnTo>
                        <a:lnTo>
                          <a:pt x="261" y="30"/>
                        </a:lnTo>
                        <a:lnTo>
                          <a:pt x="256" y="27"/>
                        </a:lnTo>
                        <a:lnTo>
                          <a:pt x="252" y="26"/>
                        </a:lnTo>
                        <a:lnTo>
                          <a:pt x="246" y="26"/>
                        </a:lnTo>
                        <a:lnTo>
                          <a:pt x="246" y="26"/>
                        </a:lnTo>
                        <a:lnTo>
                          <a:pt x="244" y="26"/>
                        </a:lnTo>
                        <a:lnTo>
                          <a:pt x="241" y="28"/>
                        </a:lnTo>
                        <a:lnTo>
                          <a:pt x="237" y="33"/>
                        </a:lnTo>
                        <a:lnTo>
                          <a:pt x="234" y="39"/>
                        </a:lnTo>
                        <a:lnTo>
                          <a:pt x="232" y="40"/>
                        </a:lnTo>
                        <a:lnTo>
                          <a:pt x="231" y="41"/>
                        </a:lnTo>
                        <a:lnTo>
                          <a:pt x="231" y="41"/>
                        </a:lnTo>
                        <a:lnTo>
                          <a:pt x="226" y="40"/>
                        </a:lnTo>
                        <a:lnTo>
                          <a:pt x="222" y="39"/>
                        </a:lnTo>
                        <a:lnTo>
                          <a:pt x="217" y="37"/>
                        </a:lnTo>
                        <a:lnTo>
                          <a:pt x="213" y="34"/>
                        </a:lnTo>
                        <a:lnTo>
                          <a:pt x="207" y="27"/>
                        </a:lnTo>
                        <a:lnTo>
                          <a:pt x="200" y="20"/>
                        </a:lnTo>
                        <a:lnTo>
                          <a:pt x="194" y="12"/>
                        </a:lnTo>
                        <a:lnTo>
                          <a:pt x="187" y="7"/>
                        </a:lnTo>
                        <a:lnTo>
                          <a:pt x="183" y="4"/>
                        </a:lnTo>
                        <a:lnTo>
                          <a:pt x="179" y="2"/>
                        </a:lnTo>
                        <a:lnTo>
                          <a:pt x="175" y="1"/>
                        </a:lnTo>
                        <a:lnTo>
                          <a:pt x="169" y="0"/>
                        </a:lnTo>
                        <a:lnTo>
                          <a:pt x="169" y="0"/>
                        </a:lnTo>
                        <a:lnTo>
                          <a:pt x="161" y="1"/>
                        </a:lnTo>
                        <a:lnTo>
                          <a:pt x="153" y="3"/>
                        </a:lnTo>
                        <a:lnTo>
                          <a:pt x="147" y="3"/>
                        </a:lnTo>
                        <a:lnTo>
                          <a:pt x="145" y="2"/>
                        </a:lnTo>
                        <a:lnTo>
                          <a:pt x="142" y="0"/>
                        </a:lnTo>
                        <a:lnTo>
                          <a:pt x="142" y="0"/>
                        </a:lnTo>
                        <a:lnTo>
                          <a:pt x="138" y="4"/>
                        </a:lnTo>
                        <a:lnTo>
                          <a:pt x="132" y="8"/>
                        </a:lnTo>
                        <a:lnTo>
                          <a:pt x="129" y="10"/>
                        </a:lnTo>
                        <a:lnTo>
                          <a:pt x="125" y="11"/>
                        </a:lnTo>
                        <a:lnTo>
                          <a:pt x="125" y="11"/>
                        </a:lnTo>
                        <a:lnTo>
                          <a:pt x="95" y="11"/>
                        </a:lnTo>
                        <a:lnTo>
                          <a:pt x="95" y="11"/>
                        </a:lnTo>
                        <a:lnTo>
                          <a:pt x="95" y="20"/>
                        </a:lnTo>
                        <a:lnTo>
                          <a:pt x="94" y="27"/>
                        </a:lnTo>
                        <a:lnTo>
                          <a:pt x="92" y="34"/>
                        </a:lnTo>
                        <a:lnTo>
                          <a:pt x="89" y="40"/>
                        </a:lnTo>
                        <a:lnTo>
                          <a:pt x="84" y="48"/>
                        </a:lnTo>
                        <a:lnTo>
                          <a:pt x="77" y="55"/>
                        </a:lnTo>
                        <a:lnTo>
                          <a:pt x="70" y="61"/>
                        </a:lnTo>
                        <a:lnTo>
                          <a:pt x="64" y="68"/>
                        </a:lnTo>
                        <a:lnTo>
                          <a:pt x="62" y="72"/>
                        </a:lnTo>
                        <a:lnTo>
                          <a:pt x="61" y="77"/>
                        </a:lnTo>
                        <a:lnTo>
                          <a:pt x="59" y="81"/>
                        </a:lnTo>
                        <a:lnTo>
                          <a:pt x="58" y="88"/>
                        </a:lnTo>
                        <a:lnTo>
                          <a:pt x="58" y="88"/>
                        </a:lnTo>
                        <a:lnTo>
                          <a:pt x="59" y="94"/>
                        </a:lnTo>
                        <a:lnTo>
                          <a:pt x="61" y="100"/>
                        </a:lnTo>
                        <a:lnTo>
                          <a:pt x="63" y="104"/>
                        </a:lnTo>
                        <a:lnTo>
                          <a:pt x="66" y="108"/>
                        </a:lnTo>
                        <a:lnTo>
                          <a:pt x="70" y="110"/>
                        </a:lnTo>
                        <a:lnTo>
                          <a:pt x="74" y="112"/>
                        </a:lnTo>
                        <a:lnTo>
                          <a:pt x="79" y="114"/>
                        </a:lnTo>
                        <a:lnTo>
                          <a:pt x="84" y="114"/>
                        </a:lnTo>
                        <a:lnTo>
                          <a:pt x="84" y="114"/>
                        </a:lnTo>
                        <a:lnTo>
                          <a:pt x="84" y="132"/>
                        </a:lnTo>
                        <a:lnTo>
                          <a:pt x="84" y="132"/>
                        </a:lnTo>
                        <a:lnTo>
                          <a:pt x="84" y="141"/>
                        </a:lnTo>
                        <a:lnTo>
                          <a:pt x="80" y="149"/>
                        </a:lnTo>
                        <a:lnTo>
                          <a:pt x="77" y="156"/>
                        </a:lnTo>
                        <a:lnTo>
                          <a:pt x="71" y="163"/>
                        </a:lnTo>
                        <a:lnTo>
                          <a:pt x="64" y="169"/>
                        </a:lnTo>
                        <a:lnTo>
                          <a:pt x="57" y="175"/>
                        </a:lnTo>
                        <a:lnTo>
                          <a:pt x="42" y="185"/>
                        </a:lnTo>
                        <a:lnTo>
                          <a:pt x="26" y="196"/>
                        </a:lnTo>
                        <a:lnTo>
                          <a:pt x="19" y="203"/>
                        </a:lnTo>
                        <a:lnTo>
                          <a:pt x="13" y="210"/>
                        </a:lnTo>
                        <a:lnTo>
                          <a:pt x="8" y="218"/>
                        </a:lnTo>
                        <a:lnTo>
                          <a:pt x="4" y="228"/>
                        </a:lnTo>
                        <a:lnTo>
                          <a:pt x="1" y="238"/>
                        </a:lnTo>
                        <a:lnTo>
                          <a:pt x="0" y="249"/>
                        </a:lnTo>
                        <a:lnTo>
                          <a:pt x="0" y="249"/>
                        </a:lnTo>
                        <a:lnTo>
                          <a:pt x="1" y="259"/>
                        </a:lnTo>
                        <a:lnTo>
                          <a:pt x="3" y="268"/>
                        </a:lnTo>
                        <a:lnTo>
                          <a:pt x="7" y="278"/>
                        </a:lnTo>
                        <a:lnTo>
                          <a:pt x="12" y="287"/>
                        </a:lnTo>
                        <a:lnTo>
                          <a:pt x="18" y="295"/>
                        </a:lnTo>
                        <a:lnTo>
                          <a:pt x="25" y="302"/>
                        </a:lnTo>
                        <a:lnTo>
                          <a:pt x="32" y="307"/>
                        </a:lnTo>
                        <a:lnTo>
                          <a:pt x="36" y="308"/>
                        </a:lnTo>
                        <a:lnTo>
                          <a:pt x="40" y="309"/>
                        </a:lnTo>
                        <a:lnTo>
                          <a:pt x="40" y="309"/>
                        </a:lnTo>
                        <a:lnTo>
                          <a:pt x="46" y="308"/>
                        </a:lnTo>
                        <a:lnTo>
                          <a:pt x="50" y="307"/>
                        </a:lnTo>
                        <a:lnTo>
                          <a:pt x="58" y="304"/>
                        </a:lnTo>
                        <a:lnTo>
                          <a:pt x="66" y="299"/>
                        </a:lnTo>
                        <a:lnTo>
                          <a:pt x="72" y="292"/>
                        </a:lnTo>
                        <a:lnTo>
                          <a:pt x="79" y="286"/>
                        </a:lnTo>
                        <a:lnTo>
                          <a:pt x="86" y="280"/>
                        </a:lnTo>
                        <a:lnTo>
                          <a:pt x="94" y="277"/>
                        </a:lnTo>
                        <a:lnTo>
                          <a:pt x="97" y="276"/>
                        </a:lnTo>
                        <a:lnTo>
                          <a:pt x="102" y="276"/>
                        </a:lnTo>
                        <a:lnTo>
                          <a:pt x="102" y="276"/>
                        </a:lnTo>
                        <a:lnTo>
                          <a:pt x="114" y="276"/>
                        </a:lnTo>
                        <a:lnTo>
                          <a:pt x="123" y="277"/>
                        </a:lnTo>
                        <a:lnTo>
                          <a:pt x="142" y="282"/>
                        </a:lnTo>
                        <a:lnTo>
                          <a:pt x="163" y="285"/>
                        </a:lnTo>
                        <a:lnTo>
                          <a:pt x="172" y="286"/>
                        </a:lnTo>
                        <a:lnTo>
                          <a:pt x="184" y="286"/>
                        </a:lnTo>
                        <a:lnTo>
                          <a:pt x="184" y="286"/>
                        </a:lnTo>
                        <a:lnTo>
                          <a:pt x="187" y="286"/>
                        </a:lnTo>
                        <a:lnTo>
                          <a:pt x="187" y="286"/>
                        </a:lnTo>
                        <a:close/>
                      </a:path>
                    </a:pathLst>
                  </a:custGeom>
                  <a:noFill/>
                  <a:ln w="9525" cap="flat" cmpd="sng" algn="ctr">
                    <a:noFill/>
                    <a:prstDash val="solid"/>
                    <a:headEnd/>
                    <a:tailEnd/>
                  </a:ln>
                  <a:effectLst/>
                </p:spPr>
                <p:txBody>
                  <a:bodyPr lIns="0" tIns="23006" rIns="0" bIns="0" anchor="ctr" anchorCtr="1"/>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indent="-171438" defTabSz="316493" fontAlgn="auto">
                      <a:lnSpc>
                        <a:spcPct val="90000"/>
                      </a:lnSpc>
                      <a:spcBef>
                        <a:spcPts val="0"/>
                      </a:spcBef>
                      <a:spcAft>
                        <a:spcPts val="575"/>
                      </a:spcAft>
                      <a:defRPr/>
                    </a:pPr>
                    <a:endParaRPr lang="ru-RU" sz="600" b="1" kern="0" dirty="0">
                      <a:solidFill>
                        <a:srgbClr val="53505E"/>
                      </a:solidFill>
                      <a:latin typeface="+mn-lt"/>
                      <a:cs typeface="Arial" panose="020B0604020202020204" pitchFamily="34" charset="0"/>
                    </a:endParaRPr>
                  </a:p>
                </p:txBody>
              </p:sp>
              <p:sp>
                <p:nvSpPr>
                  <p:cNvPr id="220" name="Freeform 80"/>
                  <p:cNvSpPr>
                    <a:spLocks/>
                  </p:cNvSpPr>
                  <p:nvPr/>
                </p:nvSpPr>
                <p:spPr bwMode="auto">
                  <a:xfrm rot="536518">
                    <a:off x="3538256" y="2783375"/>
                    <a:ext cx="171454" cy="160389"/>
                  </a:xfrm>
                  <a:custGeom>
                    <a:avLst/>
                    <a:gdLst/>
                    <a:ahLst/>
                    <a:cxnLst>
                      <a:cxn ang="0">
                        <a:pos x="116" y="9"/>
                      </a:cxn>
                      <a:cxn ang="0">
                        <a:pos x="131" y="33"/>
                      </a:cxn>
                      <a:cxn ang="0">
                        <a:pos x="148" y="44"/>
                      </a:cxn>
                      <a:cxn ang="0">
                        <a:pos x="173" y="44"/>
                      </a:cxn>
                      <a:cxn ang="0">
                        <a:pos x="174" y="31"/>
                      </a:cxn>
                      <a:cxn ang="0">
                        <a:pos x="181" y="17"/>
                      </a:cxn>
                      <a:cxn ang="0">
                        <a:pos x="192" y="10"/>
                      </a:cxn>
                      <a:cxn ang="0">
                        <a:pos x="235" y="7"/>
                      </a:cxn>
                      <a:cxn ang="0">
                        <a:pos x="228" y="29"/>
                      </a:cxn>
                      <a:cxn ang="0">
                        <a:pos x="228" y="42"/>
                      </a:cxn>
                      <a:cxn ang="0">
                        <a:pos x="234" y="53"/>
                      </a:cxn>
                      <a:cxn ang="0">
                        <a:pos x="245" y="59"/>
                      </a:cxn>
                      <a:cxn ang="0">
                        <a:pos x="275" y="59"/>
                      </a:cxn>
                      <a:cxn ang="0">
                        <a:pos x="281" y="60"/>
                      </a:cxn>
                      <a:cxn ang="0">
                        <a:pos x="288" y="69"/>
                      </a:cxn>
                      <a:cxn ang="0">
                        <a:pos x="289" y="101"/>
                      </a:cxn>
                      <a:cxn ang="0">
                        <a:pos x="268" y="124"/>
                      </a:cxn>
                      <a:cxn ang="0">
                        <a:pos x="233" y="153"/>
                      </a:cxn>
                      <a:cxn ang="0">
                        <a:pos x="219" y="174"/>
                      </a:cxn>
                      <a:cxn ang="0">
                        <a:pos x="217" y="183"/>
                      </a:cxn>
                      <a:cxn ang="0">
                        <a:pos x="217" y="256"/>
                      </a:cxn>
                      <a:cxn ang="0">
                        <a:pos x="209" y="275"/>
                      </a:cxn>
                      <a:cxn ang="0">
                        <a:pos x="183" y="283"/>
                      </a:cxn>
                      <a:cxn ang="0">
                        <a:pos x="162" y="279"/>
                      </a:cxn>
                      <a:cxn ang="0">
                        <a:pos x="133" y="260"/>
                      </a:cxn>
                      <a:cxn ang="0">
                        <a:pos x="114" y="235"/>
                      </a:cxn>
                      <a:cxn ang="0">
                        <a:pos x="112" y="220"/>
                      </a:cxn>
                      <a:cxn ang="0">
                        <a:pos x="112" y="199"/>
                      </a:cxn>
                      <a:cxn ang="0">
                        <a:pos x="99" y="191"/>
                      </a:cxn>
                      <a:cxn ang="0">
                        <a:pos x="77" y="170"/>
                      </a:cxn>
                      <a:cxn ang="0">
                        <a:pos x="62" y="157"/>
                      </a:cxn>
                      <a:cxn ang="0">
                        <a:pos x="40" y="153"/>
                      </a:cxn>
                      <a:cxn ang="0">
                        <a:pos x="16" y="150"/>
                      </a:cxn>
                      <a:cxn ang="0">
                        <a:pos x="7" y="143"/>
                      </a:cxn>
                      <a:cxn ang="0">
                        <a:pos x="0" y="127"/>
                      </a:cxn>
                      <a:cxn ang="0">
                        <a:pos x="1" y="112"/>
                      </a:cxn>
                      <a:cxn ang="0">
                        <a:pos x="9" y="100"/>
                      </a:cxn>
                      <a:cxn ang="0">
                        <a:pos x="30" y="97"/>
                      </a:cxn>
                      <a:cxn ang="0">
                        <a:pos x="51" y="92"/>
                      </a:cxn>
                      <a:cxn ang="0">
                        <a:pos x="61" y="81"/>
                      </a:cxn>
                      <a:cxn ang="0">
                        <a:pos x="66" y="60"/>
                      </a:cxn>
                      <a:cxn ang="0">
                        <a:pos x="80" y="30"/>
                      </a:cxn>
                      <a:cxn ang="0">
                        <a:pos x="106" y="0"/>
                      </a:cxn>
                      <a:cxn ang="0">
                        <a:pos x="114" y="4"/>
                      </a:cxn>
                    </a:cxnLst>
                    <a:rect l="0" t="0" r="r" b="b"/>
                    <a:pathLst>
                      <a:path w="290" h="283">
                        <a:moveTo>
                          <a:pt x="114" y="4"/>
                        </a:moveTo>
                        <a:lnTo>
                          <a:pt x="114" y="4"/>
                        </a:lnTo>
                        <a:lnTo>
                          <a:pt x="116" y="9"/>
                        </a:lnTo>
                        <a:lnTo>
                          <a:pt x="119" y="15"/>
                        </a:lnTo>
                        <a:lnTo>
                          <a:pt x="127" y="28"/>
                        </a:lnTo>
                        <a:lnTo>
                          <a:pt x="131" y="33"/>
                        </a:lnTo>
                        <a:lnTo>
                          <a:pt x="136" y="38"/>
                        </a:lnTo>
                        <a:lnTo>
                          <a:pt x="142" y="42"/>
                        </a:lnTo>
                        <a:lnTo>
                          <a:pt x="148" y="44"/>
                        </a:lnTo>
                        <a:lnTo>
                          <a:pt x="148" y="44"/>
                        </a:lnTo>
                        <a:lnTo>
                          <a:pt x="173" y="44"/>
                        </a:lnTo>
                        <a:lnTo>
                          <a:pt x="173" y="44"/>
                        </a:lnTo>
                        <a:lnTo>
                          <a:pt x="173" y="44"/>
                        </a:lnTo>
                        <a:lnTo>
                          <a:pt x="173" y="37"/>
                        </a:lnTo>
                        <a:lnTo>
                          <a:pt x="174" y="31"/>
                        </a:lnTo>
                        <a:lnTo>
                          <a:pt x="176" y="25"/>
                        </a:lnTo>
                        <a:lnTo>
                          <a:pt x="179" y="21"/>
                        </a:lnTo>
                        <a:lnTo>
                          <a:pt x="181" y="17"/>
                        </a:lnTo>
                        <a:lnTo>
                          <a:pt x="184" y="14"/>
                        </a:lnTo>
                        <a:lnTo>
                          <a:pt x="189" y="12"/>
                        </a:lnTo>
                        <a:lnTo>
                          <a:pt x="192" y="10"/>
                        </a:lnTo>
                        <a:lnTo>
                          <a:pt x="203" y="8"/>
                        </a:lnTo>
                        <a:lnTo>
                          <a:pt x="213" y="7"/>
                        </a:lnTo>
                        <a:lnTo>
                          <a:pt x="235" y="7"/>
                        </a:lnTo>
                        <a:lnTo>
                          <a:pt x="235" y="7"/>
                        </a:lnTo>
                        <a:lnTo>
                          <a:pt x="230" y="22"/>
                        </a:lnTo>
                        <a:lnTo>
                          <a:pt x="228" y="29"/>
                        </a:lnTo>
                        <a:lnTo>
                          <a:pt x="228" y="37"/>
                        </a:lnTo>
                        <a:lnTo>
                          <a:pt x="228" y="37"/>
                        </a:lnTo>
                        <a:lnTo>
                          <a:pt x="228" y="42"/>
                        </a:lnTo>
                        <a:lnTo>
                          <a:pt x="229" y="46"/>
                        </a:lnTo>
                        <a:lnTo>
                          <a:pt x="232" y="50"/>
                        </a:lnTo>
                        <a:lnTo>
                          <a:pt x="234" y="53"/>
                        </a:lnTo>
                        <a:lnTo>
                          <a:pt x="236" y="55"/>
                        </a:lnTo>
                        <a:lnTo>
                          <a:pt x="241" y="58"/>
                        </a:lnTo>
                        <a:lnTo>
                          <a:pt x="245" y="59"/>
                        </a:lnTo>
                        <a:lnTo>
                          <a:pt x="250" y="59"/>
                        </a:lnTo>
                        <a:lnTo>
                          <a:pt x="250" y="59"/>
                        </a:lnTo>
                        <a:lnTo>
                          <a:pt x="275" y="59"/>
                        </a:lnTo>
                        <a:lnTo>
                          <a:pt x="275" y="59"/>
                        </a:lnTo>
                        <a:lnTo>
                          <a:pt x="279" y="59"/>
                        </a:lnTo>
                        <a:lnTo>
                          <a:pt x="281" y="60"/>
                        </a:lnTo>
                        <a:lnTo>
                          <a:pt x="283" y="61"/>
                        </a:lnTo>
                        <a:lnTo>
                          <a:pt x="286" y="63"/>
                        </a:lnTo>
                        <a:lnTo>
                          <a:pt x="288" y="69"/>
                        </a:lnTo>
                        <a:lnTo>
                          <a:pt x="289" y="76"/>
                        </a:lnTo>
                        <a:lnTo>
                          <a:pt x="289" y="92"/>
                        </a:lnTo>
                        <a:lnTo>
                          <a:pt x="289" y="101"/>
                        </a:lnTo>
                        <a:lnTo>
                          <a:pt x="290" y="109"/>
                        </a:lnTo>
                        <a:lnTo>
                          <a:pt x="290" y="109"/>
                        </a:lnTo>
                        <a:lnTo>
                          <a:pt x="268" y="124"/>
                        </a:lnTo>
                        <a:lnTo>
                          <a:pt x="256" y="132"/>
                        </a:lnTo>
                        <a:lnTo>
                          <a:pt x="244" y="143"/>
                        </a:lnTo>
                        <a:lnTo>
                          <a:pt x="233" y="153"/>
                        </a:lnTo>
                        <a:lnTo>
                          <a:pt x="225" y="163"/>
                        </a:lnTo>
                        <a:lnTo>
                          <a:pt x="221" y="168"/>
                        </a:lnTo>
                        <a:lnTo>
                          <a:pt x="219" y="174"/>
                        </a:lnTo>
                        <a:lnTo>
                          <a:pt x="217" y="178"/>
                        </a:lnTo>
                        <a:lnTo>
                          <a:pt x="217" y="183"/>
                        </a:lnTo>
                        <a:lnTo>
                          <a:pt x="217" y="183"/>
                        </a:lnTo>
                        <a:lnTo>
                          <a:pt x="217" y="235"/>
                        </a:lnTo>
                        <a:lnTo>
                          <a:pt x="217" y="235"/>
                        </a:lnTo>
                        <a:lnTo>
                          <a:pt x="217" y="256"/>
                        </a:lnTo>
                        <a:lnTo>
                          <a:pt x="214" y="264"/>
                        </a:lnTo>
                        <a:lnTo>
                          <a:pt x="212" y="271"/>
                        </a:lnTo>
                        <a:lnTo>
                          <a:pt x="209" y="275"/>
                        </a:lnTo>
                        <a:lnTo>
                          <a:pt x="203" y="280"/>
                        </a:lnTo>
                        <a:lnTo>
                          <a:pt x="195" y="282"/>
                        </a:lnTo>
                        <a:lnTo>
                          <a:pt x="183" y="283"/>
                        </a:lnTo>
                        <a:lnTo>
                          <a:pt x="183" y="283"/>
                        </a:lnTo>
                        <a:lnTo>
                          <a:pt x="174" y="282"/>
                        </a:lnTo>
                        <a:lnTo>
                          <a:pt x="162" y="279"/>
                        </a:lnTo>
                        <a:lnTo>
                          <a:pt x="152" y="274"/>
                        </a:lnTo>
                        <a:lnTo>
                          <a:pt x="142" y="267"/>
                        </a:lnTo>
                        <a:lnTo>
                          <a:pt x="133" y="260"/>
                        </a:lnTo>
                        <a:lnTo>
                          <a:pt x="125" y="252"/>
                        </a:lnTo>
                        <a:lnTo>
                          <a:pt x="119" y="243"/>
                        </a:lnTo>
                        <a:lnTo>
                          <a:pt x="114" y="235"/>
                        </a:lnTo>
                        <a:lnTo>
                          <a:pt x="114" y="235"/>
                        </a:lnTo>
                        <a:lnTo>
                          <a:pt x="113" y="227"/>
                        </a:lnTo>
                        <a:lnTo>
                          <a:pt x="112" y="220"/>
                        </a:lnTo>
                        <a:lnTo>
                          <a:pt x="113" y="208"/>
                        </a:lnTo>
                        <a:lnTo>
                          <a:pt x="113" y="204"/>
                        </a:lnTo>
                        <a:lnTo>
                          <a:pt x="112" y="199"/>
                        </a:lnTo>
                        <a:lnTo>
                          <a:pt x="107" y="195"/>
                        </a:lnTo>
                        <a:lnTo>
                          <a:pt x="99" y="191"/>
                        </a:lnTo>
                        <a:lnTo>
                          <a:pt x="99" y="191"/>
                        </a:lnTo>
                        <a:lnTo>
                          <a:pt x="93" y="188"/>
                        </a:lnTo>
                        <a:lnTo>
                          <a:pt x="88" y="183"/>
                        </a:lnTo>
                        <a:lnTo>
                          <a:pt x="77" y="170"/>
                        </a:lnTo>
                        <a:lnTo>
                          <a:pt x="73" y="165"/>
                        </a:lnTo>
                        <a:lnTo>
                          <a:pt x="67" y="160"/>
                        </a:lnTo>
                        <a:lnTo>
                          <a:pt x="62" y="157"/>
                        </a:lnTo>
                        <a:lnTo>
                          <a:pt x="55" y="154"/>
                        </a:lnTo>
                        <a:lnTo>
                          <a:pt x="55" y="154"/>
                        </a:lnTo>
                        <a:lnTo>
                          <a:pt x="40" y="153"/>
                        </a:lnTo>
                        <a:lnTo>
                          <a:pt x="27" y="152"/>
                        </a:lnTo>
                        <a:lnTo>
                          <a:pt x="22" y="152"/>
                        </a:lnTo>
                        <a:lnTo>
                          <a:pt x="16" y="150"/>
                        </a:lnTo>
                        <a:lnTo>
                          <a:pt x="12" y="147"/>
                        </a:lnTo>
                        <a:lnTo>
                          <a:pt x="7" y="143"/>
                        </a:lnTo>
                        <a:lnTo>
                          <a:pt x="7" y="143"/>
                        </a:lnTo>
                        <a:lnTo>
                          <a:pt x="4" y="137"/>
                        </a:lnTo>
                        <a:lnTo>
                          <a:pt x="1" y="131"/>
                        </a:lnTo>
                        <a:lnTo>
                          <a:pt x="0" y="127"/>
                        </a:lnTo>
                        <a:lnTo>
                          <a:pt x="0" y="117"/>
                        </a:lnTo>
                        <a:lnTo>
                          <a:pt x="0" y="117"/>
                        </a:lnTo>
                        <a:lnTo>
                          <a:pt x="1" y="112"/>
                        </a:lnTo>
                        <a:lnTo>
                          <a:pt x="3" y="107"/>
                        </a:lnTo>
                        <a:lnTo>
                          <a:pt x="6" y="104"/>
                        </a:lnTo>
                        <a:lnTo>
                          <a:pt x="9" y="100"/>
                        </a:lnTo>
                        <a:lnTo>
                          <a:pt x="14" y="99"/>
                        </a:lnTo>
                        <a:lnTo>
                          <a:pt x="19" y="98"/>
                        </a:lnTo>
                        <a:lnTo>
                          <a:pt x="30" y="97"/>
                        </a:lnTo>
                        <a:lnTo>
                          <a:pt x="42" y="96"/>
                        </a:lnTo>
                        <a:lnTo>
                          <a:pt x="46" y="94"/>
                        </a:lnTo>
                        <a:lnTo>
                          <a:pt x="51" y="92"/>
                        </a:lnTo>
                        <a:lnTo>
                          <a:pt x="55" y="90"/>
                        </a:lnTo>
                        <a:lnTo>
                          <a:pt x="59" y="85"/>
                        </a:lnTo>
                        <a:lnTo>
                          <a:pt x="61" y="81"/>
                        </a:lnTo>
                        <a:lnTo>
                          <a:pt x="62" y="74"/>
                        </a:lnTo>
                        <a:lnTo>
                          <a:pt x="62" y="74"/>
                        </a:lnTo>
                        <a:lnTo>
                          <a:pt x="66" y="60"/>
                        </a:lnTo>
                        <a:lnTo>
                          <a:pt x="69" y="48"/>
                        </a:lnTo>
                        <a:lnTo>
                          <a:pt x="74" y="39"/>
                        </a:lnTo>
                        <a:lnTo>
                          <a:pt x="80" y="30"/>
                        </a:lnTo>
                        <a:lnTo>
                          <a:pt x="85" y="22"/>
                        </a:lnTo>
                        <a:lnTo>
                          <a:pt x="91" y="14"/>
                        </a:lnTo>
                        <a:lnTo>
                          <a:pt x="106" y="0"/>
                        </a:lnTo>
                        <a:lnTo>
                          <a:pt x="106" y="0"/>
                        </a:lnTo>
                        <a:lnTo>
                          <a:pt x="114" y="4"/>
                        </a:lnTo>
                        <a:lnTo>
                          <a:pt x="114" y="4"/>
                        </a:lnTo>
                        <a:close/>
                      </a:path>
                    </a:pathLst>
                  </a:custGeom>
                  <a:noFill/>
                  <a:ln w="9525" cap="flat" cmpd="sng" algn="ctr">
                    <a:noFill/>
                    <a:prstDash val="solid"/>
                    <a:headEnd/>
                    <a:tailEnd/>
                  </a:ln>
                  <a:effectLst/>
                </p:spPr>
                <p:txBody>
                  <a:bodyPr lIns="0" tIns="23006" rIns="0" bIns="0" anchor="ctr" anchorCtr="1"/>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indent="-171438" defTabSz="316493" fontAlgn="auto">
                      <a:lnSpc>
                        <a:spcPct val="90000"/>
                      </a:lnSpc>
                      <a:spcBef>
                        <a:spcPts val="0"/>
                      </a:spcBef>
                      <a:spcAft>
                        <a:spcPts val="575"/>
                      </a:spcAft>
                      <a:defRPr/>
                    </a:pPr>
                    <a:endParaRPr lang="ru-RU" sz="600" b="1" kern="0" dirty="0">
                      <a:solidFill>
                        <a:srgbClr val="53505E"/>
                      </a:solidFill>
                      <a:latin typeface="+mn-lt"/>
                      <a:cs typeface="Arial" panose="020B0604020202020204" pitchFamily="34" charset="0"/>
                    </a:endParaRPr>
                  </a:p>
                </p:txBody>
              </p:sp>
              <p:sp>
                <p:nvSpPr>
                  <p:cNvPr id="221" name="Freeform 69"/>
                  <p:cNvSpPr>
                    <a:spLocks/>
                  </p:cNvSpPr>
                  <p:nvPr/>
                </p:nvSpPr>
                <p:spPr bwMode="auto">
                  <a:xfrm rot="536518">
                    <a:off x="3665259" y="2513413"/>
                    <a:ext cx="209555" cy="239789"/>
                  </a:xfrm>
                  <a:custGeom>
                    <a:avLst/>
                    <a:gdLst/>
                    <a:ahLst/>
                    <a:cxnLst>
                      <a:cxn ang="0">
                        <a:pos x="341" y="95"/>
                      </a:cxn>
                      <a:cxn ang="0">
                        <a:pos x="324" y="72"/>
                      </a:cxn>
                      <a:cxn ang="0">
                        <a:pos x="290" y="63"/>
                      </a:cxn>
                      <a:cxn ang="0">
                        <a:pos x="280" y="65"/>
                      </a:cxn>
                      <a:cxn ang="0">
                        <a:pos x="258" y="77"/>
                      </a:cxn>
                      <a:cxn ang="0">
                        <a:pos x="249" y="77"/>
                      </a:cxn>
                      <a:cxn ang="0">
                        <a:pos x="240" y="69"/>
                      </a:cxn>
                      <a:cxn ang="0">
                        <a:pos x="228" y="55"/>
                      </a:cxn>
                      <a:cxn ang="0">
                        <a:pos x="214" y="49"/>
                      </a:cxn>
                      <a:cxn ang="0">
                        <a:pos x="183" y="42"/>
                      </a:cxn>
                      <a:cxn ang="0">
                        <a:pos x="173" y="36"/>
                      </a:cxn>
                      <a:cxn ang="0">
                        <a:pos x="164" y="19"/>
                      </a:cxn>
                      <a:cxn ang="0">
                        <a:pos x="153" y="2"/>
                      </a:cxn>
                      <a:cxn ang="0">
                        <a:pos x="136" y="19"/>
                      </a:cxn>
                      <a:cxn ang="0">
                        <a:pos x="129" y="22"/>
                      </a:cxn>
                      <a:cxn ang="0">
                        <a:pos x="90" y="22"/>
                      </a:cxn>
                      <a:cxn ang="0">
                        <a:pos x="78" y="15"/>
                      </a:cxn>
                      <a:cxn ang="0">
                        <a:pos x="56" y="45"/>
                      </a:cxn>
                      <a:cxn ang="0">
                        <a:pos x="22" y="95"/>
                      </a:cxn>
                      <a:cxn ang="0">
                        <a:pos x="0" y="114"/>
                      </a:cxn>
                      <a:cxn ang="0">
                        <a:pos x="25" y="120"/>
                      </a:cxn>
                      <a:cxn ang="0">
                        <a:pos x="44" y="138"/>
                      </a:cxn>
                      <a:cxn ang="0">
                        <a:pos x="59" y="162"/>
                      </a:cxn>
                      <a:cxn ang="0">
                        <a:pos x="73" y="175"/>
                      </a:cxn>
                      <a:cxn ang="0">
                        <a:pos x="99" y="191"/>
                      </a:cxn>
                      <a:cxn ang="0">
                        <a:pos x="110" y="207"/>
                      </a:cxn>
                      <a:cxn ang="0">
                        <a:pos x="114" y="231"/>
                      </a:cxn>
                      <a:cxn ang="0">
                        <a:pos x="112" y="241"/>
                      </a:cxn>
                      <a:cxn ang="0">
                        <a:pos x="101" y="269"/>
                      </a:cxn>
                      <a:cxn ang="0">
                        <a:pos x="101" y="284"/>
                      </a:cxn>
                      <a:cxn ang="0">
                        <a:pos x="107" y="305"/>
                      </a:cxn>
                      <a:cxn ang="0">
                        <a:pos x="124" y="323"/>
                      </a:cxn>
                      <a:cxn ang="0">
                        <a:pos x="140" y="341"/>
                      </a:cxn>
                      <a:cxn ang="0">
                        <a:pos x="147" y="362"/>
                      </a:cxn>
                      <a:cxn ang="0">
                        <a:pos x="147" y="376"/>
                      </a:cxn>
                      <a:cxn ang="0">
                        <a:pos x="133" y="392"/>
                      </a:cxn>
                      <a:cxn ang="0">
                        <a:pos x="126" y="407"/>
                      </a:cxn>
                      <a:cxn ang="0">
                        <a:pos x="127" y="415"/>
                      </a:cxn>
                      <a:cxn ang="0">
                        <a:pos x="135" y="422"/>
                      </a:cxn>
                      <a:cxn ang="0">
                        <a:pos x="144" y="422"/>
                      </a:cxn>
                      <a:cxn ang="0">
                        <a:pos x="158" y="407"/>
                      </a:cxn>
                      <a:cxn ang="0">
                        <a:pos x="165" y="404"/>
                      </a:cxn>
                      <a:cxn ang="0">
                        <a:pos x="204" y="404"/>
                      </a:cxn>
                      <a:cxn ang="0">
                        <a:pos x="235" y="394"/>
                      </a:cxn>
                      <a:cxn ang="0">
                        <a:pos x="250" y="393"/>
                      </a:cxn>
                      <a:cxn ang="0">
                        <a:pos x="273" y="399"/>
                      </a:cxn>
                      <a:cxn ang="0">
                        <a:pos x="297" y="404"/>
                      </a:cxn>
                      <a:cxn ang="0">
                        <a:pos x="324" y="400"/>
                      </a:cxn>
                      <a:cxn ang="0">
                        <a:pos x="347" y="379"/>
                      </a:cxn>
                      <a:cxn ang="0">
                        <a:pos x="353" y="341"/>
                      </a:cxn>
                      <a:cxn ang="0">
                        <a:pos x="350" y="324"/>
                      </a:cxn>
                      <a:cxn ang="0">
                        <a:pos x="334" y="294"/>
                      </a:cxn>
                      <a:cxn ang="0">
                        <a:pos x="303" y="249"/>
                      </a:cxn>
                      <a:cxn ang="0">
                        <a:pos x="295" y="223"/>
                      </a:cxn>
                      <a:cxn ang="0">
                        <a:pos x="295" y="206"/>
                      </a:cxn>
                      <a:cxn ang="0">
                        <a:pos x="301" y="185"/>
                      </a:cxn>
                      <a:cxn ang="0">
                        <a:pos x="332" y="146"/>
                      </a:cxn>
                      <a:cxn ang="0">
                        <a:pos x="346" y="125"/>
                      </a:cxn>
                    </a:cxnLst>
                    <a:rect l="0" t="0" r="r" b="b"/>
                    <a:pathLst>
                      <a:path w="353" h="422">
                        <a:moveTo>
                          <a:pt x="349" y="114"/>
                        </a:moveTo>
                        <a:lnTo>
                          <a:pt x="349" y="114"/>
                        </a:lnTo>
                        <a:lnTo>
                          <a:pt x="341" y="95"/>
                        </a:lnTo>
                        <a:lnTo>
                          <a:pt x="336" y="86"/>
                        </a:lnTo>
                        <a:lnTo>
                          <a:pt x="331" y="79"/>
                        </a:lnTo>
                        <a:lnTo>
                          <a:pt x="324" y="72"/>
                        </a:lnTo>
                        <a:lnTo>
                          <a:pt x="316" y="66"/>
                        </a:lnTo>
                        <a:lnTo>
                          <a:pt x="304" y="64"/>
                        </a:lnTo>
                        <a:lnTo>
                          <a:pt x="290" y="63"/>
                        </a:lnTo>
                        <a:lnTo>
                          <a:pt x="290" y="63"/>
                        </a:lnTo>
                        <a:lnTo>
                          <a:pt x="286" y="63"/>
                        </a:lnTo>
                        <a:lnTo>
                          <a:pt x="280" y="65"/>
                        </a:lnTo>
                        <a:lnTo>
                          <a:pt x="271" y="70"/>
                        </a:lnTo>
                        <a:lnTo>
                          <a:pt x="262" y="74"/>
                        </a:lnTo>
                        <a:lnTo>
                          <a:pt x="258" y="77"/>
                        </a:lnTo>
                        <a:lnTo>
                          <a:pt x="254" y="77"/>
                        </a:lnTo>
                        <a:lnTo>
                          <a:pt x="254" y="77"/>
                        </a:lnTo>
                        <a:lnTo>
                          <a:pt x="249" y="77"/>
                        </a:lnTo>
                        <a:lnTo>
                          <a:pt x="246" y="74"/>
                        </a:lnTo>
                        <a:lnTo>
                          <a:pt x="242" y="72"/>
                        </a:lnTo>
                        <a:lnTo>
                          <a:pt x="240" y="69"/>
                        </a:lnTo>
                        <a:lnTo>
                          <a:pt x="235" y="62"/>
                        </a:lnTo>
                        <a:lnTo>
                          <a:pt x="232" y="58"/>
                        </a:lnTo>
                        <a:lnTo>
                          <a:pt x="228" y="55"/>
                        </a:lnTo>
                        <a:lnTo>
                          <a:pt x="228" y="55"/>
                        </a:lnTo>
                        <a:lnTo>
                          <a:pt x="221" y="51"/>
                        </a:lnTo>
                        <a:lnTo>
                          <a:pt x="214" y="49"/>
                        </a:lnTo>
                        <a:lnTo>
                          <a:pt x="203" y="46"/>
                        </a:lnTo>
                        <a:lnTo>
                          <a:pt x="193" y="45"/>
                        </a:lnTo>
                        <a:lnTo>
                          <a:pt x="183" y="42"/>
                        </a:lnTo>
                        <a:lnTo>
                          <a:pt x="180" y="41"/>
                        </a:lnTo>
                        <a:lnTo>
                          <a:pt x="176" y="39"/>
                        </a:lnTo>
                        <a:lnTo>
                          <a:pt x="173" y="36"/>
                        </a:lnTo>
                        <a:lnTo>
                          <a:pt x="170" y="32"/>
                        </a:lnTo>
                        <a:lnTo>
                          <a:pt x="167" y="26"/>
                        </a:lnTo>
                        <a:lnTo>
                          <a:pt x="164" y="19"/>
                        </a:lnTo>
                        <a:lnTo>
                          <a:pt x="158" y="0"/>
                        </a:lnTo>
                        <a:lnTo>
                          <a:pt x="158" y="0"/>
                        </a:lnTo>
                        <a:lnTo>
                          <a:pt x="153" y="2"/>
                        </a:lnTo>
                        <a:lnTo>
                          <a:pt x="149" y="5"/>
                        </a:lnTo>
                        <a:lnTo>
                          <a:pt x="142" y="12"/>
                        </a:lnTo>
                        <a:lnTo>
                          <a:pt x="136" y="19"/>
                        </a:lnTo>
                        <a:lnTo>
                          <a:pt x="133" y="22"/>
                        </a:lnTo>
                        <a:lnTo>
                          <a:pt x="129" y="22"/>
                        </a:lnTo>
                        <a:lnTo>
                          <a:pt x="129" y="22"/>
                        </a:lnTo>
                        <a:lnTo>
                          <a:pt x="96" y="22"/>
                        </a:lnTo>
                        <a:lnTo>
                          <a:pt x="96" y="22"/>
                        </a:lnTo>
                        <a:lnTo>
                          <a:pt x="90" y="22"/>
                        </a:lnTo>
                        <a:lnTo>
                          <a:pt x="86" y="19"/>
                        </a:lnTo>
                        <a:lnTo>
                          <a:pt x="81" y="17"/>
                        </a:lnTo>
                        <a:lnTo>
                          <a:pt x="78" y="15"/>
                        </a:lnTo>
                        <a:lnTo>
                          <a:pt x="78" y="15"/>
                        </a:lnTo>
                        <a:lnTo>
                          <a:pt x="65" y="30"/>
                        </a:lnTo>
                        <a:lnTo>
                          <a:pt x="56" y="45"/>
                        </a:lnTo>
                        <a:lnTo>
                          <a:pt x="40" y="71"/>
                        </a:lnTo>
                        <a:lnTo>
                          <a:pt x="31" y="84"/>
                        </a:lnTo>
                        <a:lnTo>
                          <a:pt x="22" y="95"/>
                        </a:lnTo>
                        <a:lnTo>
                          <a:pt x="13" y="104"/>
                        </a:lnTo>
                        <a:lnTo>
                          <a:pt x="7" y="109"/>
                        </a:lnTo>
                        <a:lnTo>
                          <a:pt x="0" y="114"/>
                        </a:lnTo>
                        <a:lnTo>
                          <a:pt x="0" y="114"/>
                        </a:lnTo>
                        <a:lnTo>
                          <a:pt x="14" y="117"/>
                        </a:lnTo>
                        <a:lnTo>
                          <a:pt x="25" y="120"/>
                        </a:lnTo>
                        <a:lnTo>
                          <a:pt x="33" y="125"/>
                        </a:lnTo>
                        <a:lnTo>
                          <a:pt x="40" y="131"/>
                        </a:lnTo>
                        <a:lnTo>
                          <a:pt x="44" y="138"/>
                        </a:lnTo>
                        <a:lnTo>
                          <a:pt x="50" y="145"/>
                        </a:lnTo>
                        <a:lnTo>
                          <a:pt x="59" y="162"/>
                        </a:lnTo>
                        <a:lnTo>
                          <a:pt x="59" y="162"/>
                        </a:lnTo>
                        <a:lnTo>
                          <a:pt x="61" y="165"/>
                        </a:lnTo>
                        <a:lnTo>
                          <a:pt x="65" y="169"/>
                        </a:lnTo>
                        <a:lnTo>
                          <a:pt x="73" y="175"/>
                        </a:lnTo>
                        <a:lnTo>
                          <a:pt x="81" y="179"/>
                        </a:lnTo>
                        <a:lnTo>
                          <a:pt x="91" y="184"/>
                        </a:lnTo>
                        <a:lnTo>
                          <a:pt x="99" y="191"/>
                        </a:lnTo>
                        <a:lnTo>
                          <a:pt x="104" y="195"/>
                        </a:lnTo>
                        <a:lnTo>
                          <a:pt x="107" y="200"/>
                        </a:lnTo>
                        <a:lnTo>
                          <a:pt x="110" y="207"/>
                        </a:lnTo>
                        <a:lnTo>
                          <a:pt x="112" y="214"/>
                        </a:lnTo>
                        <a:lnTo>
                          <a:pt x="114" y="222"/>
                        </a:lnTo>
                        <a:lnTo>
                          <a:pt x="114" y="231"/>
                        </a:lnTo>
                        <a:lnTo>
                          <a:pt x="114" y="231"/>
                        </a:lnTo>
                        <a:lnTo>
                          <a:pt x="113" y="237"/>
                        </a:lnTo>
                        <a:lnTo>
                          <a:pt x="112" y="241"/>
                        </a:lnTo>
                        <a:lnTo>
                          <a:pt x="107" y="252"/>
                        </a:lnTo>
                        <a:lnTo>
                          <a:pt x="102" y="263"/>
                        </a:lnTo>
                        <a:lnTo>
                          <a:pt x="101" y="269"/>
                        </a:lnTo>
                        <a:lnTo>
                          <a:pt x="99" y="276"/>
                        </a:lnTo>
                        <a:lnTo>
                          <a:pt x="99" y="276"/>
                        </a:lnTo>
                        <a:lnTo>
                          <a:pt x="101" y="284"/>
                        </a:lnTo>
                        <a:lnTo>
                          <a:pt x="102" y="292"/>
                        </a:lnTo>
                        <a:lnTo>
                          <a:pt x="104" y="299"/>
                        </a:lnTo>
                        <a:lnTo>
                          <a:pt x="107" y="305"/>
                        </a:lnTo>
                        <a:lnTo>
                          <a:pt x="111" y="310"/>
                        </a:lnTo>
                        <a:lnTo>
                          <a:pt x="114" y="315"/>
                        </a:lnTo>
                        <a:lnTo>
                          <a:pt x="124" y="323"/>
                        </a:lnTo>
                        <a:lnTo>
                          <a:pt x="133" y="332"/>
                        </a:lnTo>
                        <a:lnTo>
                          <a:pt x="136" y="337"/>
                        </a:lnTo>
                        <a:lnTo>
                          <a:pt x="140" y="341"/>
                        </a:lnTo>
                        <a:lnTo>
                          <a:pt x="143" y="347"/>
                        </a:lnTo>
                        <a:lnTo>
                          <a:pt x="145" y="354"/>
                        </a:lnTo>
                        <a:lnTo>
                          <a:pt x="147" y="362"/>
                        </a:lnTo>
                        <a:lnTo>
                          <a:pt x="148" y="371"/>
                        </a:lnTo>
                        <a:lnTo>
                          <a:pt x="148" y="371"/>
                        </a:lnTo>
                        <a:lnTo>
                          <a:pt x="147" y="376"/>
                        </a:lnTo>
                        <a:lnTo>
                          <a:pt x="144" y="381"/>
                        </a:lnTo>
                        <a:lnTo>
                          <a:pt x="136" y="389"/>
                        </a:lnTo>
                        <a:lnTo>
                          <a:pt x="133" y="392"/>
                        </a:lnTo>
                        <a:lnTo>
                          <a:pt x="129" y="397"/>
                        </a:lnTo>
                        <a:lnTo>
                          <a:pt x="127" y="401"/>
                        </a:lnTo>
                        <a:lnTo>
                          <a:pt x="126" y="407"/>
                        </a:lnTo>
                        <a:lnTo>
                          <a:pt x="126" y="407"/>
                        </a:lnTo>
                        <a:lnTo>
                          <a:pt x="126" y="412"/>
                        </a:lnTo>
                        <a:lnTo>
                          <a:pt x="127" y="415"/>
                        </a:lnTo>
                        <a:lnTo>
                          <a:pt x="128" y="417"/>
                        </a:lnTo>
                        <a:lnTo>
                          <a:pt x="130" y="420"/>
                        </a:lnTo>
                        <a:lnTo>
                          <a:pt x="135" y="422"/>
                        </a:lnTo>
                        <a:lnTo>
                          <a:pt x="141" y="422"/>
                        </a:lnTo>
                        <a:lnTo>
                          <a:pt x="141" y="422"/>
                        </a:lnTo>
                        <a:lnTo>
                          <a:pt x="144" y="422"/>
                        </a:lnTo>
                        <a:lnTo>
                          <a:pt x="148" y="420"/>
                        </a:lnTo>
                        <a:lnTo>
                          <a:pt x="152" y="413"/>
                        </a:lnTo>
                        <a:lnTo>
                          <a:pt x="158" y="407"/>
                        </a:lnTo>
                        <a:lnTo>
                          <a:pt x="162" y="405"/>
                        </a:lnTo>
                        <a:lnTo>
                          <a:pt x="165" y="404"/>
                        </a:lnTo>
                        <a:lnTo>
                          <a:pt x="165" y="404"/>
                        </a:lnTo>
                        <a:lnTo>
                          <a:pt x="199" y="404"/>
                        </a:lnTo>
                        <a:lnTo>
                          <a:pt x="199" y="404"/>
                        </a:lnTo>
                        <a:lnTo>
                          <a:pt x="204" y="404"/>
                        </a:lnTo>
                        <a:lnTo>
                          <a:pt x="210" y="402"/>
                        </a:lnTo>
                        <a:lnTo>
                          <a:pt x="223" y="399"/>
                        </a:lnTo>
                        <a:lnTo>
                          <a:pt x="235" y="394"/>
                        </a:lnTo>
                        <a:lnTo>
                          <a:pt x="242" y="393"/>
                        </a:lnTo>
                        <a:lnTo>
                          <a:pt x="250" y="393"/>
                        </a:lnTo>
                        <a:lnTo>
                          <a:pt x="250" y="393"/>
                        </a:lnTo>
                        <a:lnTo>
                          <a:pt x="257" y="393"/>
                        </a:lnTo>
                        <a:lnTo>
                          <a:pt x="263" y="394"/>
                        </a:lnTo>
                        <a:lnTo>
                          <a:pt x="273" y="399"/>
                        </a:lnTo>
                        <a:lnTo>
                          <a:pt x="283" y="402"/>
                        </a:lnTo>
                        <a:lnTo>
                          <a:pt x="290" y="404"/>
                        </a:lnTo>
                        <a:lnTo>
                          <a:pt x="297" y="404"/>
                        </a:lnTo>
                        <a:lnTo>
                          <a:pt x="297" y="404"/>
                        </a:lnTo>
                        <a:lnTo>
                          <a:pt x="312" y="404"/>
                        </a:lnTo>
                        <a:lnTo>
                          <a:pt x="324" y="400"/>
                        </a:lnTo>
                        <a:lnTo>
                          <a:pt x="333" y="394"/>
                        </a:lnTo>
                        <a:lnTo>
                          <a:pt x="341" y="387"/>
                        </a:lnTo>
                        <a:lnTo>
                          <a:pt x="347" y="379"/>
                        </a:lnTo>
                        <a:lnTo>
                          <a:pt x="350" y="368"/>
                        </a:lnTo>
                        <a:lnTo>
                          <a:pt x="353" y="356"/>
                        </a:lnTo>
                        <a:lnTo>
                          <a:pt x="353" y="341"/>
                        </a:lnTo>
                        <a:lnTo>
                          <a:pt x="353" y="341"/>
                        </a:lnTo>
                        <a:lnTo>
                          <a:pt x="353" y="333"/>
                        </a:lnTo>
                        <a:lnTo>
                          <a:pt x="350" y="324"/>
                        </a:lnTo>
                        <a:lnTo>
                          <a:pt x="348" y="317"/>
                        </a:lnTo>
                        <a:lnTo>
                          <a:pt x="343" y="309"/>
                        </a:lnTo>
                        <a:lnTo>
                          <a:pt x="334" y="294"/>
                        </a:lnTo>
                        <a:lnTo>
                          <a:pt x="324" y="280"/>
                        </a:lnTo>
                        <a:lnTo>
                          <a:pt x="313" y="265"/>
                        </a:lnTo>
                        <a:lnTo>
                          <a:pt x="303" y="249"/>
                        </a:lnTo>
                        <a:lnTo>
                          <a:pt x="300" y="241"/>
                        </a:lnTo>
                        <a:lnTo>
                          <a:pt x="297" y="232"/>
                        </a:lnTo>
                        <a:lnTo>
                          <a:pt x="295" y="223"/>
                        </a:lnTo>
                        <a:lnTo>
                          <a:pt x="294" y="213"/>
                        </a:lnTo>
                        <a:lnTo>
                          <a:pt x="294" y="213"/>
                        </a:lnTo>
                        <a:lnTo>
                          <a:pt x="295" y="206"/>
                        </a:lnTo>
                        <a:lnTo>
                          <a:pt x="296" y="198"/>
                        </a:lnTo>
                        <a:lnTo>
                          <a:pt x="297" y="192"/>
                        </a:lnTo>
                        <a:lnTo>
                          <a:pt x="301" y="185"/>
                        </a:lnTo>
                        <a:lnTo>
                          <a:pt x="307" y="175"/>
                        </a:lnTo>
                        <a:lnTo>
                          <a:pt x="315" y="164"/>
                        </a:lnTo>
                        <a:lnTo>
                          <a:pt x="332" y="146"/>
                        </a:lnTo>
                        <a:lnTo>
                          <a:pt x="340" y="137"/>
                        </a:lnTo>
                        <a:lnTo>
                          <a:pt x="346" y="125"/>
                        </a:lnTo>
                        <a:lnTo>
                          <a:pt x="346" y="125"/>
                        </a:lnTo>
                        <a:lnTo>
                          <a:pt x="349" y="114"/>
                        </a:lnTo>
                        <a:lnTo>
                          <a:pt x="349" y="114"/>
                        </a:lnTo>
                        <a:close/>
                      </a:path>
                    </a:pathLst>
                  </a:custGeom>
                  <a:noFill/>
                  <a:ln w="9525" cap="flat" cmpd="sng" algn="ctr">
                    <a:noFill/>
                    <a:prstDash val="solid"/>
                    <a:headEnd/>
                    <a:tailEnd/>
                  </a:ln>
                  <a:effectLst/>
                </p:spPr>
                <p:txBody>
                  <a:bodyPr lIns="0" tIns="23006" rIns="0" bIns="0" anchor="ctr" anchorCtr="1"/>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indent="-171438" defTabSz="316493">
                      <a:lnSpc>
                        <a:spcPct val="90000"/>
                      </a:lnSpc>
                      <a:spcAft>
                        <a:spcPts val="575"/>
                      </a:spcAft>
                      <a:defRPr/>
                    </a:pPr>
                    <a:endParaRPr lang="ru-RU" sz="600" b="1" kern="0" dirty="0">
                      <a:solidFill>
                        <a:srgbClr val="53505E"/>
                      </a:solidFill>
                      <a:latin typeface="+mn-lt"/>
                      <a:cs typeface="Arial" panose="020B0604020202020204" pitchFamily="34" charset="0"/>
                    </a:endParaRPr>
                  </a:p>
                </p:txBody>
              </p:sp>
              <p:sp>
                <p:nvSpPr>
                  <p:cNvPr id="222" name="Freeform 134"/>
                  <p:cNvSpPr>
                    <a:spLocks/>
                  </p:cNvSpPr>
                  <p:nvPr/>
                </p:nvSpPr>
                <p:spPr bwMode="auto">
                  <a:xfrm rot="536518">
                    <a:off x="4668586" y="2111647"/>
                    <a:ext cx="744557" cy="443054"/>
                  </a:xfrm>
                  <a:custGeom>
                    <a:avLst/>
                    <a:gdLst/>
                    <a:ahLst/>
                    <a:cxnLst>
                      <a:cxn ang="0">
                        <a:pos x="1175" y="663"/>
                      </a:cxn>
                      <a:cxn ang="0">
                        <a:pos x="1042" y="755"/>
                      </a:cxn>
                      <a:cxn ang="0">
                        <a:pos x="958" y="779"/>
                      </a:cxn>
                      <a:cxn ang="0">
                        <a:pos x="664" y="642"/>
                      </a:cxn>
                      <a:cxn ang="0">
                        <a:pos x="508" y="528"/>
                      </a:cxn>
                      <a:cxn ang="0">
                        <a:pos x="453" y="501"/>
                      </a:cxn>
                      <a:cxn ang="0">
                        <a:pos x="337" y="524"/>
                      </a:cxn>
                      <a:cxn ang="0">
                        <a:pos x="217" y="519"/>
                      </a:cxn>
                      <a:cxn ang="0">
                        <a:pos x="171" y="494"/>
                      </a:cxn>
                      <a:cxn ang="0">
                        <a:pos x="116" y="508"/>
                      </a:cxn>
                      <a:cxn ang="0">
                        <a:pos x="85" y="451"/>
                      </a:cxn>
                      <a:cxn ang="0">
                        <a:pos x="16" y="357"/>
                      </a:cxn>
                      <a:cxn ang="0">
                        <a:pos x="9" y="290"/>
                      </a:cxn>
                      <a:cxn ang="0">
                        <a:pos x="37" y="282"/>
                      </a:cxn>
                      <a:cxn ang="0">
                        <a:pos x="67" y="236"/>
                      </a:cxn>
                      <a:cxn ang="0">
                        <a:pos x="45" y="188"/>
                      </a:cxn>
                      <a:cxn ang="0">
                        <a:pos x="85" y="142"/>
                      </a:cxn>
                      <a:cxn ang="0">
                        <a:pos x="162" y="80"/>
                      </a:cxn>
                      <a:cxn ang="0">
                        <a:pos x="164" y="6"/>
                      </a:cxn>
                      <a:cxn ang="0">
                        <a:pos x="205" y="42"/>
                      </a:cxn>
                      <a:cxn ang="0">
                        <a:pos x="263" y="124"/>
                      </a:cxn>
                      <a:cxn ang="0">
                        <a:pos x="256" y="205"/>
                      </a:cxn>
                      <a:cxn ang="0">
                        <a:pos x="195" y="200"/>
                      </a:cxn>
                      <a:cxn ang="0">
                        <a:pos x="140" y="200"/>
                      </a:cxn>
                      <a:cxn ang="0">
                        <a:pos x="117" y="230"/>
                      </a:cxn>
                      <a:cxn ang="0">
                        <a:pos x="129" y="326"/>
                      </a:cxn>
                      <a:cxn ang="0">
                        <a:pos x="183" y="374"/>
                      </a:cxn>
                      <a:cxn ang="0">
                        <a:pos x="230" y="330"/>
                      </a:cxn>
                      <a:cxn ang="0">
                        <a:pos x="316" y="288"/>
                      </a:cxn>
                      <a:cxn ang="0">
                        <a:pos x="450" y="296"/>
                      </a:cxn>
                      <a:cxn ang="0">
                        <a:pos x="549" y="320"/>
                      </a:cxn>
                      <a:cxn ang="0">
                        <a:pos x="577" y="325"/>
                      </a:cxn>
                      <a:cxn ang="0">
                        <a:pos x="676" y="291"/>
                      </a:cxn>
                      <a:cxn ang="0">
                        <a:pos x="686" y="310"/>
                      </a:cxn>
                      <a:cxn ang="0">
                        <a:pos x="633" y="345"/>
                      </a:cxn>
                      <a:cxn ang="0">
                        <a:pos x="594" y="364"/>
                      </a:cxn>
                      <a:cxn ang="0">
                        <a:pos x="629" y="393"/>
                      </a:cxn>
                      <a:cxn ang="0">
                        <a:pos x="667" y="418"/>
                      </a:cxn>
                      <a:cxn ang="0">
                        <a:pos x="709" y="408"/>
                      </a:cxn>
                      <a:cxn ang="0">
                        <a:pos x="809" y="433"/>
                      </a:cxn>
                      <a:cxn ang="0">
                        <a:pos x="933" y="418"/>
                      </a:cxn>
                      <a:cxn ang="0">
                        <a:pos x="936" y="459"/>
                      </a:cxn>
                      <a:cxn ang="0">
                        <a:pos x="901" y="496"/>
                      </a:cxn>
                      <a:cxn ang="0">
                        <a:pos x="910" y="543"/>
                      </a:cxn>
                      <a:cxn ang="0">
                        <a:pos x="946" y="519"/>
                      </a:cxn>
                      <a:cxn ang="0">
                        <a:pos x="957" y="478"/>
                      </a:cxn>
                      <a:cxn ang="0">
                        <a:pos x="1017" y="485"/>
                      </a:cxn>
                      <a:cxn ang="0">
                        <a:pos x="1023" y="421"/>
                      </a:cxn>
                      <a:cxn ang="0">
                        <a:pos x="1017" y="365"/>
                      </a:cxn>
                      <a:cxn ang="0">
                        <a:pos x="1060" y="344"/>
                      </a:cxn>
                      <a:cxn ang="0">
                        <a:pos x="1110" y="380"/>
                      </a:cxn>
                      <a:cxn ang="0">
                        <a:pos x="1230" y="460"/>
                      </a:cxn>
                      <a:cxn ang="0">
                        <a:pos x="1241" y="513"/>
                      </a:cxn>
                      <a:cxn ang="0">
                        <a:pos x="1213" y="566"/>
                      </a:cxn>
                      <a:cxn ang="0">
                        <a:pos x="1241" y="631"/>
                      </a:cxn>
                      <a:cxn ang="0">
                        <a:pos x="1237" y="649"/>
                      </a:cxn>
                    </a:cxnLst>
                    <a:rect l="0" t="0" r="r" b="b"/>
                    <a:pathLst>
                      <a:path w="1252" h="779">
                        <a:moveTo>
                          <a:pt x="1237" y="649"/>
                        </a:moveTo>
                        <a:lnTo>
                          <a:pt x="1237" y="649"/>
                        </a:lnTo>
                        <a:lnTo>
                          <a:pt x="1225" y="650"/>
                        </a:lnTo>
                        <a:lnTo>
                          <a:pt x="1215" y="651"/>
                        </a:lnTo>
                        <a:lnTo>
                          <a:pt x="1205" y="654"/>
                        </a:lnTo>
                        <a:lnTo>
                          <a:pt x="1194" y="656"/>
                        </a:lnTo>
                        <a:lnTo>
                          <a:pt x="1175" y="663"/>
                        </a:lnTo>
                        <a:lnTo>
                          <a:pt x="1156" y="672"/>
                        </a:lnTo>
                        <a:lnTo>
                          <a:pt x="1139" y="683"/>
                        </a:lnTo>
                        <a:lnTo>
                          <a:pt x="1123" y="694"/>
                        </a:lnTo>
                        <a:lnTo>
                          <a:pt x="1091" y="719"/>
                        </a:lnTo>
                        <a:lnTo>
                          <a:pt x="1075" y="732"/>
                        </a:lnTo>
                        <a:lnTo>
                          <a:pt x="1060" y="744"/>
                        </a:lnTo>
                        <a:lnTo>
                          <a:pt x="1042" y="755"/>
                        </a:lnTo>
                        <a:lnTo>
                          <a:pt x="1026" y="764"/>
                        </a:lnTo>
                        <a:lnTo>
                          <a:pt x="1008" y="771"/>
                        </a:lnTo>
                        <a:lnTo>
                          <a:pt x="999" y="775"/>
                        </a:lnTo>
                        <a:lnTo>
                          <a:pt x="989" y="777"/>
                        </a:lnTo>
                        <a:lnTo>
                          <a:pt x="979" y="778"/>
                        </a:lnTo>
                        <a:lnTo>
                          <a:pt x="969" y="779"/>
                        </a:lnTo>
                        <a:lnTo>
                          <a:pt x="958" y="779"/>
                        </a:lnTo>
                        <a:lnTo>
                          <a:pt x="948" y="778"/>
                        </a:lnTo>
                        <a:lnTo>
                          <a:pt x="948" y="778"/>
                        </a:lnTo>
                        <a:lnTo>
                          <a:pt x="928" y="770"/>
                        </a:lnTo>
                        <a:lnTo>
                          <a:pt x="893" y="754"/>
                        </a:lnTo>
                        <a:lnTo>
                          <a:pt x="785" y="702"/>
                        </a:lnTo>
                        <a:lnTo>
                          <a:pt x="724" y="672"/>
                        </a:lnTo>
                        <a:lnTo>
                          <a:pt x="664" y="642"/>
                        </a:lnTo>
                        <a:lnTo>
                          <a:pt x="611" y="615"/>
                        </a:lnTo>
                        <a:lnTo>
                          <a:pt x="569" y="591"/>
                        </a:lnTo>
                        <a:lnTo>
                          <a:pt x="569" y="591"/>
                        </a:lnTo>
                        <a:lnTo>
                          <a:pt x="560" y="585"/>
                        </a:lnTo>
                        <a:lnTo>
                          <a:pt x="552" y="578"/>
                        </a:lnTo>
                        <a:lnTo>
                          <a:pt x="537" y="562"/>
                        </a:lnTo>
                        <a:lnTo>
                          <a:pt x="508" y="528"/>
                        </a:lnTo>
                        <a:lnTo>
                          <a:pt x="501" y="521"/>
                        </a:lnTo>
                        <a:lnTo>
                          <a:pt x="493" y="515"/>
                        </a:lnTo>
                        <a:lnTo>
                          <a:pt x="487" y="509"/>
                        </a:lnTo>
                        <a:lnTo>
                          <a:pt x="478" y="504"/>
                        </a:lnTo>
                        <a:lnTo>
                          <a:pt x="470" y="502"/>
                        </a:lnTo>
                        <a:lnTo>
                          <a:pt x="462" y="500"/>
                        </a:lnTo>
                        <a:lnTo>
                          <a:pt x="453" y="501"/>
                        </a:lnTo>
                        <a:lnTo>
                          <a:pt x="444" y="503"/>
                        </a:lnTo>
                        <a:lnTo>
                          <a:pt x="444" y="503"/>
                        </a:lnTo>
                        <a:lnTo>
                          <a:pt x="423" y="510"/>
                        </a:lnTo>
                        <a:lnTo>
                          <a:pt x="403" y="516"/>
                        </a:lnTo>
                        <a:lnTo>
                          <a:pt x="382" y="519"/>
                        </a:lnTo>
                        <a:lnTo>
                          <a:pt x="360" y="521"/>
                        </a:lnTo>
                        <a:lnTo>
                          <a:pt x="337" y="524"/>
                        </a:lnTo>
                        <a:lnTo>
                          <a:pt x="314" y="524"/>
                        </a:lnTo>
                        <a:lnTo>
                          <a:pt x="264" y="525"/>
                        </a:lnTo>
                        <a:lnTo>
                          <a:pt x="264" y="525"/>
                        </a:lnTo>
                        <a:lnTo>
                          <a:pt x="251" y="524"/>
                        </a:lnTo>
                        <a:lnTo>
                          <a:pt x="239" y="524"/>
                        </a:lnTo>
                        <a:lnTo>
                          <a:pt x="228" y="521"/>
                        </a:lnTo>
                        <a:lnTo>
                          <a:pt x="217" y="519"/>
                        </a:lnTo>
                        <a:lnTo>
                          <a:pt x="208" y="515"/>
                        </a:lnTo>
                        <a:lnTo>
                          <a:pt x="200" y="509"/>
                        </a:lnTo>
                        <a:lnTo>
                          <a:pt x="193" y="502"/>
                        </a:lnTo>
                        <a:lnTo>
                          <a:pt x="187" y="492"/>
                        </a:lnTo>
                        <a:lnTo>
                          <a:pt x="187" y="492"/>
                        </a:lnTo>
                        <a:lnTo>
                          <a:pt x="179" y="493"/>
                        </a:lnTo>
                        <a:lnTo>
                          <a:pt x="171" y="494"/>
                        </a:lnTo>
                        <a:lnTo>
                          <a:pt x="156" y="501"/>
                        </a:lnTo>
                        <a:lnTo>
                          <a:pt x="140" y="507"/>
                        </a:lnTo>
                        <a:lnTo>
                          <a:pt x="133" y="509"/>
                        </a:lnTo>
                        <a:lnTo>
                          <a:pt x="125" y="510"/>
                        </a:lnTo>
                        <a:lnTo>
                          <a:pt x="125" y="510"/>
                        </a:lnTo>
                        <a:lnTo>
                          <a:pt x="121" y="509"/>
                        </a:lnTo>
                        <a:lnTo>
                          <a:pt x="116" y="508"/>
                        </a:lnTo>
                        <a:lnTo>
                          <a:pt x="113" y="507"/>
                        </a:lnTo>
                        <a:lnTo>
                          <a:pt x="109" y="504"/>
                        </a:lnTo>
                        <a:lnTo>
                          <a:pt x="103" y="497"/>
                        </a:lnTo>
                        <a:lnTo>
                          <a:pt x="99" y="489"/>
                        </a:lnTo>
                        <a:lnTo>
                          <a:pt x="92" y="470"/>
                        </a:lnTo>
                        <a:lnTo>
                          <a:pt x="88" y="459"/>
                        </a:lnTo>
                        <a:lnTo>
                          <a:pt x="85" y="451"/>
                        </a:lnTo>
                        <a:lnTo>
                          <a:pt x="85" y="451"/>
                        </a:lnTo>
                        <a:lnTo>
                          <a:pt x="80" y="441"/>
                        </a:lnTo>
                        <a:lnTo>
                          <a:pt x="75" y="432"/>
                        </a:lnTo>
                        <a:lnTo>
                          <a:pt x="62" y="414"/>
                        </a:lnTo>
                        <a:lnTo>
                          <a:pt x="35" y="383"/>
                        </a:lnTo>
                        <a:lnTo>
                          <a:pt x="22" y="366"/>
                        </a:lnTo>
                        <a:lnTo>
                          <a:pt x="16" y="357"/>
                        </a:lnTo>
                        <a:lnTo>
                          <a:pt x="11" y="348"/>
                        </a:lnTo>
                        <a:lnTo>
                          <a:pt x="7" y="336"/>
                        </a:lnTo>
                        <a:lnTo>
                          <a:pt x="3" y="325"/>
                        </a:lnTo>
                        <a:lnTo>
                          <a:pt x="1" y="311"/>
                        </a:lnTo>
                        <a:lnTo>
                          <a:pt x="0" y="297"/>
                        </a:lnTo>
                        <a:lnTo>
                          <a:pt x="0" y="297"/>
                        </a:lnTo>
                        <a:lnTo>
                          <a:pt x="9" y="290"/>
                        </a:lnTo>
                        <a:lnTo>
                          <a:pt x="16" y="286"/>
                        </a:lnTo>
                        <a:lnTo>
                          <a:pt x="23" y="283"/>
                        </a:lnTo>
                        <a:lnTo>
                          <a:pt x="27" y="282"/>
                        </a:lnTo>
                        <a:lnTo>
                          <a:pt x="34" y="283"/>
                        </a:lnTo>
                        <a:lnTo>
                          <a:pt x="37" y="283"/>
                        </a:lnTo>
                        <a:lnTo>
                          <a:pt x="37" y="282"/>
                        </a:lnTo>
                        <a:lnTo>
                          <a:pt x="37" y="282"/>
                        </a:lnTo>
                        <a:lnTo>
                          <a:pt x="52" y="271"/>
                        </a:lnTo>
                        <a:lnTo>
                          <a:pt x="61" y="261"/>
                        </a:lnTo>
                        <a:lnTo>
                          <a:pt x="64" y="257"/>
                        </a:lnTo>
                        <a:lnTo>
                          <a:pt x="67" y="252"/>
                        </a:lnTo>
                        <a:lnTo>
                          <a:pt x="68" y="248"/>
                        </a:lnTo>
                        <a:lnTo>
                          <a:pt x="68" y="243"/>
                        </a:lnTo>
                        <a:lnTo>
                          <a:pt x="67" y="236"/>
                        </a:lnTo>
                        <a:lnTo>
                          <a:pt x="64" y="228"/>
                        </a:lnTo>
                        <a:lnTo>
                          <a:pt x="60" y="221"/>
                        </a:lnTo>
                        <a:lnTo>
                          <a:pt x="55" y="214"/>
                        </a:lnTo>
                        <a:lnTo>
                          <a:pt x="50" y="206"/>
                        </a:lnTo>
                        <a:lnTo>
                          <a:pt x="47" y="199"/>
                        </a:lnTo>
                        <a:lnTo>
                          <a:pt x="45" y="191"/>
                        </a:lnTo>
                        <a:lnTo>
                          <a:pt x="45" y="188"/>
                        </a:lnTo>
                        <a:lnTo>
                          <a:pt x="45" y="183"/>
                        </a:lnTo>
                        <a:lnTo>
                          <a:pt x="46" y="179"/>
                        </a:lnTo>
                        <a:lnTo>
                          <a:pt x="48" y="174"/>
                        </a:lnTo>
                        <a:lnTo>
                          <a:pt x="52" y="169"/>
                        </a:lnTo>
                        <a:lnTo>
                          <a:pt x="55" y="165"/>
                        </a:lnTo>
                        <a:lnTo>
                          <a:pt x="68" y="154"/>
                        </a:lnTo>
                        <a:lnTo>
                          <a:pt x="85" y="142"/>
                        </a:lnTo>
                        <a:lnTo>
                          <a:pt x="85" y="142"/>
                        </a:lnTo>
                        <a:lnTo>
                          <a:pt x="119" y="120"/>
                        </a:lnTo>
                        <a:lnTo>
                          <a:pt x="132" y="111"/>
                        </a:lnTo>
                        <a:lnTo>
                          <a:pt x="142" y="101"/>
                        </a:lnTo>
                        <a:lnTo>
                          <a:pt x="151" y="95"/>
                        </a:lnTo>
                        <a:lnTo>
                          <a:pt x="157" y="86"/>
                        </a:lnTo>
                        <a:lnTo>
                          <a:pt x="162" y="80"/>
                        </a:lnTo>
                        <a:lnTo>
                          <a:pt x="164" y="73"/>
                        </a:lnTo>
                        <a:lnTo>
                          <a:pt x="167" y="66"/>
                        </a:lnTo>
                        <a:lnTo>
                          <a:pt x="167" y="59"/>
                        </a:lnTo>
                        <a:lnTo>
                          <a:pt x="167" y="45"/>
                        </a:lnTo>
                        <a:lnTo>
                          <a:pt x="165" y="28"/>
                        </a:lnTo>
                        <a:lnTo>
                          <a:pt x="164" y="6"/>
                        </a:lnTo>
                        <a:lnTo>
                          <a:pt x="164" y="6"/>
                        </a:lnTo>
                        <a:lnTo>
                          <a:pt x="165" y="2"/>
                        </a:lnTo>
                        <a:lnTo>
                          <a:pt x="167" y="0"/>
                        </a:lnTo>
                        <a:lnTo>
                          <a:pt x="169" y="0"/>
                        </a:lnTo>
                        <a:lnTo>
                          <a:pt x="172" y="2"/>
                        </a:lnTo>
                        <a:lnTo>
                          <a:pt x="180" y="12"/>
                        </a:lnTo>
                        <a:lnTo>
                          <a:pt x="191" y="26"/>
                        </a:lnTo>
                        <a:lnTo>
                          <a:pt x="205" y="42"/>
                        </a:lnTo>
                        <a:lnTo>
                          <a:pt x="220" y="59"/>
                        </a:lnTo>
                        <a:lnTo>
                          <a:pt x="236" y="75"/>
                        </a:lnTo>
                        <a:lnTo>
                          <a:pt x="244" y="82"/>
                        </a:lnTo>
                        <a:lnTo>
                          <a:pt x="253" y="88"/>
                        </a:lnTo>
                        <a:lnTo>
                          <a:pt x="253" y="88"/>
                        </a:lnTo>
                        <a:lnTo>
                          <a:pt x="259" y="104"/>
                        </a:lnTo>
                        <a:lnTo>
                          <a:pt x="263" y="124"/>
                        </a:lnTo>
                        <a:lnTo>
                          <a:pt x="266" y="147"/>
                        </a:lnTo>
                        <a:lnTo>
                          <a:pt x="267" y="159"/>
                        </a:lnTo>
                        <a:lnTo>
                          <a:pt x="267" y="170"/>
                        </a:lnTo>
                        <a:lnTo>
                          <a:pt x="266" y="181"/>
                        </a:lnTo>
                        <a:lnTo>
                          <a:pt x="263" y="190"/>
                        </a:lnTo>
                        <a:lnTo>
                          <a:pt x="261" y="199"/>
                        </a:lnTo>
                        <a:lnTo>
                          <a:pt x="256" y="205"/>
                        </a:lnTo>
                        <a:lnTo>
                          <a:pt x="252" y="211"/>
                        </a:lnTo>
                        <a:lnTo>
                          <a:pt x="245" y="213"/>
                        </a:lnTo>
                        <a:lnTo>
                          <a:pt x="237" y="214"/>
                        </a:lnTo>
                        <a:lnTo>
                          <a:pt x="228" y="212"/>
                        </a:lnTo>
                        <a:lnTo>
                          <a:pt x="228" y="212"/>
                        </a:lnTo>
                        <a:lnTo>
                          <a:pt x="210" y="205"/>
                        </a:lnTo>
                        <a:lnTo>
                          <a:pt x="195" y="200"/>
                        </a:lnTo>
                        <a:lnTo>
                          <a:pt x="183" y="197"/>
                        </a:lnTo>
                        <a:lnTo>
                          <a:pt x="172" y="195"/>
                        </a:lnTo>
                        <a:lnTo>
                          <a:pt x="163" y="195"/>
                        </a:lnTo>
                        <a:lnTo>
                          <a:pt x="155" y="195"/>
                        </a:lnTo>
                        <a:lnTo>
                          <a:pt x="149" y="196"/>
                        </a:lnTo>
                        <a:lnTo>
                          <a:pt x="145" y="198"/>
                        </a:lnTo>
                        <a:lnTo>
                          <a:pt x="140" y="200"/>
                        </a:lnTo>
                        <a:lnTo>
                          <a:pt x="137" y="204"/>
                        </a:lnTo>
                        <a:lnTo>
                          <a:pt x="130" y="210"/>
                        </a:lnTo>
                        <a:lnTo>
                          <a:pt x="123" y="215"/>
                        </a:lnTo>
                        <a:lnTo>
                          <a:pt x="118" y="218"/>
                        </a:lnTo>
                        <a:lnTo>
                          <a:pt x="114" y="220"/>
                        </a:lnTo>
                        <a:lnTo>
                          <a:pt x="114" y="220"/>
                        </a:lnTo>
                        <a:lnTo>
                          <a:pt x="117" y="230"/>
                        </a:lnTo>
                        <a:lnTo>
                          <a:pt x="122" y="241"/>
                        </a:lnTo>
                        <a:lnTo>
                          <a:pt x="125" y="256"/>
                        </a:lnTo>
                        <a:lnTo>
                          <a:pt x="129" y="272"/>
                        </a:lnTo>
                        <a:lnTo>
                          <a:pt x="131" y="290"/>
                        </a:lnTo>
                        <a:lnTo>
                          <a:pt x="131" y="309"/>
                        </a:lnTo>
                        <a:lnTo>
                          <a:pt x="130" y="318"/>
                        </a:lnTo>
                        <a:lnTo>
                          <a:pt x="129" y="326"/>
                        </a:lnTo>
                        <a:lnTo>
                          <a:pt x="129" y="326"/>
                        </a:lnTo>
                        <a:lnTo>
                          <a:pt x="138" y="334"/>
                        </a:lnTo>
                        <a:lnTo>
                          <a:pt x="147" y="344"/>
                        </a:lnTo>
                        <a:lnTo>
                          <a:pt x="165" y="363"/>
                        </a:lnTo>
                        <a:lnTo>
                          <a:pt x="175" y="370"/>
                        </a:lnTo>
                        <a:lnTo>
                          <a:pt x="179" y="372"/>
                        </a:lnTo>
                        <a:lnTo>
                          <a:pt x="183" y="374"/>
                        </a:lnTo>
                        <a:lnTo>
                          <a:pt x="187" y="374"/>
                        </a:lnTo>
                        <a:lnTo>
                          <a:pt x="191" y="373"/>
                        </a:lnTo>
                        <a:lnTo>
                          <a:pt x="194" y="371"/>
                        </a:lnTo>
                        <a:lnTo>
                          <a:pt x="198" y="367"/>
                        </a:lnTo>
                        <a:lnTo>
                          <a:pt x="198" y="367"/>
                        </a:lnTo>
                        <a:lnTo>
                          <a:pt x="214" y="347"/>
                        </a:lnTo>
                        <a:lnTo>
                          <a:pt x="230" y="330"/>
                        </a:lnTo>
                        <a:lnTo>
                          <a:pt x="244" y="317"/>
                        </a:lnTo>
                        <a:lnTo>
                          <a:pt x="256" y="306"/>
                        </a:lnTo>
                        <a:lnTo>
                          <a:pt x="269" y="298"/>
                        </a:lnTo>
                        <a:lnTo>
                          <a:pt x="282" y="294"/>
                        </a:lnTo>
                        <a:lnTo>
                          <a:pt x="293" y="290"/>
                        </a:lnTo>
                        <a:lnTo>
                          <a:pt x="305" y="288"/>
                        </a:lnTo>
                        <a:lnTo>
                          <a:pt x="316" y="288"/>
                        </a:lnTo>
                        <a:lnTo>
                          <a:pt x="329" y="288"/>
                        </a:lnTo>
                        <a:lnTo>
                          <a:pt x="355" y="291"/>
                        </a:lnTo>
                        <a:lnTo>
                          <a:pt x="386" y="295"/>
                        </a:lnTo>
                        <a:lnTo>
                          <a:pt x="404" y="296"/>
                        </a:lnTo>
                        <a:lnTo>
                          <a:pt x="422" y="297"/>
                        </a:lnTo>
                        <a:lnTo>
                          <a:pt x="422" y="297"/>
                        </a:lnTo>
                        <a:lnTo>
                          <a:pt x="450" y="296"/>
                        </a:lnTo>
                        <a:lnTo>
                          <a:pt x="482" y="295"/>
                        </a:lnTo>
                        <a:lnTo>
                          <a:pt x="513" y="292"/>
                        </a:lnTo>
                        <a:lnTo>
                          <a:pt x="536" y="289"/>
                        </a:lnTo>
                        <a:lnTo>
                          <a:pt x="536" y="289"/>
                        </a:lnTo>
                        <a:lnTo>
                          <a:pt x="541" y="302"/>
                        </a:lnTo>
                        <a:lnTo>
                          <a:pt x="544" y="312"/>
                        </a:lnTo>
                        <a:lnTo>
                          <a:pt x="549" y="320"/>
                        </a:lnTo>
                        <a:lnTo>
                          <a:pt x="553" y="326"/>
                        </a:lnTo>
                        <a:lnTo>
                          <a:pt x="558" y="329"/>
                        </a:lnTo>
                        <a:lnTo>
                          <a:pt x="561" y="332"/>
                        </a:lnTo>
                        <a:lnTo>
                          <a:pt x="566" y="332"/>
                        </a:lnTo>
                        <a:lnTo>
                          <a:pt x="569" y="330"/>
                        </a:lnTo>
                        <a:lnTo>
                          <a:pt x="574" y="328"/>
                        </a:lnTo>
                        <a:lnTo>
                          <a:pt x="577" y="325"/>
                        </a:lnTo>
                        <a:lnTo>
                          <a:pt x="585" y="315"/>
                        </a:lnTo>
                        <a:lnTo>
                          <a:pt x="592" y="303"/>
                        </a:lnTo>
                        <a:lnTo>
                          <a:pt x="598" y="289"/>
                        </a:lnTo>
                        <a:lnTo>
                          <a:pt x="598" y="289"/>
                        </a:lnTo>
                        <a:lnTo>
                          <a:pt x="657" y="289"/>
                        </a:lnTo>
                        <a:lnTo>
                          <a:pt x="657" y="289"/>
                        </a:lnTo>
                        <a:lnTo>
                          <a:pt x="676" y="291"/>
                        </a:lnTo>
                        <a:lnTo>
                          <a:pt x="689" y="294"/>
                        </a:lnTo>
                        <a:lnTo>
                          <a:pt x="698" y="296"/>
                        </a:lnTo>
                        <a:lnTo>
                          <a:pt x="702" y="298"/>
                        </a:lnTo>
                        <a:lnTo>
                          <a:pt x="702" y="299"/>
                        </a:lnTo>
                        <a:lnTo>
                          <a:pt x="702" y="301"/>
                        </a:lnTo>
                        <a:lnTo>
                          <a:pt x="698" y="303"/>
                        </a:lnTo>
                        <a:lnTo>
                          <a:pt x="686" y="310"/>
                        </a:lnTo>
                        <a:lnTo>
                          <a:pt x="667" y="318"/>
                        </a:lnTo>
                        <a:lnTo>
                          <a:pt x="658" y="322"/>
                        </a:lnTo>
                        <a:lnTo>
                          <a:pt x="649" y="327"/>
                        </a:lnTo>
                        <a:lnTo>
                          <a:pt x="642" y="333"/>
                        </a:lnTo>
                        <a:lnTo>
                          <a:pt x="635" y="339"/>
                        </a:lnTo>
                        <a:lnTo>
                          <a:pt x="634" y="342"/>
                        </a:lnTo>
                        <a:lnTo>
                          <a:pt x="633" y="345"/>
                        </a:lnTo>
                        <a:lnTo>
                          <a:pt x="632" y="349"/>
                        </a:lnTo>
                        <a:lnTo>
                          <a:pt x="632" y="352"/>
                        </a:lnTo>
                        <a:lnTo>
                          <a:pt x="632" y="352"/>
                        </a:lnTo>
                        <a:lnTo>
                          <a:pt x="610" y="357"/>
                        </a:lnTo>
                        <a:lnTo>
                          <a:pt x="603" y="359"/>
                        </a:lnTo>
                        <a:lnTo>
                          <a:pt x="597" y="362"/>
                        </a:lnTo>
                        <a:lnTo>
                          <a:pt x="594" y="364"/>
                        </a:lnTo>
                        <a:lnTo>
                          <a:pt x="591" y="367"/>
                        </a:lnTo>
                        <a:lnTo>
                          <a:pt x="591" y="370"/>
                        </a:lnTo>
                        <a:lnTo>
                          <a:pt x="592" y="373"/>
                        </a:lnTo>
                        <a:lnTo>
                          <a:pt x="596" y="376"/>
                        </a:lnTo>
                        <a:lnTo>
                          <a:pt x="600" y="379"/>
                        </a:lnTo>
                        <a:lnTo>
                          <a:pt x="612" y="386"/>
                        </a:lnTo>
                        <a:lnTo>
                          <a:pt x="629" y="393"/>
                        </a:lnTo>
                        <a:lnTo>
                          <a:pt x="650" y="399"/>
                        </a:lnTo>
                        <a:lnTo>
                          <a:pt x="650" y="399"/>
                        </a:lnTo>
                        <a:lnTo>
                          <a:pt x="653" y="402"/>
                        </a:lnTo>
                        <a:lnTo>
                          <a:pt x="657" y="404"/>
                        </a:lnTo>
                        <a:lnTo>
                          <a:pt x="661" y="410"/>
                        </a:lnTo>
                        <a:lnTo>
                          <a:pt x="665" y="416"/>
                        </a:lnTo>
                        <a:lnTo>
                          <a:pt x="667" y="418"/>
                        </a:lnTo>
                        <a:lnTo>
                          <a:pt x="669" y="420"/>
                        </a:lnTo>
                        <a:lnTo>
                          <a:pt x="674" y="421"/>
                        </a:lnTo>
                        <a:lnTo>
                          <a:pt x="678" y="421"/>
                        </a:lnTo>
                        <a:lnTo>
                          <a:pt x="683" y="420"/>
                        </a:lnTo>
                        <a:lnTo>
                          <a:pt x="690" y="418"/>
                        </a:lnTo>
                        <a:lnTo>
                          <a:pt x="698" y="413"/>
                        </a:lnTo>
                        <a:lnTo>
                          <a:pt x="709" y="408"/>
                        </a:lnTo>
                        <a:lnTo>
                          <a:pt x="735" y="389"/>
                        </a:lnTo>
                        <a:lnTo>
                          <a:pt x="735" y="389"/>
                        </a:lnTo>
                        <a:lnTo>
                          <a:pt x="758" y="408"/>
                        </a:lnTo>
                        <a:lnTo>
                          <a:pt x="780" y="420"/>
                        </a:lnTo>
                        <a:lnTo>
                          <a:pt x="789" y="426"/>
                        </a:lnTo>
                        <a:lnTo>
                          <a:pt x="798" y="431"/>
                        </a:lnTo>
                        <a:lnTo>
                          <a:pt x="809" y="433"/>
                        </a:lnTo>
                        <a:lnTo>
                          <a:pt x="819" y="435"/>
                        </a:lnTo>
                        <a:lnTo>
                          <a:pt x="829" y="436"/>
                        </a:lnTo>
                        <a:lnTo>
                          <a:pt x="840" y="436"/>
                        </a:lnTo>
                        <a:lnTo>
                          <a:pt x="852" y="435"/>
                        </a:lnTo>
                        <a:lnTo>
                          <a:pt x="865" y="434"/>
                        </a:lnTo>
                        <a:lnTo>
                          <a:pt x="895" y="427"/>
                        </a:lnTo>
                        <a:lnTo>
                          <a:pt x="933" y="418"/>
                        </a:lnTo>
                        <a:lnTo>
                          <a:pt x="933" y="418"/>
                        </a:lnTo>
                        <a:lnTo>
                          <a:pt x="938" y="428"/>
                        </a:lnTo>
                        <a:lnTo>
                          <a:pt x="941" y="436"/>
                        </a:lnTo>
                        <a:lnTo>
                          <a:pt x="942" y="443"/>
                        </a:lnTo>
                        <a:lnTo>
                          <a:pt x="941" y="449"/>
                        </a:lnTo>
                        <a:lnTo>
                          <a:pt x="940" y="455"/>
                        </a:lnTo>
                        <a:lnTo>
                          <a:pt x="936" y="459"/>
                        </a:lnTo>
                        <a:lnTo>
                          <a:pt x="933" y="464"/>
                        </a:lnTo>
                        <a:lnTo>
                          <a:pt x="928" y="467"/>
                        </a:lnTo>
                        <a:lnTo>
                          <a:pt x="919" y="474"/>
                        </a:lnTo>
                        <a:lnTo>
                          <a:pt x="910" y="481"/>
                        </a:lnTo>
                        <a:lnTo>
                          <a:pt x="905" y="486"/>
                        </a:lnTo>
                        <a:lnTo>
                          <a:pt x="903" y="490"/>
                        </a:lnTo>
                        <a:lnTo>
                          <a:pt x="901" y="496"/>
                        </a:lnTo>
                        <a:lnTo>
                          <a:pt x="900" y="503"/>
                        </a:lnTo>
                        <a:lnTo>
                          <a:pt x="900" y="503"/>
                        </a:lnTo>
                        <a:lnTo>
                          <a:pt x="900" y="516"/>
                        </a:lnTo>
                        <a:lnTo>
                          <a:pt x="901" y="526"/>
                        </a:lnTo>
                        <a:lnTo>
                          <a:pt x="903" y="534"/>
                        </a:lnTo>
                        <a:lnTo>
                          <a:pt x="907" y="540"/>
                        </a:lnTo>
                        <a:lnTo>
                          <a:pt x="910" y="543"/>
                        </a:lnTo>
                        <a:lnTo>
                          <a:pt x="916" y="544"/>
                        </a:lnTo>
                        <a:lnTo>
                          <a:pt x="920" y="543"/>
                        </a:lnTo>
                        <a:lnTo>
                          <a:pt x="926" y="541"/>
                        </a:lnTo>
                        <a:lnTo>
                          <a:pt x="932" y="538"/>
                        </a:lnTo>
                        <a:lnTo>
                          <a:pt x="936" y="533"/>
                        </a:lnTo>
                        <a:lnTo>
                          <a:pt x="941" y="527"/>
                        </a:lnTo>
                        <a:lnTo>
                          <a:pt x="946" y="519"/>
                        </a:lnTo>
                        <a:lnTo>
                          <a:pt x="948" y="511"/>
                        </a:lnTo>
                        <a:lnTo>
                          <a:pt x="949" y="503"/>
                        </a:lnTo>
                        <a:lnTo>
                          <a:pt x="949" y="494"/>
                        </a:lnTo>
                        <a:lnTo>
                          <a:pt x="948" y="483"/>
                        </a:lnTo>
                        <a:lnTo>
                          <a:pt x="948" y="483"/>
                        </a:lnTo>
                        <a:lnTo>
                          <a:pt x="951" y="480"/>
                        </a:lnTo>
                        <a:lnTo>
                          <a:pt x="957" y="478"/>
                        </a:lnTo>
                        <a:lnTo>
                          <a:pt x="963" y="478"/>
                        </a:lnTo>
                        <a:lnTo>
                          <a:pt x="970" y="479"/>
                        </a:lnTo>
                        <a:lnTo>
                          <a:pt x="985" y="483"/>
                        </a:lnTo>
                        <a:lnTo>
                          <a:pt x="1000" y="487"/>
                        </a:lnTo>
                        <a:lnTo>
                          <a:pt x="1005" y="488"/>
                        </a:lnTo>
                        <a:lnTo>
                          <a:pt x="1012" y="488"/>
                        </a:lnTo>
                        <a:lnTo>
                          <a:pt x="1017" y="485"/>
                        </a:lnTo>
                        <a:lnTo>
                          <a:pt x="1022" y="480"/>
                        </a:lnTo>
                        <a:lnTo>
                          <a:pt x="1024" y="472"/>
                        </a:lnTo>
                        <a:lnTo>
                          <a:pt x="1025" y="460"/>
                        </a:lnTo>
                        <a:lnTo>
                          <a:pt x="1024" y="444"/>
                        </a:lnTo>
                        <a:lnTo>
                          <a:pt x="1020" y="425"/>
                        </a:lnTo>
                        <a:lnTo>
                          <a:pt x="1020" y="425"/>
                        </a:lnTo>
                        <a:lnTo>
                          <a:pt x="1023" y="421"/>
                        </a:lnTo>
                        <a:lnTo>
                          <a:pt x="1024" y="417"/>
                        </a:lnTo>
                        <a:lnTo>
                          <a:pt x="1023" y="406"/>
                        </a:lnTo>
                        <a:lnTo>
                          <a:pt x="1022" y="396"/>
                        </a:lnTo>
                        <a:lnTo>
                          <a:pt x="1019" y="387"/>
                        </a:lnTo>
                        <a:lnTo>
                          <a:pt x="1017" y="376"/>
                        </a:lnTo>
                        <a:lnTo>
                          <a:pt x="1016" y="368"/>
                        </a:lnTo>
                        <a:lnTo>
                          <a:pt x="1017" y="365"/>
                        </a:lnTo>
                        <a:lnTo>
                          <a:pt x="1018" y="362"/>
                        </a:lnTo>
                        <a:lnTo>
                          <a:pt x="1020" y="358"/>
                        </a:lnTo>
                        <a:lnTo>
                          <a:pt x="1025" y="356"/>
                        </a:lnTo>
                        <a:lnTo>
                          <a:pt x="1025" y="356"/>
                        </a:lnTo>
                        <a:lnTo>
                          <a:pt x="1035" y="351"/>
                        </a:lnTo>
                        <a:lnTo>
                          <a:pt x="1046" y="348"/>
                        </a:lnTo>
                        <a:lnTo>
                          <a:pt x="1060" y="344"/>
                        </a:lnTo>
                        <a:lnTo>
                          <a:pt x="1069" y="344"/>
                        </a:lnTo>
                        <a:lnTo>
                          <a:pt x="1071" y="344"/>
                        </a:lnTo>
                        <a:lnTo>
                          <a:pt x="1071" y="344"/>
                        </a:lnTo>
                        <a:lnTo>
                          <a:pt x="1079" y="355"/>
                        </a:lnTo>
                        <a:lnTo>
                          <a:pt x="1088" y="364"/>
                        </a:lnTo>
                        <a:lnTo>
                          <a:pt x="1099" y="372"/>
                        </a:lnTo>
                        <a:lnTo>
                          <a:pt x="1110" y="380"/>
                        </a:lnTo>
                        <a:lnTo>
                          <a:pt x="1133" y="395"/>
                        </a:lnTo>
                        <a:lnTo>
                          <a:pt x="1157" y="409"/>
                        </a:lnTo>
                        <a:lnTo>
                          <a:pt x="1180" y="421"/>
                        </a:lnTo>
                        <a:lnTo>
                          <a:pt x="1203" y="436"/>
                        </a:lnTo>
                        <a:lnTo>
                          <a:pt x="1213" y="443"/>
                        </a:lnTo>
                        <a:lnTo>
                          <a:pt x="1222" y="451"/>
                        </a:lnTo>
                        <a:lnTo>
                          <a:pt x="1230" y="460"/>
                        </a:lnTo>
                        <a:lnTo>
                          <a:pt x="1237" y="470"/>
                        </a:lnTo>
                        <a:lnTo>
                          <a:pt x="1237" y="470"/>
                        </a:lnTo>
                        <a:lnTo>
                          <a:pt x="1245" y="485"/>
                        </a:lnTo>
                        <a:lnTo>
                          <a:pt x="1252" y="498"/>
                        </a:lnTo>
                        <a:lnTo>
                          <a:pt x="1252" y="498"/>
                        </a:lnTo>
                        <a:lnTo>
                          <a:pt x="1247" y="507"/>
                        </a:lnTo>
                        <a:lnTo>
                          <a:pt x="1241" y="513"/>
                        </a:lnTo>
                        <a:lnTo>
                          <a:pt x="1228" y="527"/>
                        </a:lnTo>
                        <a:lnTo>
                          <a:pt x="1222" y="534"/>
                        </a:lnTo>
                        <a:lnTo>
                          <a:pt x="1216" y="541"/>
                        </a:lnTo>
                        <a:lnTo>
                          <a:pt x="1213" y="548"/>
                        </a:lnTo>
                        <a:lnTo>
                          <a:pt x="1211" y="557"/>
                        </a:lnTo>
                        <a:lnTo>
                          <a:pt x="1211" y="557"/>
                        </a:lnTo>
                        <a:lnTo>
                          <a:pt x="1213" y="566"/>
                        </a:lnTo>
                        <a:lnTo>
                          <a:pt x="1216" y="576"/>
                        </a:lnTo>
                        <a:lnTo>
                          <a:pt x="1221" y="584"/>
                        </a:lnTo>
                        <a:lnTo>
                          <a:pt x="1226" y="592"/>
                        </a:lnTo>
                        <a:lnTo>
                          <a:pt x="1231" y="600"/>
                        </a:lnTo>
                        <a:lnTo>
                          <a:pt x="1237" y="609"/>
                        </a:lnTo>
                        <a:lnTo>
                          <a:pt x="1239" y="619"/>
                        </a:lnTo>
                        <a:lnTo>
                          <a:pt x="1241" y="631"/>
                        </a:lnTo>
                        <a:lnTo>
                          <a:pt x="1241" y="631"/>
                        </a:lnTo>
                        <a:lnTo>
                          <a:pt x="1240" y="639"/>
                        </a:lnTo>
                        <a:lnTo>
                          <a:pt x="1239" y="646"/>
                        </a:lnTo>
                        <a:lnTo>
                          <a:pt x="1236" y="651"/>
                        </a:lnTo>
                        <a:lnTo>
                          <a:pt x="1233" y="657"/>
                        </a:lnTo>
                        <a:lnTo>
                          <a:pt x="1233" y="657"/>
                        </a:lnTo>
                        <a:lnTo>
                          <a:pt x="1237" y="649"/>
                        </a:lnTo>
                        <a:lnTo>
                          <a:pt x="1237" y="649"/>
                        </a:lnTo>
                        <a:close/>
                      </a:path>
                    </a:pathLst>
                  </a:custGeom>
                  <a:noFill/>
                  <a:ln w="9525" cap="flat" cmpd="sng" algn="ctr">
                    <a:noFill/>
                    <a:prstDash val="solid"/>
                    <a:headEnd/>
                    <a:tailEnd/>
                  </a:ln>
                  <a:effectLst/>
                </p:spPr>
                <p:txBody>
                  <a:bodyPr lIns="0" tIns="23006" rIns="0" bIns="0" anchor="ctr" anchorCtr="1"/>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indent="-171438" defTabSz="316493" fontAlgn="auto">
                      <a:lnSpc>
                        <a:spcPct val="90000"/>
                      </a:lnSpc>
                      <a:spcBef>
                        <a:spcPts val="0"/>
                      </a:spcBef>
                      <a:spcAft>
                        <a:spcPts val="575"/>
                      </a:spcAft>
                      <a:defRPr/>
                    </a:pPr>
                    <a:endParaRPr lang="ru-RU" sz="600" b="1" kern="0" dirty="0">
                      <a:solidFill>
                        <a:srgbClr val="53505E"/>
                      </a:solidFill>
                      <a:latin typeface="+mn-lt"/>
                      <a:cs typeface="Arial" panose="020B0604020202020204" pitchFamily="34" charset="0"/>
                    </a:endParaRPr>
                  </a:p>
                </p:txBody>
              </p:sp>
              <p:sp>
                <p:nvSpPr>
                  <p:cNvPr id="223" name="Freeform 130"/>
                  <p:cNvSpPr>
                    <a:spLocks/>
                  </p:cNvSpPr>
                  <p:nvPr/>
                </p:nvSpPr>
                <p:spPr bwMode="auto">
                  <a:xfrm rot="536518">
                    <a:off x="5859242" y="1938555"/>
                    <a:ext cx="993802" cy="987741"/>
                  </a:xfrm>
                  <a:custGeom>
                    <a:avLst/>
                    <a:gdLst/>
                    <a:ahLst/>
                    <a:cxnLst>
                      <a:cxn ang="0">
                        <a:pos x="264" y="1733"/>
                      </a:cxn>
                      <a:cxn ang="0">
                        <a:pos x="331" y="1639"/>
                      </a:cxn>
                      <a:cxn ang="0">
                        <a:pos x="415" y="1708"/>
                      </a:cxn>
                      <a:cxn ang="0">
                        <a:pos x="595" y="1723"/>
                      </a:cxn>
                      <a:cxn ang="0">
                        <a:pos x="732" y="1600"/>
                      </a:cxn>
                      <a:cxn ang="0">
                        <a:pos x="803" y="1561"/>
                      </a:cxn>
                      <a:cxn ang="0">
                        <a:pos x="896" y="1403"/>
                      </a:cxn>
                      <a:cxn ang="0">
                        <a:pos x="1044" y="1339"/>
                      </a:cxn>
                      <a:cxn ang="0">
                        <a:pos x="1095" y="1299"/>
                      </a:cxn>
                      <a:cxn ang="0">
                        <a:pos x="1139" y="1347"/>
                      </a:cxn>
                      <a:cxn ang="0">
                        <a:pos x="1238" y="1345"/>
                      </a:cxn>
                      <a:cxn ang="0">
                        <a:pos x="1337" y="1348"/>
                      </a:cxn>
                      <a:cxn ang="0">
                        <a:pos x="1396" y="1339"/>
                      </a:cxn>
                      <a:cxn ang="0">
                        <a:pos x="1436" y="1295"/>
                      </a:cxn>
                      <a:cxn ang="0">
                        <a:pos x="1531" y="1216"/>
                      </a:cxn>
                      <a:cxn ang="0">
                        <a:pos x="1571" y="1169"/>
                      </a:cxn>
                      <a:cxn ang="0">
                        <a:pos x="1664" y="981"/>
                      </a:cxn>
                      <a:cxn ang="0">
                        <a:pos x="1643" y="916"/>
                      </a:cxn>
                      <a:cxn ang="0">
                        <a:pos x="1606" y="814"/>
                      </a:cxn>
                      <a:cxn ang="0">
                        <a:pos x="1501" y="681"/>
                      </a:cxn>
                      <a:cxn ang="0">
                        <a:pos x="1488" y="601"/>
                      </a:cxn>
                      <a:cxn ang="0">
                        <a:pos x="1428" y="554"/>
                      </a:cxn>
                      <a:cxn ang="0">
                        <a:pos x="1458" y="624"/>
                      </a:cxn>
                      <a:cxn ang="0">
                        <a:pos x="1314" y="744"/>
                      </a:cxn>
                      <a:cxn ang="0">
                        <a:pos x="1398" y="565"/>
                      </a:cxn>
                      <a:cxn ang="0">
                        <a:pos x="1510" y="297"/>
                      </a:cxn>
                      <a:cxn ang="0">
                        <a:pos x="1376" y="120"/>
                      </a:cxn>
                      <a:cxn ang="0">
                        <a:pos x="1245" y="145"/>
                      </a:cxn>
                      <a:cxn ang="0">
                        <a:pos x="1184" y="178"/>
                      </a:cxn>
                      <a:cxn ang="0">
                        <a:pos x="1192" y="91"/>
                      </a:cxn>
                      <a:cxn ang="0">
                        <a:pos x="1122" y="68"/>
                      </a:cxn>
                      <a:cxn ang="0">
                        <a:pos x="1064" y="0"/>
                      </a:cxn>
                      <a:cxn ang="0">
                        <a:pos x="970" y="133"/>
                      </a:cxn>
                      <a:cxn ang="0">
                        <a:pos x="948" y="238"/>
                      </a:cxn>
                      <a:cxn ang="0">
                        <a:pos x="941" y="297"/>
                      </a:cxn>
                      <a:cxn ang="0">
                        <a:pos x="839" y="333"/>
                      </a:cxn>
                      <a:cxn ang="0">
                        <a:pos x="829" y="291"/>
                      </a:cxn>
                      <a:cxn ang="0">
                        <a:pos x="720" y="316"/>
                      </a:cxn>
                      <a:cxn ang="0">
                        <a:pos x="696" y="359"/>
                      </a:cxn>
                      <a:cxn ang="0">
                        <a:pos x="566" y="417"/>
                      </a:cxn>
                      <a:cxn ang="0">
                        <a:pos x="423" y="578"/>
                      </a:cxn>
                      <a:cxn ang="0">
                        <a:pos x="452" y="714"/>
                      </a:cxn>
                      <a:cxn ang="0">
                        <a:pos x="209" y="700"/>
                      </a:cxn>
                      <a:cxn ang="0">
                        <a:pos x="132" y="776"/>
                      </a:cxn>
                      <a:cxn ang="0">
                        <a:pos x="144" y="901"/>
                      </a:cxn>
                      <a:cxn ang="0">
                        <a:pos x="207" y="978"/>
                      </a:cxn>
                      <a:cxn ang="0">
                        <a:pos x="258" y="1051"/>
                      </a:cxn>
                      <a:cxn ang="0">
                        <a:pos x="255" y="1212"/>
                      </a:cxn>
                      <a:cxn ang="0">
                        <a:pos x="194" y="1259"/>
                      </a:cxn>
                      <a:cxn ang="0">
                        <a:pos x="209" y="1145"/>
                      </a:cxn>
                      <a:cxn ang="0">
                        <a:pos x="191" y="1115"/>
                      </a:cxn>
                      <a:cxn ang="0">
                        <a:pos x="214" y="1013"/>
                      </a:cxn>
                      <a:cxn ang="0">
                        <a:pos x="122" y="950"/>
                      </a:cxn>
                      <a:cxn ang="0">
                        <a:pos x="33" y="921"/>
                      </a:cxn>
                      <a:cxn ang="0">
                        <a:pos x="99" y="973"/>
                      </a:cxn>
                      <a:cxn ang="0">
                        <a:pos x="61" y="1042"/>
                      </a:cxn>
                      <a:cxn ang="0">
                        <a:pos x="91" y="1126"/>
                      </a:cxn>
                      <a:cxn ang="0">
                        <a:pos x="52" y="1246"/>
                      </a:cxn>
                      <a:cxn ang="0">
                        <a:pos x="17" y="1356"/>
                      </a:cxn>
                      <a:cxn ang="0">
                        <a:pos x="122" y="1414"/>
                      </a:cxn>
                      <a:cxn ang="0">
                        <a:pos x="180" y="1486"/>
                      </a:cxn>
                    </a:cxnLst>
                    <a:rect l="0" t="0" r="r" b="b"/>
                    <a:pathLst>
                      <a:path w="1675" h="1736">
                        <a:moveTo>
                          <a:pt x="169" y="1560"/>
                        </a:moveTo>
                        <a:lnTo>
                          <a:pt x="169" y="1560"/>
                        </a:lnTo>
                        <a:lnTo>
                          <a:pt x="175" y="1580"/>
                        </a:lnTo>
                        <a:lnTo>
                          <a:pt x="184" y="1604"/>
                        </a:lnTo>
                        <a:lnTo>
                          <a:pt x="195" y="1632"/>
                        </a:lnTo>
                        <a:lnTo>
                          <a:pt x="209" y="1661"/>
                        </a:lnTo>
                        <a:lnTo>
                          <a:pt x="224" y="1689"/>
                        </a:lnTo>
                        <a:lnTo>
                          <a:pt x="231" y="1700"/>
                        </a:lnTo>
                        <a:lnTo>
                          <a:pt x="239" y="1712"/>
                        </a:lnTo>
                        <a:lnTo>
                          <a:pt x="246" y="1720"/>
                        </a:lnTo>
                        <a:lnTo>
                          <a:pt x="254" y="1727"/>
                        </a:lnTo>
                        <a:lnTo>
                          <a:pt x="261" y="1731"/>
                        </a:lnTo>
                        <a:lnTo>
                          <a:pt x="264" y="1733"/>
                        </a:lnTo>
                        <a:lnTo>
                          <a:pt x="268" y="1733"/>
                        </a:lnTo>
                        <a:lnTo>
                          <a:pt x="268" y="1733"/>
                        </a:lnTo>
                        <a:lnTo>
                          <a:pt x="275" y="1731"/>
                        </a:lnTo>
                        <a:lnTo>
                          <a:pt x="282" y="1728"/>
                        </a:lnTo>
                        <a:lnTo>
                          <a:pt x="286" y="1723"/>
                        </a:lnTo>
                        <a:lnTo>
                          <a:pt x="291" y="1716"/>
                        </a:lnTo>
                        <a:lnTo>
                          <a:pt x="294" y="1708"/>
                        </a:lnTo>
                        <a:lnTo>
                          <a:pt x="299" y="1700"/>
                        </a:lnTo>
                        <a:lnTo>
                          <a:pt x="306" y="1682"/>
                        </a:lnTo>
                        <a:lnTo>
                          <a:pt x="314" y="1662"/>
                        </a:lnTo>
                        <a:lnTo>
                          <a:pt x="319" y="1654"/>
                        </a:lnTo>
                        <a:lnTo>
                          <a:pt x="325" y="1646"/>
                        </a:lnTo>
                        <a:lnTo>
                          <a:pt x="331" y="1639"/>
                        </a:lnTo>
                        <a:lnTo>
                          <a:pt x="339" y="1635"/>
                        </a:lnTo>
                        <a:lnTo>
                          <a:pt x="348" y="1631"/>
                        </a:lnTo>
                        <a:lnTo>
                          <a:pt x="360" y="1630"/>
                        </a:lnTo>
                        <a:lnTo>
                          <a:pt x="360" y="1630"/>
                        </a:lnTo>
                        <a:lnTo>
                          <a:pt x="372" y="1631"/>
                        </a:lnTo>
                        <a:lnTo>
                          <a:pt x="381" y="1635"/>
                        </a:lnTo>
                        <a:lnTo>
                          <a:pt x="389" y="1639"/>
                        </a:lnTo>
                        <a:lnTo>
                          <a:pt x="395" y="1646"/>
                        </a:lnTo>
                        <a:lnTo>
                          <a:pt x="399" y="1654"/>
                        </a:lnTo>
                        <a:lnTo>
                          <a:pt x="403" y="1662"/>
                        </a:lnTo>
                        <a:lnTo>
                          <a:pt x="407" y="1682"/>
                        </a:lnTo>
                        <a:lnTo>
                          <a:pt x="412" y="1700"/>
                        </a:lnTo>
                        <a:lnTo>
                          <a:pt x="415" y="1708"/>
                        </a:lnTo>
                        <a:lnTo>
                          <a:pt x="420" y="1716"/>
                        </a:lnTo>
                        <a:lnTo>
                          <a:pt x="424" y="1723"/>
                        </a:lnTo>
                        <a:lnTo>
                          <a:pt x="432" y="1728"/>
                        </a:lnTo>
                        <a:lnTo>
                          <a:pt x="441" y="1731"/>
                        </a:lnTo>
                        <a:lnTo>
                          <a:pt x="452" y="1733"/>
                        </a:lnTo>
                        <a:lnTo>
                          <a:pt x="452" y="1733"/>
                        </a:lnTo>
                        <a:lnTo>
                          <a:pt x="473" y="1731"/>
                        </a:lnTo>
                        <a:lnTo>
                          <a:pt x="495" y="1729"/>
                        </a:lnTo>
                        <a:lnTo>
                          <a:pt x="518" y="1726"/>
                        </a:lnTo>
                        <a:lnTo>
                          <a:pt x="542" y="1723"/>
                        </a:lnTo>
                        <a:lnTo>
                          <a:pt x="567" y="1722"/>
                        </a:lnTo>
                        <a:lnTo>
                          <a:pt x="581" y="1722"/>
                        </a:lnTo>
                        <a:lnTo>
                          <a:pt x="595" y="1723"/>
                        </a:lnTo>
                        <a:lnTo>
                          <a:pt x="609" y="1725"/>
                        </a:lnTo>
                        <a:lnTo>
                          <a:pt x="624" y="1728"/>
                        </a:lnTo>
                        <a:lnTo>
                          <a:pt x="638" y="1731"/>
                        </a:lnTo>
                        <a:lnTo>
                          <a:pt x="653" y="1736"/>
                        </a:lnTo>
                        <a:lnTo>
                          <a:pt x="653" y="1736"/>
                        </a:lnTo>
                        <a:lnTo>
                          <a:pt x="658" y="1726"/>
                        </a:lnTo>
                        <a:lnTo>
                          <a:pt x="665" y="1714"/>
                        </a:lnTo>
                        <a:lnTo>
                          <a:pt x="665" y="1714"/>
                        </a:lnTo>
                        <a:lnTo>
                          <a:pt x="674" y="1702"/>
                        </a:lnTo>
                        <a:lnTo>
                          <a:pt x="682" y="1690"/>
                        </a:lnTo>
                        <a:lnTo>
                          <a:pt x="696" y="1666"/>
                        </a:lnTo>
                        <a:lnTo>
                          <a:pt x="720" y="1619"/>
                        </a:lnTo>
                        <a:lnTo>
                          <a:pt x="732" y="1600"/>
                        </a:lnTo>
                        <a:lnTo>
                          <a:pt x="737" y="1592"/>
                        </a:lnTo>
                        <a:lnTo>
                          <a:pt x="743" y="1584"/>
                        </a:lnTo>
                        <a:lnTo>
                          <a:pt x="749" y="1580"/>
                        </a:lnTo>
                        <a:lnTo>
                          <a:pt x="755" y="1575"/>
                        </a:lnTo>
                        <a:lnTo>
                          <a:pt x="762" y="1571"/>
                        </a:lnTo>
                        <a:lnTo>
                          <a:pt x="768" y="1571"/>
                        </a:lnTo>
                        <a:lnTo>
                          <a:pt x="768" y="1571"/>
                        </a:lnTo>
                        <a:lnTo>
                          <a:pt x="789" y="1571"/>
                        </a:lnTo>
                        <a:lnTo>
                          <a:pt x="789" y="1571"/>
                        </a:lnTo>
                        <a:lnTo>
                          <a:pt x="793" y="1570"/>
                        </a:lnTo>
                        <a:lnTo>
                          <a:pt x="796" y="1570"/>
                        </a:lnTo>
                        <a:lnTo>
                          <a:pt x="800" y="1566"/>
                        </a:lnTo>
                        <a:lnTo>
                          <a:pt x="803" y="1561"/>
                        </a:lnTo>
                        <a:lnTo>
                          <a:pt x="805" y="1554"/>
                        </a:lnTo>
                        <a:lnTo>
                          <a:pt x="808" y="1538"/>
                        </a:lnTo>
                        <a:lnTo>
                          <a:pt x="810" y="1530"/>
                        </a:lnTo>
                        <a:lnTo>
                          <a:pt x="812" y="1523"/>
                        </a:lnTo>
                        <a:lnTo>
                          <a:pt x="812" y="1523"/>
                        </a:lnTo>
                        <a:lnTo>
                          <a:pt x="836" y="1474"/>
                        </a:lnTo>
                        <a:lnTo>
                          <a:pt x="852" y="1443"/>
                        </a:lnTo>
                        <a:lnTo>
                          <a:pt x="859" y="1432"/>
                        </a:lnTo>
                        <a:lnTo>
                          <a:pt x="863" y="1428"/>
                        </a:lnTo>
                        <a:lnTo>
                          <a:pt x="863" y="1428"/>
                        </a:lnTo>
                        <a:lnTo>
                          <a:pt x="871" y="1423"/>
                        </a:lnTo>
                        <a:lnTo>
                          <a:pt x="880" y="1417"/>
                        </a:lnTo>
                        <a:lnTo>
                          <a:pt x="896" y="1403"/>
                        </a:lnTo>
                        <a:lnTo>
                          <a:pt x="932" y="1372"/>
                        </a:lnTo>
                        <a:lnTo>
                          <a:pt x="951" y="1356"/>
                        </a:lnTo>
                        <a:lnTo>
                          <a:pt x="962" y="1351"/>
                        </a:lnTo>
                        <a:lnTo>
                          <a:pt x="972" y="1345"/>
                        </a:lnTo>
                        <a:lnTo>
                          <a:pt x="983" y="1339"/>
                        </a:lnTo>
                        <a:lnTo>
                          <a:pt x="994" y="1336"/>
                        </a:lnTo>
                        <a:lnTo>
                          <a:pt x="1006" y="1333"/>
                        </a:lnTo>
                        <a:lnTo>
                          <a:pt x="1018" y="1332"/>
                        </a:lnTo>
                        <a:lnTo>
                          <a:pt x="1018" y="1332"/>
                        </a:lnTo>
                        <a:lnTo>
                          <a:pt x="1025" y="1333"/>
                        </a:lnTo>
                        <a:lnTo>
                          <a:pt x="1031" y="1336"/>
                        </a:lnTo>
                        <a:lnTo>
                          <a:pt x="1037" y="1338"/>
                        </a:lnTo>
                        <a:lnTo>
                          <a:pt x="1044" y="1339"/>
                        </a:lnTo>
                        <a:lnTo>
                          <a:pt x="1044" y="1339"/>
                        </a:lnTo>
                        <a:lnTo>
                          <a:pt x="1047" y="1339"/>
                        </a:lnTo>
                        <a:lnTo>
                          <a:pt x="1049" y="1338"/>
                        </a:lnTo>
                        <a:lnTo>
                          <a:pt x="1054" y="1333"/>
                        </a:lnTo>
                        <a:lnTo>
                          <a:pt x="1058" y="1326"/>
                        </a:lnTo>
                        <a:lnTo>
                          <a:pt x="1062" y="1319"/>
                        </a:lnTo>
                        <a:lnTo>
                          <a:pt x="1068" y="1311"/>
                        </a:lnTo>
                        <a:lnTo>
                          <a:pt x="1075" y="1306"/>
                        </a:lnTo>
                        <a:lnTo>
                          <a:pt x="1078" y="1302"/>
                        </a:lnTo>
                        <a:lnTo>
                          <a:pt x="1083" y="1301"/>
                        </a:lnTo>
                        <a:lnTo>
                          <a:pt x="1088" y="1299"/>
                        </a:lnTo>
                        <a:lnTo>
                          <a:pt x="1095" y="1299"/>
                        </a:lnTo>
                        <a:lnTo>
                          <a:pt x="1095" y="1299"/>
                        </a:lnTo>
                        <a:lnTo>
                          <a:pt x="1100" y="1300"/>
                        </a:lnTo>
                        <a:lnTo>
                          <a:pt x="1103" y="1301"/>
                        </a:lnTo>
                        <a:lnTo>
                          <a:pt x="1107" y="1303"/>
                        </a:lnTo>
                        <a:lnTo>
                          <a:pt x="1110" y="1307"/>
                        </a:lnTo>
                        <a:lnTo>
                          <a:pt x="1115" y="1314"/>
                        </a:lnTo>
                        <a:lnTo>
                          <a:pt x="1119" y="1323"/>
                        </a:lnTo>
                        <a:lnTo>
                          <a:pt x="1124" y="1332"/>
                        </a:lnTo>
                        <a:lnTo>
                          <a:pt x="1128" y="1339"/>
                        </a:lnTo>
                        <a:lnTo>
                          <a:pt x="1130" y="1343"/>
                        </a:lnTo>
                        <a:lnTo>
                          <a:pt x="1133" y="1345"/>
                        </a:lnTo>
                        <a:lnTo>
                          <a:pt x="1136" y="1347"/>
                        </a:lnTo>
                        <a:lnTo>
                          <a:pt x="1139" y="1347"/>
                        </a:lnTo>
                        <a:lnTo>
                          <a:pt x="1139" y="1347"/>
                        </a:lnTo>
                        <a:lnTo>
                          <a:pt x="1145" y="1346"/>
                        </a:lnTo>
                        <a:lnTo>
                          <a:pt x="1151" y="1345"/>
                        </a:lnTo>
                        <a:lnTo>
                          <a:pt x="1160" y="1340"/>
                        </a:lnTo>
                        <a:lnTo>
                          <a:pt x="1164" y="1337"/>
                        </a:lnTo>
                        <a:lnTo>
                          <a:pt x="1170" y="1334"/>
                        </a:lnTo>
                        <a:lnTo>
                          <a:pt x="1176" y="1333"/>
                        </a:lnTo>
                        <a:lnTo>
                          <a:pt x="1183" y="1332"/>
                        </a:lnTo>
                        <a:lnTo>
                          <a:pt x="1183" y="1332"/>
                        </a:lnTo>
                        <a:lnTo>
                          <a:pt x="1197" y="1333"/>
                        </a:lnTo>
                        <a:lnTo>
                          <a:pt x="1208" y="1336"/>
                        </a:lnTo>
                        <a:lnTo>
                          <a:pt x="1218" y="1338"/>
                        </a:lnTo>
                        <a:lnTo>
                          <a:pt x="1228" y="1341"/>
                        </a:lnTo>
                        <a:lnTo>
                          <a:pt x="1238" y="1345"/>
                        </a:lnTo>
                        <a:lnTo>
                          <a:pt x="1249" y="1348"/>
                        </a:lnTo>
                        <a:lnTo>
                          <a:pt x="1262" y="1349"/>
                        </a:lnTo>
                        <a:lnTo>
                          <a:pt x="1278" y="1351"/>
                        </a:lnTo>
                        <a:lnTo>
                          <a:pt x="1278" y="1351"/>
                        </a:lnTo>
                        <a:lnTo>
                          <a:pt x="1285" y="1352"/>
                        </a:lnTo>
                        <a:lnTo>
                          <a:pt x="1292" y="1353"/>
                        </a:lnTo>
                        <a:lnTo>
                          <a:pt x="1305" y="1356"/>
                        </a:lnTo>
                        <a:lnTo>
                          <a:pt x="1312" y="1357"/>
                        </a:lnTo>
                        <a:lnTo>
                          <a:pt x="1319" y="1356"/>
                        </a:lnTo>
                        <a:lnTo>
                          <a:pt x="1325" y="1355"/>
                        </a:lnTo>
                        <a:lnTo>
                          <a:pt x="1333" y="1351"/>
                        </a:lnTo>
                        <a:lnTo>
                          <a:pt x="1333" y="1351"/>
                        </a:lnTo>
                        <a:lnTo>
                          <a:pt x="1337" y="1348"/>
                        </a:lnTo>
                        <a:lnTo>
                          <a:pt x="1339" y="1345"/>
                        </a:lnTo>
                        <a:lnTo>
                          <a:pt x="1345" y="1337"/>
                        </a:lnTo>
                        <a:lnTo>
                          <a:pt x="1348" y="1332"/>
                        </a:lnTo>
                        <a:lnTo>
                          <a:pt x="1352" y="1329"/>
                        </a:lnTo>
                        <a:lnTo>
                          <a:pt x="1355" y="1325"/>
                        </a:lnTo>
                        <a:lnTo>
                          <a:pt x="1360" y="1325"/>
                        </a:lnTo>
                        <a:lnTo>
                          <a:pt x="1360" y="1325"/>
                        </a:lnTo>
                        <a:lnTo>
                          <a:pt x="1365" y="1325"/>
                        </a:lnTo>
                        <a:lnTo>
                          <a:pt x="1370" y="1328"/>
                        </a:lnTo>
                        <a:lnTo>
                          <a:pt x="1380" y="1332"/>
                        </a:lnTo>
                        <a:lnTo>
                          <a:pt x="1388" y="1337"/>
                        </a:lnTo>
                        <a:lnTo>
                          <a:pt x="1392" y="1339"/>
                        </a:lnTo>
                        <a:lnTo>
                          <a:pt x="1396" y="1339"/>
                        </a:lnTo>
                        <a:lnTo>
                          <a:pt x="1396" y="1339"/>
                        </a:lnTo>
                        <a:lnTo>
                          <a:pt x="1400" y="1339"/>
                        </a:lnTo>
                        <a:lnTo>
                          <a:pt x="1404" y="1338"/>
                        </a:lnTo>
                        <a:lnTo>
                          <a:pt x="1407" y="1337"/>
                        </a:lnTo>
                        <a:lnTo>
                          <a:pt x="1411" y="1334"/>
                        </a:lnTo>
                        <a:lnTo>
                          <a:pt x="1414" y="1329"/>
                        </a:lnTo>
                        <a:lnTo>
                          <a:pt x="1417" y="1322"/>
                        </a:lnTo>
                        <a:lnTo>
                          <a:pt x="1421" y="1314"/>
                        </a:lnTo>
                        <a:lnTo>
                          <a:pt x="1424" y="1307"/>
                        </a:lnTo>
                        <a:lnTo>
                          <a:pt x="1429" y="1300"/>
                        </a:lnTo>
                        <a:lnTo>
                          <a:pt x="1432" y="1298"/>
                        </a:lnTo>
                        <a:lnTo>
                          <a:pt x="1436" y="1295"/>
                        </a:lnTo>
                        <a:lnTo>
                          <a:pt x="1436" y="1295"/>
                        </a:lnTo>
                        <a:lnTo>
                          <a:pt x="1443" y="1292"/>
                        </a:lnTo>
                        <a:lnTo>
                          <a:pt x="1449" y="1288"/>
                        </a:lnTo>
                        <a:lnTo>
                          <a:pt x="1460" y="1278"/>
                        </a:lnTo>
                        <a:lnTo>
                          <a:pt x="1472" y="1267"/>
                        </a:lnTo>
                        <a:lnTo>
                          <a:pt x="1483" y="1254"/>
                        </a:lnTo>
                        <a:lnTo>
                          <a:pt x="1493" y="1242"/>
                        </a:lnTo>
                        <a:lnTo>
                          <a:pt x="1503" y="1231"/>
                        </a:lnTo>
                        <a:lnTo>
                          <a:pt x="1513" y="1223"/>
                        </a:lnTo>
                        <a:lnTo>
                          <a:pt x="1516" y="1221"/>
                        </a:lnTo>
                        <a:lnTo>
                          <a:pt x="1521" y="1218"/>
                        </a:lnTo>
                        <a:lnTo>
                          <a:pt x="1521" y="1218"/>
                        </a:lnTo>
                        <a:lnTo>
                          <a:pt x="1526" y="1217"/>
                        </a:lnTo>
                        <a:lnTo>
                          <a:pt x="1531" y="1216"/>
                        </a:lnTo>
                        <a:lnTo>
                          <a:pt x="1542" y="1215"/>
                        </a:lnTo>
                        <a:lnTo>
                          <a:pt x="1560" y="1215"/>
                        </a:lnTo>
                        <a:lnTo>
                          <a:pt x="1568" y="1214"/>
                        </a:lnTo>
                        <a:lnTo>
                          <a:pt x="1572" y="1212"/>
                        </a:lnTo>
                        <a:lnTo>
                          <a:pt x="1574" y="1210"/>
                        </a:lnTo>
                        <a:lnTo>
                          <a:pt x="1576" y="1208"/>
                        </a:lnTo>
                        <a:lnTo>
                          <a:pt x="1579" y="1203"/>
                        </a:lnTo>
                        <a:lnTo>
                          <a:pt x="1580" y="1199"/>
                        </a:lnTo>
                        <a:lnTo>
                          <a:pt x="1580" y="1193"/>
                        </a:lnTo>
                        <a:lnTo>
                          <a:pt x="1580" y="1193"/>
                        </a:lnTo>
                        <a:lnTo>
                          <a:pt x="1580" y="1186"/>
                        </a:lnTo>
                        <a:lnTo>
                          <a:pt x="1577" y="1180"/>
                        </a:lnTo>
                        <a:lnTo>
                          <a:pt x="1571" y="1169"/>
                        </a:lnTo>
                        <a:lnTo>
                          <a:pt x="1565" y="1157"/>
                        </a:lnTo>
                        <a:lnTo>
                          <a:pt x="1562" y="1151"/>
                        </a:lnTo>
                        <a:lnTo>
                          <a:pt x="1561" y="1145"/>
                        </a:lnTo>
                        <a:lnTo>
                          <a:pt x="1561" y="1145"/>
                        </a:lnTo>
                        <a:lnTo>
                          <a:pt x="1613" y="1012"/>
                        </a:lnTo>
                        <a:lnTo>
                          <a:pt x="1613" y="1012"/>
                        </a:lnTo>
                        <a:lnTo>
                          <a:pt x="1613" y="1012"/>
                        </a:lnTo>
                        <a:lnTo>
                          <a:pt x="1620" y="1008"/>
                        </a:lnTo>
                        <a:lnTo>
                          <a:pt x="1629" y="1002"/>
                        </a:lnTo>
                        <a:lnTo>
                          <a:pt x="1640" y="997"/>
                        </a:lnTo>
                        <a:lnTo>
                          <a:pt x="1650" y="992"/>
                        </a:lnTo>
                        <a:lnTo>
                          <a:pt x="1659" y="985"/>
                        </a:lnTo>
                        <a:lnTo>
                          <a:pt x="1664" y="981"/>
                        </a:lnTo>
                        <a:lnTo>
                          <a:pt x="1667" y="977"/>
                        </a:lnTo>
                        <a:lnTo>
                          <a:pt x="1671" y="972"/>
                        </a:lnTo>
                        <a:lnTo>
                          <a:pt x="1673" y="966"/>
                        </a:lnTo>
                        <a:lnTo>
                          <a:pt x="1674" y="960"/>
                        </a:lnTo>
                        <a:lnTo>
                          <a:pt x="1675" y="954"/>
                        </a:lnTo>
                        <a:lnTo>
                          <a:pt x="1675" y="954"/>
                        </a:lnTo>
                        <a:lnTo>
                          <a:pt x="1675" y="949"/>
                        </a:lnTo>
                        <a:lnTo>
                          <a:pt x="1674" y="944"/>
                        </a:lnTo>
                        <a:lnTo>
                          <a:pt x="1672" y="940"/>
                        </a:lnTo>
                        <a:lnTo>
                          <a:pt x="1669" y="936"/>
                        </a:lnTo>
                        <a:lnTo>
                          <a:pt x="1664" y="929"/>
                        </a:lnTo>
                        <a:lnTo>
                          <a:pt x="1657" y="925"/>
                        </a:lnTo>
                        <a:lnTo>
                          <a:pt x="1643" y="916"/>
                        </a:lnTo>
                        <a:lnTo>
                          <a:pt x="1636" y="911"/>
                        </a:lnTo>
                        <a:lnTo>
                          <a:pt x="1632" y="906"/>
                        </a:lnTo>
                        <a:lnTo>
                          <a:pt x="1632" y="906"/>
                        </a:lnTo>
                        <a:lnTo>
                          <a:pt x="1628" y="901"/>
                        </a:lnTo>
                        <a:lnTo>
                          <a:pt x="1626" y="895"/>
                        </a:lnTo>
                        <a:lnTo>
                          <a:pt x="1622" y="883"/>
                        </a:lnTo>
                        <a:lnTo>
                          <a:pt x="1621" y="871"/>
                        </a:lnTo>
                        <a:lnTo>
                          <a:pt x="1620" y="859"/>
                        </a:lnTo>
                        <a:lnTo>
                          <a:pt x="1619" y="847"/>
                        </a:lnTo>
                        <a:lnTo>
                          <a:pt x="1617" y="835"/>
                        </a:lnTo>
                        <a:lnTo>
                          <a:pt x="1612" y="825"/>
                        </a:lnTo>
                        <a:lnTo>
                          <a:pt x="1610" y="819"/>
                        </a:lnTo>
                        <a:lnTo>
                          <a:pt x="1606" y="814"/>
                        </a:lnTo>
                        <a:lnTo>
                          <a:pt x="1606" y="814"/>
                        </a:lnTo>
                        <a:lnTo>
                          <a:pt x="1595" y="802"/>
                        </a:lnTo>
                        <a:lnTo>
                          <a:pt x="1583" y="791"/>
                        </a:lnTo>
                        <a:lnTo>
                          <a:pt x="1559" y="773"/>
                        </a:lnTo>
                        <a:lnTo>
                          <a:pt x="1548" y="764"/>
                        </a:lnTo>
                        <a:lnTo>
                          <a:pt x="1536" y="753"/>
                        </a:lnTo>
                        <a:lnTo>
                          <a:pt x="1527" y="741"/>
                        </a:lnTo>
                        <a:lnTo>
                          <a:pt x="1522" y="734"/>
                        </a:lnTo>
                        <a:lnTo>
                          <a:pt x="1518" y="726"/>
                        </a:lnTo>
                        <a:lnTo>
                          <a:pt x="1518" y="726"/>
                        </a:lnTo>
                        <a:lnTo>
                          <a:pt x="1511" y="713"/>
                        </a:lnTo>
                        <a:lnTo>
                          <a:pt x="1507" y="702"/>
                        </a:lnTo>
                        <a:lnTo>
                          <a:pt x="1501" y="681"/>
                        </a:lnTo>
                        <a:lnTo>
                          <a:pt x="1498" y="673"/>
                        </a:lnTo>
                        <a:lnTo>
                          <a:pt x="1496" y="669"/>
                        </a:lnTo>
                        <a:lnTo>
                          <a:pt x="1492" y="665"/>
                        </a:lnTo>
                        <a:lnTo>
                          <a:pt x="1489" y="661"/>
                        </a:lnTo>
                        <a:lnTo>
                          <a:pt x="1483" y="659"/>
                        </a:lnTo>
                        <a:lnTo>
                          <a:pt x="1469" y="653"/>
                        </a:lnTo>
                        <a:lnTo>
                          <a:pt x="1469" y="653"/>
                        </a:lnTo>
                        <a:lnTo>
                          <a:pt x="1475" y="636"/>
                        </a:lnTo>
                        <a:lnTo>
                          <a:pt x="1482" y="622"/>
                        </a:lnTo>
                        <a:lnTo>
                          <a:pt x="1487" y="612"/>
                        </a:lnTo>
                        <a:lnTo>
                          <a:pt x="1488" y="606"/>
                        </a:lnTo>
                        <a:lnTo>
                          <a:pt x="1488" y="601"/>
                        </a:lnTo>
                        <a:lnTo>
                          <a:pt x="1488" y="601"/>
                        </a:lnTo>
                        <a:lnTo>
                          <a:pt x="1489" y="593"/>
                        </a:lnTo>
                        <a:lnTo>
                          <a:pt x="1492" y="586"/>
                        </a:lnTo>
                        <a:lnTo>
                          <a:pt x="1495" y="575"/>
                        </a:lnTo>
                        <a:lnTo>
                          <a:pt x="1496" y="557"/>
                        </a:lnTo>
                        <a:lnTo>
                          <a:pt x="1496" y="557"/>
                        </a:lnTo>
                        <a:lnTo>
                          <a:pt x="1484" y="557"/>
                        </a:lnTo>
                        <a:lnTo>
                          <a:pt x="1484" y="557"/>
                        </a:lnTo>
                        <a:lnTo>
                          <a:pt x="1484" y="557"/>
                        </a:lnTo>
                        <a:lnTo>
                          <a:pt x="1473" y="551"/>
                        </a:lnTo>
                        <a:lnTo>
                          <a:pt x="1459" y="542"/>
                        </a:lnTo>
                        <a:lnTo>
                          <a:pt x="1459" y="542"/>
                        </a:lnTo>
                        <a:lnTo>
                          <a:pt x="1440" y="549"/>
                        </a:lnTo>
                        <a:lnTo>
                          <a:pt x="1428" y="554"/>
                        </a:lnTo>
                        <a:lnTo>
                          <a:pt x="1420" y="561"/>
                        </a:lnTo>
                        <a:lnTo>
                          <a:pt x="1417" y="563"/>
                        </a:lnTo>
                        <a:lnTo>
                          <a:pt x="1416" y="567"/>
                        </a:lnTo>
                        <a:lnTo>
                          <a:pt x="1415" y="570"/>
                        </a:lnTo>
                        <a:lnTo>
                          <a:pt x="1415" y="573"/>
                        </a:lnTo>
                        <a:lnTo>
                          <a:pt x="1417" y="580"/>
                        </a:lnTo>
                        <a:lnTo>
                          <a:pt x="1422" y="585"/>
                        </a:lnTo>
                        <a:lnTo>
                          <a:pt x="1428" y="591"/>
                        </a:lnTo>
                        <a:lnTo>
                          <a:pt x="1440" y="601"/>
                        </a:lnTo>
                        <a:lnTo>
                          <a:pt x="1452" y="612"/>
                        </a:lnTo>
                        <a:lnTo>
                          <a:pt x="1457" y="618"/>
                        </a:lnTo>
                        <a:lnTo>
                          <a:pt x="1458" y="622"/>
                        </a:lnTo>
                        <a:lnTo>
                          <a:pt x="1458" y="624"/>
                        </a:lnTo>
                        <a:lnTo>
                          <a:pt x="1457" y="626"/>
                        </a:lnTo>
                        <a:lnTo>
                          <a:pt x="1451" y="630"/>
                        </a:lnTo>
                        <a:lnTo>
                          <a:pt x="1451" y="630"/>
                        </a:lnTo>
                        <a:lnTo>
                          <a:pt x="1444" y="645"/>
                        </a:lnTo>
                        <a:lnTo>
                          <a:pt x="1435" y="658"/>
                        </a:lnTo>
                        <a:lnTo>
                          <a:pt x="1426" y="669"/>
                        </a:lnTo>
                        <a:lnTo>
                          <a:pt x="1415" y="680"/>
                        </a:lnTo>
                        <a:lnTo>
                          <a:pt x="1404" y="689"/>
                        </a:lnTo>
                        <a:lnTo>
                          <a:pt x="1392" y="697"/>
                        </a:lnTo>
                        <a:lnTo>
                          <a:pt x="1369" y="712"/>
                        </a:lnTo>
                        <a:lnTo>
                          <a:pt x="1345" y="726"/>
                        </a:lnTo>
                        <a:lnTo>
                          <a:pt x="1323" y="737"/>
                        </a:lnTo>
                        <a:lnTo>
                          <a:pt x="1314" y="744"/>
                        </a:lnTo>
                        <a:lnTo>
                          <a:pt x="1305" y="751"/>
                        </a:lnTo>
                        <a:lnTo>
                          <a:pt x="1297" y="758"/>
                        </a:lnTo>
                        <a:lnTo>
                          <a:pt x="1290" y="766"/>
                        </a:lnTo>
                        <a:lnTo>
                          <a:pt x="1290" y="766"/>
                        </a:lnTo>
                        <a:lnTo>
                          <a:pt x="1290" y="758"/>
                        </a:lnTo>
                        <a:lnTo>
                          <a:pt x="1291" y="749"/>
                        </a:lnTo>
                        <a:lnTo>
                          <a:pt x="1294" y="738"/>
                        </a:lnTo>
                        <a:lnTo>
                          <a:pt x="1298" y="728"/>
                        </a:lnTo>
                        <a:lnTo>
                          <a:pt x="1308" y="705"/>
                        </a:lnTo>
                        <a:lnTo>
                          <a:pt x="1322" y="681"/>
                        </a:lnTo>
                        <a:lnTo>
                          <a:pt x="1339" y="653"/>
                        </a:lnTo>
                        <a:lnTo>
                          <a:pt x="1358" y="626"/>
                        </a:lnTo>
                        <a:lnTo>
                          <a:pt x="1398" y="565"/>
                        </a:lnTo>
                        <a:lnTo>
                          <a:pt x="1419" y="532"/>
                        </a:lnTo>
                        <a:lnTo>
                          <a:pt x="1439" y="499"/>
                        </a:lnTo>
                        <a:lnTo>
                          <a:pt x="1458" y="466"/>
                        </a:lnTo>
                        <a:lnTo>
                          <a:pt x="1475" y="432"/>
                        </a:lnTo>
                        <a:lnTo>
                          <a:pt x="1483" y="415"/>
                        </a:lnTo>
                        <a:lnTo>
                          <a:pt x="1489" y="398"/>
                        </a:lnTo>
                        <a:lnTo>
                          <a:pt x="1496" y="381"/>
                        </a:lnTo>
                        <a:lnTo>
                          <a:pt x="1500" y="363"/>
                        </a:lnTo>
                        <a:lnTo>
                          <a:pt x="1505" y="347"/>
                        </a:lnTo>
                        <a:lnTo>
                          <a:pt x="1507" y="330"/>
                        </a:lnTo>
                        <a:lnTo>
                          <a:pt x="1510" y="313"/>
                        </a:lnTo>
                        <a:lnTo>
                          <a:pt x="1510" y="297"/>
                        </a:lnTo>
                        <a:lnTo>
                          <a:pt x="1510" y="297"/>
                        </a:lnTo>
                        <a:lnTo>
                          <a:pt x="1508" y="284"/>
                        </a:lnTo>
                        <a:lnTo>
                          <a:pt x="1505" y="269"/>
                        </a:lnTo>
                        <a:lnTo>
                          <a:pt x="1499" y="254"/>
                        </a:lnTo>
                        <a:lnTo>
                          <a:pt x="1492" y="239"/>
                        </a:lnTo>
                        <a:lnTo>
                          <a:pt x="1483" y="223"/>
                        </a:lnTo>
                        <a:lnTo>
                          <a:pt x="1472" y="208"/>
                        </a:lnTo>
                        <a:lnTo>
                          <a:pt x="1460" y="193"/>
                        </a:lnTo>
                        <a:lnTo>
                          <a:pt x="1447" y="178"/>
                        </a:lnTo>
                        <a:lnTo>
                          <a:pt x="1434" y="164"/>
                        </a:lnTo>
                        <a:lnTo>
                          <a:pt x="1420" y="150"/>
                        </a:lnTo>
                        <a:lnTo>
                          <a:pt x="1405" y="139"/>
                        </a:lnTo>
                        <a:lnTo>
                          <a:pt x="1391" y="129"/>
                        </a:lnTo>
                        <a:lnTo>
                          <a:pt x="1376" y="120"/>
                        </a:lnTo>
                        <a:lnTo>
                          <a:pt x="1362" y="115"/>
                        </a:lnTo>
                        <a:lnTo>
                          <a:pt x="1350" y="110"/>
                        </a:lnTo>
                        <a:lnTo>
                          <a:pt x="1337" y="109"/>
                        </a:lnTo>
                        <a:lnTo>
                          <a:pt x="1337" y="109"/>
                        </a:lnTo>
                        <a:lnTo>
                          <a:pt x="1317" y="109"/>
                        </a:lnTo>
                        <a:lnTo>
                          <a:pt x="1293" y="110"/>
                        </a:lnTo>
                        <a:lnTo>
                          <a:pt x="1281" y="112"/>
                        </a:lnTo>
                        <a:lnTo>
                          <a:pt x="1269" y="115"/>
                        </a:lnTo>
                        <a:lnTo>
                          <a:pt x="1259" y="118"/>
                        </a:lnTo>
                        <a:lnTo>
                          <a:pt x="1248" y="124"/>
                        </a:lnTo>
                        <a:lnTo>
                          <a:pt x="1248" y="124"/>
                        </a:lnTo>
                        <a:lnTo>
                          <a:pt x="1247" y="135"/>
                        </a:lnTo>
                        <a:lnTo>
                          <a:pt x="1245" y="145"/>
                        </a:lnTo>
                        <a:lnTo>
                          <a:pt x="1243" y="153"/>
                        </a:lnTo>
                        <a:lnTo>
                          <a:pt x="1239" y="160"/>
                        </a:lnTo>
                        <a:lnTo>
                          <a:pt x="1236" y="165"/>
                        </a:lnTo>
                        <a:lnTo>
                          <a:pt x="1232" y="170"/>
                        </a:lnTo>
                        <a:lnTo>
                          <a:pt x="1228" y="173"/>
                        </a:lnTo>
                        <a:lnTo>
                          <a:pt x="1223" y="176"/>
                        </a:lnTo>
                        <a:lnTo>
                          <a:pt x="1218" y="178"/>
                        </a:lnTo>
                        <a:lnTo>
                          <a:pt x="1214" y="179"/>
                        </a:lnTo>
                        <a:lnTo>
                          <a:pt x="1205" y="179"/>
                        </a:lnTo>
                        <a:lnTo>
                          <a:pt x="1186" y="179"/>
                        </a:lnTo>
                        <a:lnTo>
                          <a:pt x="1186" y="179"/>
                        </a:lnTo>
                        <a:lnTo>
                          <a:pt x="1185" y="178"/>
                        </a:lnTo>
                        <a:lnTo>
                          <a:pt x="1184" y="178"/>
                        </a:lnTo>
                        <a:lnTo>
                          <a:pt x="1185" y="173"/>
                        </a:lnTo>
                        <a:lnTo>
                          <a:pt x="1187" y="168"/>
                        </a:lnTo>
                        <a:lnTo>
                          <a:pt x="1192" y="161"/>
                        </a:lnTo>
                        <a:lnTo>
                          <a:pt x="1201" y="142"/>
                        </a:lnTo>
                        <a:lnTo>
                          <a:pt x="1206" y="132"/>
                        </a:lnTo>
                        <a:lnTo>
                          <a:pt x="1208" y="123"/>
                        </a:lnTo>
                        <a:lnTo>
                          <a:pt x="1209" y="112"/>
                        </a:lnTo>
                        <a:lnTo>
                          <a:pt x="1208" y="108"/>
                        </a:lnTo>
                        <a:lnTo>
                          <a:pt x="1207" y="104"/>
                        </a:lnTo>
                        <a:lnTo>
                          <a:pt x="1205" y="100"/>
                        </a:lnTo>
                        <a:lnTo>
                          <a:pt x="1201" y="96"/>
                        </a:lnTo>
                        <a:lnTo>
                          <a:pt x="1197" y="93"/>
                        </a:lnTo>
                        <a:lnTo>
                          <a:pt x="1192" y="91"/>
                        </a:lnTo>
                        <a:lnTo>
                          <a:pt x="1185" y="88"/>
                        </a:lnTo>
                        <a:lnTo>
                          <a:pt x="1177" y="87"/>
                        </a:lnTo>
                        <a:lnTo>
                          <a:pt x="1167" y="86"/>
                        </a:lnTo>
                        <a:lnTo>
                          <a:pt x="1156" y="85"/>
                        </a:lnTo>
                        <a:lnTo>
                          <a:pt x="1129" y="86"/>
                        </a:lnTo>
                        <a:lnTo>
                          <a:pt x="1095" y="91"/>
                        </a:lnTo>
                        <a:lnTo>
                          <a:pt x="1095" y="91"/>
                        </a:lnTo>
                        <a:lnTo>
                          <a:pt x="1092" y="88"/>
                        </a:lnTo>
                        <a:lnTo>
                          <a:pt x="1092" y="85"/>
                        </a:lnTo>
                        <a:lnTo>
                          <a:pt x="1094" y="82"/>
                        </a:lnTo>
                        <a:lnTo>
                          <a:pt x="1098" y="80"/>
                        </a:lnTo>
                        <a:lnTo>
                          <a:pt x="1109" y="74"/>
                        </a:lnTo>
                        <a:lnTo>
                          <a:pt x="1122" y="68"/>
                        </a:lnTo>
                        <a:lnTo>
                          <a:pt x="1128" y="63"/>
                        </a:lnTo>
                        <a:lnTo>
                          <a:pt x="1132" y="58"/>
                        </a:lnTo>
                        <a:lnTo>
                          <a:pt x="1137" y="53"/>
                        </a:lnTo>
                        <a:lnTo>
                          <a:pt x="1139" y="47"/>
                        </a:lnTo>
                        <a:lnTo>
                          <a:pt x="1138" y="40"/>
                        </a:lnTo>
                        <a:lnTo>
                          <a:pt x="1136" y="32"/>
                        </a:lnTo>
                        <a:lnTo>
                          <a:pt x="1130" y="24"/>
                        </a:lnTo>
                        <a:lnTo>
                          <a:pt x="1121" y="13"/>
                        </a:lnTo>
                        <a:lnTo>
                          <a:pt x="1121" y="13"/>
                        </a:lnTo>
                        <a:lnTo>
                          <a:pt x="1103" y="7"/>
                        </a:lnTo>
                        <a:lnTo>
                          <a:pt x="1088" y="2"/>
                        </a:lnTo>
                        <a:lnTo>
                          <a:pt x="1076" y="0"/>
                        </a:lnTo>
                        <a:lnTo>
                          <a:pt x="1064" y="0"/>
                        </a:lnTo>
                        <a:lnTo>
                          <a:pt x="1055" y="2"/>
                        </a:lnTo>
                        <a:lnTo>
                          <a:pt x="1047" y="5"/>
                        </a:lnTo>
                        <a:lnTo>
                          <a:pt x="1042" y="11"/>
                        </a:lnTo>
                        <a:lnTo>
                          <a:pt x="1040" y="17"/>
                        </a:lnTo>
                        <a:lnTo>
                          <a:pt x="1040" y="17"/>
                        </a:lnTo>
                        <a:lnTo>
                          <a:pt x="1032" y="27"/>
                        </a:lnTo>
                        <a:lnTo>
                          <a:pt x="1024" y="39"/>
                        </a:lnTo>
                        <a:lnTo>
                          <a:pt x="1008" y="69"/>
                        </a:lnTo>
                        <a:lnTo>
                          <a:pt x="992" y="101"/>
                        </a:lnTo>
                        <a:lnTo>
                          <a:pt x="984" y="115"/>
                        </a:lnTo>
                        <a:lnTo>
                          <a:pt x="973" y="127"/>
                        </a:lnTo>
                        <a:lnTo>
                          <a:pt x="973" y="127"/>
                        </a:lnTo>
                        <a:lnTo>
                          <a:pt x="970" y="133"/>
                        </a:lnTo>
                        <a:lnTo>
                          <a:pt x="969" y="140"/>
                        </a:lnTo>
                        <a:lnTo>
                          <a:pt x="969" y="147"/>
                        </a:lnTo>
                        <a:lnTo>
                          <a:pt x="970" y="154"/>
                        </a:lnTo>
                        <a:lnTo>
                          <a:pt x="974" y="168"/>
                        </a:lnTo>
                        <a:lnTo>
                          <a:pt x="980" y="183"/>
                        </a:lnTo>
                        <a:lnTo>
                          <a:pt x="983" y="190"/>
                        </a:lnTo>
                        <a:lnTo>
                          <a:pt x="983" y="196"/>
                        </a:lnTo>
                        <a:lnTo>
                          <a:pt x="983" y="203"/>
                        </a:lnTo>
                        <a:lnTo>
                          <a:pt x="980" y="211"/>
                        </a:lnTo>
                        <a:lnTo>
                          <a:pt x="977" y="218"/>
                        </a:lnTo>
                        <a:lnTo>
                          <a:pt x="970" y="224"/>
                        </a:lnTo>
                        <a:lnTo>
                          <a:pt x="961" y="231"/>
                        </a:lnTo>
                        <a:lnTo>
                          <a:pt x="948" y="238"/>
                        </a:lnTo>
                        <a:lnTo>
                          <a:pt x="948" y="238"/>
                        </a:lnTo>
                        <a:lnTo>
                          <a:pt x="933" y="233"/>
                        </a:lnTo>
                        <a:lnTo>
                          <a:pt x="919" y="232"/>
                        </a:lnTo>
                        <a:lnTo>
                          <a:pt x="912" y="232"/>
                        </a:lnTo>
                        <a:lnTo>
                          <a:pt x="907" y="232"/>
                        </a:lnTo>
                        <a:lnTo>
                          <a:pt x="902" y="234"/>
                        </a:lnTo>
                        <a:lnTo>
                          <a:pt x="900" y="237"/>
                        </a:lnTo>
                        <a:lnTo>
                          <a:pt x="899" y="241"/>
                        </a:lnTo>
                        <a:lnTo>
                          <a:pt x="900" y="248"/>
                        </a:lnTo>
                        <a:lnTo>
                          <a:pt x="904" y="256"/>
                        </a:lnTo>
                        <a:lnTo>
                          <a:pt x="912" y="268"/>
                        </a:lnTo>
                        <a:lnTo>
                          <a:pt x="925" y="280"/>
                        </a:lnTo>
                        <a:lnTo>
                          <a:pt x="941" y="297"/>
                        </a:lnTo>
                        <a:lnTo>
                          <a:pt x="941" y="297"/>
                        </a:lnTo>
                        <a:lnTo>
                          <a:pt x="927" y="291"/>
                        </a:lnTo>
                        <a:lnTo>
                          <a:pt x="917" y="286"/>
                        </a:lnTo>
                        <a:lnTo>
                          <a:pt x="909" y="285"/>
                        </a:lnTo>
                        <a:lnTo>
                          <a:pt x="902" y="284"/>
                        </a:lnTo>
                        <a:lnTo>
                          <a:pt x="893" y="284"/>
                        </a:lnTo>
                        <a:lnTo>
                          <a:pt x="886" y="285"/>
                        </a:lnTo>
                        <a:lnTo>
                          <a:pt x="886" y="285"/>
                        </a:lnTo>
                        <a:lnTo>
                          <a:pt x="882" y="287"/>
                        </a:lnTo>
                        <a:lnTo>
                          <a:pt x="877" y="294"/>
                        </a:lnTo>
                        <a:lnTo>
                          <a:pt x="859" y="314"/>
                        </a:lnTo>
                        <a:lnTo>
                          <a:pt x="849" y="324"/>
                        </a:lnTo>
                        <a:lnTo>
                          <a:pt x="839" y="333"/>
                        </a:lnTo>
                        <a:lnTo>
                          <a:pt x="833" y="337"/>
                        </a:lnTo>
                        <a:lnTo>
                          <a:pt x="828" y="339"/>
                        </a:lnTo>
                        <a:lnTo>
                          <a:pt x="824" y="340"/>
                        </a:lnTo>
                        <a:lnTo>
                          <a:pt x="819" y="340"/>
                        </a:lnTo>
                        <a:lnTo>
                          <a:pt x="819" y="340"/>
                        </a:lnTo>
                        <a:lnTo>
                          <a:pt x="816" y="339"/>
                        </a:lnTo>
                        <a:lnTo>
                          <a:pt x="815" y="337"/>
                        </a:lnTo>
                        <a:lnTo>
                          <a:pt x="815" y="333"/>
                        </a:lnTo>
                        <a:lnTo>
                          <a:pt x="815" y="329"/>
                        </a:lnTo>
                        <a:lnTo>
                          <a:pt x="819" y="318"/>
                        </a:lnTo>
                        <a:lnTo>
                          <a:pt x="825" y="307"/>
                        </a:lnTo>
                        <a:lnTo>
                          <a:pt x="828" y="297"/>
                        </a:lnTo>
                        <a:lnTo>
                          <a:pt x="829" y="291"/>
                        </a:lnTo>
                        <a:lnTo>
                          <a:pt x="831" y="287"/>
                        </a:lnTo>
                        <a:lnTo>
                          <a:pt x="829" y="283"/>
                        </a:lnTo>
                        <a:lnTo>
                          <a:pt x="826" y="280"/>
                        </a:lnTo>
                        <a:lnTo>
                          <a:pt x="823" y="278"/>
                        </a:lnTo>
                        <a:lnTo>
                          <a:pt x="816" y="277"/>
                        </a:lnTo>
                        <a:lnTo>
                          <a:pt x="816" y="277"/>
                        </a:lnTo>
                        <a:lnTo>
                          <a:pt x="798" y="291"/>
                        </a:lnTo>
                        <a:lnTo>
                          <a:pt x="783" y="300"/>
                        </a:lnTo>
                        <a:lnTo>
                          <a:pt x="768" y="307"/>
                        </a:lnTo>
                        <a:lnTo>
                          <a:pt x="756" y="310"/>
                        </a:lnTo>
                        <a:lnTo>
                          <a:pt x="743" y="313"/>
                        </a:lnTo>
                        <a:lnTo>
                          <a:pt x="732" y="315"/>
                        </a:lnTo>
                        <a:lnTo>
                          <a:pt x="720" y="316"/>
                        </a:lnTo>
                        <a:lnTo>
                          <a:pt x="709" y="318"/>
                        </a:lnTo>
                        <a:lnTo>
                          <a:pt x="709" y="318"/>
                        </a:lnTo>
                        <a:lnTo>
                          <a:pt x="697" y="318"/>
                        </a:lnTo>
                        <a:lnTo>
                          <a:pt x="688" y="320"/>
                        </a:lnTo>
                        <a:lnTo>
                          <a:pt x="682" y="322"/>
                        </a:lnTo>
                        <a:lnTo>
                          <a:pt x="679" y="323"/>
                        </a:lnTo>
                        <a:lnTo>
                          <a:pt x="678" y="326"/>
                        </a:lnTo>
                        <a:lnTo>
                          <a:pt x="678" y="330"/>
                        </a:lnTo>
                        <a:lnTo>
                          <a:pt x="680" y="333"/>
                        </a:lnTo>
                        <a:lnTo>
                          <a:pt x="682" y="337"/>
                        </a:lnTo>
                        <a:lnTo>
                          <a:pt x="689" y="345"/>
                        </a:lnTo>
                        <a:lnTo>
                          <a:pt x="695" y="354"/>
                        </a:lnTo>
                        <a:lnTo>
                          <a:pt x="696" y="359"/>
                        </a:lnTo>
                        <a:lnTo>
                          <a:pt x="696" y="362"/>
                        </a:lnTo>
                        <a:lnTo>
                          <a:pt x="695" y="367"/>
                        </a:lnTo>
                        <a:lnTo>
                          <a:pt x="691" y="370"/>
                        </a:lnTo>
                        <a:lnTo>
                          <a:pt x="691" y="370"/>
                        </a:lnTo>
                        <a:lnTo>
                          <a:pt x="687" y="372"/>
                        </a:lnTo>
                        <a:lnTo>
                          <a:pt x="682" y="375"/>
                        </a:lnTo>
                        <a:lnTo>
                          <a:pt x="668" y="379"/>
                        </a:lnTo>
                        <a:lnTo>
                          <a:pt x="635" y="389"/>
                        </a:lnTo>
                        <a:lnTo>
                          <a:pt x="617" y="393"/>
                        </a:lnTo>
                        <a:lnTo>
                          <a:pt x="598" y="400"/>
                        </a:lnTo>
                        <a:lnTo>
                          <a:pt x="581" y="408"/>
                        </a:lnTo>
                        <a:lnTo>
                          <a:pt x="573" y="413"/>
                        </a:lnTo>
                        <a:lnTo>
                          <a:pt x="566" y="417"/>
                        </a:lnTo>
                        <a:lnTo>
                          <a:pt x="566" y="417"/>
                        </a:lnTo>
                        <a:lnTo>
                          <a:pt x="542" y="435"/>
                        </a:lnTo>
                        <a:lnTo>
                          <a:pt x="521" y="451"/>
                        </a:lnTo>
                        <a:lnTo>
                          <a:pt x="503" y="468"/>
                        </a:lnTo>
                        <a:lnTo>
                          <a:pt x="485" y="486"/>
                        </a:lnTo>
                        <a:lnTo>
                          <a:pt x="470" y="504"/>
                        </a:lnTo>
                        <a:lnTo>
                          <a:pt x="456" y="521"/>
                        </a:lnTo>
                        <a:lnTo>
                          <a:pt x="430" y="557"/>
                        </a:lnTo>
                        <a:lnTo>
                          <a:pt x="430" y="557"/>
                        </a:lnTo>
                        <a:lnTo>
                          <a:pt x="427" y="561"/>
                        </a:lnTo>
                        <a:lnTo>
                          <a:pt x="424" y="567"/>
                        </a:lnTo>
                        <a:lnTo>
                          <a:pt x="423" y="573"/>
                        </a:lnTo>
                        <a:lnTo>
                          <a:pt x="423" y="578"/>
                        </a:lnTo>
                        <a:lnTo>
                          <a:pt x="424" y="593"/>
                        </a:lnTo>
                        <a:lnTo>
                          <a:pt x="428" y="610"/>
                        </a:lnTo>
                        <a:lnTo>
                          <a:pt x="434" y="626"/>
                        </a:lnTo>
                        <a:lnTo>
                          <a:pt x="439" y="642"/>
                        </a:lnTo>
                        <a:lnTo>
                          <a:pt x="452" y="674"/>
                        </a:lnTo>
                        <a:lnTo>
                          <a:pt x="457" y="688"/>
                        </a:lnTo>
                        <a:lnTo>
                          <a:pt x="460" y="699"/>
                        </a:lnTo>
                        <a:lnTo>
                          <a:pt x="461" y="708"/>
                        </a:lnTo>
                        <a:lnTo>
                          <a:pt x="461" y="711"/>
                        </a:lnTo>
                        <a:lnTo>
                          <a:pt x="460" y="713"/>
                        </a:lnTo>
                        <a:lnTo>
                          <a:pt x="459" y="714"/>
                        </a:lnTo>
                        <a:lnTo>
                          <a:pt x="456" y="714"/>
                        </a:lnTo>
                        <a:lnTo>
                          <a:pt x="452" y="714"/>
                        </a:lnTo>
                        <a:lnTo>
                          <a:pt x="447" y="712"/>
                        </a:lnTo>
                        <a:lnTo>
                          <a:pt x="434" y="703"/>
                        </a:lnTo>
                        <a:lnTo>
                          <a:pt x="415" y="689"/>
                        </a:lnTo>
                        <a:lnTo>
                          <a:pt x="415" y="689"/>
                        </a:lnTo>
                        <a:lnTo>
                          <a:pt x="380" y="696"/>
                        </a:lnTo>
                        <a:lnTo>
                          <a:pt x="348" y="700"/>
                        </a:lnTo>
                        <a:lnTo>
                          <a:pt x="321" y="703"/>
                        </a:lnTo>
                        <a:lnTo>
                          <a:pt x="297" y="703"/>
                        </a:lnTo>
                        <a:lnTo>
                          <a:pt x="275" y="703"/>
                        </a:lnTo>
                        <a:lnTo>
                          <a:pt x="254" y="702"/>
                        </a:lnTo>
                        <a:lnTo>
                          <a:pt x="232" y="700"/>
                        </a:lnTo>
                        <a:lnTo>
                          <a:pt x="209" y="700"/>
                        </a:lnTo>
                        <a:lnTo>
                          <a:pt x="209" y="700"/>
                        </a:lnTo>
                        <a:lnTo>
                          <a:pt x="193" y="700"/>
                        </a:lnTo>
                        <a:lnTo>
                          <a:pt x="179" y="702"/>
                        </a:lnTo>
                        <a:lnTo>
                          <a:pt x="168" y="704"/>
                        </a:lnTo>
                        <a:lnTo>
                          <a:pt x="156" y="707"/>
                        </a:lnTo>
                        <a:lnTo>
                          <a:pt x="148" y="711"/>
                        </a:lnTo>
                        <a:lnTo>
                          <a:pt x="140" y="717"/>
                        </a:lnTo>
                        <a:lnTo>
                          <a:pt x="134" y="722"/>
                        </a:lnTo>
                        <a:lnTo>
                          <a:pt x="130" y="729"/>
                        </a:lnTo>
                        <a:lnTo>
                          <a:pt x="128" y="736"/>
                        </a:lnTo>
                        <a:lnTo>
                          <a:pt x="126" y="745"/>
                        </a:lnTo>
                        <a:lnTo>
                          <a:pt x="126" y="754"/>
                        </a:lnTo>
                        <a:lnTo>
                          <a:pt x="129" y="765"/>
                        </a:lnTo>
                        <a:lnTo>
                          <a:pt x="132" y="776"/>
                        </a:lnTo>
                        <a:lnTo>
                          <a:pt x="137" y="789"/>
                        </a:lnTo>
                        <a:lnTo>
                          <a:pt x="143" y="803"/>
                        </a:lnTo>
                        <a:lnTo>
                          <a:pt x="151" y="818"/>
                        </a:lnTo>
                        <a:lnTo>
                          <a:pt x="151" y="818"/>
                        </a:lnTo>
                        <a:lnTo>
                          <a:pt x="153" y="824"/>
                        </a:lnTo>
                        <a:lnTo>
                          <a:pt x="153" y="829"/>
                        </a:lnTo>
                        <a:lnTo>
                          <a:pt x="153" y="836"/>
                        </a:lnTo>
                        <a:lnTo>
                          <a:pt x="151" y="843"/>
                        </a:lnTo>
                        <a:lnTo>
                          <a:pt x="147" y="859"/>
                        </a:lnTo>
                        <a:lnTo>
                          <a:pt x="144" y="875"/>
                        </a:lnTo>
                        <a:lnTo>
                          <a:pt x="143" y="883"/>
                        </a:lnTo>
                        <a:lnTo>
                          <a:pt x="143" y="893"/>
                        </a:lnTo>
                        <a:lnTo>
                          <a:pt x="144" y="901"/>
                        </a:lnTo>
                        <a:lnTo>
                          <a:pt x="146" y="909"/>
                        </a:lnTo>
                        <a:lnTo>
                          <a:pt x="152" y="916"/>
                        </a:lnTo>
                        <a:lnTo>
                          <a:pt x="159" y="924"/>
                        </a:lnTo>
                        <a:lnTo>
                          <a:pt x="168" y="929"/>
                        </a:lnTo>
                        <a:lnTo>
                          <a:pt x="180" y="935"/>
                        </a:lnTo>
                        <a:lnTo>
                          <a:pt x="180" y="935"/>
                        </a:lnTo>
                        <a:lnTo>
                          <a:pt x="184" y="933"/>
                        </a:lnTo>
                        <a:lnTo>
                          <a:pt x="189" y="934"/>
                        </a:lnTo>
                        <a:lnTo>
                          <a:pt x="192" y="935"/>
                        </a:lnTo>
                        <a:lnTo>
                          <a:pt x="194" y="940"/>
                        </a:lnTo>
                        <a:lnTo>
                          <a:pt x="199" y="951"/>
                        </a:lnTo>
                        <a:lnTo>
                          <a:pt x="202" y="964"/>
                        </a:lnTo>
                        <a:lnTo>
                          <a:pt x="207" y="978"/>
                        </a:lnTo>
                        <a:lnTo>
                          <a:pt x="209" y="983"/>
                        </a:lnTo>
                        <a:lnTo>
                          <a:pt x="212" y="989"/>
                        </a:lnTo>
                        <a:lnTo>
                          <a:pt x="215" y="993"/>
                        </a:lnTo>
                        <a:lnTo>
                          <a:pt x="218" y="994"/>
                        </a:lnTo>
                        <a:lnTo>
                          <a:pt x="223" y="994"/>
                        </a:lnTo>
                        <a:lnTo>
                          <a:pt x="228" y="990"/>
                        </a:lnTo>
                        <a:lnTo>
                          <a:pt x="228" y="990"/>
                        </a:lnTo>
                        <a:lnTo>
                          <a:pt x="239" y="1007"/>
                        </a:lnTo>
                        <a:lnTo>
                          <a:pt x="248" y="1020"/>
                        </a:lnTo>
                        <a:lnTo>
                          <a:pt x="255" y="1033"/>
                        </a:lnTo>
                        <a:lnTo>
                          <a:pt x="256" y="1039"/>
                        </a:lnTo>
                        <a:lnTo>
                          <a:pt x="258" y="1046"/>
                        </a:lnTo>
                        <a:lnTo>
                          <a:pt x="258" y="1051"/>
                        </a:lnTo>
                        <a:lnTo>
                          <a:pt x="256" y="1058"/>
                        </a:lnTo>
                        <a:lnTo>
                          <a:pt x="254" y="1065"/>
                        </a:lnTo>
                        <a:lnTo>
                          <a:pt x="251" y="1072"/>
                        </a:lnTo>
                        <a:lnTo>
                          <a:pt x="246" y="1080"/>
                        </a:lnTo>
                        <a:lnTo>
                          <a:pt x="240" y="1089"/>
                        </a:lnTo>
                        <a:lnTo>
                          <a:pt x="224" y="1108"/>
                        </a:lnTo>
                        <a:lnTo>
                          <a:pt x="224" y="1108"/>
                        </a:lnTo>
                        <a:lnTo>
                          <a:pt x="230" y="1123"/>
                        </a:lnTo>
                        <a:lnTo>
                          <a:pt x="243" y="1157"/>
                        </a:lnTo>
                        <a:lnTo>
                          <a:pt x="250" y="1177"/>
                        </a:lnTo>
                        <a:lnTo>
                          <a:pt x="253" y="1196"/>
                        </a:lnTo>
                        <a:lnTo>
                          <a:pt x="255" y="1206"/>
                        </a:lnTo>
                        <a:lnTo>
                          <a:pt x="255" y="1212"/>
                        </a:lnTo>
                        <a:lnTo>
                          <a:pt x="255" y="1219"/>
                        </a:lnTo>
                        <a:lnTo>
                          <a:pt x="253" y="1225"/>
                        </a:lnTo>
                        <a:lnTo>
                          <a:pt x="253" y="1225"/>
                        </a:lnTo>
                        <a:lnTo>
                          <a:pt x="238" y="1252"/>
                        </a:lnTo>
                        <a:lnTo>
                          <a:pt x="225" y="1269"/>
                        </a:lnTo>
                        <a:lnTo>
                          <a:pt x="221" y="1275"/>
                        </a:lnTo>
                        <a:lnTo>
                          <a:pt x="217" y="1279"/>
                        </a:lnTo>
                        <a:lnTo>
                          <a:pt x="214" y="1282"/>
                        </a:lnTo>
                        <a:lnTo>
                          <a:pt x="210" y="1282"/>
                        </a:lnTo>
                        <a:lnTo>
                          <a:pt x="208" y="1282"/>
                        </a:lnTo>
                        <a:lnTo>
                          <a:pt x="206" y="1280"/>
                        </a:lnTo>
                        <a:lnTo>
                          <a:pt x="202" y="1275"/>
                        </a:lnTo>
                        <a:lnTo>
                          <a:pt x="194" y="1259"/>
                        </a:lnTo>
                        <a:lnTo>
                          <a:pt x="194" y="1259"/>
                        </a:lnTo>
                        <a:lnTo>
                          <a:pt x="205" y="1235"/>
                        </a:lnTo>
                        <a:lnTo>
                          <a:pt x="212" y="1215"/>
                        </a:lnTo>
                        <a:lnTo>
                          <a:pt x="217" y="1196"/>
                        </a:lnTo>
                        <a:lnTo>
                          <a:pt x="220" y="1181"/>
                        </a:lnTo>
                        <a:lnTo>
                          <a:pt x="221" y="1168"/>
                        </a:lnTo>
                        <a:lnTo>
                          <a:pt x="221" y="1157"/>
                        </a:lnTo>
                        <a:lnTo>
                          <a:pt x="220" y="1149"/>
                        </a:lnTo>
                        <a:lnTo>
                          <a:pt x="217" y="1147"/>
                        </a:lnTo>
                        <a:lnTo>
                          <a:pt x="216" y="1146"/>
                        </a:lnTo>
                        <a:lnTo>
                          <a:pt x="214" y="1145"/>
                        </a:lnTo>
                        <a:lnTo>
                          <a:pt x="212" y="1143"/>
                        </a:lnTo>
                        <a:lnTo>
                          <a:pt x="209" y="1145"/>
                        </a:lnTo>
                        <a:lnTo>
                          <a:pt x="206" y="1146"/>
                        </a:lnTo>
                        <a:lnTo>
                          <a:pt x="200" y="1151"/>
                        </a:lnTo>
                        <a:lnTo>
                          <a:pt x="194" y="1160"/>
                        </a:lnTo>
                        <a:lnTo>
                          <a:pt x="186" y="1172"/>
                        </a:lnTo>
                        <a:lnTo>
                          <a:pt x="179" y="1188"/>
                        </a:lnTo>
                        <a:lnTo>
                          <a:pt x="172" y="1209"/>
                        </a:lnTo>
                        <a:lnTo>
                          <a:pt x="166" y="1233"/>
                        </a:lnTo>
                        <a:lnTo>
                          <a:pt x="166" y="1233"/>
                        </a:lnTo>
                        <a:lnTo>
                          <a:pt x="167" y="1222"/>
                        </a:lnTo>
                        <a:lnTo>
                          <a:pt x="169" y="1203"/>
                        </a:lnTo>
                        <a:lnTo>
                          <a:pt x="178" y="1160"/>
                        </a:lnTo>
                        <a:lnTo>
                          <a:pt x="184" y="1137"/>
                        </a:lnTo>
                        <a:lnTo>
                          <a:pt x="191" y="1115"/>
                        </a:lnTo>
                        <a:lnTo>
                          <a:pt x="197" y="1097"/>
                        </a:lnTo>
                        <a:lnTo>
                          <a:pt x="202" y="1086"/>
                        </a:lnTo>
                        <a:lnTo>
                          <a:pt x="202" y="1086"/>
                        </a:lnTo>
                        <a:lnTo>
                          <a:pt x="215" y="1064"/>
                        </a:lnTo>
                        <a:lnTo>
                          <a:pt x="223" y="1047"/>
                        </a:lnTo>
                        <a:lnTo>
                          <a:pt x="228" y="1033"/>
                        </a:lnTo>
                        <a:lnTo>
                          <a:pt x="230" y="1024"/>
                        </a:lnTo>
                        <a:lnTo>
                          <a:pt x="230" y="1020"/>
                        </a:lnTo>
                        <a:lnTo>
                          <a:pt x="229" y="1018"/>
                        </a:lnTo>
                        <a:lnTo>
                          <a:pt x="228" y="1016"/>
                        </a:lnTo>
                        <a:lnTo>
                          <a:pt x="225" y="1015"/>
                        </a:lnTo>
                        <a:lnTo>
                          <a:pt x="221" y="1013"/>
                        </a:lnTo>
                        <a:lnTo>
                          <a:pt x="214" y="1013"/>
                        </a:lnTo>
                        <a:lnTo>
                          <a:pt x="197" y="1016"/>
                        </a:lnTo>
                        <a:lnTo>
                          <a:pt x="189" y="1016"/>
                        </a:lnTo>
                        <a:lnTo>
                          <a:pt x="179" y="1017"/>
                        </a:lnTo>
                        <a:lnTo>
                          <a:pt x="170" y="1016"/>
                        </a:lnTo>
                        <a:lnTo>
                          <a:pt x="162" y="1012"/>
                        </a:lnTo>
                        <a:lnTo>
                          <a:pt x="159" y="1010"/>
                        </a:lnTo>
                        <a:lnTo>
                          <a:pt x="155" y="1007"/>
                        </a:lnTo>
                        <a:lnTo>
                          <a:pt x="153" y="1003"/>
                        </a:lnTo>
                        <a:lnTo>
                          <a:pt x="151" y="997"/>
                        </a:lnTo>
                        <a:lnTo>
                          <a:pt x="151" y="997"/>
                        </a:lnTo>
                        <a:lnTo>
                          <a:pt x="141" y="979"/>
                        </a:lnTo>
                        <a:lnTo>
                          <a:pt x="132" y="963"/>
                        </a:lnTo>
                        <a:lnTo>
                          <a:pt x="122" y="950"/>
                        </a:lnTo>
                        <a:lnTo>
                          <a:pt x="111" y="940"/>
                        </a:lnTo>
                        <a:lnTo>
                          <a:pt x="87" y="918"/>
                        </a:lnTo>
                        <a:lnTo>
                          <a:pt x="72" y="905"/>
                        </a:lnTo>
                        <a:lnTo>
                          <a:pt x="55" y="888"/>
                        </a:lnTo>
                        <a:lnTo>
                          <a:pt x="55" y="888"/>
                        </a:lnTo>
                        <a:lnTo>
                          <a:pt x="54" y="890"/>
                        </a:lnTo>
                        <a:lnTo>
                          <a:pt x="50" y="893"/>
                        </a:lnTo>
                        <a:lnTo>
                          <a:pt x="45" y="895"/>
                        </a:lnTo>
                        <a:lnTo>
                          <a:pt x="37" y="895"/>
                        </a:lnTo>
                        <a:lnTo>
                          <a:pt x="37" y="895"/>
                        </a:lnTo>
                        <a:lnTo>
                          <a:pt x="33" y="902"/>
                        </a:lnTo>
                        <a:lnTo>
                          <a:pt x="32" y="908"/>
                        </a:lnTo>
                        <a:lnTo>
                          <a:pt x="33" y="921"/>
                        </a:lnTo>
                        <a:lnTo>
                          <a:pt x="33" y="921"/>
                        </a:lnTo>
                        <a:lnTo>
                          <a:pt x="33" y="928"/>
                        </a:lnTo>
                        <a:lnTo>
                          <a:pt x="36" y="934"/>
                        </a:lnTo>
                        <a:lnTo>
                          <a:pt x="39" y="939"/>
                        </a:lnTo>
                        <a:lnTo>
                          <a:pt x="44" y="942"/>
                        </a:lnTo>
                        <a:lnTo>
                          <a:pt x="48" y="946"/>
                        </a:lnTo>
                        <a:lnTo>
                          <a:pt x="54" y="948"/>
                        </a:lnTo>
                        <a:lnTo>
                          <a:pt x="67" y="952"/>
                        </a:lnTo>
                        <a:lnTo>
                          <a:pt x="79" y="957"/>
                        </a:lnTo>
                        <a:lnTo>
                          <a:pt x="85" y="960"/>
                        </a:lnTo>
                        <a:lnTo>
                          <a:pt x="91" y="964"/>
                        </a:lnTo>
                        <a:lnTo>
                          <a:pt x="95" y="967"/>
                        </a:lnTo>
                        <a:lnTo>
                          <a:pt x="99" y="973"/>
                        </a:lnTo>
                        <a:lnTo>
                          <a:pt x="101" y="979"/>
                        </a:lnTo>
                        <a:lnTo>
                          <a:pt x="103" y="987"/>
                        </a:lnTo>
                        <a:lnTo>
                          <a:pt x="103" y="987"/>
                        </a:lnTo>
                        <a:lnTo>
                          <a:pt x="103" y="998"/>
                        </a:lnTo>
                        <a:lnTo>
                          <a:pt x="103" y="1008"/>
                        </a:lnTo>
                        <a:lnTo>
                          <a:pt x="101" y="1015"/>
                        </a:lnTo>
                        <a:lnTo>
                          <a:pt x="98" y="1021"/>
                        </a:lnTo>
                        <a:lnTo>
                          <a:pt x="94" y="1026"/>
                        </a:lnTo>
                        <a:lnTo>
                          <a:pt x="90" y="1030"/>
                        </a:lnTo>
                        <a:lnTo>
                          <a:pt x="85" y="1032"/>
                        </a:lnTo>
                        <a:lnTo>
                          <a:pt x="80" y="1034"/>
                        </a:lnTo>
                        <a:lnTo>
                          <a:pt x="70" y="1039"/>
                        </a:lnTo>
                        <a:lnTo>
                          <a:pt x="61" y="1042"/>
                        </a:lnTo>
                        <a:lnTo>
                          <a:pt x="57" y="1046"/>
                        </a:lnTo>
                        <a:lnTo>
                          <a:pt x="54" y="1049"/>
                        </a:lnTo>
                        <a:lnTo>
                          <a:pt x="53" y="1054"/>
                        </a:lnTo>
                        <a:lnTo>
                          <a:pt x="52" y="1061"/>
                        </a:lnTo>
                        <a:lnTo>
                          <a:pt x="52" y="1061"/>
                        </a:lnTo>
                        <a:lnTo>
                          <a:pt x="53" y="1066"/>
                        </a:lnTo>
                        <a:lnTo>
                          <a:pt x="54" y="1072"/>
                        </a:lnTo>
                        <a:lnTo>
                          <a:pt x="56" y="1078"/>
                        </a:lnTo>
                        <a:lnTo>
                          <a:pt x="60" y="1082"/>
                        </a:lnTo>
                        <a:lnTo>
                          <a:pt x="68" y="1094"/>
                        </a:lnTo>
                        <a:lnTo>
                          <a:pt x="77" y="1105"/>
                        </a:lnTo>
                        <a:lnTo>
                          <a:pt x="87" y="1118"/>
                        </a:lnTo>
                        <a:lnTo>
                          <a:pt x="91" y="1126"/>
                        </a:lnTo>
                        <a:lnTo>
                          <a:pt x="95" y="1133"/>
                        </a:lnTo>
                        <a:lnTo>
                          <a:pt x="98" y="1141"/>
                        </a:lnTo>
                        <a:lnTo>
                          <a:pt x="101" y="1150"/>
                        </a:lnTo>
                        <a:lnTo>
                          <a:pt x="102" y="1161"/>
                        </a:lnTo>
                        <a:lnTo>
                          <a:pt x="103" y="1171"/>
                        </a:lnTo>
                        <a:lnTo>
                          <a:pt x="103" y="1171"/>
                        </a:lnTo>
                        <a:lnTo>
                          <a:pt x="102" y="1187"/>
                        </a:lnTo>
                        <a:lnTo>
                          <a:pt x="99" y="1201"/>
                        </a:lnTo>
                        <a:lnTo>
                          <a:pt x="93" y="1211"/>
                        </a:lnTo>
                        <a:lnTo>
                          <a:pt x="87" y="1221"/>
                        </a:lnTo>
                        <a:lnTo>
                          <a:pt x="79" y="1229"/>
                        </a:lnTo>
                        <a:lnTo>
                          <a:pt x="70" y="1234"/>
                        </a:lnTo>
                        <a:lnTo>
                          <a:pt x="52" y="1246"/>
                        </a:lnTo>
                        <a:lnTo>
                          <a:pt x="32" y="1256"/>
                        </a:lnTo>
                        <a:lnTo>
                          <a:pt x="24" y="1262"/>
                        </a:lnTo>
                        <a:lnTo>
                          <a:pt x="16" y="1269"/>
                        </a:lnTo>
                        <a:lnTo>
                          <a:pt x="9" y="1278"/>
                        </a:lnTo>
                        <a:lnTo>
                          <a:pt x="4" y="1288"/>
                        </a:lnTo>
                        <a:lnTo>
                          <a:pt x="1" y="1302"/>
                        </a:lnTo>
                        <a:lnTo>
                          <a:pt x="0" y="1317"/>
                        </a:lnTo>
                        <a:lnTo>
                          <a:pt x="0" y="1317"/>
                        </a:lnTo>
                        <a:lnTo>
                          <a:pt x="1" y="1325"/>
                        </a:lnTo>
                        <a:lnTo>
                          <a:pt x="3" y="1332"/>
                        </a:lnTo>
                        <a:lnTo>
                          <a:pt x="7" y="1340"/>
                        </a:lnTo>
                        <a:lnTo>
                          <a:pt x="11" y="1348"/>
                        </a:lnTo>
                        <a:lnTo>
                          <a:pt x="17" y="1356"/>
                        </a:lnTo>
                        <a:lnTo>
                          <a:pt x="23" y="1366"/>
                        </a:lnTo>
                        <a:lnTo>
                          <a:pt x="38" y="1380"/>
                        </a:lnTo>
                        <a:lnTo>
                          <a:pt x="54" y="1394"/>
                        </a:lnTo>
                        <a:lnTo>
                          <a:pt x="63" y="1401"/>
                        </a:lnTo>
                        <a:lnTo>
                          <a:pt x="71" y="1406"/>
                        </a:lnTo>
                        <a:lnTo>
                          <a:pt x="80" y="1410"/>
                        </a:lnTo>
                        <a:lnTo>
                          <a:pt x="88" y="1414"/>
                        </a:lnTo>
                        <a:lnTo>
                          <a:pt x="95" y="1416"/>
                        </a:lnTo>
                        <a:lnTo>
                          <a:pt x="103" y="1416"/>
                        </a:lnTo>
                        <a:lnTo>
                          <a:pt x="103" y="1416"/>
                        </a:lnTo>
                        <a:lnTo>
                          <a:pt x="110" y="1416"/>
                        </a:lnTo>
                        <a:lnTo>
                          <a:pt x="115" y="1415"/>
                        </a:lnTo>
                        <a:lnTo>
                          <a:pt x="122" y="1414"/>
                        </a:lnTo>
                        <a:lnTo>
                          <a:pt x="126" y="1412"/>
                        </a:lnTo>
                        <a:lnTo>
                          <a:pt x="132" y="1413"/>
                        </a:lnTo>
                        <a:lnTo>
                          <a:pt x="132" y="1413"/>
                        </a:lnTo>
                        <a:lnTo>
                          <a:pt x="139" y="1421"/>
                        </a:lnTo>
                        <a:lnTo>
                          <a:pt x="146" y="1428"/>
                        </a:lnTo>
                        <a:lnTo>
                          <a:pt x="162" y="1441"/>
                        </a:lnTo>
                        <a:lnTo>
                          <a:pt x="169" y="1450"/>
                        </a:lnTo>
                        <a:lnTo>
                          <a:pt x="175" y="1460"/>
                        </a:lnTo>
                        <a:lnTo>
                          <a:pt x="177" y="1466"/>
                        </a:lnTo>
                        <a:lnTo>
                          <a:pt x="178" y="1471"/>
                        </a:lnTo>
                        <a:lnTo>
                          <a:pt x="179" y="1478"/>
                        </a:lnTo>
                        <a:lnTo>
                          <a:pt x="180" y="1486"/>
                        </a:lnTo>
                        <a:lnTo>
                          <a:pt x="180" y="1486"/>
                        </a:lnTo>
                        <a:lnTo>
                          <a:pt x="179" y="1501"/>
                        </a:lnTo>
                        <a:lnTo>
                          <a:pt x="179" y="1507"/>
                        </a:lnTo>
                        <a:lnTo>
                          <a:pt x="178" y="1513"/>
                        </a:lnTo>
                        <a:lnTo>
                          <a:pt x="176" y="1517"/>
                        </a:lnTo>
                        <a:lnTo>
                          <a:pt x="172" y="1522"/>
                        </a:lnTo>
                        <a:lnTo>
                          <a:pt x="168" y="1527"/>
                        </a:lnTo>
                        <a:lnTo>
                          <a:pt x="162" y="1530"/>
                        </a:lnTo>
                        <a:lnTo>
                          <a:pt x="162" y="1530"/>
                        </a:lnTo>
                        <a:lnTo>
                          <a:pt x="166" y="1548"/>
                        </a:lnTo>
                        <a:lnTo>
                          <a:pt x="169" y="1560"/>
                        </a:lnTo>
                        <a:lnTo>
                          <a:pt x="169" y="1560"/>
                        </a:lnTo>
                        <a:close/>
                      </a:path>
                    </a:pathLst>
                  </a:custGeom>
                  <a:noFill/>
                  <a:ln w="9525" cap="flat" cmpd="sng" algn="ctr">
                    <a:noFill/>
                    <a:prstDash val="solid"/>
                    <a:headEnd/>
                    <a:tailEnd/>
                  </a:ln>
                  <a:effectLst/>
                </p:spPr>
                <p:txBody>
                  <a:bodyPr lIns="0" tIns="23006" rIns="0" bIns="0" anchor="ctr" anchorCtr="1"/>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indent="-171438" defTabSz="316493" fontAlgn="auto">
                      <a:lnSpc>
                        <a:spcPct val="90000"/>
                      </a:lnSpc>
                      <a:spcBef>
                        <a:spcPts val="0"/>
                      </a:spcBef>
                      <a:spcAft>
                        <a:spcPts val="575"/>
                      </a:spcAft>
                      <a:defRPr/>
                    </a:pPr>
                    <a:endParaRPr lang="ru-RU" sz="600" b="1" kern="0" dirty="0">
                      <a:solidFill>
                        <a:srgbClr val="53505E"/>
                      </a:solidFill>
                      <a:latin typeface="+mn-lt"/>
                      <a:cs typeface="Arial" panose="020B0604020202020204" pitchFamily="34" charset="0"/>
                    </a:endParaRPr>
                  </a:p>
                </p:txBody>
              </p:sp>
              <p:sp>
                <p:nvSpPr>
                  <p:cNvPr id="224" name="Diamond 338"/>
                  <p:cNvSpPr>
                    <a:spLocks noChangeArrowheads="1"/>
                  </p:cNvSpPr>
                  <p:nvPr/>
                </p:nvSpPr>
                <p:spPr bwMode="auto">
                  <a:xfrm>
                    <a:off x="8534402" y="3511518"/>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25" name="Diamond 339"/>
                  <p:cNvSpPr>
                    <a:spLocks noChangeArrowheads="1"/>
                  </p:cNvSpPr>
                  <p:nvPr/>
                </p:nvSpPr>
                <p:spPr bwMode="auto">
                  <a:xfrm>
                    <a:off x="8620127" y="3659154"/>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26" name="TextBox 179"/>
                  <p:cNvSpPr txBox="1">
                    <a:spLocks noChangeArrowheads="1"/>
                  </p:cNvSpPr>
                  <p:nvPr/>
                </p:nvSpPr>
                <p:spPr bwMode="auto">
                  <a:xfrm>
                    <a:off x="4638673" y="2803458"/>
                    <a:ext cx="498474"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 Ижевск</a:t>
                    </a:r>
                  </a:p>
                </p:txBody>
              </p:sp>
              <p:sp>
                <p:nvSpPr>
                  <p:cNvPr id="227" name="TextBox 184"/>
                  <p:cNvSpPr txBox="1">
                    <a:spLocks noChangeArrowheads="1"/>
                  </p:cNvSpPr>
                  <p:nvPr/>
                </p:nvSpPr>
                <p:spPr bwMode="auto">
                  <a:xfrm>
                    <a:off x="7726260" y="3750299"/>
                    <a:ext cx="103505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Комсомольск-на-Амуре</a:t>
                    </a:r>
                  </a:p>
                </p:txBody>
              </p:sp>
              <p:sp>
                <p:nvSpPr>
                  <p:cNvPr id="228" name="TextBox 190"/>
                  <p:cNvSpPr txBox="1">
                    <a:spLocks noChangeArrowheads="1"/>
                  </p:cNvSpPr>
                  <p:nvPr/>
                </p:nvSpPr>
                <p:spPr bwMode="auto">
                  <a:xfrm>
                    <a:off x="3870677" y="2055507"/>
                    <a:ext cx="68104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Санкт-Петербург</a:t>
                    </a:r>
                  </a:p>
                </p:txBody>
              </p:sp>
              <p:sp>
                <p:nvSpPr>
                  <p:cNvPr id="229" name="5-Point Star 217"/>
                  <p:cNvSpPr/>
                  <p:nvPr/>
                </p:nvSpPr>
                <p:spPr bwMode="auto">
                  <a:xfrm>
                    <a:off x="3036593" y="3402698"/>
                    <a:ext cx="165104" cy="146096"/>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30" name="TextBox 218"/>
                  <p:cNvSpPr txBox="1">
                    <a:spLocks noChangeArrowheads="1"/>
                  </p:cNvSpPr>
                  <p:nvPr/>
                </p:nvSpPr>
                <p:spPr bwMode="auto">
                  <a:xfrm>
                    <a:off x="3251199" y="3309906"/>
                    <a:ext cx="70961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Краснодар</a:t>
                    </a:r>
                  </a:p>
                </p:txBody>
              </p:sp>
              <p:sp>
                <p:nvSpPr>
                  <p:cNvPr id="231" name="TextBox 220"/>
                  <p:cNvSpPr txBox="1">
                    <a:spLocks noChangeArrowheads="1"/>
                  </p:cNvSpPr>
                  <p:nvPr/>
                </p:nvSpPr>
                <p:spPr bwMode="auto">
                  <a:xfrm>
                    <a:off x="3288395" y="3422744"/>
                    <a:ext cx="70961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Ставрополь</a:t>
                    </a:r>
                  </a:p>
                </p:txBody>
              </p:sp>
              <p:sp>
                <p:nvSpPr>
                  <p:cNvPr id="232" name="TextBox 222"/>
                  <p:cNvSpPr txBox="1">
                    <a:spLocks noChangeArrowheads="1"/>
                  </p:cNvSpPr>
                  <p:nvPr/>
                </p:nvSpPr>
                <p:spPr bwMode="auto">
                  <a:xfrm>
                    <a:off x="3080294" y="3539907"/>
                    <a:ext cx="612776"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Туапсе</a:t>
                    </a:r>
                  </a:p>
                </p:txBody>
              </p:sp>
              <p:sp>
                <p:nvSpPr>
                  <p:cNvPr id="233" name="Diamond 223"/>
                  <p:cNvSpPr>
                    <a:spLocks noChangeArrowheads="1"/>
                  </p:cNvSpPr>
                  <p:nvPr/>
                </p:nvSpPr>
                <p:spPr bwMode="auto">
                  <a:xfrm>
                    <a:off x="3285093" y="3690047"/>
                    <a:ext cx="42862"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34" name="TextBox 224"/>
                  <p:cNvSpPr txBox="1">
                    <a:spLocks noChangeArrowheads="1"/>
                  </p:cNvSpPr>
                  <p:nvPr/>
                </p:nvSpPr>
                <p:spPr bwMode="auto">
                  <a:xfrm>
                    <a:off x="3062540" y="3721064"/>
                    <a:ext cx="490537"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Нефтекумск</a:t>
                    </a:r>
                    <a:endParaRPr kumimoji="0" lang="ru-RU" altLang="ru-RU" sz="600" b="1" dirty="0">
                      <a:solidFill>
                        <a:srgbClr val="53505E"/>
                      </a:solidFill>
                      <a:latin typeface="+mn-lt"/>
                    </a:endParaRPr>
                  </a:p>
                </p:txBody>
              </p:sp>
              <p:sp>
                <p:nvSpPr>
                  <p:cNvPr id="235" name="TextBox 226"/>
                  <p:cNvSpPr txBox="1">
                    <a:spLocks noChangeArrowheads="1"/>
                  </p:cNvSpPr>
                  <p:nvPr/>
                </p:nvSpPr>
                <p:spPr bwMode="auto">
                  <a:xfrm>
                    <a:off x="3324779" y="3152554"/>
                    <a:ext cx="376239"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Волгоград</a:t>
                    </a:r>
                  </a:p>
                </p:txBody>
              </p:sp>
              <p:sp>
                <p:nvSpPr>
                  <p:cNvPr id="236" name="Diamond 229"/>
                  <p:cNvSpPr>
                    <a:spLocks noChangeArrowheads="1"/>
                  </p:cNvSpPr>
                  <p:nvPr/>
                </p:nvSpPr>
                <p:spPr bwMode="auto">
                  <a:xfrm>
                    <a:off x="4633914" y="1770045"/>
                    <a:ext cx="44450"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37" name="TextBox 230"/>
                  <p:cNvSpPr txBox="1">
                    <a:spLocks noChangeArrowheads="1"/>
                  </p:cNvSpPr>
                  <p:nvPr/>
                </p:nvSpPr>
                <p:spPr bwMode="auto">
                  <a:xfrm>
                    <a:off x="4718351" y="1747517"/>
                    <a:ext cx="4889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chemeClr val="bg1"/>
                        </a:solidFill>
                        <a:latin typeface="+mn-lt"/>
                      </a:rPr>
                      <a:t>Мурманск</a:t>
                    </a:r>
                  </a:p>
                </p:txBody>
              </p:sp>
              <p:sp>
                <p:nvSpPr>
                  <p:cNvPr id="238" name="TextBox 232"/>
                  <p:cNvSpPr txBox="1">
                    <a:spLocks noChangeArrowheads="1"/>
                  </p:cNvSpPr>
                  <p:nvPr/>
                </p:nvSpPr>
                <p:spPr bwMode="auto">
                  <a:xfrm>
                    <a:off x="4033358" y="2286771"/>
                    <a:ext cx="6794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b="1" dirty="0">
                        <a:solidFill>
                          <a:srgbClr val="53505E"/>
                        </a:solidFill>
                        <a:latin typeface="+mn-lt"/>
                      </a:rPr>
                      <a:t>Архангельск</a:t>
                    </a:r>
                  </a:p>
                </p:txBody>
              </p:sp>
              <p:sp>
                <p:nvSpPr>
                  <p:cNvPr id="239" name="TextBox 234"/>
                  <p:cNvSpPr txBox="1">
                    <a:spLocks noChangeArrowheads="1"/>
                  </p:cNvSpPr>
                  <p:nvPr/>
                </p:nvSpPr>
                <p:spPr bwMode="auto">
                  <a:xfrm>
                    <a:off x="3559163" y="3051504"/>
                    <a:ext cx="365124"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Сызрань</a:t>
                    </a:r>
                  </a:p>
                </p:txBody>
              </p:sp>
              <p:sp>
                <p:nvSpPr>
                  <p:cNvPr id="240" name="Diamond 235"/>
                  <p:cNvSpPr>
                    <a:spLocks noChangeArrowheads="1"/>
                  </p:cNvSpPr>
                  <p:nvPr/>
                </p:nvSpPr>
                <p:spPr bwMode="auto">
                  <a:xfrm>
                    <a:off x="5372102" y="2674912"/>
                    <a:ext cx="42863"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41" name="TextBox 236"/>
                  <p:cNvSpPr txBox="1">
                    <a:spLocks noChangeArrowheads="1"/>
                  </p:cNvSpPr>
                  <p:nvPr/>
                </p:nvSpPr>
                <p:spPr bwMode="auto">
                  <a:xfrm>
                    <a:off x="5441927" y="2651527"/>
                    <a:ext cx="36036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Салехард</a:t>
                    </a:r>
                  </a:p>
                </p:txBody>
              </p:sp>
              <p:sp>
                <p:nvSpPr>
                  <p:cNvPr id="242" name="TextBox 237"/>
                  <p:cNvSpPr txBox="1">
                    <a:spLocks noChangeArrowheads="1"/>
                  </p:cNvSpPr>
                  <p:nvPr/>
                </p:nvSpPr>
                <p:spPr bwMode="auto">
                  <a:xfrm>
                    <a:off x="4818364" y="3466658"/>
                    <a:ext cx="4889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Курган</a:t>
                    </a:r>
                    <a:endParaRPr kumimoji="0" lang="ru-RU" altLang="ru-RU" sz="600" b="1" dirty="0">
                      <a:solidFill>
                        <a:srgbClr val="53505E"/>
                      </a:solidFill>
                      <a:latin typeface="+mn-lt"/>
                    </a:endParaRPr>
                  </a:p>
                </p:txBody>
              </p:sp>
              <p:sp>
                <p:nvSpPr>
                  <p:cNvPr id="243" name="Diamond 238"/>
                  <p:cNvSpPr>
                    <a:spLocks noChangeArrowheads="1"/>
                  </p:cNvSpPr>
                  <p:nvPr/>
                </p:nvSpPr>
                <p:spPr bwMode="auto">
                  <a:xfrm>
                    <a:off x="4759326" y="3489293"/>
                    <a:ext cx="42863"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44" name="TextBox 240"/>
                  <p:cNvSpPr txBox="1">
                    <a:spLocks noChangeArrowheads="1"/>
                  </p:cNvSpPr>
                  <p:nvPr/>
                </p:nvSpPr>
                <p:spPr bwMode="auto">
                  <a:xfrm>
                    <a:off x="3560879" y="2968098"/>
                    <a:ext cx="2730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Пенза</a:t>
                    </a:r>
                    <a:endParaRPr kumimoji="0" lang="ru-RU" altLang="ru-RU" sz="600" b="1" dirty="0">
                      <a:solidFill>
                        <a:srgbClr val="53505E"/>
                      </a:solidFill>
                      <a:latin typeface="+mn-lt"/>
                    </a:endParaRPr>
                  </a:p>
                </p:txBody>
              </p:sp>
              <p:sp>
                <p:nvSpPr>
                  <p:cNvPr id="245" name="Diamond 241"/>
                  <p:cNvSpPr>
                    <a:spLocks noChangeArrowheads="1"/>
                  </p:cNvSpPr>
                  <p:nvPr/>
                </p:nvSpPr>
                <p:spPr bwMode="auto">
                  <a:xfrm>
                    <a:off x="3806825" y="2997173"/>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46" name="Diamond 242"/>
                  <p:cNvSpPr>
                    <a:spLocks noChangeArrowheads="1"/>
                  </p:cNvSpPr>
                  <p:nvPr/>
                </p:nvSpPr>
                <p:spPr bwMode="auto">
                  <a:xfrm>
                    <a:off x="4075114" y="2993997"/>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47" name="TextBox 243"/>
                  <p:cNvSpPr txBox="1">
                    <a:spLocks noChangeArrowheads="1"/>
                  </p:cNvSpPr>
                  <p:nvPr/>
                </p:nvSpPr>
                <p:spPr bwMode="auto">
                  <a:xfrm>
                    <a:off x="4144964" y="2967007"/>
                    <a:ext cx="4889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Ульяновск</a:t>
                    </a:r>
                    <a:endParaRPr kumimoji="0" lang="ru-RU" altLang="ru-RU" sz="600" b="1" dirty="0">
                      <a:solidFill>
                        <a:srgbClr val="53505E"/>
                      </a:solidFill>
                      <a:latin typeface="+mn-lt"/>
                    </a:endParaRPr>
                  </a:p>
                </p:txBody>
              </p:sp>
              <p:sp>
                <p:nvSpPr>
                  <p:cNvPr id="248" name="5-Point Star 244"/>
                  <p:cNvSpPr/>
                  <p:nvPr/>
                </p:nvSpPr>
                <p:spPr bwMode="auto">
                  <a:xfrm>
                    <a:off x="3982768" y="3042220"/>
                    <a:ext cx="163517" cy="144510"/>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49" name="TextBox 245"/>
                  <p:cNvSpPr txBox="1">
                    <a:spLocks noChangeArrowheads="1"/>
                  </p:cNvSpPr>
                  <p:nvPr/>
                </p:nvSpPr>
                <p:spPr bwMode="auto">
                  <a:xfrm>
                    <a:off x="4070224" y="3194472"/>
                    <a:ext cx="1063627"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Новокуйбышевск</a:t>
                    </a:r>
                  </a:p>
                </p:txBody>
              </p:sp>
              <p:sp>
                <p:nvSpPr>
                  <p:cNvPr id="250" name="Diamond 247"/>
                  <p:cNvSpPr>
                    <a:spLocks noChangeArrowheads="1"/>
                  </p:cNvSpPr>
                  <p:nvPr/>
                </p:nvSpPr>
                <p:spPr bwMode="auto">
                  <a:xfrm>
                    <a:off x="4016019" y="3219223"/>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51" name="TextBox 249"/>
                  <p:cNvSpPr txBox="1">
                    <a:spLocks noChangeArrowheads="1"/>
                  </p:cNvSpPr>
                  <p:nvPr/>
                </p:nvSpPr>
                <p:spPr bwMode="auto">
                  <a:xfrm>
                    <a:off x="4154489" y="3054309"/>
                    <a:ext cx="4889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Самара</a:t>
                    </a:r>
                  </a:p>
                </p:txBody>
              </p:sp>
              <p:sp>
                <p:nvSpPr>
                  <p:cNvPr id="252" name="TextBox 258"/>
                  <p:cNvSpPr txBox="1">
                    <a:spLocks noChangeArrowheads="1"/>
                  </p:cNvSpPr>
                  <p:nvPr/>
                </p:nvSpPr>
                <p:spPr bwMode="auto">
                  <a:xfrm>
                    <a:off x="5383213" y="3114647"/>
                    <a:ext cx="1070545"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Нефтеюганск</a:t>
                    </a:r>
                  </a:p>
                </p:txBody>
              </p:sp>
              <p:sp>
                <p:nvSpPr>
                  <p:cNvPr id="253" name="5-Point Star 259"/>
                  <p:cNvSpPr/>
                  <p:nvPr/>
                </p:nvSpPr>
                <p:spPr bwMode="auto">
                  <a:xfrm>
                    <a:off x="5211525" y="3083507"/>
                    <a:ext cx="165104" cy="144510"/>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54" name="TextBox 260"/>
                  <p:cNvSpPr txBox="1">
                    <a:spLocks noChangeArrowheads="1"/>
                  </p:cNvSpPr>
                  <p:nvPr/>
                </p:nvSpPr>
                <p:spPr bwMode="auto">
                  <a:xfrm>
                    <a:off x="6297618" y="3767101"/>
                    <a:ext cx="79216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Красноярск</a:t>
                    </a:r>
                  </a:p>
                </p:txBody>
              </p:sp>
              <p:sp>
                <p:nvSpPr>
                  <p:cNvPr id="255" name="5-Point Star 261"/>
                  <p:cNvSpPr/>
                  <p:nvPr/>
                </p:nvSpPr>
                <p:spPr bwMode="auto">
                  <a:xfrm>
                    <a:off x="6119599" y="3745707"/>
                    <a:ext cx="163517" cy="146096"/>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56" name="5-Point Star 267"/>
                  <p:cNvSpPr/>
                  <p:nvPr/>
                </p:nvSpPr>
                <p:spPr bwMode="auto">
                  <a:xfrm>
                    <a:off x="8242141" y="3964853"/>
                    <a:ext cx="163516" cy="144509"/>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57" name="TextBox 269"/>
                  <p:cNvSpPr txBox="1">
                    <a:spLocks noChangeArrowheads="1"/>
                  </p:cNvSpPr>
                  <p:nvPr/>
                </p:nvSpPr>
                <p:spPr bwMode="auto">
                  <a:xfrm>
                    <a:off x="4727107" y="2480077"/>
                    <a:ext cx="4889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b="1" dirty="0">
                        <a:solidFill>
                          <a:srgbClr val="53505E"/>
                        </a:solidFill>
                        <a:latin typeface="+mn-lt"/>
                      </a:rPr>
                      <a:t>Усинск</a:t>
                    </a:r>
                  </a:p>
                </p:txBody>
              </p:sp>
              <p:sp>
                <p:nvSpPr>
                  <p:cNvPr id="258" name="TextBox 271"/>
                  <p:cNvSpPr txBox="1">
                    <a:spLocks noChangeArrowheads="1"/>
                  </p:cNvSpPr>
                  <p:nvPr/>
                </p:nvSpPr>
                <p:spPr bwMode="auto">
                  <a:xfrm>
                    <a:off x="3163332" y="2925004"/>
                    <a:ext cx="376238"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chemeClr val="bg1"/>
                        </a:solidFill>
                        <a:latin typeface="+mn-lt"/>
                      </a:rPr>
                      <a:t>Воронеж</a:t>
                    </a:r>
                  </a:p>
                </p:txBody>
              </p:sp>
              <p:sp>
                <p:nvSpPr>
                  <p:cNvPr id="259" name="Diamond 272"/>
                  <p:cNvSpPr>
                    <a:spLocks noChangeArrowheads="1"/>
                  </p:cNvSpPr>
                  <p:nvPr/>
                </p:nvSpPr>
                <p:spPr bwMode="auto">
                  <a:xfrm>
                    <a:off x="3735388" y="2919385"/>
                    <a:ext cx="42862"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60" name="Diamond 273"/>
                  <p:cNvSpPr>
                    <a:spLocks noChangeArrowheads="1"/>
                  </p:cNvSpPr>
                  <p:nvPr/>
                </p:nvSpPr>
                <p:spPr bwMode="auto">
                  <a:xfrm>
                    <a:off x="3660776" y="2882873"/>
                    <a:ext cx="42863"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61" name="Diamond 274"/>
                  <p:cNvSpPr>
                    <a:spLocks noChangeArrowheads="1"/>
                  </p:cNvSpPr>
                  <p:nvPr/>
                </p:nvSpPr>
                <p:spPr bwMode="auto">
                  <a:xfrm>
                    <a:off x="3398839" y="2843186"/>
                    <a:ext cx="42862"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62" name="Diamond 275"/>
                  <p:cNvSpPr>
                    <a:spLocks noChangeArrowheads="1"/>
                  </p:cNvSpPr>
                  <p:nvPr/>
                </p:nvSpPr>
                <p:spPr bwMode="auto">
                  <a:xfrm>
                    <a:off x="3419350" y="2570567"/>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63" name="Diamond 276"/>
                  <p:cNvSpPr>
                    <a:spLocks noChangeArrowheads="1"/>
                  </p:cNvSpPr>
                  <p:nvPr/>
                </p:nvSpPr>
                <p:spPr bwMode="auto">
                  <a:xfrm>
                    <a:off x="3552826" y="2462189"/>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64" name="TextBox 277"/>
                  <p:cNvSpPr txBox="1">
                    <a:spLocks noChangeArrowheads="1"/>
                  </p:cNvSpPr>
                  <p:nvPr/>
                </p:nvSpPr>
                <p:spPr bwMode="auto">
                  <a:xfrm>
                    <a:off x="3042857" y="2813025"/>
                    <a:ext cx="514174"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chemeClr val="bg1"/>
                        </a:solidFill>
                        <a:latin typeface="+mn-lt"/>
                      </a:rPr>
                      <a:t>Белгород</a:t>
                    </a:r>
                    <a:endParaRPr kumimoji="0" lang="ru-RU" altLang="ru-RU" sz="600" b="1" dirty="0">
                      <a:solidFill>
                        <a:schemeClr val="bg1"/>
                      </a:solidFill>
                      <a:latin typeface="+mn-lt"/>
                    </a:endParaRPr>
                  </a:p>
                </p:txBody>
              </p:sp>
              <p:sp>
                <p:nvSpPr>
                  <p:cNvPr id="265" name="TextBox 278"/>
                  <p:cNvSpPr txBox="1">
                    <a:spLocks noChangeArrowheads="1"/>
                  </p:cNvSpPr>
                  <p:nvPr/>
                </p:nvSpPr>
                <p:spPr bwMode="auto">
                  <a:xfrm>
                    <a:off x="3050172" y="2477197"/>
                    <a:ext cx="31483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dirty="0">
                        <a:solidFill>
                          <a:schemeClr val="bg1"/>
                        </a:solidFill>
                        <a:latin typeface="+mn-lt"/>
                      </a:rPr>
                      <a:t>Брянск</a:t>
                    </a:r>
                    <a:endParaRPr kumimoji="0" lang="ru-RU" altLang="ru-RU" sz="600" b="1" dirty="0">
                      <a:solidFill>
                        <a:schemeClr val="bg1"/>
                      </a:solidFill>
                      <a:latin typeface="+mn-lt"/>
                    </a:endParaRPr>
                  </a:p>
                </p:txBody>
              </p:sp>
              <p:sp>
                <p:nvSpPr>
                  <p:cNvPr id="266" name="TextBox 279"/>
                  <p:cNvSpPr txBox="1">
                    <a:spLocks noChangeArrowheads="1"/>
                  </p:cNvSpPr>
                  <p:nvPr/>
                </p:nvSpPr>
                <p:spPr bwMode="auto">
                  <a:xfrm>
                    <a:off x="3493295" y="2325397"/>
                    <a:ext cx="47625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Смоленск</a:t>
                    </a:r>
                    <a:endParaRPr kumimoji="0" lang="ru-RU" altLang="ru-RU" sz="600" b="1" dirty="0">
                      <a:solidFill>
                        <a:srgbClr val="53505E"/>
                      </a:solidFill>
                      <a:latin typeface="+mn-lt"/>
                    </a:endParaRPr>
                  </a:p>
                </p:txBody>
              </p:sp>
              <p:sp>
                <p:nvSpPr>
                  <p:cNvPr id="267" name="TextBox 280"/>
                  <p:cNvSpPr txBox="1">
                    <a:spLocks noChangeArrowheads="1"/>
                  </p:cNvSpPr>
                  <p:nvPr/>
                </p:nvSpPr>
                <p:spPr bwMode="auto">
                  <a:xfrm>
                    <a:off x="3790523" y="2902708"/>
                    <a:ext cx="30602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Тамбов</a:t>
                    </a:r>
                    <a:endParaRPr kumimoji="0" lang="ru-RU" altLang="ru-RU" sz="600" b="1" dirty="0">
                      <a:solidFill>
                        <a:srgbClr val="53505E"/>
                      </a:solidFill>
                      <a:latin typeface="+mn-lt"/>
                    </a:endParaRPr>
                  </a:p>
                </p:txBody>
              </p:sp>
              <p:sp>
                <p:nvSpPr>
                  <p:cNvPr id="268" name="TextBox 281"/>
                  <p:cNvSpPr txBox="1">
                    <a:spLocks noChangeArrowheads="1"/>
                  </p:cNvSpPr>
                  <p:nvPr/>
                </p:nvSpPr>
                <p:spPr bwMode="auto">
                  <a:xfrm>
                    <a:off x="3724578" y="2819090"/>
                    <a:ext cx="26035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Липецк</a:t>
                    </a:r>
                    <a:endParaRPr kumimoji="0" lang="ru-RU" altLang="ru-RU" sz="600" b="1" dirty="0">
                      <a:solidFill>
                        <a:srgbClr val="53505E"/>
                      </a:solidFill>
                      <a:latin typeface="+mn-lt"/>
                    </a:endParaRPr>
                  </a:p>
                </p:txBody>
              </p:sp>
              <p:sp>
                <p:nvSpPr>
                  <p:cNvPr id="269" name="Diamond 282"/>
                  <p:cNvSpPr>
                    <a:spLocks noChangeArrowheads="1"/>
                  </p:cNvSpPr>
                  <p:nvPr/>
                </p:nvSpPr>
                <p:spPr bwMode="auto">
                  <a:xfrm>
                    <a:off x="3517901" y="2705074"/>
                    <a:ext cx="42863"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70" name="TextBox 283"/>
                  <p:cNvSpPr txBox="1">
                    <a:spLocks noChangeArrowheads="1"/>
                  </p:cNvSpPr>
                  <p:nvPr/>
                </p:nvSpPr>
                <p:spPr bwMode="auto">
                  <a:xfrm>
                    <a:off x="3317329" y="2676142"/>
                    <a:ext cx="19050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Орел</a:t>
                    </a:r>
                    <a:endParaRPr kumimoji="0" lang="ru-RU" altLang="ru-RU" sz="600" b="1" dirty="0">
                      <a:solidFill>
                        <a:srgbClr val="53505E"/>
                      </a:solidFill>
                      <a:latin typeface="+mn-lt"/>
                    </a:endParaRPr>
                  </a:p>
                </p:txBody>
              </p:sp>
              <p:sp>
                <p:nvSpPr>
                  <p:cNvPr id="271" name="TextBox 284"/>
                  <p:cNvSpPr txBox="1">
                    <a:spLocks noChangeArrowheads="1"/>
                  </p:cNvSpPr>
                  <p:nvPr/>
                </p:nvSpPr>
                <p:spPr bwMode="auto">
                  <a:xfrm>
                    <a:off x="8851774" y="3849624"/>
                    <a:ext cx="688977"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chemeClr val="bg1"/>
                        </a:solidFill>
                        <a:latin typeface="+mn-lt"/>
                      </a:rPr>
                      <a:t>Южно-Сахалинск</a:t>
                    </a:r>
                  </a:p>
                </p:txBody>
              </p:sp>
              <p:sp>
                <p:nvSpPr>
                  <p:cNvPr id="272" name="Diamond 285"/>
                  <p:cNvSpPr>
                    <a:spLocks noChangeArrowheads="1"/>
                  </p:cNvSpPr>
                  <p:nvPr/>
                </p:nvSpPr>
                <p:spPr bwMode="auto">
                  <a:xfrm>
                    <a:off x="5688015" y="2971772"/>
                    <a:ext cx="44450"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73" name="TextBox 286"/>
                  <p:cNvSpPr txBox="1">
                    <a:spLocks noChangeArrowheads="1"/>
                  </p:cNvSpPr>
                  <p:nvPr/>
                </p:nvSpPr>
                <p:spPr bwMode="auto">
                  <a:xfrm>
                    <a:off x="5329326" y="2865537"/>
                    <a:ext cx="4254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Губкинский</a:t>
                    </a:r>
                  </a:p>
                </p:txBody>
              </p:sp>
              <p:sp>
                <p:nvSpPr>
                  <p:cNvPr id="274" name="Diamond 287"/>
                  <p:cNvSpPr>
                    <a:spLocks noChangeArrowheads="1"/>
                  </p:cNvSpPr>
                  <p:nvPr/>
                </p:nvSpPr>
                <p:spPr bwMode="auto">
                  <a:xfrm>
                    <a:off x="5155520" y="3217833"/>
                    <a:ext cx="44450"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75" name="TextBox 288"/>
                  <p:cNvSpPr txBox="1">
                    <a:spLocks noChangeArrowheads="1"/>
                  </p:cNvSpPr>
                  <p:nvPr/>
                </p:nvSpPr>
                <p:spPr bwMode="auto">
                  <a:xfrm>
                    <a:off x="4795840" y="3270221"/>
                    <a:ext cx="427037"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Пойковский</a:t>
                    </a:r>
                  </a:p>
                </p:txBody>
              </p:sp>
              <p:sp>
                <p:nvSpPr>
                  <p:cNvPr id="276" name="Diamond 289"/>
                  <p:cNvSpPr>
                    <a:spLocks noChangeArrowheads="1"/>
                  </p:cNvSpPr>
                  <p:nvPr/>
                </p:nvSpPr>
                <p:spPr bwMode="auto">
                  <a:xfrm>
                    <a:off x="5351983" y="3295094"/>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77" name="TextBox 290"/>
                  <p:cNvSpPr txBox="1">
                    <a:spLocks noChangeArrowheads="1"/>
                  </p:cNvSpPr>
                  <p:nvPr/>
                </p:nvSpPr>
                <p:spPr bwMode="auto">
                  <a:xfrm>
                    <a:off x="5412338" y="3270383"/>
                    <a:ext cx="42386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Пыть-Ях</a:t>
                    </a:r>
                  </a:p>
                </p:txBody>
              </p:sp>
              <p:sp>
                <p:nvSpPr>
                  <p:cNvPr id="278" name="TextBox 292"/>
                  <p:cNvSpPr txBox="1">
                    <a:spLocks noChangeArrowheads="1"/>
                  </p:cNvSpPr>
                  <p:nvPr/>
                </p:nvSpPr>
                <p:spPr bwMode="auto">
                  <a:xfrm>
                    <a:off x="6064253" y="3643279"/>
                    <a:ext cx="490539"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Ачинск</a:t>
                    </a:r>
                  </a:p>
                </p:txBody>
              </p:sp>
              <p:sp>
                <p:nvSpPr>
                  <p:cNvPr id="279" name="TextBox 294"/>
                  <p:cNvSpPr txBox="1">
                    <a:spLocks noChangeArrowheads="1"/>
                  </p:cNvSpPr>
                  <p:nvPr/>
                </p:nvSpPr>
                <p:spPr bwMode="auto">
                  <a:xfrm>
                    <a:off x="5796810" y="3571734"/>
                    <a:ext cx="490539"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Томск</a:t>
                    </a:r>
                  </a:p>
                </p:txBody>
              </p:sp>
              <p:sp>
                <p:nvSpPr>
                  <p:cNvPr id="280" name="Diamond 295"/>
                  <p:cNvSpPr>
                    <a:spLocks noChangeArrowheads="1"/>
                  </p:cNvSpPr>
                  <p:nvPr/>
                </p:nvSpPr>
                <p:spPr bwMode="auto">
                  <a:xfrm>
                    <a:off x="5739068" y="3725828"/>
                    <a:ext cx="44450"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81" name="TextBox 296"/>
                  <p:cNvSpPr txBox="1">
                    <a:spLocks noChangeArrowheads="1"/>
                  </p:cNvSpPr>
                  <p:nvPr/>
                </p:nvSpPr>
                <p:spPr bwMode="auto">
                  <a:xfrm>
                    <a:off x="5737860" y="3784779"/>
                    <a:ext cx="42545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Кемерово</a:t>
                    </a:r>
                  </a:p>
                </p:txBody>
              </p:sp>
              <p:sp>
                <p:nvSpPr>
                  <p:cNvPr id="282" name="Diamond 297"/>
                  <p:cNvSpPr>
                    <a:spLocks noChangeArrowheads="1"/>
                  </p:cNvSpPr>
                  <p:nvPr/>
                </p:nvSpPr>
                <p:spPr bwMode="auto">
                  <a:xfrm>
                    <a:off x="5559631" y="3735354"/>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83" name="Diamond 298"/>
                  <p:cNvSpPr>
                    <a:spLocks noChangeArrowheads="1"/>
                  </p:cNvSpPr>
                  <p:nvPr/>
                </p:nvSpPr>
                <p:spPr bwMode="auto">
                  <a:xfrm>
                    <a:off x="5603876" y="3975064"/>
                    <a:ext cx="42863"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84" name="TextBox 299"/>
                  <p:cNvSpPr txBox="1">
                    <a:spLocks noChangeArrowheads="1"/>
                  </p:cNvSpPr>
                  <p:nvPr/>
                </p:nvSpPr>
                <p:spPr bwMode="auto">
                  <a:xfrm>
                    <a:off x="5012053" y="3699704"/>
                    <a:ext cx="509275"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Новосибирск</a:t>
                    </a:r>
                  </a:p>
                </p:txBody>
              </p:sp>
              <p:sp>
                <p:nvSpPr>
                  <p:cNvPr id="285" name="TextBox 300"/>
                  <p:cNvSpPr txBox="1">
                    <a:spLocks noChangeArrowheads="1"/>
                  </p:cNvSpPr>
                  <p:nvPr/>
                </p:nvSpPr>
                <p:spPr bwMode="auto">
                  <a:xfrm>
                    <a:off x="5670550" y="3959187"/>
                    <a:ext cx="48260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Барнаул</a:t>
                    </a:r>
                  </a:p>
                </p:txBody>
              </p:sp>
              <p:sp>
                <p:nvSpPr>
                  <p:cNvPr id="286" name="Diamond 303"/>
                  <p:cNvSpPr>
                    <a:spLocks noChangeArrowheads="1"/>
                  </p:cNvSpPr>
                  <p:nvPr/>
                </p:nvSpPr>
                <p:spPr bwMode="auto">
                  <a:xfrm>
                    <a:off x="5926139" y="2884460"/>
                    <a:ext cx="44450"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87" name="TextBox 304"/>
                  <p:cNvSpPr txBox="1">
                    <a:spLocks noChangeArrowheads="1"/>
                  </p:cNvSpPr>
                  <p:nvPr/>
                </p:nvSpPr>
                <p:spPr bwMode="auto">
                  <a:xfrm>
                    <a:off x="6010278" y="2868586"/>
                    <a:ext cx="775351" cy="15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Ванкорское месторождение</a:t>
                    </a:r>
                  </a:p>
                </p:txBody>
              </p:sp>
              <p:sp>
                <p:nvSpPr>
                  <p:cNvPr id="288" name="Diamond 305"/>
                  <p:cNvSpPr>
                    <a:spLocks noChangeArrowheads="1"/>
                  </p:cNvSpPr>
                  <p:nvPr/>
                </p:nvSpPr>
                <p:spPr bwMode="auto">
                  <a:xfrm>
                    <a:off x="6481765" y="3324195"/>
                    <a:ext cx="44450"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89" name="TextBox 306"/>
                  <p:cNvSpPr txBox="1">
                    <a:spLocks noChangeArrowheads="1"/>
                  </p:cNvSpPr>
                  <p:nvPr/>
                </p:nvSpPr>
                <p:spPr bwMode="auto">
                  <a:xfrm>
                    <a:off x="6557107" y="3301972"/>
                    <a:ext cx="731838" cy="15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Юрубчено-Тахомское месторождение</a:t>
                    </a:r>
                  </a:p>
                </p:txBody>
              </p:sp>
              <p:sp>
                <p:nvSpPr>
                  <p:cNvPr id="290" name="TextBox 314"/>
                  <p:cNvSpPr txBox="1">
                    <a:spLocks noChangeArrowheads="1"/>
                  </p:cNvSpPr>
                  <p:nvPr/>
                </p:nvSpPr>
                <p:spPr bwMode="auto">
                  <a:xfrm>
                    <a:off x="4176680" y="3485987"/>
                    <a:ext cx="449171"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 Оренбург</a:t>
                    </a:r>
                  </a:p>
                </p:txBody>
              </p:sp>
              <p:sp>
                <p:nvSpPr>
                  <p:cNvPr id="291" name="TextBox 316"/>
                  <p:cNvSpPr txBox="1">
                    <a:spLocks noChangeArrowheads="1"/>
                  </p:cNvSpPr>
                  <p:nvPr/>
                </p:nvSpPr>
                <p:spPr bwMode="auto">
                  <a:xfrm>
                    <a:off x="3818668" y="3314543"/>
                    <a:ext cx="486372"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Саратов</a:t>
                    </a:r>
                  </a:p>
                </p:txBody>
              </p:sp>
              <p:sp>
                <p:nvSpPr>
                  <p:cNvPr id="292" name="TextBox 318"/>
                  <p:cNvSpPr txBox="1">
                    <a:spLocks noChangeArrowheads="1"/>
                  </p:cNvSpPr>
                  <p:nvPr/>
                </p:nvSpPr>
                <p:spPr bwMode="auto">
                  <a:xfrm>
                    <a:off x="5505451" y="3043209"/>
                    <a:ext cx="598488"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Нижневартовск</a:t>
                    </a:r>
                  </a:p>
                </p:txBody>
              </p:sp>
              <p:sp>
                <p:nvSpPr>
                  <p:cNvPr id="293" name="TextBox 320"/>
                  <p:cNvSpPr txBox="1">
                    <a:spLocks noChangeArrowheads="1"/>
                  </p:cNvSpPr>
                  <p:nvPr/>
                </p:nvSpPr>
                <p:spPr bwMode="auto">
                  <a:xfrm>
                    <a:off x="3877908" y="2754805"/>
                    <a:ext cx="319088"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Рязань</a:t>
                    </a:r>
                  </a:p>
                </p:txBody>
              </p:sp>
              <p:sp>
                <p:nvSpPr>
                  <p:cNvPr id="294" name="Diamond 321"/>
                  <p:cNvSpPr>
                    <a:spLocks noChangeArrowheads="1"/>
                  </p:cNvSpPr>
                  <p:nvPr/>
                </p:nvSpPr>
                <p:spPr bwMode="auto">
                  <a:xfrm>
                    <a:off x="3641726" y="3251171"/>
                    <a:ext cx="42863"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95" name="Diamond 322"/>
                  <p:cNvSpPr>
                    <a:spLocks noChangeArrowheads="1"/>
                  </p:cNvSpPr>
                  <p:nvPr/>
                </p:nvSpPr>
                <p:spPr bwMode="auto">
                  <a:xfrm>
                    <a:off x="5625372" y="3412237"/>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96" name="TextBox 323"/>
                  <p:cNvSpPr txBox="1">
                    <a:spLocks noChangeArrowheads="1"/>
                  </p:cNvSpPr>
                  <p:nvPr/>
                </p:nvSpPr>
                <p:spPr bwMode="auto">
                  <a:xfrm>
                    <a:off x="5155519" y="3382548"/>
                    <a:ext cx="442296"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Стрежевой</a:t>
                    </a:r>
                  </a:p>
                </p:txBody>
              </p:sp>
              <p:sp>
                <p:nvSpPr>
                  <p:cNvPr id="297" name="TextBox 302"/>
                  <p:cNvSpPr txBox="1">
                    <a:spLocks noChangeArrowheads="1"/>
                  </p:cNvSpPr>
                  <p:nvPr/>
                </p:nvSpPr>
                <p:spPr bwMode="auto">
                  <a:xfrm>
                    <a:off x="6724652" y="4089364"/>
                    <a:ext cx="487364"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Иркутск</a:t>
                    </a:r>
                  </a:p>
                </p:txBody>
              </p:sp>
              <p:sp>
                <p:nvSpPr>
                  <p:cNvPr id="298" name="Diamond 326"/>
                  <p:cNvSpPr>
                    <a:spLocks noChangeArrowheads="1"/>
                  </p:cNvSpPr>
                  <p:nvPr/>
                </p:nvSpPr>
                <p:spPr bwMode="auto">
                  <a:xfrm>
                    <a:off x="7202490" y="4051263"/>
                    <a:ext cx="42862"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299" name="TextBox 327"/>
                  <p:cNvSpPr txBox="1">
                    <a:spLocks noChangeArrowheads="1"/>
                  </p:cNvSpPr>
                  <p:nvPr/>
                </p:nvSpPr>
                <p:spPr bwMode="auto">
                  <a:xfrm>
                    <a:off x="7277706" y="4034356"/>
                    <a:ext cx="23971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Чита</a:t>
                    </a:r>
                    <a:endParaRPr kumimoji="0" lang="ru-RU" altLang="ru-RU" sz="600" b="1" dirty="0">
                      <a:solidFill>
                        <a:srgbClr val="53505E"/>
                      </a:solidFill>
                      <a:latin typeface="+mn-lt"/>
                    </a:endParaRPr>
                  </a:p>
                </p:txBody>
              </p:sp>
              <p:sp>
                <p:nvSpPr>
                  <p:cNvPr id="300" name="Diamond 328"/>
                  <p:cNvSpPr>
                    <a:spLocks noChangeArrowheads="1"/>
                  </p:cNvSpPr>
                  <p:nvPr/>
                </p:nvSpPr>
                <p:spPr bwMode="auto">
                  <a:xfrm>
                    <a:off x="7893052" y="4024276"/>
                    <a:ext cx="42863"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01" name="TextBox 329"/>
                  <p:cNvSpPr txBox="1">
                    <a:spLocks noChangeArrowheads="1"/>
                  </p:cNvSpPr>
                  <p:nvPr/>
                </p:nvSpPr>
                <p:spPr bwMode="auto">
                  <a:xfrm>
                    <a:off x="7371921" y="3923230"/>
                    <a:ext cx="53775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rgbClr val="53505E"/>
                        </a:solidFill>
                        <a:latin typeface="+mn-lt"/>
                      </a:rPr>
                      <a:t>Благовещенск</a:t>
                    </a:r>
                    <a:endParaRPr kumimoji="0" lang="ru-RU" altLang="ru-RU" sz="600" b="1" dirty="0">
                      <a:solidFill>
                        <a:srgbClr val="53505E"/>
                      </a:solidFill>
                      <a:latin typeface="+mn-lt"/>
                    </a:endParaRPr>
                  </a:p>
                </p:txBody>
              </p:sp>
              <p:sp>
                <p:nvSpPr>
                  <p:cNvPr id="302" name="Diamond 330"/>
                  <p:cNvSpPr>
                    <a:spLocks noChangeArrowheads="1"/>
                  </p:cNvSpPr>
                  <p:nvPr/>
                </p:nvSpPr>
                <p:spPr bwMode="auto">
                  <a:xfrm>
                    <a:off x="8205790" y="4148099"/>
                    <a:ext cx="42862"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03" name="TextBox 331"/>
                  <p:cNvSpPr txBox="1">
                    <a:spLocks noChangeArrowheads="1"/>
                  </p:cNvSpPr>
                  <p:nvPr/>
                </p:nvSpPr>
                <p:spPr bwMode="auto">
                  <a:xfrm>
                    <a:off x="7893403" y="4190769"/>
                    <a:ext cx="509589"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chemeClr val="bg1"/>
                        </a:solidFill>
                        <a:latin typeface="+mn-lt"/>
                      </a:rPr>
                      <a:t>Биробиджан</a:t>
                    </a:r>
                    <a:endParaRPr kumimoji="0" lang="ru-RU" altLang="ru-RU" sz="600" b="1" dirty="0">
                      <a:solidFill>
                        <a:schemeClr val="bg1"/>
                      </a:solidFill>
                      <a:latin typeface="+mn-lt"/>
                    </a:endParaRPr>
                  </a:p>
                </p:txBody>
              </p:sp>
              <p:sp>
                <p:nvSpPr>
                  <p:cNvPr id="304" name="TextBox 333"/>
                  <p:cNvSpPr txBox="1">
                    <a:spLocks noChangeArrowheads="1"/>
                  </p:cNvSpPr>
                  <p:nvPr/>
                </p:nvSpPr>
                <p:spPr bwMode="auto">
                  <a:xfrm>
                    <a:off x="7854297" y="3831450"/>
                    <a:ext cx="67195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Хабаровск</a:t>
                    </a:r>
                  </a:p>
                </p:txBody>
              </p:sp>
              <p:sp>
                <p:nvSpPr>
                  <p:cNvPr id="305" name="Diamond 334"/>
                  <p:cNvSpPr>
                    <a:spLocks noChangeArrowheads="1"/>
                  </p:cNvSpPr>
                  <p:nvPr/>
                </p:nvSpPr>
                <p:spPr bwMode="auto">
                  <a:xfrm>
                    <a:off x="8405815" y="4537034"/>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06" name="TextBox 335"/>
                  <p:cNvSpPr txBox="1">
                    <a:spLocks noChangeArrowheads="1"/>
                  </p:cNvSpPr>
                  <p:nvPr/>
                </p:nvSpPr>
                <p:spPr bwMode="auto">
                  <a:xfrm>
                    <a:off x="7947157" y="4397518"/>
                    <a:ext cx="508000"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dirty="0">
                        <a:solidFill>
                          <a:schemeClr val="bg1"/>
                        </a:solidFill>
                        <a:latin typeface="+mn-lt"/>
                      </a:rPr>
                      <a:t>Владивосток</a:t>
                    </a:r>
                    <a:endParaRPr kumimoji="0" lang="ru-RU" altLang="ru-RU" sz="600" b="1" dirty="0">
                      <a:solidFill>
                        <a:schemeClr val="bg1"/>
                      </a:solidFill>
                      <a:latin typeface="+mn-lt"/>
                    </a:endParaRPr>
                  </a:p>
                </p:txBody>
              </p:sp>
              <p:sp>
                <p:nvSpPr>
                  <p:cNvPr id="307" name="Diamond 336"/>
                  <p:cNvSpPr>
                    <a:spLocks noChangeArrowheads="1"/>
                  </p:cNvSpPr>
                  <p:nvPr/>
                </p:nvSpPr>
                <p:spPr bwMode="auto">
                  <a:xfrm>
                    <a:off x="8389577" y="4663612"/>
                    <a:ext cx="42862"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08" name="TextBox 337"/>
                  <p:cNvSpPr txBox="1">
                    <a:spLocks noChangeArrowheads="1"/>
                  </p:cNvSpPr>
                  <p:nvPr/>
                </p:nvSpPr>
                <p:spPr bwMode="auto">
                  <a:xfrm>
                    <a:off x="7862476" y="4634179"/>
                    <a:ext cx="509587"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dirty="0">
                        <a:solidFill>
                          <a:schemeClr val="bg1"/>
                        </a:solidFill>
                        <a:latin typeface="+mn-lt"/>
                      </a:rPr>
                      <a:t>Находка</a:t>
                    </a:r>
                    <a:endParaRPr kumimoji="0" lang="ru-RU" altLang="ru-RU" sz="600" b="1" dirty="0">
                      <a:solidFill>
                        <a:schemeClr val="bg1"/>
                      </a:solidFill>
                      <a:latin typeface="+mn-lt"/>
                    </a:endParaRPr>
                  </a:p>
                </p:txBody>
              </p:sp>
              <p:sp>
                <p:nvSpPr>
                  <p:cNvPr id="309" name="TextBox 340"/>
                  <p:cNvSpPr txBox="1">
                    <a:spLocks noChangeArrowheads="1"/>
                  </p:cNvSpPr>
                  <p:nvPr/>
                </p:nvSpPr>
                <p:spPr bwMode="auto">
                  <a:xfrm>
                    <a:off x="8633128" y="3386351"/>
                    <a:ext cx="174625"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dirty="0">
                        <a:solidFill>
                          <a:schemeClr val="bg1"/>
                        </a:solidFill>
                        <a:latin typeface="+mn-lt"/>
                      </a:rPr>
                      <a:t>Оха</a:t>
                    </a:r>
                    <a:endParaRPr kumimoji="0" lang="ru-RU" altLang="ru-RU" sz="600" b="1" dirty="0">
                      <a:solidFill>
                        <a:schemeClr val="bg1"/>
                      </a:solidFill>
                      <a:latin typeface="+mn-lt"/>
                    </a:endParaRPr>
                  </a:p>
                </p:txBody>
              </p:sp>
              <p:sp>
                <p:nvSpPr>
                  <p:cNvPr id="310" name="TextBox 341"/>
                  <p:cNvSpPr txBox="1">
                    <a:spLocks noChangeArrowheads="1"/>
                  </p:cNvSpPr>
                  <p:nvPr/>
                </p:nvSpPr>
                <p:spPr bwMode="auto">
                  <a:xfrm>
                    <a:off x="8164800" y="3597475"/>
                    <a:ext cx="434676"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dirty="0">
                        <a:solidFill>
                          <a:srgbClr val="53505E"/>
                        </a:solidFill>
                        <a:latin typeface="+mn-lt"/>
                      </a:rPr>
                      <a:t>Ноглики</a:t>
                    </a:r>
                    <a:endParaRPr kumimoji="0" lang="ru-RU" altLang="ru-RU" sz="600" b="1" dirty="0">
                      <a:solidFill>
                        <a:srgbClr val="53505E"/>
                      </a:solidFill>
                      <a:latin typeface="+mn-lt"/>
                    </a:endParaRPr>
                  </a:p>
                </p:txBody>
              </p:sp>
              <p:sp>
                <p:nvSpPr>
                  <p:cNvPr id="311" name="Diamond 342"/>
                  <p:cNvSpPr>
                    <a:spLocks noChangeArrowheads="1"/>
                  </p:cNvSpPr>
                  <p:nvPr/>
                </p:nvSpPr>
                <p:spPr bwMode="auto">
                  <a:xfrm>
                    <a:off x="9107491" y="3001935"/>
                    <a:ext cx="42862"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2" name="TextBox 343"/>
                  <p:cNvSpPr txBox="1">
                    <a:spLocks noChangeArrowheads="1"/>
                  </p:cNvSpPr>
                  <p:nvPr/>
                </p:nvSpPr>
                <p:spPr bwMode="auto">
                  <a:xfrm>
                    <a:off x="8317216" y="2786516"/>
                    <a:ext cx="981075"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algn="r" defTabSz="316493" fontAlgn="auto">
                      <a:spcBef>
                        <a:spcPct val="0"/>
                      </a:spcBef>
                      <a:spcAft>
                        <a:spcPts val="0"/>
                      </a:spcAft>
                      <a:buSzTx/>
                      <a:buNone/>
                    </a:pPr>
                    <a:r>
                      <a:rPr kumimoji="0" lang="ru-RU" altLang="ru-RU" sz="600" dirty="0">
                        <a:solidFill>
                          <a:srgbClr val="53505E"/>
                        </a:solidFill>
                        <a:latin typeface="+mn-lt"/>
                      </a:rPr>
                      <a:t>Петропавловск-Камчатский</a:t>
                    </a:r>
                    <a:endParaRPr kumimoji="0" lang="ru-RU" altLang="ru-RU" sz="600" b="1" dirty="0">
                      <a:solidFill>
                        <a:srgbClr val="53505E"/>
                      </a:solidFill>
                      <a:latin typeface="+mn-lt"/>
                    </a:endParaRPr>
                  </a:p>
                </p:txBody>
              </p:sp>
              <p:sp>
                <p:nvSpPr>
                  <p:cNvPr id="313" name="Diamond 247"/>
                  <p:cNvSpPr>
                    <a:spLocks noChangeArrowheads="1"/>
                  </p:cNvSpPr>
                  <p:nvPr/>
                </p:nvSpPr>
                <p:spPr bwMode="auto">
                  <a:xfrm>
                    <a:off x="4132103" y="3511818"/>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4" name="Diamond 247"/>
                  <p:cNvSpPr>
                    <a:spLocks noChangeArrowheads="1"/>
                  </p:cNvSpPr>
                  <p:nvPr/>
                </p:nvSpPr>
                <p:spPr bwMode="auto">
                  <a:xfrm>
                    <a:off x="5430840" y="3060672"/>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5" name="Diamond 295"/>
                  <p:cNvSpPr>
                    <a:spLocks noChangeArrowheads="1"/>
                  </p:cNvSpPr>
                  <p:nvPr/>
                </p:nvSpPr>
                <p:spPr bwMode="auto">
                  <a:xfrm>
                    <a:off x="5984877" y="3681379"/>
                    <a:ext cx="42863"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6" name="Diamond 295"/>
                  <p:cNvSpPr>
                    <a:spLocks noChangeArrowheads="1"/>
                  </p:cNvSpPr>
                  <p:nvPr/>
                </p:nvSpPr>
                <p:spPr bwMode="auto">
                  <a:xfrm>
                    <a:off x="5722940" y="3594924"/>
                    <a:ext cx="44450"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7" name="Diamond 295"/>
                  <p:cNvSpPr>
                    <a:spLocks noChangeArrowheads="1"/>
                  </p:cNvSpPr>
                  <p:nvPr/>
                </p:nvSpPr>
                <p:spPr bwMode="auto">
                  <a:xfrm>
                    <a:off x="5157789" y="2432027"/>
                    <a:ext cx="42862"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8" name="Diamond 295"/>
                  <p:cNvSpPr>
                    <a:spLocks noChangeArrowheads="1"/>
                  </p:cNvSpPr>
                  <p:nvPr/>
                </p:nvSpPr>
                <p:spPr bwMode="auto">
                  <a:xfrm>
                    <a:off x="4640265" y="2247879"/>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19" name="Diamond 295"/>
                  <p:cNvSpPr>
                    <a:spLocks noChangeArrowheads="1"/>
                  </p:cNvSpPr>
                  <p:nvPr/>
                </p:nvSpPr>
                <p:spPr bwMode="auto">
                  <a:xfrm>
                    <a:off x="3884614" y="2165329"/>
                    <a:ext cx="44450"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0" name="Diamond 295"/>
                  <p:cNvSpPr>
                    <a:spLocks noChangeArrowheads="1"/>
                  </p:cNvSpPr>
                  <p:nvPr/>
                </p:nvSpPr>
                <p:spPr bwMode="auto">
                  <a:xfrm>
                    <a:off x="3803651" y="2781273"/>
                    <a:ext cx="42863"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1" name="Diamond 295"/>
                  <p:cNvSpPr>
                    <a:spLocks noChangeArrowheads="1"/>
                  </p:cNvSpPr>
                  <p:nvPr/>
                </p:nvSpPr>
                <p:spPr bwMode="auto">
                  <a:xfrm>
                    <a:off x="3529014" y="2925734"/>
                    <a:ext cx="42862"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2" name="Diamond 295"/>
                  <p:cNvSpPr>
                    <a:spLocks noChangeArrowheads="1"/>
                  </p:cNvSpPr>
                  <p:nvPr/>
                </p:nvSpPr>
                <p:spPr bwMode="auto">
                  <a:xfrm>
                    <a:off x="8851776" y="3954426"/>
                    <a:ext cx="42862"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3" name="Diamond 295"/>
                  <p:cNvSpPr>
                    <a:spLocks noChangeArrowheads="1"/>
                  </p:cNvSpPr>
                  <p:nvPr/>
                </p:nvSpPr>
                <p:spPr bwMode="auto">
                  <a:xfrm>
                    <a:off x="6640515" y="4106824"/>
                    <a:ext cx="42862"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4" name="Diamond 295"/>
                  <p:cNvSpPr>
                    <a:spLocks noChangeArrowheads="1"/>
                  </p:cNvSpPr>
                  <p:nvPr/>
                </p:nvSpPr>
                <p:spPr bwMode="auto">
                  <a:xfrm>
                    <a:off x="3235024" y="3451193"/>
                    <a:ext cx="42863"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5" name="Diamond 295"/>
                  <p:cNvSpPr>
                    <a:spLocks noChangeArrowheads="1"/>
                  </p:cNvSpPr>
                  <p:nvPr/>
                </p:nvSpPr>
                <p:spPr bwMode="auto">
                  <a:xfrm>
                    <a:off x="3184525" y="3351181"/>
                    <a:ext cx="42863" cy="42863"/>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6" name="Diamond 295"/>
                  <p:cNvSpPr>
                    <a:spLocks noChangeArrowheads="1"/>
                  </p:cNvSpPr>
                  <p:nvPr/>
                </p:nvSpPr>
                <p:spPr bwMode="auto">
                  <a:xfrm>
                    <a:off x="4592637" y="2830446"/>
                    <a:ext cx="44450" cy="44450"/>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sp>
                <p:nvSpPr>
                  <p:cNvPr id="327" name="TextBox 172"/>
                  <p:cNvSpPr txBox="1">
                    <a:spLocks noChangeArrowheads="1"/>
                  </p:cNvSpPr>
                  <p:nvPr/>
                </p:nvSpPr>
                <p:spPr bwMode="auto">
                  <a:xfrm>
                    <a:off x="3895728" y="2402689"/>
                    <a:ext cx="686803" cy="7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БЕ Москва</a:t>
                    </a:r>
                  </a:p>
                </p:txBody>
              </p:sp>
              <p:sp>
                <p:nvSpPr>
                  <p:cNvPr id="328" name="Diamond 241"/>
                  <p:cNvSpPr>
                    <a:spLocks noChangeArrowheads="1"/>
                  </p:cNvSpPr>
                  <p:nvPr/>
                </p:nvSpPr>
                <p:spPr bwMode="auto">
                  <a:xfrm>
                    <a:off x="3891265" y="3050874"/>
                    <a:ext cx="42862" cy="42862"/>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grpSp>
            <p:sp>
              <p:nvSpPr>
                <p:cNvPr id="212" name="5-Point Star 244"/>
                <p:cNvSpPr/>
                <p:nvPr/>
              </p:nvSpPr>
              <p:spPr bwMode="auto">
                <a:xfrm>
                  <a:off x="1114434" y="2982978"/>
                  <a:ext cx="163513" cy="144461"/>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13" name="5-Point Star 244"/>
                <p:cNvSpPr/>
                <p:nvPr/>
              </p:nvSpPr>
              <p:spPr bwMode="auto">
                <a:xfrm>
                  <a:off x="1096971" y="3825934"/>
                  <a:ext cx="163514" cy="144463"/>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14" name="5-Point Star 244"/>
                <p:cNvSpPr/>
                <p:nvPr/>
              </p:nvSpPr>
              <p:spPr bwMode="auto">
                <a:xfrm>
                  <a:off x="2009793" y="3598924"/>
                  <a:ext cx="163513" cy="144461"/>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mn-lt"/>
                    <a:cs typeface="Arial" panose="020B0604020202020204" pitchFamily="34" charset="0"/>
                  </a:endParaRPr>
                </a:p>
              </p:txBody>
            </p:sp>
            <p:sp>
              <p:nvSpPr>
                <p:cNvPr id="215" name="TextBox 249"/>
                <p:cNvSpPr txBox="1">
                  <a:spLocks noChangeArrowheads="1"/>
                </p:cNvSpPr>
                <p:nvPr/>
              </p:nvSpPr>
              <p:spPr bwMode="auto">
                <a:xfrm>
                  <a:off x="2181829" y="3597564"/>
                  <a:ext cx="258179" cy="75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mn-lt"/>
                    </a:rPr>
                    <a:t>Уфа</a:t>
                  </a:r>
                </a:p>
              </p:txBody>
            </p:sp>
            <p:sp>
              <p:nvSpPr>
                <p:cNvPr id="216" name="Diamond 332"/>
                <p:cNvSpPr>
                  <a:spLocks noChangeArrowheads="1"/>
                </p:cNvSpPr>
                <p:nvPr/>
              </p:nvSpPr>
              <p:spPr bwMode="auto">
                <a:xfrm>
                  <a:off x="5908701" y="4490505"/>
                  <a:ext cx="44449" cy="42849"/>
                </a:xfrm>
                <a:prstGeom prst="diamond">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2447" tIns="31224" rIns="62447" bIns="31224" anchor="ct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endParaRPr kumimoji="0" lang="ru-RU" altLang="ru-RU" sz="600" dirty="0">
                    <a:solidFill>
                      <a:srgbClr val="53505E"/>
                    </a:solidFill>
                    <a:latin typeface="+mn-lt"/>
                  </a:endParaRPr>
                </a:p>
              </p:txBody>
            </p:sp>
          </p:grpSp>
          <p:sp>
            <p:nvSpPr>
              <p:cNvPr id="210" name="Freeform 442"/>
              <p:cNvSpPr>
                <a:spLocks/>
              </p:cNvSpPr>
              <p:nvPr/>
            </p:nvSpPr>
            <p:spPr bwMode="auto">
              <a:xfrm>
                <a:off x="9266168" y="4403870"/>
                <a:ext cx="200785" cy="202589"/>
              </a:xfrm>
              <a:custGeom>
                <a:avLst/>
                <a:gdLst>
                  <a:gd name="T0" fmla="*/ 0 w 114"/>
                  <a:gd name="T1" fmla="*/ 0 h 121"/>
                  <a:gd name="T2" fmla="*/ 61 w 114"/>
                  <a:gd name="T3" fmla="*/ 1 h 121"/>
                  <a:gd name="T4" fmla="*/ 61 w 114"/>
                  <a:gd name="T5" fmla="*/ 56 h 121"/>
                  <a:gd name="T6" fmla="*/ 114 w 114"/>
                  <a:gd name="T7" fmla="*/ 56 h 121"/>
                  <a:gd name="T8" fmla="*/ 114 w 114"/>
                  <a:gd name="T9" fmla="*/ 121 h 121"/>
                  <a:gd name="T10" fmla="*/ 0 w 114"/>
                  <a:gd name="T11" fmla="*/ 121 h 121"/>
                  <a:gd name="T12" fmla="*/ 0 w 11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14" h="121">
                    <a:moveTo>
                      <a:pt x="0" y="0"/>
                    </a:moveTo>
                    <a:lnTo>
                      <a:pt x="61" y="1"/>
                    </a:lnTo>
                    <a:lnTo>
                      <a:pt x="61" y="56"/>
                    </a:lnTo>
                    <a:lnTo>
                      <a:pt x="114" y="56"/>
                    </a:lnTo>
                    <a:lnTo>
                      <a:pt x="114" y="121"/>
                    </a:lnTo>
                    <a:lnTo>
                      <a:pt x="0" y="121"/>
                    </a:lnTo>
                    <a:lnTo>
                      <a:pt x="0" y="0"/>
                    </a:lnTo>
                    <a:close/>
                  </a:path>
                </a:pathLst>
              </a:custGeom>
              <a:solidFill>
                <a:srgbClr val="D9D9D9"/>
              </a:solidFill>
              <a:ln w="19050">
                <a:solidFill>
                  <a:srgbClr val="F6CC45"/>
                </a:solidFill>
              </a:ln>
              <a:extLst/>
            </p:spPr>
            <p:txBody>
              <a:bodyPr vert="horz" wrap="square" lIns="63305" tIns="31652" rIns="63305" bIns="31652" numCol="1" anchor="t" anchorCtr="0" compatLnSpc="1">
                <a:prstTxWarp prst="textNoShape">
                  <a:avLst/>
                </a:prstTxWarp>
              </a:bodyPr>
              <a:lstStyle/>
              <a:p>
                <a:pPr defTabSz="316493" fontAlgn="auto">
                  <a:spcBef>
                    <a:spcPts val="0"/>
                  </a:spcBef>
                  <a:spcAft>
                    <a:spcPts val="0"/>
                  </a:spcAft>
                </a:pPr>
                <a:endParaRPr lang="ru-RU" sz="600" dirty="0">
                  <a:solidFill>
                    <a:srgbClr val="53505E"/>
                  </a:solidFill>
                  <a:latin typeface="+mn-lt"/>
                  <a:cs typeface="Arial" panose="020B0604020202020204" pitchFamily="34" charset="0"/>
                </a:endParaRPr>
              </a:p>
            </p:txBody>
          </p:sp>
        </p:grpSp>
        <p:sp>
          <p:nvSpPr>
            <p:cNvPr id="207" name="5-Point Star 244"/>
            <p:cNvSpPr/>
            <p:nvPr/>
          </p:nvSpPr>
          <p:spPr bwMode="auto">
            <a:xfrm flipV="1">
              <a:off x="3101391" y="2459568"/>
              <a:ext cx="183168" cy="87843"/>
            </a:xfrm>
            <a:prstGeom prst="star5">
              <a:avLst>
                <a:gd name="adj" fmla="val 26387"/>
                <a:gd name="hf" fmla="val 105146"/>
                <a:gd name="vf" fmla="val 110557"/>
              </a:avLst>
            </a:prstGeom>
            <a:solidFill>
              <a:srgbClr val="FFD200"/>
            </a:solidFill>
            <a:ln w="3175" cap="flat" cmpd="sng" algn="ctr">
              <a:noFill/>
              <a:prstDash val="solid"/>
              <a:round/>
              <a:headEnd type="none" w="med" len="med"/>
              <a:tailEnd type="none" w="med" len="med"/>
            </a:ln>
            <a:effectLst/>
          </p:spPr>
          <p:txBody>
            <a:bodyPr lIns="62447" tIns="31224" rIns="62447" bIns="31224" anchor="ctr"/>
            <a:lstStyle>
              <a:defPPr>
                <a:defRPr lang="ru-RU"/>
              </a:defPPr>
              <a:lvl1pPr algn="l" rtl="0" fontAlgn="base">
                <a:spcBef>
                  <a:spcPct val="0"/>
                </a:spcBef>
                <a:spcAft>
                  <a:spcPct val="0"/>
                </a:spcAft>
                <a:defRPr sz="8400" kern="1200">
                  <a:solidFill>
                    <a:schemeClr val="tx1"/>
                  </a:solidFill>
                  <a:latin typeface="Arial" charset="0"/>
                  <a:ea typeface="+mn-ea"/>
                  <a:cs typeface="Arial" charset="0"/>
                </a:defRPr>
              </a:lvl1pPr>
              <a:lvl2pPr marL="455613" indent="1588" algn="l" rtl="0" fontAlgn="base">
                <a:spcBef>
                  <a:spcPct val="0"/>
                </a:spcBef>
                <a:spcAft>
                  <a:spcPct val="0"/>
                </a:spcAft>
                <a:defRPr sz="8400" kern="1200">
                  <a:solidFill>
                    <a:schemeClr val="tx1"/>
                  </a:solidFill>
                  <a:latin typeface="Arial" charset="0"/>
                  <a:ea typeface="+mn-ea"/>
                  <a:cs typeface="Arial" charset="0"/>
                </a:defRPr>
              </a:lvl2pPr>
              <a:lvl3pPr marL="912813" indent="1588" algn="l" rtl="0" fontAlgn="base">
                <a:spcBef>
                  <a:spcPct val="0"/>
                </a:spcBef>
                <a:spcAft>
                  <a:spcPct val="0"/>
                </a:spcAft>
                <a:defRPr sz="8400" kern="1200">
                  <a:solidFill>
                    <a:schemeClr val="tx1"/>
                  </a:solidFill>
                  <a:latin typeface="Arial" charset="0"/>
                  <a:ea typeface="+mn-ea"/>
                  <a:cs typeface="Arial" charset="0"/>
                </a:defRPr>
              </a:lvl3pPr>
              <a:lvl4pPr marL="1370013" indent="1588" algn="l" rtl="0" fontAlgn="base">
                <a:spcBef>
                  <a:spcPct val="0"/>
                </a:spcBef>
                <a:spcAft>
                  <a:spcPct val="0"/>
                </a:spcAft>
                <a:defRPr sz="8400" kern="1200">
                  <a:solidFill>
                    <a:schemeClr val="tx1"/>
                  </a:solidFill>
                  <a:latin typeface="Arial" charset="0"/>
                  <a:ea typeface="+mn-ea"/>
                  <a:cs typeface="Arial" charset="0"/>
                </a:defRPr>
              </a:lvl4pPr>
              <a:lvl5pPr marL="1827213" indent="1588" algn="l" rtl="0" fontAlgn="base">
                <a:spcBef>
                  <a:spcPct val="0"/>
                </a:spcBef>
                <a:spcAft>
                  <a:spcPct val="0"/>
                </a:spcAft>
                <a:defRPr sz="8400" kern="1200">
                  <a:solidFill>
                    <a:schemeClr val="tx1"/>
                  </a:solidFill>
                  <a:latin typeface="Arial" charset="0"/>
                  <a:ea typeface="+mn-ea"/>
                  <a:cs typeface="Arial" charset="0"/>
                </a:defRPr>
              </a:lvl5pPr>
              <a:lvl6pPr marL="2286000" algn="l" defTabSz="914400" rtl="0" eaLnBrk="1" latinLnBrk="0" hangingPunct="1">
                <a:defRPr sz="8400" kern="1200">
                  <a:solidFill>
                    <a:schemeClr val="tx1"/>
                  </a:solidFill>
                  <a:latin typeface="Arial" charset="0"/>
                  <a:ea typeface="+mn-ea"/>
                  <a:cs typeface="Arial" charset="0"/>
                </a:defRPr>
              </a:lvl6pPr>
              <a:lvl7pPr marL="2743200" algn="l" defTabSz="914400" rtl="0" eaLnBrk="1" latinLnBrk="0" hangingPunct="1">
                <a:defRPr sz="8400" kern="1200">
                  <a:solidFill>
                    <a:schemeClr val="tx1"/>
                  </a:solidFill>
                  <a:latin typeface="Arial" charset="0"/>
                  <a:ea typeface="+mn-ea"/>
                  <a:cs typeface="Arial" charset="0"/>
                </a:defRPr>
              </a:lvl7pPr>
              <a:lvl8pPr marL="3200400" algn="l" defTabSz="914400" rtl="0" eaLnBrk="1" latinLnBrk="0" hangingPunct="1">
                <a:defRPr sz="8400" kern="1200">
                  <a:solidFill>
                    <a:schemeClr val="tx1"/>
                  </a:solidFill>
                  <a:latin typeface="Arial" charset="0"/>
                  <a:ea typeface="+mn-ea"/>
                  <a:cs typeface="Arial" charset="0"/>
                </a:defRPr>
              </a:lvl8pPr>
              <a:lvl9pPr marL="3657600" algn="l" defTabSz="914400" rtl="0" eaLnBrk="1" latinLnBrk="0" hangingPunct="1">
                <a:defRPr sz="8400" kern="1200">
                  <a:solidFill>
                    <a:schemeClr val="tx1"/>
                  </a:solidFill>
                  <a:latin typeface="Arial" charset="0"/>
                  <a:ea typeface="+mn-ea"/>
                  <a:cs typeface="Arial" charset="0"/>
                </a:defRPr>
              </a:lvl9pPr>
            </a:lstStyle>
            <a:p>
              <a:pPr defTabSz="316493">
                <a:defRPr/>
              </a:pPr>
              <a:endParaRPr lang="ru-RU" sz="600" dirty="0">
                <a:solidFill>
                  <a:srgbClr val="53505E"/>
                </a:solidFill>
                <a:latin typeface="Arial" panose="020B0604020202020204" pitchFamily="34" charset="0"/>
                <a:cs typeface="Arial" panose="020B0604020202020204" pitchFamily="34" charset="0"/>
              </a:endParaRPr>
            </a:p>
          </p:txBody>
        </p:sp>
        <p:sp>
          <p:nvSpPr>
            <p:cNvPr id="208" name="TextBox 172"/>
            <p:cNvSpPr txBox="1">
              <a:spLocks noChangeArrowheads="1"/>
            </p:cNvSpPr>
            <p:nvPr/>
          </p:nvSpPr>
          <p:spPr bwMode="auto">
            <a:xfrm>
              <a:off x="3336244" y="2471318"/>
              <a:ext cx="482640" cy="96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SzPct val="80000"/>
                <a:buBlip>
                  <a:blip r:embed="rId3"/>
                </a:buBlip>
                <a:defRPr kumimoji="1" sz="1200">
                  <a:solidFill>
                    <a:srgbClr val="3D464A"/>
                  </a:solidFill>
                  <a:latin typeface="Europe" pitchFamily="2" charset="0"/>
                  <a:cs typeface="Arial" panose="020B0604020202020204" pitchFamily="34" charset="0"/>
                </a:defRPr>
              </a:lvl1pPr>
              <a:lvl2pPr>
                <a:spcBef>
                  <a:spcPct val="20000"/>
                </a:spcBef>
                <a:buClr>
                  <a:srgbClr val="FED208"/>
                </a:buClr>
                <a:buSzPct val="120000"/>
                <a:buFont typeface="Arial" panose="020B0604020202020204" pitchFamily="34" charset="0"/>
                <a:buChar char="•"/>
                <a:defRPr kumimoji="1" sz="1200">
                  <a:solidFill>
                    <a:srgbClr val="3D464A"/>
                  </a:solidFill>
                  <a:latin typeface="Europe" pitchFamily="2" charset="0"/>
                  <a:cs typeface="Arial" panose="020B0604020202020204" pitchFamily="34" charset="0"/>
                </a:defRPr>
              </a:lvl2pPr>
              <a:lvl3pPr>
                <a:spcBef>
                  <a:spcPct val="20000"/>
                </a:spcBef>
                <a:buClr>
                  <a:srgbClr val="FED208"/>
                </a:buClr>
                <a:buSzPct val="96000"/>
                <a:buFont typeface="Wingdings" panose="05000000000000000000" pitchFamily="2" charset="2"/>
                <a:buChar char="§"/>
                <a:defRPr kumimoji="1" sz="1200">
                  <a:solidFill>
                    <a:srgbClr val="3D464A"/>
                  </a:solidFill>
                  <a:latin typeface="Europe" pitchFamily="2" charset="0"/>
                  <a:cs typeface="Arial" panose="020B0604020202020204" pitchFamily="34" charset="0"/>
                </a:defRPr>
              </a:lvl3pPr>
              <a:lvl4pPr>
                <a:spcBef>
                  <a:spcPct val="20000"/>
                </a:spcBef>
                <a:buFont typeface="Arial" panose="020B0604020202020204" pitchFamily="34" charset="0"/>
                <a:buChar char="–"/>
                <a:defRPr kumimoji="1" sz="1200">
                  <a:solidFill>
                    <a:srgbClr val="3D464A"/>
                  </a:solidFill>
                  <a:latin typeface="Europe" pitchFamily="2" charset="0"/>
                  <a:cs typeface="Arial" panose="020B0604020202020204" pitchFamily="34" charset="0"/>
                </a:defRPr>
              </a:lvl4pPr>
              <a:lvl5pPr>
                <a:spcBef>
                  <a:spcPct val="20000"/>
                </a:spcBef>
                <a:buFont typeface="Arial" panose="020B0604020202020204" pitchFamily="34" charset="0"/>
                <a:defRPr kumimoji="1" sz="1200">
                  <a:solidFill>
                    <a:srgbClr val="3D464A"/>
                  </a:solidFill>
                  <a:latin typeface="Europe" pitchFamily="2" charset="0"/>
                  <a:cs typeface="Arial" panose="020B0604020202020204" pitchFamily="34" charset="0"/>
                </a:defRPr>
              </a:lvl5pPr>
              <a:lvl6pPr marL="22844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6pPr>
              <a:lvl7pPr marL="27416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7pPr>
              <a:lvl8pPr marL="31988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8pPr>
              <a:lvl9pPr marL="3656013" indent="1588" eaLnBrk="0" fontAlgn="base" hangingPunct="0">
                <a:spcBef>
                  <a:spcPct val="20000"/>
                </a:spcBef>
                <a:spcAft>
                  <a:spcPct val="0"/>
                </a:spcAft>
                <a:buFont typeface="Arial" panose="020B0604020202020204" pitchFamily="34" charset="0"/>
                <a:defRPr kumimoji="1" sz="1200">
                  <a:solidFill>
                    <a:srgbClr val="3D464A"/>
                  </a:solidFill>
                  <a:latin typeface="Europe" pitchFamily="2" charset="0"/>
                  <a:cs typeface="Arial" panose="020B0604020202020204" pitchFamily="34" charset="0"/>
                </a:defRPr>
              </a:lvl9pPr>
            </a:lstStyle>
            <a:p>
              <a:pPr defTabSz="316493" fontAlgn="auto">
                <a:spcBef>
                  <a:spcPct val="0"/>
                </a:spcBef>
                <a:spcAft>
                  <a:spcPts val="0"/>
                </a:spcAft>
                <a:buSzTx/>
                <a:buNone/>
              </a:pPr>
              <a:r>
                <a:rPr kumimoji="0" lang="ru-RU" altLang="ru-RU" sz="600" b="1" dirty="0">
                  <a:solidFill>
                    <a:srgbClr val="53505E"/>
                  </a:solidFill>
                  <a:latin typeface="Arial" panose="020B0604020202020204" pitchFamily="34" charset="0"/>
                </a:rPr>
                <a:t>Москва</a:t>
              </a:r>
            </a:p>
          </p:txBody>
        </p:sp>
      </p:grpSp>
    </p:spTree>
    <p:extLst>
      <p:ext uri="{BB962C8B-B14F-4D97-AF65-F5344CB8AC3E}">
        <p14:creationId xmlns:p14="http://schemas.microsoft.com/office/powerpoint/2010/main" val="3527473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Структура технической поддержки производственных </a:t>
            </a:r>
            <a:r>
              <a:rPr lang="ru-RU" dirty="0" smtClean="0"/>
              <a:t>систем</a:t>
            </a:r>
            <a:endParaRPr lang="ru-RU" dirty="0"/>
          </a:p>
        </p:txBody>
      </p:sp>
      <p:sp>
        <p:nvSpPr>
          <p:cNvPr id="3" name="Номер слайда 2"/>
          <p:cNvSpPr>
            <a:spLocks noGrp="1"/>
          </p:cNvSpPr>
          <p:nvPr>
            <p:ph type="sldNum" sz="quarter" idx="12"/>
          </p:nvPr>
        </p:nvSpPr>
        <p:spPr/>
        <p:txBody>
          <a:bodyPr/>
          <a:lstStyle/>
          <a:p>
            <a:fld id="{5100B139-BD82-4293-9FDA-44725340297B}" type="slidenum">
              <a:rPr lang="ru-RU" smtClean="0"/>
              <a:pPr/>
              <a:t>3</a:t>
            </a:fld>
            <a:endParaRPr lang="ru-RU"/>
          </a:p>
        </p:txBody>
      </p:sp>
      <p:pic>
        <p:nvPicPr>
          <p:cNvPr id="4" name="Рисунок 3"/>
          <p:cNvPicPr>
            <a:picLocks noChangeAspect="1"/>
          </p:cNvPicPr>
          <p:nvPr/>
        </p:nvPicPr>
        <p:blipFill>
          <a:blip r:embed="rId3"/>
          <a:stretch>
            <a:fillRect/>
          </a:stretch>
        </p:blipFill>
        <p:spPr>
          <a:xfrm>
            <a:off x="-193426" y="1124744"/>
            <a:ext cx="10119574" cy="5089791"/>
          </a:xfrm>
          <a:prstGeom prst="rect">
            <a:avLst/>
          </a:prstGeom>
        </p:spPr>
      </p:pic>
      <p:pic>
        <p:nvPicPr>
          <p:cNvPr id="5" name="Рисунок 4"/>
          <p:cNvPicPr>
            <a:picLocks noChangeAspect="1"/>
          </p:cNvPicPr>
          <p:nvPr/>
        </p:nvPicPr>
        <p:blipFill>
          <a:blip r:embed="rId4">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3728864" y="1988840"/>
            <a:ext cx="2535982" cy="2535982"/>
          </a:xfrm>
          <a:prstGeom prst="rect">
            <a:avLst/>
          </a:prstGeom>
        </p:spPr>
      </p:pic>
    </p:spTree>
    <p:extLst>
      <p:ext uri="{BB962C8B-B14F-4D97-AF65-F5344CB8AC3E}">
        <p14:creationId xmlns:p14="http://schemas.microsoft.com/office/powerpoint/2010/main" val="182521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Автоматизация бизнес-процессов </a:t>
            </a:r>
            <a:br>
              <a:rPr lang="ru-RU" dirty="0"/>
            </a:br>
            <a:r>
              <a:rPr lang="ru-RU" dirty="0"/>
              <a:t>нефтеперерабатывающего </a:t>
            </a:r>
            <a:r>
              <a:rPr lang="ru-RU" dirty="0" smtClean="0"/>
              <a:t>завода</a:t>
            </a:r>
            <a:endParaRPr lang="ru-RU" dirty="0"/>
          </a:p>
        </p:txBody>
      </p:sp>
      <p:sp>
        <p:nvSpPr>
          <p:cNvPr id="3" name="Номер слайда 2"/>
          <p:cNvSpPr>
            <a:spLocks noGrp="1"/>
          </p:cNvSpPr>
          <p:nvPr>
            <p:ph type="sldNum" sz="quarter" idx="12"/>
          </p:nvPr>
        </p:nvSpPr>
        <p:spPr/>
        <p:txBody>
          <a:bodyPr/>
          <a:lstStyle/>
          <a:p>
            <a:fld id="{5100B139-BD82-4293-9FDA-44725340297B}" type="slidenum">
              <a:rPr lang="ru-RU" smtClean="0"/>
              <a:pPr/>
              <a:t>4</a:t>
            </a:fld>
            <a:endParaRPr lang="ru-RU"/>
          </a:p>
        </p:txBody>
      </p:sp>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8544" y="886940"/>
            <a:ext cx="8173591" cy="5811061"/>
          </a:xfrm>
          <a:prstGeom prst="rect">
            <a:avLst/>
          </a:prstGeom>
        </p:spPr>
      </p:pic>
    </p:spTree>
    <p:extLst>
      <p:ext uri="{BB962C8B-B14F-4D97-AF65-F5344CB8AC3E}">
        <p14:creationId xmlns:p14="http://schemas.microsoft.com/office/powerpoint/2010/main" val="2294630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Заголовок 123"/>
          <p:cNvSpPr>
            <a:spLocks noGrp="1"/>
          </p:cNvSpPr>
          <p:nvPr>
            <p:ph type="title"/>
          </p:nvPr>
        </p:nvSpPr>
        <p:spPr/>
        <p:txBody>
          <a:bodyPr/>
          <a:lstStyle/>
          <a:p>
            <a:r>
              <a:rPr lang="ru-RU" dirty="0"/>
              <a:t>Где мы в пирамиде </a:t>
            </a:r>
            <a:r>
              <a:rPr lang="ru-RU" dirty="0" smtClean="0"/>
              <a:t>CIM</a:t>
            </a:r>
            <a:endParaRPr lang="ru-RU" dirty="0"/>
          </a:p>
        </p:txBody>
      </p:sp>
      <p:grpSp>
        <p:nvGrpSpPr>
          <p:cNvPr id="125" name="Группа 124"/>
          <p:cNvGrpSpPr/>
          <p:nvPr/>
        </p:nvGrpSpPr>
        <p:grpSpPr>
          <a:xfrm>
            <a:off x="128464" y="1196751"/>
            <a:ext cx="6048672" cy="5001625"/>
            <a:chOff x="196067" y="771282"/>
            <a:chExt cx="6671457" cy="5499102"/>
          </a:xfrm>
        </p:grpSpPr>
        <p:sp>
          <p:nvSpPr>
            <p:cNvPr id="126" name="Равнобедренный треугольник 125"/>
            <p:cNvSpPr/>
            <p:nvPr/>
          </p:nvSpPr>
          <p:spPr>
            <a:xfrm>
              <a:off x="196067" y="771283"/>
              <a:ext cx="6671457" cy="549910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27" name="Трапеция 126"/>
            <p:cNvSpPr/>
            <p:nvPr/>
          </p:nvSpPr>
          <p:spPr>
            <a:xfrm>
              <a:off x="196067" y="5143500"/>
              <a:ext cx="6671457" cy="1126884"/>
            </a:xfrm>
            <a:prstGeom prst="trapezoid">
              <a:avLst>
                <a:gd name="adj" fmla="val 60652"/>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t>Датчики, сенсоры, </a:t>
              </a:r>
              <a:r>
                <a:rPr lang="en-US" sz="2400" b="1" dirty="0"/>
                <a:t>RFID</a:t>
              </a:r>
              <a:r>
                <a:rPr lang="ru-RU" sz="2400" b="1" dirty="0"/>
                <a:t>-метки…</a:t>
              </a:r>
            </a:p>
          </p:txBody>
        </p:sp>
        <p:sp>
          <p:nvSpPr>
            <p:cNvPr id="128" name="Трапеция 127"/>
            <p:cNvSpPr/>
            <p:nvPr/>
          </p:nvSpPr>
          <p:spPr>
            <a:xfrm>
              <a:off x="878682" y="4016616"/>
              <a:ext cx="5305424" cy="1126884"/>
            </a:xfrm>
            <a:prstGeom prst="trapezoid">
              <a:avLst>
                <a:gd name="adj" fmla="val 60652"/>
              </a:avLst>
            </a:prstGeom>
            <a:solidFill>
              <a:srgbClr val="F99D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PLC/PAC</a:t>
              </a:r>
              <a:endParaRPr lang="ru-RU" sz="2400" b="1" dirty="0"/>
            </a:p>
          </p:txBody>
        </p:sp>
        <p:sp>
          <p:nvSpPr>
            <p:cNvPr id="129" name="Трапеция 128"/>
            <p:cNvSpPr/>
            <p:nvPr/>
          </p:nvSpPr>
          <p:spPr>
            <a:xfrm>
              <a:off x="1561297" y="3101340"/>
              <a:ext cx="3940343" cy="915276"/>
            </a:xfrm>
            <a:prstGeom prst="trapezoid">
              <a:avLst>
                <a:gd name="adj" fmla="val 60652"/>
              </a:avLst>
            </a:prstGeom>
            <a:solidFill>
              <a:srgbClr val="FF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SCADA</a:t>
              </a:r>
              <a:endParaRPr lang="ru-RU" sz="2400" b="1" dirty="0"/>
            </a:p>
          </p:txBody>
        </p:sp>
        <p:sp>
          <p:nvSpPr>
            <p:cNvPr id="130" name="Трапеция 129"/>
            <p:cNvSpPr/>
            <p:nvPr/>
          </p:nvSpPr>
          <p:spPr>
            <a:xfrm>
              <a:off x="2118193" y="1974456"/>
              <a:ext cx="2825282" cy="1126884"/>
            </a:xfrm>
            <a:prstGeom prst="trapezoid">
              <a:avLst>
                <a:gd name="adj" fmla="val 60652"/>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MES</a:t>
              </a:r>
              <a:endParaRPr lang="ru-RU" sz="2400" b="1" dirty="0"/>
            </a:p>
          </p:txBody>
        </p:sp>
        <p:sp>
          <p:nvSpPr>
            <p:cNvPr id="131" name="Равнобедренный треугольник 130"/>
            <p:cNvSpPr/>
            <p:nvPr/>
          </p:nvSpPr>
          <p:spPr>
            <a:xfrm>
              <a:off x="2806193" y="771282"/>
              <a:ext cx="1449281" cy="1203172"/>
            </a:xfrm>
            <a:prstGeom prst="triangle">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t>ERP</a:t>
              </a:r>
              <a:endParaRPr lang="ru-RU" sz="1800" b="1" dirty="0"/>
            </a:p>
          </p:txBody>
        </p:sp>
      </p:grpSp>
      <p:sp>
        <p:nvSpPr>
          <p:cNvPr id="173" name="TextBox 172"/>
          <p:cNvSpPr txBox="1"/>
          <p:nvPr/>
        </p:nvSpPr>
        <p:spPr>
          <a:xfrm>
            <a:off x="5445295" y="1328081"/>
            <a:ext cx="4382162" cy="353943"/>
          </a:xfrm>
          <a:prstGeom prst="rect">
            <a:avLst/>
          </a:prstGeom>
          <a:noFill/>
        </p:spPr>
        <p:txBody>
          <a:bodyPr wrap="none" rtlCol="0">
            <a:spAutoFit/>
          </a:bodyPr>
          <a:lstStyle/>
          <a:p>
            <a:r>
              <a:rPr lang="ru-RU" sz="1700" b="1" dirty="0" smtClean="0">
                <a:latin typeface="Times New Roman" panose="02020603050405020304" pitchFamily="18" charset="0"/>
                <a:cs typeface="Times New Roman" panose="02020603050405020304" pitchFamily="18" charset="0"/>
              </a:rPr>
              <a:t>Уровень 4. Управление би</a:t>
            </a:r>
            <a:r>
              <a:rPr lang="ru-RU" sz="1700" b="1" dirty="0">
                <a:latin typeface="Times New Roman" panose="02020603050405020304" pitchFamily="18" charset="0"/>
                <a:cs typeface="Times New Roman" panose="02020603050405020304" pitchFamily="18" charset="0"/>
              </a:rPr>
              <a:t>з</a:t>
            </a:r>
            <a:r>
              <a:rPr lang="ru-RU" sz="1700" b="1" dirty="0" smtClean="0">
                <a:latin typeface="Times New Roman" panose="02020603050405020304" pitchFamily="18" charset="0"/>
                <a:cs typeface="Times New Roman" panose="02020603050405020304" pitchFamily="18" charset="0"/>
              </a:rPr>
              <a:t>нес-процессами</a:t>
            </a:r>
            <a:endParaRPr lang="ru-RU" sz="1700" b="1" dirty="0">
              <a:latin typeface="Times New Roman" panose="02020603050405020304" pitchFamily="18" charset="0"/>
              <a:cs typeface="Times New Roman" panose="02020603050405020304" pitchFamily="18" charset="0"/>
            </a:endParaRPr>
          </a:p>
        </p:txBody>
      </p:sp>
      <p:sp>
        <p:nvSpPr>
          <p:cNvPr id="202" name="TextBox 201"/>
          <p:cNvSpPr txBox="1"/>
          <p:nvPr/>
        </p:nvSpPr>
        <p:spPr>
          <a:xfrm>
            <a:off x="4160698" y="2436805"/>
            <a:ext cx="5731056" cy="353943"/>
          </a:xfrm>
          <a:prstGeom prst="rect">
            <a:avLst/>
          </a:prstGeom>
          <a:noFill/>
        </p:spPr>
        <p:txBody>
          <a:bodyPr wrap="none" rtlCol="0">
            <a:spAutoFit/>
          </a:bodyPr>
          <a:lstStyle/>
          <a:p>
            <a:r>
              <a:rPr lang="ru-RU" sz="1700" b="1" dirty="0" smtClean="0">
                <a:latin typeface="Times New Roman" panose="02020603050405020304" pitchFamily="18" charset="0"/>
                <a:cs typeface="Times New Roman" panose="02020603050405020304" pitchFamily="18" charset="0"/>
              </a:rPr>
              <a:t>Уровень </a:t>
            </a:r>
            <a:r>
              <a:rPr lang="en-US" sz="1700" b="1" dirty="0" smtClean="0">
                <a:latin typeface="Times New Roman" panose="02020603050405020304" pitchFamily="18" charset="0"/>
                <a:cs typeface="Times New Roman" panose="02020603050405020304" pitchFamily="18" charset="0"/>
              </a:rPr>
              <a:t>3</a:t>
            </a:r>
            <a:r>
              <a:rPr lang="ru-RU" sz="1700" b="1" dirty="0" smtClean="0">
                <a:latin typeface="Times New Roman" panose="02020603050405020304" pitchFamily="18" charset="0"/>
                <a:cs typeface="Times New Roman" panose="02020603050405020304" pitchFamily="18" charset="0"/>
              </a:rPr>
              <a:t>. Управление производственными процессами</a:t>
            </a:r>
            <a:endParaRPr lang="ru-RU" sz="1700" b="1" dirty="0">
              <a:latin typeface="Times New Roman" panose="02020603050405020304" pitchFamily="18" charset="0"/>
              <a:cs typeface="Times New Roman" panose="02020603050405020304" pitchFamily="18" charset="0"/>
            </a:endParaRPr>
          </a:p>
        </p:txBody>
      </p:sp>
      <p:sp>
        <p:nvSpPr>
          <p:cNvPr id="225" name="TextBox 224"/>
          <p:cNvSpPr txBox="1"/>
          <p:nvPr/>
        </p:nvSpPr>
        <p:spPr>
          <a:xfrm>
            <a:off x="5367610" y="3354178"/>
            <a:ext cx="4451603" cy="353943"/>
          </a:xfrm>
          <a:prstGeom prst="rect">
            <a:avLst/>
          </a:prstGeom>
          <a:noFill/>
        </p:spPr>
        <p:txBody>
          <a:bodyPr wrap="none" rtlCol="0">
            <a:spAutoFit/>
          </a:bodyPr>
          <a:lstStyle/>
          <a:p>
            <a:r>
              <a:rPr lang="ru-RU" sz="1700" b="1" dirty="0" smtClean="0">
                <a:latin typeface="Times New Roman" panose="02020603050405020304" pitchFamily="18" charset="0"/>
                <a:cs typeface="Times New Roman" panose="02020603050405020304" pitchFamily="18" charset="0"/>
              </a:rPr>
              <a:t>Уровень </a:t>
            </a:r>
            <a:r>
              <a:rPr lang="ru-RU" sz="1700" b="1" dirty="0">
                <a:latin typeface="Times New Roman" panose="02020603050405020304" pitchFamily="18" charset="0"/>
                <a:cs typeface="Times New Roman" panose="02020603050405020304" pitchFamily="18" charset="0"/>
              </a:rPr>
              <a:t>2</a:t>
            </a:r>
            <a:r>
              <a:rPr lang="ru-RU" sz="1700" b="1" dirty="0" smtClean="0">
                <a:latin typeface="Times New Roman" panose="02020603050405020304" pitchFamily="18" charset="0"/>
                <a:cs typeface="Times New Roman" panose="02020603050405020304" pitchFamily="18" charset="0"/>
              </a:rPr>
              <a:t>. Мониторинг и диспетчеризация</a:t>
            </a:r>
            <a:endParaRPr lang="ru-RU" sz="1700" b="1" dirty="0">
              <a:latin typeface="Times New Roman" panose="02020603050405020304" pitchFamily="18" charset="0"/>
              <a:cs typeface="Times New Roman" panose="02020603050405020304" pitchFamily="18" charset="0"/>
            </a:endParaRPr>
          </a:p>
        </p:txBody>
      </p:sp>
      <p:sp>
        <p:nvSpPr>
          <p:cNvPr id="265" name="TextBox 264"/>
          <p:cNvSpPr txBox="1"/>
          <p:nvPr/>
        </p:nvSpPr>
        <p:spPr>
          <a:xfrm>
            <a:off x="5843802" y="4341639"/>
            <a:ext cx="3983655" cy="353943"/>
          </a:xfrm>
          <a:prstGeom prst="rect">
            <a:avLst/>
          </a:prstGeom>
          <a:noFill/>
        </p:spPr>
        <p:txBody>
          <a:bodyPr wrap="none" rtlCol="0">
            <a:spAutoFit/>
          </a:bodyPr>
          <a:lstStyle/>
          <a:p>
            <a:r>
              <a:rPr lang="ru-RU" sz="1700" b="1" dirty="0" smtClean="0">
                <a:latin typeface="Times New Roman" panose="02020603050405020304" pitchFamily="18" charset="0"/>
                <a:cs typeface="Times New Roman" panose="02020603050405020304" pitchFamily="18" charset="0"/>
              </a:rPr>
              <a:t>Уровень 1. Управление оборудованием</a:t>
            </a:r>
            <a:endParaRPr lang="ru-RU" sz="1700" b="1" dirty="0">
              <a:latin typeface="Times New Roman" panose="02020603050405020304" pitchFamily="18" charset="0"/>
              <a:cs typeface="Times New Roman" panose="02020603050405020304" pitchFamily="18" charset="0"/>
            </a:endParaRPr>
          </a:p>
        </p:txBody>
      </p:sp>
      <p:sp>
        <p:nvSpPr>
          <p:cNvPr id="284" name="TextBox 283"/>
          <p:cNvSpPr txBox="1"/>
          <p:nvPr/>
        </p:nvSpPr>
        <p:spPr>
          <a:xfrm>
            <a:off x="6520650" y="5269613"/>
            <a:ext cx="3315908" cy="353943"/>
          </a:xfrm>
          <a:prstGeom prst="rect">
            <a:avLst/>
          </a:prstGeom>
          <a:noFill/>
        </p:spPr>
        <p:txBody>
          <a:bodyPr wrap="none" rtlCol="0">
            <a:spAutoFit/>
          </a:bodyPr>
          <a:lstStyle/>
          <a:p>
            <a:r>
              <a:rPr lang="ru-RU" sz="1700" b="1" dirty="0" smtClean="0">
                <a:latin typeface="Times New Roman" panose="02020603050405020304" pitchFamily="18" charset="0"/>
                <a:cs typeface="Times New Roman" panose="02020603050405020304" pitchFamily="18" charset="0"/>
              </a:rPr>
              <a:t>Уровень 0. Полевая автоматика</a:t>
            </a:r>
            <a:endParaRPr lang="ru-RU" sz="1700" b="1" dirty="0">
              <a:latin typeface="Times New Roman" panose="02020603050405020304" pitchFamily="18" charset="0"/>
              <a:cs typeface="Times New Roman" panose="02020603050405020304" pitchFamily="18" charset="0"/>
            </a:endParaRPr>
          </a:p>
        </p:txBody>
      </p:sp>
      <p:grpSp>
        <p:nvGrpSpPr>
          <p:cNvPr id="307" name="Группа 306"/>
          <p:cNvGrpSpPr/>
          <p:nvPr/>
        </p:nvGrpSpPr>
        <p:grpSpPr>
          <a:xfrm>
            <a:off x="8314392" y="1598286"/>
            <a:ext cx="1445458" cy="304764"/>
            <a:chOff x="9414035" y="769127"/>
            <a:chExt cx="1445458" cy="304764"/>
          </a:xfrm>
        </p:grpSpPr>
        <p:pic>
          <p:nvPicPr>
            <p:cNvPr id="308" name="Рисунок 30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172448" y="769127"/>
              <a:ext cx="304762" cy="304762"/>
            </a:xfrm>
            <a:prstGeom prst="rect">
              <a:avLst/>
            </a:prstGeom>
          </p:spPr>
        </p:pic>
        <p:pic>
          <p:nvPicPr>
            <p:cNvPr id="309" name="Рисунок 30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414035" y="769129"/>
              <a:ext cx="304762" cy="304762"/>
            </a:xfrm>
            <a:prstGeom prst="rect">
              <a:avLst/>
            </a:prstGeom>
          </p:spPr>
        </p:pic>
        <p:pic>
          <p:nvPicPr>
            <p:cNvPr id="310" name="Рисунок 30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790165" y="769129"/>
              <a:ext cx="304762" cy="304762"/>
            </a:xfrm>
            <a:prstGeom prst="rect">
              <a:avLst/>
            </a:prstGeom>
          </p:spPr>
        </p:pic>
        <p:pic>
          <p:nvPicPr>
            <p:cNvPr id="311" name="Рисунок 31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554731" y="769128"/>
              <a:ext cx="304762" cy="304762"/>
            </a:xfrm>
            <a:prstGeom prst="rect">
              <a:avLst/>
            </a:prstGeom>
          </p:spPr>
        </p:pic>
      </p:grpSp>
      <p:grpSp>
        <p:nvGrpSpPr>
          <p:cNvPr id="312" name="Группа 311"/>
          <p:cNvGrpSpPr/>
          <p:nvPr/>
        </p:nvGrpSpPr>
        <p:grpSpPr>
          <a:xfrm>
            <a:off x="3726376" y="1594293"/>
            <a:ext cx="1478497" cy="308756"/>
            <a:chOff x="4826019" y="765134"/>
            <a:chExt cx="1478497" cy="308756"/>
          </a:xfrm>
        </p:grpSpPr>
        <p:pic>
          <p:nvPicPr>
            <p:cNvPr id="313" name="Рисунок 31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826019" y="765134"/>
              <a:ext cx="304762" cy="304762"/>
            </a:xfrm>
            <a:prstGeom prst="rect">
              <a:avLst/>
            </a:prstGeom>
          </p:spPr>
        </p:pic>
        <p:pic>
          <p:nvPicPr>
            <p:cNvPr id="314" name="Рисунок 31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5217263" y="765135"/>
              <a:ext cx="304762" cy="304762"/>
            </a:xfrm>
            <a:prstGeom prst="rect">
              <a:avLst/>
            </a:prstGeom>
          </p:spPr>
        </p:pic>
        <p:pic>
          <p:nvPicPr>
            <p:cNvPr id="315" name="Рисунок 31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5602707" y="765134"/>
              <a:ext cx="304762" cy="304762"/>
            </a:xfrm>
            <a:prstGeom prst="rect">
              <a:avLst/>
            </a:prstGeom>
          </p:spPr>
        </p:pic>
        <p:pic>
          <p:nvPicPr>
            <p:cNvPr id="316" name="Рисунок 315"/>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5999754" y="769128"/>
              <a:ext cx="304762" cy="304762"/>
            </a:xfrm>
            <a:prstGeom prst="rect">
              <a:avLst/>
            </a:prstGeom>
          </p:spPr>
        </p:pic>
      </p:grpSp>
      <p:grpSp>
        <p:nvGrpSpPr>
          <p:cNvPr id="317" name="Группа 316"/>
          <p:cNvGrpSpPr/>
          <p:nvPr/>
        </p:nvGrpSpPr>
        <p:grpSpPr>
          <a:xfrm>
            <a:off x="5280556" y="1594292"/>
            <a:ext cx="1443823" cy="304764"/>
            <a:chOff x="6380199" y="765133"/>
            <a:chExt cx="1443823" cy="304764"/>
          </a:xfrm>
        </p:grpSpPr>
        <p:pic>
          <p:nvPicPr>
            <p:cNvPr id="318" name="Рисунок 31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380199" y="765134"/>
              <a:ext cx="304762" cy="304762"/>
            </a:xfrm>
            <a:prstGeom prst="rect">
              <a:avLst/>
            </a:prstGeom>
          </p:spPr>
        </p:pic>
        <p:pic>
          <p:nvPicPr>
            <p:cNvPr id="319" name="Рисунок 31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765180" y="765133"/>
              <a:ext cx="304762" cy="304762"/>
            </a:xfrm>
            <a:prstGeom prst="rect">
              <a:avLst/>
            </a:prstGeom>
          </p:spPr>
        </p:pic>
        <p:pic>
          <p:nvPicPr>
            <p:cNvPr id="320" name="Рисунок 31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141311" y="765135"/>
              <a:ext cx="304762" cy="304762"/>
            </a:xfrm>
            <a:prstGeom prst="rect">
              <a:avLst/>
            </a:prstGeom>
          </p:spPr>
        </p:pic>
        <p:pic>
          <p:nvPicPr>
            <p:cNvPr id="321" name="Рисунок 32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519260" y="765134"/>
              <a:ext cx="304762" cy="304762"/>
            </a:xfrm>
            <a:prstGeom prst="rect">
              <a:avLst/>
            </a:prstGeom>
          </p:spPr>
        </p:pic>
      </p:grpSp>
      <p:grpSp>
        <p:nvGrpSpPr>
          <p:cNvPr id="322" name="Группа 321"/>
          <p:cNvGrpSpPr/>
          <p:nvPr/>
        </p:nvGrpSpPr>
        <p:grpSpPr>
          <a:xfrm>
            <a:off x="6795747" y="1594291"/>
            <a:ext cx="1445458" cy="308760"/>
            <a:chOff x="7895390" y="765132"/>
            <a:chExt cx="1445458" cy="308760"/>
          </a:xfrm>
        </p:grpSpPr>
        <p:pic>
          <p:nvPicPr>
            <p:cNvPr id="323" name="Рисунок 32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036086" y="769130"/>
              <a:ext cx="304762" cy="304762"/>
            </a:xfrm>
            <a:prstGeom prst="rect">
              <a:avLst/>
            </a:prstGeom>
          </p:spPr>
        </p:pic>
        <p:pic>
          <p:nvPicPr>
            <p:cNvPr id="324" name="Рисунок 32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277673" y="765132"/>
              <a:ext cx="304762" cy="304762"/>
            </a:xfrm>
            <a:prstGeom prst="rect">
              <a:avLst/>
            </a:prstGeom>
          </p:spPr>
        </p:pic>
        <p:pic>
          <p:nvPicPr>
            <p:cNvPr id="325" name="Рисунок 32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895390" y="765134"/>
              <a:ext cx="304762" cy="304762"/>
            </a:xfrm>
            <a:prstGeom prst="rect">
              <a:avLst/>
            </a:prstGeom>
          </p:spPr>
        </p:pic>
        <p:pic>
          <p:nvPicPr>
            <p:cNvPr id="326" name="Рисунок 325"/>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659956" y="765133"/>
              <a:ext cx="304762" cy="304762"/>
            </a:xfrm>
            <a:prstGeom prst="rect">
              <a:avLst/>
            </a:prstGeom>
          </p:spPr>
        </p:pic>
      </p:grpSp>
      <p:pic>
        <p:nvPicPr>
          <p:cNvPr id="327" name="Рисунок 326"/>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3343724" y="1597215"/>
            <a:ext cx="304762" cy="304762"/>
          </a:xfrm>
          <a:prstGeom prst="rect">
            <a:avLst/>
          </a:prstGeom>
        </p:spPr>
      </p:pic>
      <p:grpSp>
        <p:nvGrpSpPr>
          <p:cNvPr id="347" name="Группа 346"/>
          <p:cNvGrpSpPr/>
          <p:nvPr/>
        </p:nvGrpSpPr>
        <p:grpSpPr>
          <a:xfrm>
            <a:off x="8377511" y="2718479"/>
            <a:ext cx="1445458" cy="304764"/>
            <a:chOff x="9414035" y="769127"/>
            <a:chExt cx="1445458" cy="304764"/>
          </a:xfrm>
        </p:grpSpPr>
        <p:pic>
          <p:nvPicPr>
            <p:cNvPr id="348" name="Рисунок 34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172448" y="769127"/>
              <a:ext cx="304762" cy="304762"/>
            </a:xfrm>
            <a:prstGeom prst="rect">
              <a:avLst/>
            </a:prstGeom>
          </p:spPr>
        </p:pic>
        <p:pic>
          <p:nvPicPr>
            <p:cNvPr id="349" name="Рисунок 34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414035" y="769129"/>
              <a:ext cx="304762" cy="304762"/>
            </a:xfrm>
            <a:prstGeom prst="rect">
              <a:avLst/>
            </a:prstGeom>
          </p:spPr>
        </p:pic>
        <p:pic>
          <p:nvPicPr>
            <p:cNvPr id="350" name="Рисунок 34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790165" y="769129"/>
              <a:ext cx="304762" cy="304762"/>
            </a:xfrm>
            <a:prstGeom prst="rect">
              <a:avLst/>
            </a:prstGeom>
          </p:spPr>
        </p:pic>
        <p:pic>
          <p:nvPicPr>
            <p:cNvPr id="351" name="Рисунок 35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554731" y="769128"/>
              <a:ext cx="304762" cy="304762"/>
            </a:xfrm>
            <a:prstGeom prst="rect">
              <a:avLst/>
            </a:prstGeom>
          </p:spPr>
        </p:pic>
      </p:grpSp>
      <p:grpSp>
        <p:nvGrpSpPr>
          <p:cNvPr id="352" name="Группа 351"/>
          <p:cNvGrpSpPr/>
          <p:nvPr/>
        </p:nvGrpSpPr>
        <p:grpSpPr>
          <a:xfrm>
            <a:off x="5343675" y="2714485"/>
            <a:ext cx="1443823" cy="304764"/>
            <a:chOff x="6380199" y="765133"/>
            <a:chExt cx="1443823" cy="304764"/>
          </a:xfrm>
        </p:grpSpPr>
        <p:pic>
          <p:nvPicPr>
            <p:cNvPr id="353" name="Рисунок 35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380199" y="765134"/>
              <a:ext cx="304762" cy="304762"/>
            </a:xfrm>
            <a:prstGeom prst="rect">
              <a:avLst/>
            </a:prstGeom>
          </p:spPr>
        </p:pic>
        <p:pic>
          <p:nvPicPr>
            <p:cNvPr id="354" name="Рисунок 35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765180" y="765133"/>
              <a:ext cx="304762" cy="304762"/>
            </a:xfrm>
            <a:prstGeom prst="rect">
              <a:avLst/>
            </a:prstGeom>
          </p:spPr>
        </p:pic>
        <p:pic>
          <p:nvPicPr>
            <p:cNvPr id="355" name="Рисунок 35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141311" y="765135"/>
              <a:ext cx="304762" cy="304762"/>
            </a:xfrm>
            <a:prstGeom prst="rect">
              <a:avLst/>
            </a:prstGeom>
          </p:spPr>
        </p:pic>
        <p:pic>
          <p:nvPicPr>
            <p:cNvPr id="356" name="Рисунок 355"/>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519260" y="765134"/>
              <a:ext cx="304762" cy="304762"/>
            </a:xfrm>
            <a:prstGeom prst="rect">
              <a:avLst/>
            </a:prstGeom>
          </p:spPr>
        </p:pic>
      </p:grpSp>
      <p:grpSp>
        <p:nvGrpSpPr>
          <p:cNvPr id="357" name="Группа 356"/>
          <p:cNvGrpSpPr/>
          <p:nvPr/>
        </p:nvGrpSpPr>
        <p:grpSpPr>
          <a:xfrm>
            <a:off x="6858866" y="2714484"/>
            <a:ext cx="1445458" cy="308760"/>
            <a:chOff x="7895390" y="765132"/>
            <a:chExt cx="1445458" cy="308760"/>
          </a:xfrm>
        </p:grpSpPr>
        <p:pic>
          <p:nvPicPr>
            <p:cNvPr id="358" name="Рисунок 35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036086" y="769130"/>
              <a:ext cx="304762" cy="304762"/>
            </a:xfrm>
            <a:prstGeom prst="rect">
              <a:avLst/>
            </a:prstGeom>
          </p:spPr>
        </p:pic>
        <p:pic>
          <p:nvPicPr>
            <p:cNvPr id="359" name="Рисунок 35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277673" y="765132"/>
              <a:ext cx="304762" cy="304762"/>
            </a:xfrm>
            <a:prstGeom prst="rect">
              <a:avLst/>
            </a:prstGeom>
          </p:spPr>
        </p:pic>
        <p:pic>
          <p:nvPicPr>
            <p:cNvPr id="360" name="Рисунок 35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895390" y="765134"/>
              <a:ext cx="304762" cy="304762"/>
            </a:xfrm>
            <a:prstGeom prst="rect">
              <a:avLst/>
            </a:prstGeom>
          </p:spPr>
        </p:pic>
        <p:pic>
          <p:nvPicPr>
            <p:cNvPr id="361" name="Рисунок 36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659956" y="765133"/>
              <a:ext cx="304762" cy="304762"/>
            </a:xfrm>
            <a:prstGeom prst="rect">
              <a:avLst/>
            </a:prstGeom>
          </p:spPr>
        </p:pic>
      </p:grpSp>
      <p:pic>
        <p:nvPicPr>
          <p:cNvPr id="362" name="Рисунок 361"/>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958693" y="2718478"/>
            <a:ext cx="304762" cy="304762"/>
          </a:xfrm>
          <a:prstGeom prst="rect">
            <a:avLst/>
          </a:prstGeom>
        </p:spPr>
      </p:pic>
      <p:pic>
        <p:nvPicPr>
          <p:cNvPr id="363" name="Рисунок 36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591113" y="2716441"/>
            <a:ext cx="304762" cy="304762"/>
          </a:xfrm>
          <a:prstGeom prst="rect">
            <a:avLst/>
          </a:prstGeom>
        </p:spPr>
      </p:pic>
      <p:pic>
        <p:nvPicPr>
          <p:cNvPr id="364" name="Рисунок 36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214073" y="2716931"/>
            <a:ext cx="304762" cy="304762"/>
          </a:xfrm>
          <a:prstGeom prst="rect">
            <a:avLst/>
          </a:prstGeom>
        </p:spPr>
      </p:pic>
      <p:pic>
        <p:nvPicPr>
          <p:cNvPr id="365" name="Рисунок 36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3818427" y="2731622"/>
            <a:ext cx="304762" cy="304762"/>
          </a:xfrm>
          <a:prstGeom prst="rect">
            <a:avLst/>
          </a:prstGeom>
        </p:spPr>
      </p:pic>
      <p:grpSp>
        <p:nvGrpSpPr>
          <p:cNvPr id="366" name="Группа 365"/>
          <p:cNvGrpSpPr/>
          <p:nvPr/>
        </p:nvGrpSpPr>
        <p:grpSpPr>
          <a:xfrm>
            <a:off x="8377511" y="3621690"/>
            <a:ext cx="1445458" cy="304764"/>
            <a:chOff x="9414035" y="769127"/>
            <a:chExt cx="1445458" cy="304764"/>
          </a:xfrm>
        </p:grpSpPr>
        <p:pic>
          <p:nvPicPr>
            <p:cNvPr id="367" name="Рисунок 366"/>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172448" y="769127"/>
              <a:ext cx="304762" cy="304762"/>
            </a:xfrm>
            <a:prstGeom prst="rect">
              <a:avLst/>
            </a:prstGeom>
          </p:spPr>
        </p:pic>
        <p:pic>
          <p:nvPicPr>
            <p:cNvPr id="368" name="Рисунок 36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414035" y="769129"/>
              <a:ext cx="304762" cy="304762"/>
            </a:xfrm>
            <a:prstGeom prst="rect">
              <a:avLst/>
            </a:prstGeom>
          </p:spPr>
        </p:pic>
        <p:pic>
          <p:nvPicPr>
            <p:cNvPr id="369" name="Рисунок 36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790165" y="769129"/>
              <a:ext cx="304762" cy="304762"/>
            </a:xfrm>
            <a:prstGeom prst="rect">
              <a:avLst/>
            </a:prstGeom>
          </p:spPr>
        </p:pic>
        <p:pic>
          <p:nvPicPr>
            <p:cNvPr id="370" name="Рисунок 36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554731" y="769128"/>
              <a:ext cx="304762" cy="304762"/>
            </a:xfrm>
            <a:prstGeom prst="rect">
              <a:avLst/>
            </a:prstGeom>
          </p:spPr>
        </p:pic>
      </p:grpSp>
      <p:grpSp>
        <p:nvGrpSpPr>
          <p:cNvPr id="371" name="Группа 370"/>
          <p:cNvGrpSpPr/>
          <p:nvPr/>
        </p:nvGrpSpPr>
        <p:grpSpPr>
          <a:xfrm>
            <a:off x="5343675" y="3617696"/>
            <a:ext cx="1443823" cy="304764"/>
            <a:chOff x="6380199" y="765133"/>
            <a:chExt cx="1443823" cy="304764"/>
          </a:xfrm>
        </p:grpSpPr>
        <p:pic>
          <p:nvPicPr>
            <p:cNvPr id="372" name="Рисунок 371"/>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380199" y="765134"/>
              <a:ext cx="304762" cy="304762"/>
            </a:xfrm>
            <a:prstGeom prst="rect">
              <a:avLst/>
            </a:prstGeom>
          </p:spPr>
        </p:pic>
        <p:pic>
          <p:nvPicPr>
            <p:cNvPr id="373" name="Рисунок 37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765180" y="765133"/>
              <a:ext cx="304762" cy="304762"/>
            </a:xfrm>
            <a:prstGeom prst="rect">
              <a:avLst/>
            </a:prstGeom>
          </p:spPr>
        </p:pic>
        <p:pic>
          <p:nvPicPr>
            <p:cNvPr id="374" name="Рисунок 37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141311" y="765135"/>
              <a:ext cx="304762" cy="304762"/>
            </a:xfrm>
            <a:prstGeom prst="rect">
              <a:avLst/>
            </a:prstGeom>
          </p:spPr>
        </p:pic>
        <p:pic>
          <p:nvPicPr>
            <p:cNvPr id="375" name="Рисунок 37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519260" y="765134"/>
              <a:ext cx="304762" cy="304762"/>
            </a:xfrm>
            <a:prstGeom prst="rect">
              <a:avLst/>
            </a:prstGeom>
          </p:spPr>
        </p:pic>
      </p:grpSp>
      <p:grpSp>
        <p:nvGrpSpPr>
          <p:cNvPr id="376" name="Группа 375"/>
          <p:cNvGrpSpPr/>
          <p:nvPr/>
        </p:nvGrpSpPr>
        <p:grpSpPr>
          <a:xfrm>
            <a:off x="6858866" y="3617695"/>
            <a:ext cx="1445458" cy="308760"/>
            <a:chOff x="7895390" y="765132"/>
            <a:chExt cx="1445458" cy="308760"/>
          </a:xfrm>
        </p:grpSpPr>
        <p:pic>
          <p:nvPicPr>
            <p:cNvPr id="377" name="Рисунок 376"/>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036086" y="769130"/>
              <a:ext cx="304762" cy="304762"/>
            </a:xfrm>
            <a:prstGeom prst="rect">
              <a:avLst/>
            </a:prstGeom>
          </p:spPr>
        </p:pic>
        <p:pic>
          <p:nvPicPr>
            <p:cNvPr id="378" name="Рисунок 37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277673" y="765132"/>
              <a:ext cx="304762" cy="304762"/>
            </a:xfrm>
            <a:prstGeom prst="rect">
              <a:avLst/>
            </a:prstGeom>
          </p:spPr>
        </p:pic>
        <p:pic>
          <p:nvPicPr>
            <p:cNvPr id="379" name="Рисунок 37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895390" y="765134"/>
              <a:ext cx="304762" cy="304762"/>
            </a:xfrm>
            <a:prstGeom prst="rect">
              <a:avLst/>
            </a:prstGeom>
          </p:spPr>
        </p:pic>
        <p:pic>
          <p:nvPicPr>
            <p:cNvPr id="380" name="Рисунок 37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659956" y="765133"/>
              <a:ext cx="304762" cy="304762"/>
            </a:xfrm>
            <a:prstGeom prst="rect">
              <a:avLst/>
            </a:prstGeom>
          </p:spPr>
        </p:pic>
      </p:grpSp>
      <p:pic>
        <p:nvPicPr>
          <p:cNvPr id="381" name="Рисунок 38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960506" y="3619095"/>
            <a:ext cx="304762" cy="304762"/>
          </a:xfrm>
          <a:prstGeom prst="rect">
            <a:avLst/>
          </a:prstGeom>
        </p:spPr>
      </p:pic>
      <p:pic>
        <p:nvPicPr>
          <p:cNvPr id="382" name="Рисунок 381"/>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566233" y="3623089"/>
            <a:ext cx="304762" cy="304762"/>
          </a:xfrm>
          <a:prstGeom prst="rect">
            <a:avLst/>
          </a:prstGeom>
        </p:spPr>
      </p:pic>
      <p:grpSp>
        <p:nvGrpSpPr>
          <p:cNvPr id="383" name="Группа 382"/>
          <p:cNvGrpSpPr/>
          <p:nvPr/>
        </p:nvGrpSpPr>
        <p:grpSpPr>
          <a:xfrm>
            <a:off x="8372182" y="4609151"/>
            <a:ext cx="1445458" cy="304764"/>
            <a:chOff x="9414035" y="769127"/>
            <a:chExt cx="1445458" cy="304764"/>
          </a:xfrm>
        </p:grpSpPr>
        <p:pic>
          <p:nvPicPr>
            <p:cNvPr id="384" name="Рисунок 38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172448" y="769127"/>
              <a:ext cx="304762" cy="304762"/>
            </a:xfrm>
            <a:prstGeom prst="rect">
              <a:avLst/>
            </a:prstGeom>
          </p:spPr>
        </p:pic>
        <p:pic>
          <p:nvPicPr>
            <p:cNvPr id="385" name="Рисунок 38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414035" y="769129"/>
              <a:ext cx="304762" cy="304762"/>
            </a:xfrm>
            <a:prstGeom prst="rect">
              <a:avLst/>
            </a:prstGeom>
          </p:spPr>
        </p:pic>
        <p:pic>
          <p:nvPicPr>
            <p:cNvPr id="386" name="Рисунок 385"/>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790165" y="769129"/>
              <a:ext cx="304762" cy="304762"/>
            </a:xfrm>
            <a:prstGeom prst="rect">
              <a:avLst/>
            </a:prstGeom>
          </p:spPr>
        </p:pic>
        <p:pic>
          <p:nvPicPr>
            <p:cNvPr id="387" name="Рисунок 386"/>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554731" y="769128"/>
              <a:ext cx="304762" cy="304762"/>
            </a:xfrm>
            <a:prstGeom prst="rect">
              <a:avLst/>
            </a:prstGeom>
          </p:spPr>
        </p:pic>
      </p:grpSp>
      <p:grpSp>
        <p:nvGrpSpPr>
          <p:cNvPr id="388" name="Группа 387"/>
          <p:cNvGrpSpPr/>
          <p:nvPr/>
        </p:nvGrpSpPr>
        <p:grpSpPr>
          <a:xfrm>
            <a:off x="5338346" y="4605157"/>
            <a:ext cx="1443823" cy="304764"/>
            <a:chOff x="6380199" y="765133"/>
            <a:chExt cx="1443823" cy="304764"/>
          </a:xfrm>
        </p:grpSpPr>
        <p:pic>
          <p:nvPicPr>
            <p:cNvPr id="389" name="Рисунок 388"/>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380199" y="765134"/>
              <a:ext cx="304762" cy="304762"/>
            </a:xfrm>
            <a:prstGeom prst="rect">
              <a:avLst/>
            </a:prstGeom>
          </p:spPr>
        </p:pic>
        <p:pic>
          <p:nvPicPr>
            <p:cNvPr id="390" name="Рисунок 38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765180" y="765133"/>
              <a:ext cx="304762" cy="304762"/>
            </a:xfrm>
            <a:prstGeom prst="rect">
              <a:avLst/>
            </a:prstGeom>
          </p:spPr>
        </p:pic>
        <p:pic>
          <p:nvPicPr>
            <p:cNvPr id="391" name="Рисунок 39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141311" y="765135"/>
              <a:ext cx="304762" cy="304762"/>
            </a:xfrm>
            <a:prstGeom prst="rect">
              <a:avLst/>
            </a:prstGeom>
          </p:spPr>
        </p:pic>
        <p:pic>
          <p:nvPicPr>
            <p:cNvPr id="392" name="Рисунок 391"/>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519260" y="765134"/>
              <a:ext cx="304762" cy="304762"/>
            </a:xfrm>
            <a:prstGeom prst="rect">
              <a:avLst/>
            </a:prstGeom>
          </p:spPr>
        </p:pic>
      </p:grpSp>
      <p:grpSp>
        <p:nvGrpSpPr>
          <p:cNvPr id="393" name="Группа 392"/>
          <p:cNvGrpSpPr/>
          <p:nvPr/>
        </p:nvGrpSpPr>
        <p:grpSpPr>
          <a:xfrm>
            <a:off x="6853537" y="4605156"/>
            <a:ext cx="1445458" cy="308760"/>
            <a:chOff x="7895390" y="765132"/>
            <a:chExt cx="1445458" cy="308760"/>
          </a:xfrm>
        </p:grpSpPr>
        <p:pic>
          <p:nvPicPr>
            <p:cNvPr id="394" name="Рисунок 393"/>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036086" y="769130"/>
              <a:ext cx="304762" cy="304762"/>
            </a:xfrm>
            <a:prstGeom prst="rect">
              <a:avLst/>
            </a:prstGeom>
          </p:spPr>
        </p:pic>
        <p:pic>
          <p:nvPicPr>
            <p:cNvPr id="395" name="Рисунок 39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277673" y="765132"/>
              <a:ext cx="304762" cy="304762"/>
            </a:xfrm>
            <a:prstGeom prst="rect">
              <a:avLst/>
            </a:prstGeom>
          </p:spPr>
        </p:pic>
        <p:pic>
          <p:nvPicPr>
            <p:cNvPr id="396" name="Рисунок 395"/>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895390" y="765134"/>
              <a:ext cx="304762" cy="304762"/>
            </a:xfrm>
            <a:prstGeom prst="rect">
              <a:avLst/>
            </a:prstGeom>
          </p:spPr>
        </p:pic>
        <p:pic>
          <p:nvPicPr>
            <p:cNvPr id="397" name="Рисунок 396"/>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659956" y="765133"/>
              <a:ext cx="304762" cy="304762"/>
            </a:xfrm>
            <a:prstGeom prst="rect">
              <a:avLst/>
            </a:prstGeom>
          </p:spPr>
        </p:pic>
      </p:grpSp>
      <p:pic>
        <p:nvPicPr>
          <p:cNvPr id="398" name="Рисунок 39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4931705" y="4618604"/>
            <a:ext cx="304762" cy="304762"/>
          </a:xfrm>
          <a:prstGeom prst="rect">
            <a:avLst/>
          </a:prstGeom>
        </p:spPr>
      </p:pic>
      <p:grpSp>
        <p:nvGrpSpPr>
          <p:cNvPr id="399" name="Группа 398"/>
          <p:cNvGrpSpPr/>
          <p:nvPr/>
        </p:nvGrpSpPr>
        <p:grpSpPr>
          <a:xfrm>
            <a:off x="8383177" y="5529496"/>
            <a:ext cx="1445458" cy="304764"/>
            <a:chOff x="9414035" y="769127"/>
            <a:chExt cx="1445458" cy="304764"/>
          </a:xfrm>
        </p:grpSpPr>
        <p:pic>
          <p:nvPicPr>
            <p:cNvPr id="400" name="Рисунок 39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172448" y="769127"/>
              <a:ext cx="304762" cy="304762"/>
            </a:xfrm>
            <a:prstGeom prst="rect">
              <a:avLst/>
            </a:prstGeom>
          </p:spPr>
        </p:pic>
        <p:pic>
          <p:nvPicPr>
            <p:cNvPr id="401" name="Рисунок 40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414035" y="769129"/>
              <a:ext cx="304762" cy="304762"/>
            </a:xfrm>
            <a:prstGeom prst="rect">
              <a:avLst/>
            </a:prstGeom>
          </p:spPr>
        </p:pic>
        <p:pic>
          <p:nvPicPr>
            <p:cNvPr id="402" name="Рисунок 401"/>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790165" y="769129"/>
              <a:ext cx="304762" cy="304762"/>
            </a:xfrm>
            <a:prstGeom prst="rect">
              <a:avLst/>
            </a:prstGeom>
          </p:spPr>
        </p:pic>
        <p:pic>
          <p:nvPicPr>
            <p:cNvPr id="403" name="Рисунок 40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10554731" y="769128"/>
              <a:ext cx="304762" cy="304762"/>
            </a:xfrm>
            <a:prstGeom prst="rect">
              <a:avLst/>
            </a:prstGeom>
          </p:spPr>
        </p:pic>
      </p:grpSp>
      <p:grpSp>
        <p:nvGrpSpPr>
          <p:cNvPr id="404" name="Группа 403"/>
          <p:cNvGrpSpPr/>
          <p:nvPr/>
        </p:nvGrpSpPr>
        <p:grpSpPr>
          <a:xfrm>
            <a:off x="5349341" y="5525502"/>
            <a:ext cx="1443823" cy="304764"/>
            <a:chOff x="6380199" y="765133"/>
            <a:chExt cx="1443823" cy="304764"/>
          </a:xfrm>
        </p:grpSpPr>
        <p:pic>
          <p:nvPicPr>
            <p:cNvPr id="405" name="Рисунок 40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380199" y="765134"/>
              <a:ext cx="304762" cy="304762"/>
            </a:xfrm>
            <a:prstGeom prst="rect">
              <a:avLst/>
            </a:prstGeom>
          </p:spPr>
        </p:pic>
        <p:pic>
          <p:nvPicPr>
            <p:cNvPr id="406" name="Рисунок 405"/>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6765180" y="765133"/>
              <a:ext cx="304762" cy="304762"/>
            </a:xfrm>
            <a:prstGeom prst="rect">
              <a:avLst/>
            </a:prstGeom>
          </p:spPr>
        </p:pic>
        <p:pic>
          <p:nvPicPr>
            <p:cNvPr id="407" name="Рисунок 406"/>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141311" y="765135"/>
              <a:ext cx="304762" cy="304762"/>
            </a:xfrm>
            <a:prstGeom prst="rect">
              <a:avLst/>
            </a:prstGeom>
          </p:spPr>
        </p:pic>
        <p:pic>
          <p:nvPicPr>
            <p:cNvPr id="408" name="Рисунок 407"/>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519260" y="765134"/>
              <a:ext cx="304762" cy="304762"/>
            </a:xfrm>
            <a:prstGeom prst="rect">
              <a:avLst/>
            </a:prstGeom>
          </p:spPr>
        </p:pic>
      </p:grpSp>
      <p:grpSp>
        <p:nvGrpSpPr>
          <p:cNvPr id="409" name="Группа 408"/>
          <p:cNvGrpSpPr/>
          <p:nvPr/>
        </p:nvGrpSpPr>
        <p:grpSpPr>
          <a:xfrm>
            <a:off x="6864532" y="5525501"/>
            <a:ext cx="1445458" cy="308760"/>
            <a:chOff x="7895390" y="765132"/>
            <a:chExt cx="1445458" cy="308760"/>
          </a:xfrm>
        </p:grpSpPr>
        <p:pic>
          <p:nvPicPr>
            <p:cNvPr id="410" name="Рисунок 409"/>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9036086" y="769130"/>
              <a:ext cx="304762" cy="304762"/>
            </a:xfrm>
            <a:prstGeom prst="rect">
              <a:avLst/>
            </a:prstGeom>
          </p:spPr>
        </p:pic>
        <p:pic>
          <p:nvPicPr>
            <p:cNvPr id="411" name="Рисунок 410"/>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277673" y="765132"/>
              <a:ext cx="304762" cy="304762"/>
            </a:xfrm>
            <a:prstGeom prst="rect">
              <a:avLst/>
            </a:prstGeom>
          </p:spPr>
        </p:pic>
        <p:pic>
          <p:nvPicPr>
            <p:cNvPr id="412" name="Рисунок 411"/>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7895390" y="765134"/>
              <a:ext cx="304762" cy="304762"/>
            </a:xfrm>
            <a:prstGeom prst="rect">
              <a:avLst/>
            </a:prstGeom>
          </p:spPr>
        </p:pic>
        <p:pic>
          <p:nvPicPr>
            <p:cNvPr id="413" name="Рисунок 412"/>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2700000">
              <a:off x="8659956" y="765133"/>
              <a:ext cx="304762" cy="304762"/>
            </a:xfrm>
            <a:prstGeom prst="rect">
              <a:avLst/>
            </a:prstGeom>
          </p:spPr>
        </p:pic>
      </p:grpSp>
      <p:sp>
        <p:nvSpPr>
          <p:cNvPr id="414" name="Овал 413"/>
          <p:cNvSpPr/>
          <p:nvPr/>
        </p:nvSpPr>
        <p:spPr>
          <a:xfrm>
            <a:off x="3224218" y="1682024"/>
            <a:ext cx="139193" cy="123784"/>
          </a:xfrm>
          <a:prstGeom prst="ellipse">
            <a:avLst/>
          </a:prstGeom>
          <a:solidFill>
            <a:srgbClr val="F99D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15" name="Овал 414"/>
          <p:cNvSpPr/>
          <p:nvPr/>
        </p:nvSpPr>
        <p:spPr>
          <a:xfrm>
            <a:off x="3732057" y="2831932"/>
            <a:ext cx="139193" cy="123784"/>
          </a:xfrm>
          <a:prstGeom prst="ellipse">
            <a:avLst/>
          </a:prstGeom>
          <a:solidFill>
            <a:srgbClr val="F99D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16" name="Овал 415"/>
          <p:cNvSpPr/>
          <p:nvPr/>
        </p:nvSpPr>
        <p:spPr>
          <a:xfrm>
            <a:off x="4425606" y="3712179"/>
            <a:ext cx="139193" cy="123784"/>
          </a:xfrm>
          <a:prstGeom prst="ellipse">
            <a:avLst/>
          </a:prstGeom>
          <a:solidFill>
            <a:srgbClr val="F99D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17" name="Овал 416"/>
          <p:cNvSpPr/>
          <p:nvPr/>
        </p:nvSpPr>
        <p:spPr>
          <a:xfrm>
            <a:off x="4845831" y="4720011"/>
            <a:ext cx="139193" cy="123784"/>
          </a:xfrm>
          <a:prstGeom prst="ellipse">
            <a:avLst/>
          </a:prstGeom>
          <a:solidFill>
            <a:srgbClr val="F99D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18" name="Овал 417"/>
          <p:cNvSpPr/>
          <p:nvPr/>
        </p:nvSpPr>
        <p:spPr>
          <a:xfrm>
            <a:off x="5715650" y="5624014"/>
            <a:ext cx="139193" cy="123784"/>
          </a:xfrm>
          <a:prstGeom prst="ellipse">
            <a:avLst/>
          </a:prstGeom>
          <a:solidFill>
            <a:srgbClr val="F99D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8" name="Номер слайда 2"/>
          <p:cNvSpPr>
            <a:spLocks noGrp="1"/>
          </p:cNvSpPr>
          <p:nvPr>
            <p:ph type="sldNum" sz="quarter" idx="12"/>
          </p:nvPr>
        </p:nvSpPr>
        <p:spPr>
          <a:xfrm>
            <a:off x="9603052" y="6714000"/>
            <a:ext cx="259400" cy="144000"/>
          </a:xfrm>
        </p:spPr>
        <p:txBody>
          <a:bodyPr/>
          <a:lstStyle/>
          <a:p>
            <a:r>
              <a:rPr lang="en-US" dirty="0" smtClean="0">
                <a:solidFill>
                  <a:srgbClr val="475B79"/>
                </a:solidFill>
              </a:rPr>
              <a:t>5</a:t>
            </a:r>
            <a:endParaRPr lang="ru-RU" dirty="0">
              <a:solidFill>
                <a:srgbClr val="475B79"/>
              </a:solidFill>
            </a:endParaRPr>
          </a:p>
        </p:txBody>
      </p:sp>
    </p:spTree>
    <p:extLst>
      <p:ext uri="{BB962C8B-B14F-4D97-AF65-F5344CB8AC3E}">
        <p14:creationId xmlns:p14="http://schemas.microsoft.com/office/powerpoint/2010/main" val="3544634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solidFill>
                  <a:srgbClr val="000000"/>
                </a:solidFill>
              </a:rPr>
              <a:t>Интегрированная система управления </a:t>
            </a:r>
            <a:r>
              <a:rPr lang="ru-RU" dirty="0" smtClean="0">
                <a:solidFill>
                  <a:srgbClr val="000000"/>
                </a:solidFill>
              </a:rPr>
              <a:t>предприятием</a:t>
            </a:r>
            <a:endParaRPr lang="ru-RU" dirty="0">
              <a:solidFill>
                <a:srgbClr val="000000"/>
              </a:solidFill>
            </a:endParaRPr>
          </a:p>
        </p:txBody>
      </p:sp>
      <p:sp>
        <p:nvSpPr>
          <p:cNvPr id="3" name="Номер слайда 2"/>
          <p:cNvSpPr>
            <a:spLocks noGrp="1"/>
          </p:cNvSpPr>
          <p:nvPr>
            <p:ph type="sldNum" sz="quarter" idx="12"/>
          </p:nvPr>
        </p:nvSpPr>
        <p:spPr/>
        <p:txBody>
          <a:bodyPr/>
          <a:lstStyle/>
          <a:p>
            <a:fld id="{5100B139-BD82-4293-9FDA-44725340297B}" type="slidenum">
              <a:rPr lang="ru-RU" smtClean="0">
                <a:solidFill>
                  <a:srgbClr val="475B79"/>
                </a:solidFill>
              </a:rPr>
              <a:pPr/>
              <a:t>6</a:t>
            </a:fld>
            <a:endParaRPr lang="ru-RU" dirty="0">
              <a:solidFill>
                <a:srgbClr val="475B79"/>
              </a:solidFill>
            </a:endParaRPr>
          </a:p>
        </p:txBody>
      </p:sp>
      <p:grpSp>
        <p:nvGrpSpPr>
          <p:cNvPr id="4" name="Group 2"/>
          <p:cNvGrpSpPr>
            <a:grpSpLocks/>
          </p:cNvGrpSpPr>
          <p:nvPr/>
        </p:nvGrpSpPr>
        <p:grpSpPr bwMode="auto">
          <a:xfrm>
            <a:off x="632520" y="908720"/>
            <a:ext cx="8119891" cy="5513434"/>
            <a:chOff x="720" y="739"/>
            <a:chExt cx="5040" cy="3293"/>
          </a:xfrm>
        </p:grpSpPr>
        <p:sp>
          <p:nvSpPr>
            <p:cNvPr id="5" name="Text Box 3"/>
            <p:cNvSpPr txBox="1">
              <a:spLocks noChangeArrowheads="1"/>
            </p:cNvSpPr>
            <p:nvPr/>
          </p:nvSpPr>
          <p:spPr bwMode="auto">
            <a:xfrm>
              <a:off x="3072" y="739"/>
              <a:ext cx="8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Сервер РБД</a:t>
              </a:r>
            </a:p>
          </p:txBody>
        </p:sp>
        <p:sp>
          <p:nvSpPr>
            <p:cNvPr id="6" name="Text Box 4"/>
            <p:cNvSpPr txBox="1">
              <a:spLocks noChangeArrowheads="1"/>
            </p:cNvSpPr>
            <p:nvPr/>
          </p:nvSpPr>
          <p:spPr bwMode="auto">
            <a:xfrm>
              <a:off x="2016" y="739"/>
              <a:ext cx="5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7" name="Text Box 5"/>
            <p:cNvSpPr txBox="1">
              <a:spLocks noChangeArrowheads="1"/>
            </p:cNvSpPr>
            <p:nvPr/>
          </p:nvSpPr>
          <p:spPr bwMode="auto">
            <a:xfrm>
              <a:off x="2544" y="739"/>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8" name="Text Box 6"/>
            <p:cNvSpPr txBox="1">
              <a:spLocks noChangeArrowheads="1"/>
            </p:cNvSpPr>
            <p:nvPr/>
          </p:nvSpPr>
          <p:spPr bwMode="auto">
            <a:xfrm>
              <a:off x="3792" y="739"/>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9" name="Text Box 7"/>
            <p:cNvSpPr txBox="1">
              <a:spLocks noChangeArrowheads="1"/>
            </p:cNvSpPr>
            <p:nvPr/>
          </p:nvSpPr>
          <p:spPr bwMode="auto">
            <a:xfrm>
              <a:off x="4368" y="739"/>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grpSp>
          <p:nvGrpSpPr>
            <p:cNvPr id="10" name="Group 8"/>
            <p:cNvGrpSpPr>
              <a:grpSpLocks noChangeAspect="1"/>
            </p:cNvGrpSpPr>
            <p:nvPr/>
          </p:nvGrpSpPr>
          <p:grpSpPr bwMode="auto">
            <a:xfrm>
              <a:off x="3031" y="3664"/>
              <a:ext cx="261" cy="239"/>
              <a:chOff x="1058" y="3310"/>
              <a:chExt cx="182" cy="287"/>
            </a:xfrm>
          </p:grpSpPr>
          <p:sp>
            <p:nvSpPr>
              <p:cNvPr id="724" name="Rectangle 9"/>
              <p:cNvSpPr>
                <a:spLocks noChangeAspect="1" noChangeArrowheads="1"/>
              </p:cNvSpPr>
              <p:nvPr/>
            </p:nvSpPr>
            <p:spPr bwMode="auto">
              <a:xfrm>
                <a:off x="1119" y="3395"/>
                <a:ext cx="60" cy="23"/>
              </a:xfrm>
              <a:prstGeom prst="rect">
                <a:avLst/>
              </a:prstGeom>
              <a:solidFill>
                <a:srgbClr val="114FFB"/>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5" name="Oval 10"/>
              <p:cNvSpPr>
                <a:spLocks noChangeAspect="1" noChangeArrowheads="1"/>
              </p:cNvSpPr>
              <p:nvPr/>
            </p:nvSpPr>
            <p:spPr bwMode="auto">
              <a:xfrm>
                <a:off x="1058" y="3413"/>
                <a:ext cx="182" cy="184"/>
              </a:xfrm>
              <a:prstGeom prst="ellipse">
                <a:avLst/>
              </a:prstGeom>
              <a:solidFill>
                <a:srgbClr val="91919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726" name="Group 11"/>
              <p:cNvGrpSpPr>
                <a:grpSpLocks noChangeAspect="1"/>
              </p:cNvGrpSpPr>
              <p:nvPr/>
            </p:nvGrpSpPr>
            <p:grpSpPr bwMode="auto">
              <a:xfrm>
                <a:off x="1104" y="3310"/>
                <a:ext cx="91" cy="93"/>
                <a:chOff x="1104" y="3310"/>
                <a:chExt cx="91" cy="93"/>
              </a:xfrm>
            </p:grpSpPr>
            <p:sp>
              <p:nvSpPr>
                <p:cNvPr id="733" name="Rectangle 12"/>
                <p:cNvSpPr>
                  <a:spLocks noChangeAspect="1" noChangeArrowheads="1"/>
                </p:cNvSpPr>
                <p:nvPr/>
              </p:nvSpPr>
              <p:spPr bwMode="auto">
                <a:xfrm>
                  <a:off x="1106" y="3310"/>
                  <a:ext cx="85" cy="22"/>
                </a:xfrm>
                <a:prstGeom prst="rect">
                  <a:avLst/>
                </a:prstGeom>
                <a:solidFill>
                  <a:srgbClr val="114FFB"/>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34" name="Oval 13"/>
                <p:cNvSpPr>
                  <a:spLocks noChangeAspect="1" noChangeArrowheads="1"/>
                </p:cNvSpPr>
                <p:nvPr/>
              </p:nvSpPr>
              <p:spPr bwMode="auto">
                <a:xfrm>
                  <a:off x="1104" y="3310"/>
                  <a:ext cx="91" cy="93"/>
                </a:xfrm>
                <a:prstGeom prst="ellipse">
                  <a:avLst/>
                </a:prstGeom>
                <a:solidFill>
                  <a:srgbClr val="3365FB"/>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35" name="Oval 14"/>
                <p:cNvSpPr>
                  <a:spLocks noChangeAspect="1" noChangeArrowheads="1"/>
                </p:cNvSpPr>
                <p:nvPr/>
              </p:nvSpPr>
              <p:spPr bwMode="auto">
                <a:xfrm>
                  <a:off x="1115" y="3322"/>
                  <a:ext cx="67" cy="68"/>
                </a:xfrm>
                <a:prstGeom prst="ellipse">
                  <a:avLst/>
                </a:prstGeom>
                <a:solidFill>
                  <a:srgbClr val="232323"/>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36" name="Rectangle 15"/>
                <p:cNvSpPr>
                  <a:spLocks noChangeAspect="1" noChangeArrowheads="1"/>
                </p:cNvSpPr>
                <p:nvPr/>
              </p:nvSpPr>
              <p:spPr bwMode="auto">
                <a:xfrm>
                  <a:off x="1124" y="3345"/>
                  <a:ext cx="51" cy="19"/>
                </a:xfrm>
                <a:prstGeom prst="rect">
                  <a:avLst/>
                </a:prstGeom>
                <a:solidFill>
                  <a:srgbClr val="676767"/>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sp>
            <p:nvSpPr>
              <p:cNvPr id="727" name="Oval 16"/>
              <p:cNvSpPr>
                <a:spLocks noChangeAspect="1" noChangeArrowheads="1"/>
              </p:cNvSpPr>
              <p:nvPr/>
            </p:nvSpPr>
            <p:spPr bwMode="auto">
              <a:xfrm>
                <a:off x="1198" y="3441"/>
                <a:ext cx="12" cy="11"/>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8" name="Oval 17"/>
              <p:cNvSpPr>
                <a:spLocks noChangeAspect="1" noChangeArrowheads="1"/>
              </p:cNvSpPr>
              <p:nvPr/>
            </p:nvSpPr>
            <p:spPr bwMode="auto">
              <a:xfrm>
                <a:off x="1088" y="3442"/>
                <a:ext cx="10" cy="11"/>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9" name="Oval 18"/>
              <p:cNvSpPr>
                <a:spLocks noChangeAspect="1" noChangeArrowheads="1"/>
              </p:cNvSpPr>
              <p:nvPr/>
            </p:nvSpPr>
            <p:spPr bwMode="auto">
              <a:xfrm>
                <a:off x="1079" y="3548"/>
                <a:ext cx="11" cy="1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30" name="Oval 19"/>
              <p:cNvSpPr>
                <a:spLocks noChangeAspect="1" noChangeArrowheads="1"/>
              </p:cNvSpPr>
              <p:nvPr/>
            </p:nvSpPr>
            <p:spPr bwMode="auto">
              <a:xfrm>
                <a:off x="1205" y="3548"/>
                <a:ext cx="11" cy="1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31" name="Oval 20"/>
              <p:cNvSpPr>
                <a:spLocks noChangeAspect="1" noChangeArrowheads="1"/>
              </p:cNvSpPr>
              <p:nvPr/>
            </p:nvSpPr>
            <p:spPr bwMode="auto">
              <a:xfrm>
                <a:off x="1087" y="3441"/>
                <a:ext cx="123" cy="1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32" name="Oval 21"/>
              <p:cNvSpPr>
                <a:spLocks noChangeAspect="1" noChangeArrowheads="1"/>
              </p:cNvSpPr>
              <p:nvPr/>
            </p:nvSpPr>
            <p:spPr bwMode="auto">
              <a:xfrm>
                <a:off x="1122" y="3477"/>
                <a:ext cx="53" cy="53"/>
              </a:xfrm>
              <a:prstGeom prst="ellipse">
                <a:avLst/>
              </a:prstGeom>
              <a:solidFill>
                <a:schemeClr val="tx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nvGrpSpPr>
            <p:cNvPr id="11" name="Group 22"/>
            <p:cNvGrpSpPr>
              <a:grpSpLocks noChangeAspect="1"/>
            </p:cNvGrpSpPr>
            <p:nvPr/>
          </p:nvGrpSpPr>
          <p:grpSpPr bwMode="auto">
            <a:xfrm>
              <a:off x="3464" y="3667"/>
              <a:ext cx="240" cy="197"/>
              <a:chOff x="1360" y="3313"/>
              <a:chExt cx="167" cy="238"/>
            </a:xfrm>
          </p:grpSpPr>
          <p:sp>
            <p:nvSpPr>
              <p:cNvPr id="704" name="AutoShape 23"/>
              <p:cNvSpPr>
                <a:spLocks noChangeAspect="1" noChangeArrowheads="1"/>
              </p:cNvSpPr>
              <p:nvPr/>
            </p:nvSpPr>
            <p:spPr bwMode="auto">
              <a:xfrm>
                <a:off x="1360" y="3313"/>
                <a:ext cx="167" cy="238"/>
              </a:xfrm>
              <a:prstGeom prst="roundRect">
                <a:avLst>
                  <a:gd name="adj" fmla="val 12495"/>
                </a:avLst>
              </a:prstGeom>
              <a:solidFill>
                <a:srgbClr val="114FFB"/>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05" name="AutoShape 24"/>
              <p:cNvSpPr>
                <a:spLocks noChangeAspect="1" noChangeArrowheads="1"/>
              </p:cNvSpPr>
              <p:nvPr/>
            </p:nvSpPr>
            <p:spPr bwMode="auto">
              <a:xfrm>
                <a:off x="1377" y="3337"/>
                <a:ext cx="135" cy="130"/>
              </a:xfrm>
              <a:prstGeom prst="roundRect">
                <a:avLst>
                  <a:gd name="adj" fmla="val 12495"/>
                </a:avLst>
              </a:prstGeom>
              <a:solidFill>
                <a:srgbClr val="114FFB"/>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06" name="AutoShape 25"/>
              <p:cNvSpPr>
                <a:spLocks noChangeAspect="1" noChangeArrowheads="1"/>
              </p:cNvSpPr>
              <p:nvPr/>
            </p:nvSpPr>
            <p:spPr bwMode="auto">
              <a:xfrm>
                <a:off x="1377" y="3337"/>
                <a:ext cx="135" cy="48"/>
              </a:xfrm>
              <a:prstGeom prst="roundRect">
                <a:avLst>
                  <a:gd name="adj" fmla="val 12495"/>
                </a:avLst>
              </a:prstGeom>
              <a:solidFill>
                <a:srgbClr val="114FFB"/>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07" name="Rectangle 26"/>
              <p:cNvSpPr>
                <a:spLocks noChangeAspect="1" noChangeArrowheads="1"/>
              </p:cNvSpPr>
              <p:nvPr/>
            </p:nvSpPr>
            <p:spPr bwMode="auto">
              <a:xfrm>
                <a:off x="1412" y="3355"/>
                <a:ext cx="63" cy="11"/>
              </a:xfrm>
              <a:prstGeom prst="rect">
                <a:avLst/>
              </a:prstGeom>
              <a:solidFill>
                <a:srgbClr val="676767"/>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708" name="Group 27"/>
              <p:cNvGrpSpPr>
                <a:grpSpLocks noChangeAspect="1"/>
              </p:cNvGrpSpPr>
              <p:nvPr/>
            </p:nvGrpSpPr>
            <p:grpSpPr bwMode="auto">
              <a:xfrm>
                <a:off x="1413" y="3396"/>
                <a:ext cx="68" cy="55"/>
                <a:chOff x="1413" y="3396"/>
                <a:chExt cx="68" cy="55"/>
              </a:xfrm>
            </p:grpSpPr>
            <p:sp>
              <p:nvSpPr>
                <p:cNvPr id="709" name="Rectangle 28"/>
                <p:cNvSpPr>
                  <a:spLocks noChangeAspect="1" noChangeArrowheads="1"/>
                </p:cNvSpPr>
                <p:nvPr/>
              </p:nvSpPr>
              <p:spPr bwMode="auto">
                <a:xfrm>
                  <a:off x="1413" y="3398"/>
                  <a:ext cx="8" cy="9"/>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0" name="Rectangle 29"/>
                <p:cNvSpPr>
                  <a:spLocks noChangeAspect="1" noChangeArrowheads="1"/>
                </p:cNvSpPr>
                <p:nvPr/>
              </p:nvSpPr>
              <p:spPr bwMode="auto">
                <a:xfrm>
                  <a:off x="1413" y="3420"/>
                  <a:ext cx="8" cy="9"/>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1" name="Rectangle 30"/>
                <p:cNvSpPr>
                  <a:spLocks noChangeAspect="1" noChangeArrowheads="1"/>
                </p:cNvSpPr>
                <p:nvPr/>
              </p:nvSpPr>
              <p:spPr bwMode="auto">
                <a:xfrm>
                  <a:off x="1413" y="3440"/>
                  <a:ext cx="8" cy="10"/>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2" name="Rectangle 31"/>
                <p:cNvSpPr>
                  <a:spLocks noChangeAspect="1" noChangeArrowheads="1"/>
                </p:cNvSpPr>
                <p:nvPr/>
              </p:nvSpPr>
              <p:spPr bwMode="auto">
                <a:xfrm>
                  <a:off x="1428" y="3420"/>
                  <a:ext cx="8" cy="9"/>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3" name="Rectangle 32"/>
                <p:cNvSpPr>
                  <a:spLocks noChangeAspect="1" noChangeArrowheads="1"/>
                </p:cNvSpPr>
                <p:nvPr/>
              </p:nvSpPr>
              <p:spPr bwMode="auto">
                <a:xfrm>
                  <a:off x="1442" y="3420"/>
                  <a:ext cx="8" cy="9"/>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4" name="Rectangle 33"/>
                <p:cNvSpPr>
                  <a:spLocks noChangeAspect="1" noChangeArrowheads="1"/>
                </p:cNvSpPr>
                <p:nvPr/>
              </p:nvSpPr>
              <p:spPr bwMode="auto">
                <a:xfrm>
                  <a:off x="1428" y="3440"/>
                  <a:ext cx="8" cy="11"/>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5" name="Rectangle 34"/>
                <p:cNvSpPr>
                  <a:spLocks noChangeAspect="1" noChangeArrowheads="1"/>
                </p:cNvSpPr>
                <p:nvPr/>
              </p:nvSpPr>
              <p:spPr bwMode="auto">
                <a:xfrm>
                  <a:off x="1442" y="3442"/>
                  <a:ext cx="8" cy="9"/>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6" name="Rectangle 35"/>
                <p:cNvSpPr>
                  <a:spLocks noChangeAspect="1" noChangeArrowheads="1"/>
                </p:cNvSpPr>
                <p:nvPr/>
              </p:nvSpPr>
              <p:spPr bwMode="auto">
                <a:xfrm>
                  <a:off x="1456" y="3442"/>
                  <a:ext cx="8" cy="9"/>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7" name="Rectangle 36"/>
                <p:cNvSpPr>
                  <a:spLocks noChangeAspect="1" noChangeArrowheads="1"/>
                </p:cNvSpPr>
                <p:nvPr/>
              </p:nvSpPr>
              <p:spPr bwMode="auto">
                <a:xfrm>
                  <a:off x="1458" y="3419"/>
                  <a:ext cx="8" cy="10"/>
                </a:xfrm>
                <a:prstGeom prst="rect">
                  <a:avLst/>
                </a:prstGeom>
                <a:solidFill>
                  <a:schemeClr val="bg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8" name="Rectangle 37"/>
                <p:cNvSpPr>
                  <a:spLocks noChangeAspect="1" noChangeArrowheads="1"/>
                </p:cNvSpPr>
                <p:nvPr/>
              </p:nvSpPr>
              <p:spPr bwMode="auto">
                <a:xfrm>
                  <a:off x="1442" y="3398"/>
                  <a:ext cx="8" cy="9"/>
                </a:xfrm>
                <a:prstGeom prst="rect">
                  <a:avLst/>
                </a:prstGeom>
                <a:solidFill>
                  <a:srgbClr val="618FFD"/>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19" name="Rectangle 38"/>
                <p:cNvSpPr>
                  <a:spLocks noChangeAspect="1" noChangeArrowheads="1"/>
                </p:cNvSpPr>
                <p:nvPr/>
              </p:nvSpPr>
              <p:spPr bwMode="auto">
                <a:xfrm>
                  <a:off x="1428" y="3398"/>
                  <a:ext cx="8" cy="9"/>
                </a:xfrm>
                <a:prstGeom prst="rect">
                  <a:avLst/>
                </a:prstGeom>
                <a:solidFill>
                  <a:srgbClr val="618FFD"/>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0" name="Rectangle 39"/>
                <p:cNvSpPr>
                  <a:spLocks noChangeAspect="1" noChangeArrowheads="1"/>
                </p:cNvSpPr>
                <p:nvPr/>
              </p:nvSpPr>
              <p:spPr bwMode="auto">
                <a:xfrm>
                  <a:off x="1458" y="3396"/>
                  <a:ext cx="8" cy="10"/>
                </a:xfrm>
                <a:prstGeom prst="rect">
                  <a:avLst/>
                </a:prstGeom>
                <a:solidFill>
                  <a:srgbClr val="618FFD"/>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1" name="Rectangle 40"/>
                <p:cNvSpPr>
                  <a:spLocks noChangeAspect="1" noChangeArrowheads="1"/>
                </p:cNvSpPr>
                <p:nvPr/>
              </p:nvSpPr>
              <p:spPr bwMode="auto">
                <a:xfrm>
                  <a:off x="1473" y="3398"/>
                  <a:ext cx="8" cy="9"/>
                </a:xfrm>
                <a:prstGeom prst="rect">
                  <a:avLst/>
                </a:prstGeom>
                <a:solidFill>
                  <a:srgbClr val="D49FFF"/>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2" name="Rectangle 41"/>
                <p:cNvSpPr>
                  <a:spLocks noChangeAspect="1" noChangeArrowheads="1"/>
                </p:cNvSpPr>
                <p:nvPr/>
              </p:nvSpPr>
              <p:spPr bwMode="auto">
                <a:xfrm>
                  <a:off x="1472" y="3419"/>
                  <a:ext cx="8" cy="10"/>
                </a:xfrm>
                <a:prstGeom prst="rect">
                  <a:avLst/>
                </a:prstGeom>
                <a:solidFill>
                  <a:srgbClr val="D49FFF"/>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23" name="Rectangle 42"/>
                <p:cNvSpPr>
                  <a:spLocks noChangeAspect="1" noChangeArrowheads="1"/>
                </p:cNvSpPr>
                <p:nvPr/>
              </p:nvSpPr>
              <p:spPr bwMode="auto">
                <a:xfrm>
                  <a:off x="1473" y="3442"/>
                  <a:ext cx="8" cy="9"/>
                </a:xfrm>
                <a:prstGeom prst="rect">
                  <a:avLst/>
                </a:prstGeom>
                <a:solidFill>
                  <a:srgbClr val="D49FFF"/>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grpSp>
          <p:nvGrpSpPr>
            <p:cNvPr id="12" name="Group 43"/>
            <p:cNvGrpSpPr>
              <a:grpSpLocks noChangeAspect="1"/>
            </p:cNvGrpSpPr>
            <p:nvPr/>
          </p:nvGrpSpPr>
          <p:grpSpPr bwMode="auto">
            <a:xfrm>
              <a:off x="3836" y="3612"/>
              <a:ext cx="395" cy="105"/>
              <a:chOff x="1619" y="3247"/>
              <a:chExt cx="276" cy="127"/>
            </a:xfrm>
          </p:grpSpPr>
          <p:sp>
            <p:nvSpPr>
              <p:cNvPr id="693" name="AutoShape 44"/>
              <p:cNvSpPr>
                <a:spLocks noChangeAspect="1" noChangeArrowheads="1"/>
              </p:cNvSpPr>
              <p:nvPr/>
            </p:nvSpPr>
            <p:spPr bwMode="auto">
              <a:xfrm>
                <a:off x="1715" y="3291"/>
                <a:ext cx="85" cy="30"/>
              </a:xfrm>
              <a:prstGeom prst="roundRect">
                <a:avLst>
                  <a:gd name="adj" fmla="val 9519"/>
                </a:avLst>
              </a:prstGeom>
              <a:solidFill>
                <a:srgbClr val="474747"/>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94" name="Group 45"/>
              <p:cNvGrpSpPr>
                <a:grpSpLocks noChangeAspect="1"/>
              </p:cNvGrpSpPr>
              <p:nvPr/>
            </p:nvGrpSpPr>
            <p:grpSpPr bwMode="auto">
              <a:xfrm>
                <a:off x="1619" y="3247"/>
                <a:ext cx="89" cy="124"/>
                <a:chOff x="1619" y="3247"/>
                <a:chExt cx="89" cy="124"/>
              </a:xfrm>
            </p:grpSpPr>
            <p:sp>
              <p:nvSpPr>
                <p:cNvPr id="700" name="Rectangle 46"/>
                <p:cNvSpPr>
                  <a:spLocks noChangeAspect="1" noChangeArrowheads="1"/>
                </p:cNvSpPr>
                <p:nvPr/>
              </p:nvSpPr>
              <p:spPr bwMode="auto">
                <a:xfrm>
                  <a:off x="1650" y="3299"/>
                  <a:ext cx="54" cy="15"/>
                </a:xfrm>
                <a:prstGeom prst="rect">
                  <a:avLst/>
                </a:prstGeom>
                <a:solidFill>
                  <a:srgbClr val="474747"/>
                </a:solidFill>
                <a:ln w="12700">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701" name="Line 47"/>
                <p:cNvSpPr>
                  <a:spLocks noChangeAspect="1" noChangeShapeType="1"/>
                </p:cNvSpPr>
                <p:nvPr/>
              </p:nvSpPr>
              <p:spPr bwMode="auto">
                <a:xfrm>
                  <a:off x="1646" y="3309"/>
                  <a:ext cx="62" cy="0"/>
                </a:xfrm>
                <a:prstGeom prst="line">
                  <a:avLst/>
                </a:prstGeom>
                <a:noFill/>
                <a:ln w="25400">
                  <a:solidFill>
                    <a:srgbClr val="DFDFD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702" name="Freeform 48"/>
                <p:cNvSpPr>
                  <a:spLocks noChangeAspect="1"/>
                </p:cNvSpPr>
                <p:nvPr/>
              </p:nvSpPr>
              <p:spPr bwMode="auto">
                <a:xfrm>
                  <a:off x="1619" y="3247"/>
                  <a:ext cx="28" cy="124"/>
                </a:xfrm>
                <a:custGeom>
                  <a:avLst/>
                  <a:gdLst>
                    <a:gd name="T0" fmla="*/ 13 w 28"/>
                    <a:gd name="T1" fmla="*/ 123 h 124"/>
                    <a:gd name="T2" fmla="*/ 7 w 28"/>
                    <a:gd name="T3" fmla="*/ 118 h 124"/>
                    <a:gd name="T4" fmla="*/ 3 w 28"/>
                    <a:gd name="T5" fmla="*/ 104 h 124"/>
                    <a:gd name="T6" fmla="*/ 0 w 28"/>
                    <a:gd name="T7" fmla="*/ 85 h 124"/>
                    <a:gd name="T8" fmla="*/ 0 w 28"/>
                    <a:gd name="T9" fmla="*/ 61 h 124"/>
                    <a:gd name="T10" fmla="*/ 0 w 28"/>
                    <a:gd name="T11" fmla="*/ 37 h 124"/>
                    <a:gd name="T12" fmla="*/ 3 w 28"/>
                    <a:gd name="T13" fmla="*/ 18 h 124"/>
                    <a:gd name="T14" fmla="*/ 7 w 28"/>
                    <a:gd name="T15" fmla="*/ 4 h 124"/>
                    <a:gd name="T16" fmla="*/ 13 w 28"/>
                    <a:gd name="T17" fmla="*/ 0 h 124"/>
                    <a:gd name="T18" fmla="*/ 18 w 28"/>
                    <a:gd name="T19" fmla="*/ 4 h 124"/>
                    <a:gd name="T20" fmla="*/ 22 w 28"/>
                    <a:gd name="T21" fmla="*/ 18 h 124"/>
                    <a:gd name="T22" fmla="*/ 25 w 28"/>
                    <a:gd name="T23" fmla="*/ 37 h 124"/>
                    <a:gd name="T24" fmla="*/ 27 w 28"/>
                    <a:gd name="T25" fmla="*/ 61 h 124"/>
                    <a:gd name="T26" fmla="*/ 25 w 28"/>
                    <a:gd name="T27" fmla="*/ 85 h 124"/>
                    <a:gd name="T28" fmla="*/ 22 w 28"/>
                    <a:gd name="T29" fmla="*/ 104 h 124"/>
                    <a:gd name="T30" fmla="*/ 18 w 28"/>
                    <a:gd name="T31" fmla="*/ 118 h 124"/>
                    <a:gd name="T32" fmla="*/ 13 w 28"/>
                    <a:gd name="T33" fmla="*/ 123 h 1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
                    <a:gd name="T52" fmla="*/ 0 h 124"/>
                    <a:gd name="T53" fmla="*/ 28 w 28"/>
                    <a:gd name="T54" fmla="*/ 124 h 12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 h="124">
                      <a:moveTo>
                        <a:pt x="13" y="123"/>
                      </a:moveTo>
                      <a:lnTo>
                        <a:pt x="7" y="118"/>
                      </a:lnTo>
                      <a:lnTo>
                        <a:pt x="3" y="104"/>
                      </a:lnTo>
                      <a:lnTo>
                        <a:pt x="0" y="85"/>
                      </a:lnTo>
                      <a:lnTo>
                        <a:pt x="0" y="61"/>
                      </a:lnTo>
                      <a:lnTo>
                        <a:pt x="0" y="37"/>
                      </a:lnTo>
                      <a:lnTo>
                        <a:pt x="3" y="18"/>
                      </a:lnTo>
                      <a:lnTo>
                        <a:pt x="7" y="4"/>
                      </a:lnTo>
                      <a:lnTo>
                        <a:pt x="13" y="0"/>
                      </a:lnTo>
                      <a:lnTo>
                        <a:pt x="18" y="4"/>
                      </a:lnTo>
                      <a:lnTo>
                        <a:pt x="22" y="18"/>
                      </a:lnTo>
                      <a:lnTo>
                        <a:pt x="25" y="37"/>
                      </a:lnTo>
                      <a:lnTo>
                        <a:pt x="27" y="61"/>
                      </a:lnTo>
                      <a:lnTo>
                        <a:pt x="25" y="85"/>
                      </a:lnTo>
                      <a:lnTo>
                        <a:pt x="22" y="104"/>
                      </a:lnTo>
                      <a:lnTo>
                        <a:pt x="18" y="118"/>
                      </a:lnTo>
                      <a:lnTo>
                        <a:pt x="13" y="123"/>
                      </a:lnTo>
                    </a:path>
                  </a:pathLst>
                </a:custGeom>
                <a:solidFill>
                  <a:srgbClr val="474747"/>
                </a:solidFill>
                <a:ln w="12700" cap="rnd" cmpd="sng">
                  <a:solidFill>
                    <a:srgbClr val="000000"/>
                  </a:solidFill>
                  <a:prstDash val="solid"/>
                  <a:round/>
                  <a:headEnd/>
                  <a:tailEnd/>
                </a:ln>
              </p:spPr>
              <p:txBody>
                <a:bodyPr/>
                <a:lstStyle/>
                <a:p>
                  <a:endParaRPr lang="ru-RU" dirty="0">
                    <a:solidFill>
                      <a:srgbClr val="475B79"/>
                    </a:solidFill>
                  </a:endParaRPr>
                </a:p>
              </p:txBody>
            </p:sp>
            <p:sp>
              <p:nvSpPr>
                <p:cNvPr id="703" name="Line 49"/>
                <p:cNvSpPr>
                  <a:spLocks noChangeAspect="1" noChangeShapeType="1"/>
                </p:cNvSpPr>
                <p:nvPr/>
              </p:nvSpPr>
              <p:spPr bwMode="auto">
                <a:xfrm>
                  <a:off x="1631" y="3249"/>
                  <a:ext cx="0" cy="1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grpSp>
            <p:nvGrpSpPr>
              <p:cNvPr id="695" name="Group 50"/>
              <p:cNvGrpSpPr>
                <a:grpSpLocks noChangeAspect="1"/>
              </p:cNvGrpSpPr>
              <p:nvPr/>
            </p:nvGrpSpPr>
            <p:grpSpPr bwMode="auto">
              <a:xfrm>
                <a:off x="1805" y="3251"/>
                <a:ext cx="90" cy="123"/>
                <a:chOff x="1805" y="3251"/>
                <a:chExt cx="90" cy="123"/>
              </a:xfrm>
            </p:grpSpPr>
            <p:sp>
              <p:nvSpPr>
                <p:cNvPr id="696" name="Rectangle 51"/>
                <p:cNvSpPr>
                  <a:spLocks noChangeAspect="1" noChangeArrowheads="1"/>
                </p:cNvSpPr>
                <p:nvPr/>
              </p:nvSpPr>
              <p:spPr bwMode="auto">
                <a:xfrm>
                  <a:off x="1809" y="3303"/>
                  <a:ext cx="54" cy="15"/>
                </a:xfrm>
                <a:prstGeom prst="rect">
                  <a:avLst/>
                </a:prstGeom>
                <a:solidFill>
                  <a:srgbClr val="474747"/>
                </a:solidFill>
                <a:ln w="12700">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97" name="Line 52"/>
                <p:cNvSpPr>
                  <a:spLocks noChangeAspect="1" noChangeShapeType="1"/>
                </p:cNvSpPr>
                <p:nvPr/>
              </p:nvSpPr>
              <p:spPr bwMode="auto">
                <a:xfrm flipH="1">
                  <a:off x="1805" y="3313"/>
                  <a:ext cx="62" cy="0"/>
                </a:xfrm>
                <a:prstGeom prst="line">
                  <a:avLst/>
                </a:prstGeom>
                <a:noFill/>
                <a:ln w="25400">
                  <a:solidFill>
                    <a:srgbClr val="DFDFD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98" name="Freeform 53"/>
                <p:cNvSpPr>
                  <a:spLocks noChangeAspect="1"/>
                </p:cNvSpPr>
                <p:nvPr/>
              </p:nvSpPr>
              <p:spPr bwMode="auto">
                <a:xfrm>
                  <a:off x="1866" y="3251"/>
                  <a:ext cx="29" cy="123"/>
                </a:xfrm>
                <a:custGeom>
                  <a:avLst/>
                  <a:gdLst>
                    <a:gd name="T0" fmla="*/ 14 w 29"/>
                    <a:gd name="T1" fmla="*/ 122 h 123"/>
                    <a:gd name="T2" fmla="*/ 19 w 29"/>
                    <a:gd name="T3" fmla="*/ 117 h 123"/>
                    <a:gd name="T4" fmla="*/ 24 w 29"/>
                    <a:gd name="T5" fmla="*/ 104 h 123"/>
                    <a:gd name="T6" fmla="*/ 27 w 29"/>
                    <a:gd name="T7" fmla="*/ 84 h 123"/>
                    <a:gd name="T8" fmla="*/ 28 w 29"/>
                    <a:gd name="T9" fmla="*/ 61 h 123"/>
                    <a:gd name="T10" fmla="*/ 27 w 29"/>
                    <a:gd name="T11" fmla="*/ 37 h 123"/>
                    <a:gd name="T12" fmla="*/ 24 w 29"/>
                    <a:gd name="T13" fmla="*/ 17 h 123"/>
                    <a:gd name="T14" fmla="*/ 19 w 29"/>
                    <a:gd name="T15" fmla="*/ 4 h 123"/>
                    <a:gd name="T16" fmla="*/ 14 w 29"/>
                    <a:gd name="T17" fmla="*/ 0 h 123"/>
                    <a:gd name="T18" fmla="*/ 9 w 29"/>
                    <a:gd name="T19" fmla="*/ 4 h 123"/>
                    <a:gd name="T20" fmla="*/ 4 w 29"/>
                    <a:gd name="T21" fmla="*/ 17 h 123"/>
                    <a:gd name="T22" fmla="*/ 1 w 29"/>
                    <a:gd name="T23" fmla="*/ 37 h 123"/>
                    <a:gd name="T24" fmla="*/ 0 w 29"/>
                    <a:gd name="T25" fmla="*/ 61 h 123"/>
                    <a:gd name="T26" fmla="*/ 1 w 29"/>
                    <a:gd name="T27" fmla="*/ 84 h 123"/>
                    <a:gd name="T28" fmla="*/ 4 w 29"/>
                    <a:gd name="T29" fmla="*/ 104 h 123"/>
                    <a:gd name="T30" fmla="*/ 9 w 29"/>
                    <a:gd name="T31" fmla="*/ 117 h 123"/>
                    <a:gd name="T32" fmla="*/ 14 w 29"/>
                    <a:gd name="T33" fmla="*/ 122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23"/>
                    <a:gd name="T53" fmla="*/ 29 w 29"/>
                    <a:gd name="T54" fmla="*/ 123 h 1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23">
                      <a:moveTo>
                        <a:pt x="14" y="122"/>
                      </a:moveTo>
                      <a:lnTo>
                        <a:pt x="19" y="117"/>
                      </a:lnTo>
                      <a:lnTo>
                        <a:pt x="24" y="104"/>
                      </a:lnTo>
                      <a:lnTo>
                        <a:pt x="27" y="84"/>
                      </a:lnTo>
                      <a:lnTo>
                        <a:pt x="28" y="61"/>
                      </a:lnTo>
                      <a:lnTo>
                        <a:pt x="27" y="37"/>
                      </a:lnTo>
                      <a:lnTo>
                        <a:pt x="24" y="17"/>
                      </a:lnTo>
                      <a:lnTo>
                        <a:pt x="19" y="4"/>
                      </a:lnTo>
                      <a:lnTo>
                        <a:pt x="14" y="0"/>
                      </a:lnTo>
                      <a:lnTo>
                        <a:pt x="9" y="4"/>
                      </a:lnTo>
                      <a:lnTo>
                        <a:pt x="4" y="17"/>
                      </a:lnTo>
                      <a:lnTo>
                        <a:pt x="1" y="37"/>
                      </a:lnTo>
                      <a:lnTo>
                        <a:pt x="0" y="61"/>
                      </a:lnTo>
                      <a:lnTo>
                        <a:pt x="1" y="84"/>
                      </a:lnTo>
                      <a:lnTo>
                        <a:pt x="4" y="104"/>
                      </a:lnTo>
                      <a:lnTo>
                        <a:pt x="9" y="117"/>
                      </a:lnTo>
                      <a:lnTo>
                        <a:pt x="14" y="122"/>
                      </a:lnTo>
                    </a:path>
                  </a:pathLst>
                </a:custGeom>
                <a:solidFill>
                  <a:srgbClr val="474747"/>
                </a:solidFill>
                <a:ln w="12700" cap="rnd" cmpd="sng">
                  <a:solidFill>
                    <a:srgbClr val="000000"/>
                  </a:solidFill>
                  <a:prstDash val="solid"/>
                  <a:round/>
                  <a:headEnd/>
                  <a:tailEnd/>
                </a:ln>
              </p:spPr>
              <p:txBody>
                <a:bodyPr/>
                <a:lstStyle/>
                <a:p>
                  <a:endParaRPr lang="ru-RU" dirty="0">
                    <a:solidFill>
                      <a:srgbClr val="475B79"/>
                    </a:solidFill>
                  </a:endParaRPr>
                </a:p>
              </p:txBody>
            </p:sp>
            <p:sp>
              <p:nvSpPr>
                <p:cNvPr id="699" name="Line 54"/>
                <p:cNvSpPr>
                  <a:spLocks noChangeAspect="1" noChangeShapeType="1"/>
                </p:cNvSpPr>
                <p:nvPr/>
              </p:nvSpPr>
              <p:spPr bwMode="auto">
                <a:xfrm>
                  <a:off x="1881" y="3252"/>
                  <a:ext cx="0" cy="11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grpSp>
        <p:grpSp>
          <p:nvGrpSpPr>
            <p:cNvPr id="13" name="Group 55"/>
            <p:cNvGrpSpPr>
              <a:grpSpLocks noChangeAspect="1"/>
            </p:cNvGrpSpPr>
            <p:nvPr/>
          </p:nvGrpSpPr>
          <p:grpSpPr bwMode="auto">
            <a:xfrm>
              <a:off x="5010" y="3663"/>
              <a:ext cx="265" cy="316"/>
              <a:chOff x="2438" y="3308"/>
              <a:chExt cx="185" cy="381"/>
            </a:xfrm>
          </p:grpSpPr>
          <p:sp>
            <p:nvSpPr>
              <p:cNvPr id="682" name="Rectangle 56"/>
              <p:cNvSpPr>
                <a:spLocks noChangeAspect="1" noChangeArrowheads="1"/>
              </p:cNvSpPr>
              <p:nvPr/>
            </p:nvSpPr>
            <p:spPr bwMode="auto">
              <a:xfrm>
                <a:off x="2514" y="3401"/>
                <a:ext cx="30" cy="95"/>
              </a:xfrm>
              <a:prstGeom prst="rect">
                <a:avLst/>
              </a:prstGeom>
              <a:solidFill>
                <a:srgbClr val="91919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83" name="Group 57"/>
              <p:cNvGrpSpPr>
                <a:grpSpLocks noChangeAspect="1"/>
              </p:cNvGrpSpPr>
              <p:nvPr/>
            </p:nvGrpSpPr>
            <p:grpSpPr bwMode="auto">
              <a:xfrm>
                <a:off x="2438" y="3501"/>
                <a:ext cx="185" cy="188"/>
                <a:chOff x="2438" y="3501"/>
                <a:chExt cx="185" cy="188"/>
              </a:xfrm>
            </p:grpSpPr>
            <p:sp>
              <p:nvSpPr>
                <p:cNvPr id="688" name="Oval 58"/>
                <p:cNvSpPr>
                  <a:spLocks noChangeAspect="1" noChangeArrowheads="1"/>
                </p:cNvSpPr>
                <p:nvPr/>
              </p:nvSpPr>
              <p:spPr bwMode="auto">
                <a:xfrm>
                  <a:off x="2438" y="3501"/>
                  <a:ext cx="185" cy="188"/>
                </a:xfrm>
                <a:prstGeom prst="ellipse">
                  <a:avLst/>
                </a:prstGeom>
                <a:solidFill>
                  <a:srgbClr val="91919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89" name="Oval 59"/>
                <p:cNvSpPr>
                  <a:spLocks noChangeAspect="1" noChangeArrowheads="1"/>
                </p:cNvSpPr>
                <p:nvPr/>
              </p:nvSpPr>
              <p:spPr bwMode="auto">
                <a:xfrm>
                  <a:off x="2470" y="3532"/>
                  <a:ext cx="121" cy="121"/>
                </a:xfrm>
                <a:prstGeom prst="ellipse">
                  <a:avLst/>
                </a:prstGeom>
                <a:solidFill>
                  <a:schemeClr val="bg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90" name="Group 60"/>
                <p:cNvGrpSpPr>
                  <a:grpSpLocks noChangeAspect="1"/>
                </p:cNvGrpSpPr>
                <p:nvPr/>
              </p:nvGrpSpPr>
              <p:grpSpPr bwMode="auto">
                <a:xfrm>
                  <a:off x="2518" y="3537"/>
                  <a:ext cx="23" cy="115"/>
                  <a:chOff x="2518" y="3537"/>
                  <a:chExt cx="23" cy="115"/>
                </a:xfrm>
              </p:grpSpPr>
              <p:sp>
                <p:nvSpPr>
                  <p:cNvPr id="691" name="Rectangle 61"/>
                  <p:cNvSpPr>
                    <a:spLocks noChangeAspect="1" noChangeArrowheads="1"/>
                  </p:cNvSpPr>
                  <p:nvPr/>
                </p:nvSpPr>
                <p:spPr bwMode="auto">
                  <a:xfrm>
                    <a:off x="2518" y="3537"/>
                    <a:ext cx="23" cy="11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92" name="Rectangle 62"/>
                  <p:cNvSpPr>
                    <a:spLocks noChangeAspect="1" noChangeArrowheads="1"/>
                  </p:cNvSpPr>
                  <p:nvPr/>
                </p:nvSpPr>
                <p:spPr bwMode="auto">
                  <a:xfrm>
                    <a:off x="2527" y="3537"/>
                    <a:ext cx="8" cy="11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sp>
            <p:nvSpPr>
              <p:cNvPr id="684" name="Rectangle 63"/>
              <p:cNvSpPr>
                <a:spLocks noChangeAspect="1" noChangeArrowheads="1"/>
              </p:cNvSpPr>
              <p:nvPr/>
            </p:nvSpPr>
            <p:spPr bwMode="auto">
              <a:xfrm>
                <a:off x="2486" y="3308"/>
                <a:ext cx="87" cy="22"/>
              </a:xfrm>
              <a:prstGeom prst="rect">
                <a:avLst/>
              </a:prstGeom>
              <a:solidFill>
                <a:srgbClr val="114FFB"/>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85" name="Oval 64"/>
              <p:cNvSpPr>
                <a:spLocks noChangeAspect="1" noChangeArrowheads="1"/>
              </p:cNvSpPr>
              <p:nvPr/>
            </p:nvSpPr>
            <p:spPr bwMode="auto">
              <a:xfrm>
                <a:off x="2483" y="3308"/>
                <a:ext cx="94" cy="95"/>
              </a:xfrm>
              <a:prstGeom prst="ellipse">
                <a:avLst/>
              </a:prstGeom>
              <a:solidFill>
                <a:srgbClr val="3365FB"/>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86" name="Oval 65"/>
              <p:cNvSpPr>
                <a:spLocks noChangeAspect="1" noChangeArrowheads="1"/>
              </p:cNvSpPr>
              <p:nvPr/>
            </p:nvSpPr>
            <p:spPr bwMode="auto">
              <a:xfrm>
                <a:off x="2494" y="3321"/>
                <a:ext cx="70" cy="70"/>
              </a:xfrm>
              <a:prstGeom prst="ellipse">
                <a:avLst/>
              </a:prstGeom>
              <a:solidFill>
                <a:srgbClr val="232323"/>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87" name="Rectangle 66"/>
              <p:cNvSpPr>
                <a:spLocks noChangeAspect="1" noChangeArrowheads="1"/>
              </p:cNvSpPr>
              <p:nvPr/>
            </p:nvSpPr>
            <p:spPr bwMode="auto">
              <a:xfrm>
                <a:off x="2504" y="3343"/>
                <a:ext cx="52" cy="20"/>
              </a:xfrm>
              <a:prstGeom prst="rect">
                <a:avLst/>
              </a:prstGeom>
              <a:solidFill>
                <a:srgbClr val="676767"/>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nvGrpSpPr>
            <p:cNvPr id="14" name="Group 67"/>
            <p:cNvGrpSpPr>
              <a:grpSpLocks noChangeAspect="1"/>
            </p:cNvGrpSpPr>
            <p:nvPr/>
          </p:nvGrpSpPr>
          <p:grpSpPr bwMode="auto">
            <a:xfrm>
              <a:off x="5402" y="3659"/>
              <a:ext cx="214" cy="229"/>
              <a:chOff x="2712" y="3304"/>
              <a:chExt cx="149" cy="275"/>
            </a:xfrm>
          </p:grpSpPr>
          <p:grpSp>
            <p:nvGrpSpPr>
              <p:cNvPr id="670" name="Group 68"/>
              <p:cNvGrpSpPr>
                <a:grpSpLocks noChangeAspect="1"/>
              </p:cNvGrpSpPr>
              <p:nvPr/>
            </p:nvGrpSpPr>
            <p:grpSpPr bwMode="auto">
              <a:xfrm>
                <a:off x="2716" y="3304"/>
                <a:ext cx="132" cy="137"/>
                <a:chOff x="2716" y="3304"/>
                <a:chExt cx="132" cy="137"/>
              </a:xfrm>
            </p:grpSpPr>
            <p:sp>
              <p:nvSpPr>
                <p:cNvPr id="678" name="Rectangle 69"/>
                <p:cNvSpPr>
                  <a:spLocks noChangeAspect="1" noChangeArrowheads="1"/>
                </p:cNvSpPr>
                <p:nvPr/>
              </p:nvSpPr>
              <p:spPr bwMode="auto">
                <a:xfrm>
                  <a:off x="2722" y="3304"/>
                  <a:ext cx="120" cy="35"/>
                </a:xfrm>
                <a:prstGeom prst="rect">
                  <a:avLst/>
                </a:prstGeom>
                <a:solidFill>
                  <a:srgbClr val="114FFB"/>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79" name="Oval 70"/>
                <p:cNvSpPr>
                  <a:spLocks noChangeAspect="1" noChangeArrowheads="1"/>
                </p:cNvSpPr>
                <p:nvPr/>
              </p:nvSpPr>
              <p:spPr bwMode="auto">
                <a:xfrm>
                  <a:off x="2716" y="3304"/>
                  <a:ext cx="132" cy="137"/>
                </a:xfrm>
                <a:prstGeom prst="ellipse">
                  <a:avLst/>
                </a:prstGeom>
                <a:solidFill>
                  <a:srgbClr val="3365FB"/>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80" name="Oval 71"/>
                <p:cNvSpPr>
                  <a:spLocks noChangeAspect="1" noChangeArrowheads="1"/>
                </p:cNvSpPr>
                <p:nvPr/>
              </p:nvSpPr>
              <p:spPr bwMode="auto">
                <a:xfrm>
                  <a:off x="2734" y="3321"/>
                  <a:ext cx="96" cy="101"/>
                </a:xfrm>
                <a:prstGeom prst="ellipse">
                  <a:avLst/>
                </a:prstGeom>
                <a:solidFill>
                  <a:srgbClr val="232323"/>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81" name="Rectangle 72"/>
                <p:cNvSpPr>
                  <a:spLocks noChangeAspect="1" noChangeArrowheads="1"/>
                </p:cNvSpPr>
                <p:nvPr/>
              </p:nvSpPr>
              <p:spPr bwMode="auto">
                <a:xfrm>
                  <a:off x="2748" y="3354"/>
                  <a:ext cx="72" cy="30"/>
                </a:xfrm>
                <a:prstGeom prst="rect">
                  <a:avLst/>
                </a:prstGeom>
                <a:solidFill>
                  <a:srgbClr val="676767"/>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sp>
            <p:nvSpPr>
              <p:cNvPr id="671" name="AutoShape 73"/>
              <p:cNvSpPr>
                <a:spLocks noChangeAspect="1" noChangeArrowheads="1"/>
              </p:cNvSpPr>
              <p:nvPr/>
            </p:nvSpPr>
            <p:spPr bwMode="auto">
              <a:xfrm>
                <a:off x="2729" y="3465"/>
                <a:ext cx="114" cy="114"/>
              </a:xfrm>
              <a:prstGeom prst="roundRect">
                <a:avLst>
                  <a:gd name="adj" fmla="val 12495"/>
                </a:avLst>
              </a:prstGeom>
              <a:solidFill>
                <a:srgbClr val="91919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72" name="Rectangle 74"/>
              <p:cNvSpPr>
                <a:spLocks noChangeAspect="1" noChangeArrowheads="1"/>
              </p:cNvSpPr>
              <p:nvPr/>
            </p:nvSpPr>
            <p:spPr bwMode="auto">
              <a:xfrm>
                <a:off x="2712" y="3489"/>
                <a:ext cx="12" cy="63"/>
              </a:xfrm>
              <a:prstGeom prst="rect">
                <a:avLst/>
              </a:prstGeom>
              <a:solidFill>
                <a:srgbClr val="91919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73" name="Rectangle 75"/>
              <p:cNvSpPr>
                <a:spLocks noChangeAspect="1" noChangeArrowheads="1"/>
              </p:cNvSpPr>
              <p:nvPr/>
            </p:nvSpPr>
            <p:spPr bwMode="auto">
              <a:xfrm>
                <a:off x="2847" y="3487"/>
                <a:ext cx="14" cy="64"/>
              </a:xfrm>
              <a:prstGeom prst="rect">
                <a:avLst/>
              </a:prstGeom>
              <a:solidFill>
                <a:srgbClr val="91919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74" name="Rectangle 76"/>
              <p:cNvSpPr>
                <a:spLocks noChangeAspect="1" noChangeArrowheads="1"/>
              </p:cNvSpPr>
              <p:nvPr/>
            </p:nvSpPr>
            <p:spPr bwMode="auto">
              <a:xfrm>
                <a:off x="2766" y="3435"/>
                <a:ext cx="37" cy="27"/>
              </a:xfrm>
              <a:prstGeom prst="rect">
                <a:avLst/>
              </a:prstGeom>
              <a:solidFill>
                <a:srgbClr val="919191"/>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75" name="Group 77"/>
              <p:cNvGrpSpPr>
                <a:grpSpLocks noChangeAspect="1"/>
              </p:cNvGrpSpPr>
              <p:nvPr/>
            </p:nvGrpSpPr>
            <p:grpSpPr bwMode="auto">
              <a:xfrm>
                <a:off x="2773" y="3504"/>
                <a:ext cx="30" cy="28"/>
                <a:chOff x="2773" y="3504"/>
                <a:chExt cx="30" cy="28"/>
              </a:xfrm>
            </p:grpSpPr>
            <p:sp>
              <p:nvSpPr>
                <p:cNvPr id="676" name="Freeform 78"/>
                <p:cNvSpPr>
                  <a:spLocks noChangeAspect="1"/>
                </p:cNvSpPr>
                <p:nvPr/>
              </p:nvSpPr>
              <p:spPr bwMode="auto">
                <a:xfrm>
                  <a:off x="2773" y="3504"/>
                  <a:ext cx="30" cy="28"/>
                </a:xfrm>
                <a:custGeom>
                  <a:avLst/>
                  <a:gdLst>
                    <a:gd name="T0" fmla="*/ 0 w 30"/>
                    <a:gd name="T1" fmla="*/ 17 h 28"/>
                    <a:gd name="T2" fmla="*/ 0 w 30"/>
                    <a:gd name="T3" fmla="*/ 9 h 28"/>
                    <a:gd name="T4" fmla="*/ 9 w 30"/>
                    <a:gd name="T5" fmla="*/ 0 h 28"/>
                    <a:gd name="T6" fmla="*/ 19 w 30"/>
                    <a:gd name="T7" fmla="*/ 0 h 28"/>
                    <a:gd name="T8" fmla="*/ 29 w 30"/>
                    <a:gd name="T9" fmla="*/ 9 h 28"/>
                    <a:gd name="T10" fmla="*/ 29 w 30"/>
                    <a:gd name="T11" fmla="*/ 17 h 28"/>
                    <a:gd name="T12" fmla="*/ 19 w 30"/>
                    <a:gd name="T13" fmla="*/ 27 h 28"/>
                    <a:gd name="T14" fmla="*/ 9 w 30"/>
                    <a:gd name="T15" fmla="*/ 27 h 28"/>
                    <a:gd name="T16" fmla="*/ 0 w 30"/>
                    <a:gd name="T17" fmla="*/ 17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28"/>
                    <a:gd name="T29" fmla="*/ 30 w 30"/>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28">
                      <a:moveTo>
                        <a:pt x="0" y="17"/>
                      </a:moveTo>
                      <a:lnTo>
                        <a:pt x="0" y="9"/>
                      </a:lnTo>
                      <a:lnTo>
                        <a:pt x="9" y="0"/>
                      </a:lnTo>
                      <a:lnTo>
                        <a:pt x="19" y="0"/>
                      </a:lnTo>
                      <a:lnTo>
                        <a:pt x="29" y="9"/>
                      </a:lnTo>
                      <a:lnTo>
                        <a:pt x="29" y="17"/>
                      </a:lnTo>
                      <a:lnTo>
                        <a:pt x="19" y="27"/>
                      </a:lnTo>
                      <a:lnTo>
                        <a:pt x="9" y="27"/>
                      </a:lnTo>
                      <a:lnTo>
                        <a:pt x="0" y="17"/>
                      </a:lnTo>
                    </a:path>
                  </a:pathLst>
                </a:custGeom>
                <a:solidFill>
                  <a:schemeClr val="bg2"/>
                </a:solidFill>
                <a:ln w="12700" cap="rnd" cmpd="sng">
                  <a:solidFill>
                    <a:schemeClr val="tx1"/>
                  </a:solidFill>
                  <a:prstDash val="solid"/>
                  <a:round/>
                  <a:headEnd/>
                  <a:tailEnd/>
                </a:ln>
              </p:spPr>
              <p:txBody>
                <a:bodyPr/>
                <a:lstStyle/>
                <a:p>
                  <a:endParaRPr lang="ru-RU" dirty="0">
                    <a:solidFill>
                      <a:srgbClr val="475B79"/>
                    </a:solidFill>
                  </a:endParaRPr>
                </a:p>
              </p:txBody>
            </p:sp>
            <p:sp>
              <p:nvSpPr>
                <p:cNvPr id="677" name="Oval 79"/>
                <p:cNvSpPr>
                  <a:spLocks noChangeAspect="1" noChangeArrowheads="1"/>
                </p:cNvSpPr>
                <p:nvPr/>
              </p:nvSpPr>
              <p:spPr bwMode="auto">
                <a:xfrm>
                  <a:off x="2787" y="3516"/>
                  <a:ext cx="8" cy="8"/>
                </a:xfrm>
                <a:prstGeom prst="ellipse">
                  <a:avLst/>
                </a:prstGeom>
                <a:solidFill>
                  <a:schemeClr val="bg2"/>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grpSp>
          <p:nvGrpSpPr>
            <p:cNvPr id="15" name="Group 80"/>
            <p:cNvGrpSpPr>
              <a:grpSpLocks noChangeAspect="1"/>
            </p:cNvGrpSpPr>
            <p:nvPr/>
          </p:nvGrpSpPr>
          <p:grpSpPr bwMode="auto">
            <a:xfrm>
              <a:off x="4700" y="3659"/>
              <a:ext cx="242" cy="233"/>
              <a:chOff x="2222" y="3304"/>
              <a:chExt cx="169" cy="280"/>
            </a:xfrm>
          </p:grpSpPr>
          <p:grpSp>
            <p:nvGrpSpPr>
              <p:cNvPr id="625" name="Group 81"/>
              <p:cNvGrpSpPr>
                <a:grpSpLocks noChangeAspect="1"/>
              </p:cNvGrpSpPr>
              <p:nvPr/>
            </p:nvGrpSpPr>
            <p:grpSpPr bwMode="auto">
              <a:xfrm>
                <a:off x="2222" y="3304"/>
                <a:ext cx="169" cy="152"/>
                <a:chOff x="2222" y="3304"/>
                <a:chExt cx="169" cy="152"/>
              </a:xfrm>
            </p:grpSpPr>
            <p:sp>
              <p:nvSpPr>
                <p:cNvPr id="653" name="Rectangle 82"/>
                <p:cNvSpPr>
                  <a:spLocks noChangeAspect="1" noChangeArrowheads="1"/>
                </p:cNvSpPr>
                <p:nvPr/>
              </p:nvSpPr>
              <p:spPr bwMode="auto">
                <a:xfrm>
                  <a:off x="2255" y="3309"/>
                  <a:ext cx="101" cy="147"/>
                </a:xfrm>
                <a:prstGeom prst="rect">
                  <a:avLst/>
                </a:prstGeom>
                <a:solidFill>
                  <a:srgbClr val="114FFB"/>
                </a:solidFill>
                <a:ln w="12700">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54" name="Oval 83"/>
                <p:cNvSpPr>
                  <a:spLocks noChangeAspect="1" noChangeArrowheads="1"/>
                </p:cNvSpPr>
                <p:nvPr/>
              </p:nvSpPr>
              <p:spPr bwMode="auto">
                <a:xfrm>
                  <a:off x="2290" y="3307"/>
                  <a:ext cx="34" cy="40"/>
                </a:xfrm>
                <a:prstGeom prst="ellipse">
                  <a:avLst/>
                </a:prstGeom>
                <a:solidFill>
                  <a:srgbClr val="114FFB"/>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55" name="Freeform 84"/>
                <p:cNvSpPr>
                  <a:spLocks noChangeAspect="1"/>
                </p:cNvSpPr>
                <p:nvPr/>
              </p:nvSpPr>
              <p:spPr bwMode="auto">
                <a:xfrm>
                  <a:off x="2251" y="3388"/>
                  <a:ext cx="110" cy="22"/>
                </a:xfrm>
                <a:custGeom>
                  <a:avLst/>
                  <a:gdLst>
                    <a:gd name="T0" fmla="*/ 109 w 110"/>
                    <a:gd name="T1" fmla="*/ 21 h 22"/>
                    <a:gd name="T2" fmla="*/ 103 w 110"/>
                    <a:gd name="T3" fmla="*/ 16 h 22"/>
                    <a:gd name="T4" fmla="*/ 96 w 110"/>
                    <a:gd name="T5" fmla="*/ 11 h 22"/>
                    <a:gd name="T6" fmla="*/ 89 w 110"/>
                    <a:gd name="T7" fmla="*/ 7 h 22"/>
                    <a:gd name="T8" fmla="*/ 82 w 110"/>
                    <a:gd name="T9" fmla="*/ 5 h 22"/>
                    <a:gd name="T10" fmla="*/ 74 w 110"/>
                    <a:gd name="T11" fmla="*/ 2 h 22"/>
                    <a:gd name="T12" fmla="*/ 64 w 110"/>
                    <a:gd name="T13" fmla="*/ 0 h 22"/>
                    <a:gd name="T14" fmla="*/ 54 w 110"/>
                    <a:gd name="T15" fmla="*/ 0 h 22"/>
                    <a:gd name="T16" fmla="*/ 46 w 110"/>
                    <a:gd name="T17" fmla="*/ 0 h 22"/>
                    <a:gd name="T18" fmla="*/ 37 w 110"/>
                    <a:gd name="T19" fmla="*/ 0 h 22"/>
                    <a:gd name="T20" fmla="*/ 31 w 110"/>
                    <a:gd name="T21" fmla="*/ 3 h 22"/>
                    <a:gd name="T22" fmla="*/ 25 w 110"/>
                    <a:gd name="T23" fmla="*/ 5 h 22"/>
                    <a:gd name="T24" fmla="*/ 17 w 110"/>
                    <a:gd name="T25" fmla="*/ 9 h 22"/>
                    <a:gd name="T26" fmla="*/ 8 w 110"/>
                    <a:gd name="T27" fmla="*/ 13 h 22"/>
                    <a:gd name="T28" fmla="*/ 0 w 110"/>
                    <a:gd name="T29" fmla="*/ 17 h 22"/>
                    <a:gd name="T30" fmla="*/ 109 w 110"/>
                    <a:gd name="T31" fmla="*/ 21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0"/>
                    <a:gd name="T49" fmla="*/ 0 h 22"/>
                    <a:gd name="T50" fmla="*/ 110 w 110"/>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0" h="22">
                      <a:moveTo>
                        <a:pt x="109" y="21"/>
                      </a:moveTo>
                      <a:lnTo>
                        <a:pt x="103" y="16"/>
                      </a:lnTo>
                      <a:lnTo>
                        <a:pt x="96" y="11"/>
                      </a:lnTo>
                      <a:lnTo>
                        <a:pt x="89" y="7"/>
                      </a:lnTo>
                      <a:lnTo>
                        <a:pt x="82" y="5"/>
                      </a:lnTo>
                      <a:lnTo>
                        <a:pt x="74" y="2"/>
                      </a:lnTo>
                      <a:lnTo>
                        <a:pt x="64" y="0"/>
                      </a:lnTo>
                      <a:lnTo>
                        <a:pt x="54" y="0"/>
                      </a:lnTo>
                      <a:lnTo>
                        <a:pt x="46" y="0"/>
                      </a:lnTo>
                      <a:lnTo>
                        <a:pt x="37" y="0"/>
                      </a:lnTo>
                      <a:lnTo>
                        <a:pt x="31" y="3"/>
                      </a:lnTo>
                      <a:lnTo>
                        <a:pt x="25" y="5"/>
                      </a:lnTo>
                      <a:lnTo>
                        <a:pt x="17" y="9"/>
                      </a:lnTo>
                      <a:lnTo>
                        <a:pt x="8" y="13"/>
                      </a:lnTo>
                      <a:lnTo>
                        <a:pt x="0" y="17"/>
                      </a:lnTo>
                      <a:lnTo>
                        <a:pt x="109" y="21"/>
                      </a:lnTo>
                    </a:path>
                  </a:pathLst>
                </a:custGeom>
                <a:solidFill>
                  <a:srgbClr val="114FFB"/>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56" name="Freeform 85"/>
                <p:cNvSpPr>
                  <a:spLocks noChangeAspect="1"/>
                </p:cNvSpPr>
                <p:nvPr/>
              </p:nvSpPr>
              <p:spPr bwMode="auto">
                <a:xfrm>
                  <a:off x="2251" y="3384"/>
                  <a:ext cx="112" cy="29"/>
                </a:xfrm>
                <a:custGeom>
                  <a:avLst/>
                  <a:gdLst>
                    <a:gd name="T0" fmla="*/ 111 w 112"/>
                    <a:gd name="T1" fmla="*/ 28 h 29"/>
                    <a:gd name="T2" fmla="*/ 105 w 112"/>
                    <a:gd name="T3" fmla="*/ 21 h 29"/>
                    <a:gd name="T4" fmla="*/ 99 w 112"/>
                    <a:gd name="T5" fmla="*/ 16 h 29"/>
                    <a:gd name="T6" fmla="*/ 90 w 112"/>
                    <a:gd name="T7" fmla="*/ 11 h 29"/>
                    <a:gd name="T8" fmla="*/ 83 w 112"/>
                    <a:gd name="T9" fmla="*/ 7 h 29"/>
                    <a:gd name="T10" fmla="*/ 76 w 112"/>
                    <a:gd name="T11" fmla="*/ 4 h 29"/>
                    <a:gd name="T12" fmla="*/ 66 w 112"/>
                    <a:gd name="T13" fmla="*/ 1 h 29"/>
                    <a:gd name="T14" fmla="*/ 56 w 112"/>
                    <a:gd name="T15" fmla="*/ 0 h 29"/>
                    <a:gd name="T16" fmla="*/ 46 w 112"/>
                    <a:gd name="T17" fmla="*/ 1 h 29"/>
                    <a:gd name="T18" fmla="*/ 37 w 112"/>
                    <a:gd name="T19" fmla="*/ 3 h 29"/>
                    <a:gd name="T20" fmla="*/ 31 w 112"/>
                    <a:gd name="T21" fmla="*/ 4 h 29"/>
                    <a:gd name="T22" fmla="*/ 24 w 112"/>
                    <a:gd name="T23" fmla="*/ 7 h 29"/>
                    <a:gd name="T24" fmla="*/ 17 w 112"/>
                    <a:gd name="T25" fmla="*/ 13 h 29"/>
                    <a:gd name="T26" fmla="*/ 8 w 112"/>
                    <a:gd name="T27" fmla="*/ 18 h 29"/>
                    <a:gd name="T28" fmla="*/ 0 w 112"/>
                    <a:gd name="T29" fmla="*/ 25 h 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29"/>
                    <a:gd name="T47" fmla="*/ 112 w 112"/>
                    <a:gd name="T48" fmla="*/ 29 h 2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29">
                      <a:moveTo>
                        <a:pt x="111" y="28"/>
                      </a:moveTo>
                      <a:lnTo>
                        <a:pt x="105" y="21"/>
                      </a:lnTo>
                      <a:lnTo>
                        <a:pt x="99" y="16"/>
                      </a:lnTo>
                      <a:lnTo>
                        <a:pt x="90" y="11"/>
                      </a:lnTo>
                      <a:lnTo>
                        <a:pt x="83" y="7"/>
                      </a:lnTo>
                      <a:lnTo>
                        <a:pt x="76" y="4"/>
                      </a:lnTo>
                      <a:lnTo>
                        <a:pt x="66" y="1"/>
                      </a:lnTo>
                      <a:lnTo>
                        <a:pt x="56" y="0"/>
                      </a:lnTo>
                      <a:lnTo>
                        <a:pt x="46" y="1"/>
                      </a:lnTo>
                      <a:lnTo>
                        <a:pt x="37" y="3"/>
                      </a:lnTo>
                      <a:lnTo>
                        <a:pt x="31" y="4"/>
                      </a:lnTo>
                      <a:lnTo>
                        <a:pt x="24" y="7"/>
                      </a:lnTo>
                      <a:lnTo>
                        <a:pt x="17" y="13"/>
                      </a:lnTo>
                      <a:lnTo>
                        <a:pt x="8" y="18"/>
                      </a:lnTo>
                      <a:lnTo>
                        <a:pt x="0" y="25"/>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57" name="Freeform 86"/>
                <p:cNvSpPr>
                  <a:spLocks noChangeAspect="1"/>
                </p:cNvSpPr>
                <p:nvPr/>
              </p:nvSpPr>
              <p:spPr bwMode="auto">
                <a:xfrm>
                  <a:off x="2256" y="3417"/>
                  <a:ext cx="46" cy="17"/>
                </a:xfrm>
                <a:custGeom>
                  <a:avLst/>
                  <a:gdLst>
                    <a:gd name="T0" fmla="*/ 0 w 46"/>
                    <a:gd name="T1" fmla="*/ 16 h 17"/>
                    <a:gd name="T2" fmla="*/ 35 w 46"/>
                    <a:gd name="T3" fmla="*/ 16 h 17"/>
                    <a:gd name="T4" fmla="*/ 45 w 46"/>
                    <a:gd name="T5" fmla="*/ 12 h 17"/>
                    <a:gd name="T6" fmla="*/ 45 w 46"/>
                    <a:gd name="T7" fmla="*/ 4 h 17"/>
                    <a:gd name="T8" fmla="*/ 36 w 46"/>
                    <a:gd name="T9" fmla="*/ 0 h 17"/>
                    <a:gd name="T10" fmla="*/ 0 w 46"/>
                    <a:gd name="T11" fmla="*/ 0 h 17"/>
                    <a:gd name="T12" fmla="*/ 0 w 46"/>
                    <a:gd name="T13" fmla="*/ 16 h 17"/>
                    <a:gd name="T14" fmla="*/ 0 60000 65536"/>
                    <a:gd name="T15" fmla="*/ 0 60000 65536"/>
                    <a:gd name="T16" fmla="*/ 0 60000 65536"/>
                    <a:gd name="T17" fmla="*/ 0 60000 65536"/>
                    <a:gd name="T18" fmla="*/ 0 60000 65536"/>
                    <a:gd name="T19" fmla="*/ 0 60000 65536"/>
                    <a:gd name="T20" fmla="*/ 0 60000 65536"/>
                    <a:gd name="T21" fmla="*/ 0 w 46"/>
                    <a:gd name="T22" fmla="*/ 0 h 17"/>
                    <a:gd name="T23" fmla="*/ 46 w 46"/>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 h="17">
                      <a:moveTo>
                        <a:pt x="0" y="16"/>
                      </a:moveTo>
                      <a:lnTo>
                        <a:pt x="35" y="16"/>
                      </a:lnTo>
                      <a:lnTo>
                        <a:pt x="45" y="12"/>
                      </a:lnTo>
                      <a:lnTo>
                        <a:pt x="45" y="4"/>
                      </a:lnTo>
                      <a:lnTo>
                        <a:pt x="36" y="0"/>
                      </a:lnTo>
                      <a:lnTo>
                        <a:pt x="0" y="0"/>
                      </a:lnTo>
                      <a:lnTo>
                        <a:pt x="0" y="16"/>
                      </a:lnTo>
                    </a:path>
                  </a:pathLst>
                </a:custGeom>
                <a:solidFill>
                  <a:srgbClr val="114FFB"/>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58" name="Freeform 87"/>
                <p:cNvSpPr>
                  <a:spLocks noChangeAspect="1"/>
                </p:cNvSpPr>
                <p:nvPr/>
              </p:nvSpPr>
              <p:spPr bwMode="auto">
                <a:xfrm>
                  <a:off x="2255" y="3414"/>
                  <a:ext cx="50" cy="23"/>
                </a:xfrm>
                <a:custGeom>
                  <a:avLst/>
                  <a:gdLst>
                    <a:gd name="T0" fmla="*/ 0 w 50"/>
                    <a:gd name="T1" fmla="*/ 22 h 23"/>
                    <a:gd name="T2" fmla="*/ 40 w 50"/>
                    <a:gd name="T3" fmla="*/ 22 h 23"/>
                    <a:gd name="T4" fmla="*/ 49 w 50"/>
                    <a:gd name="T5" fmla="*/ 16 h 23"/>
                    <a:gd name="T6" fmla="*/ 49 w 50"/>
                    <a:gd name="T7" fmla="*/ 6 h 23"/>
                    <a:gd name="T8" fmla="*/ 40 w 50"/>
                    <a:gd name="T9" fmla="*/ 0 h 23"/>
                    <a:gd name="T10" fmla="*/ 0 w 50"/>
                    <a:gd name="T11" fmla="*/ 0 h 23"/>
                    <a:gd name="T12" fmla="*/ 0 60000 65536"/>
                    <a:gd name="T13" fmla="*/ 0 60000 65536"/>
                    <a:gd name="T14" fmla="*/ 0 60000 65536"/>
                    <a:gd name="T15" fmla="*/ 0 60000 65536"/>
                    <a:gd name="T16" fmla="*/ 0 60000 65536"/>
                    <a:gd name="T17" fmla="*/ 0 60000 65536"/>
                    <a:gd name="T18" fmla="*/ 0 w 50"/>
                    <a:gd name="T19" fmla="*/ 0 h 23"/>
                    <a:gd name="T20" fmla="*/ 50 w 50"/>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50" h="23">
                      <a:moveTo>
                        <a:pt x="0" y="22"/>
                      </a:moveTo>
                      <a:lnTo>
                        <a:pt x="40" y="22"/>
                      </a:lnTo>
                      <a:lnTo>
                        <a:pt x="49" y="16"/>
                      </a:lnTo>
                      <a:lnTo>
                        <a:pt x="49" y="6"/>
                      </a:lnTo>
                      <a:lnTo>
                        <a:pt x="40" y="0"/>
                      </a:lnTo>
                      <a:lnTo>
                        <a:pt x="0" y="0"/>
                      </a:lnTo>
                    </a:path>
                  </a:pathLst>
                </a:custGeom>
                <a:solidFill>
                  <a:srgbClr val="114FFB"/>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659" name="Oval 88"/>
                <p:cNvSpPr>
                  <a:spLocks noChangeAspect="1" noChangeArrowheads="1"/>
                </p:cNvSpPr>
                <p:nvPr/>
              </p:nvSpPr>
              <p:spPr bwMode="auto">
                <a:xfrm>
                  <a:off x="2303" y="3426"/>
                  <a:ext cx="8" cy="8"/>
                </a:xfrm>
                <a:prstGeom prst="ellipse">
                  <a:avLst/>
                </a:prstGeom>
                <a:solidFill>
                  <a:srgbClr val="114FFB"/>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60" name="Group 89"/>
                <p:cNvGrpSpPr>
                  <a:grpSpLocks noChangeAspect="1"/>
                </p:cNvGrpSpPr>
                <p:nvPr/>
              </p:nvGrpSpPr>
              <p:grpSpPr bwMode="auto">
                <a:xfrm>
                  <a:off x="2359" y="3304"/>
                  <a:ext cx="32" cy="101"/>
                  <a:chOff x="2359" y="3304"/>
                  <a:chExt cx="32" cy="101"/>
                </a:xfrm>
              </p:grpSpPr>
              <p:sp>
                <p:nvSpPr>
                  <p:cNvPr id="666" name="Freeform 90"/>
                  <p:cNvSpPr>
                    <a:spLocks noChangeAspect="1"/>
                  </p:cNvSpPr>
                  <p:nvPr/>
                </p:nvSpPr>
                <p:spPr bwMode="auto">
                  <a:xfrm>
                    <a:off x="2359" y="3304"/>
                    <a:ext cx="32" cy="101"/>
                  </a:xfrm>
                  <a:custGeom>
                    <a:avLst/>
                    <a:gdLst>
                      <a:gd name="T0" fmla="*/ 0 w 32"/>
                      <a:gd name="T1" fmla="*/ 0 h 101"/>
                      <a:gd name="T2" fmla="*/ 31 w 32"/>
                      <a:gd name="T3" fmla="*/ 7 h 101"/>
                      <a:gd name="T4" fmla="*/ 31 w 32"/>
                      <a:gd name="T5" fmla="*/ 90 h 101"/>
                      <a:gd name="T6" fmla="*/ 0 w 32"/>
                      <a:gd name="T7" fmla="*/ 100 h 101"/>
                      <a:gd name="T8" fmla="*/ 0 w 32"/>
                      <a:gd name="T9" fmla="*/ 0 h 101"/>
                      <a:gd name="T10" fmla="*/ 0 60000 65536"/>
                      <a:gd name="T11" fmla="*/ 0 60000 65536"/>
                      <a:gd name="T12" fmla="*/ 0 60000 65536"/>
                      <a:gd name="T13" fmla="*/ 0 60000 65536"/>
                      <a:gd name="T14" fmla="*/ 0 60000 65536"/>
                      <a:gd name="T15" fmla="*/ 0 w 32"/>
                      <a:gd name="T16" fmla="*/ 0 h 101"/>
                      <a:gd name="T17" fmla="*/ 32 w 32"/>
                      <a:gd name="T18" fmla="*/ 101 h 101"/>
                    </a:gdLst>
                    <a:ahLst/>
                    <a:cxnLst>
                      <a:cxn ang="T10">
                        <a:pos x="T0" y="T1"/>
                      </a:cxn>
                      <a:cxn ang="T11">
                        <a:pos x="T2" y="T3"/>
                      </a:cxn>
                      <a:cxn ang="T12">
                        <a:pos x="T4" y="T5"/>
                      </a:cxn>
                      <a:cxn ang="T13">
                        <a:pos x="T6" y="T7"/>
                      </a:cxn>
                      <a:cxn ang="T14">
                        <a:pos x="T8" y="T9"/>
                      </a:cxn>
                    </a:cxnLst>
                    <a:rect l="T15" t="T16" r="T17" b="T18"/>
                    <a:pathLst>
                      <a:path w="32" h="101">
                        <a:moveTo>
                          <a:pt x="0" y="0"/>
                        </a:moveTo>
                        <a:lnTo>
                          <a:pt x="31" y="7"/>
                        </a:lnTo>
                        <a:lnTo>
                          <a:pt x="31" y="90"/>
                        </a:lnTo>
                        <a:lnTo>
                          <a:pt x="0" y="100"/>
                        </a:lnTo>
                        <a:lnTo>
                          <a:pt x="0" y="0"/>
                        </a:lnTo>
                      </a:path>
                    </a:pathLst>
                  </a:custGeom>
                  <a:solidFill>
                    <a:srgbClr val="114FFB"/>
                  </a:solidFill>
                  <a:ln w="25400" cap="rnd" cmpd="sng">
                    <a:solidFill>
                      <a:schemeClr val="tx1"/>
                    </a:solidFill>
                    <a:prstDash val="solid"/>
                    <a:round/>
                    <a:headEnd/>
                    <a:tailEnd/>
                  </a:ln>
                </p:spPr>
                <p:txBody>
                  <a:bodyPr/>
                  <a:lstStyle/>
                  <a:p>
                    <a:endParaRPr lang="ru-RU" dirty="0">
                      <a:solidFill>
                        <a:srgbClr val="475B79"/>
                      </a:solidFill>
                    </a:endParaRPr>
                  </a:p>
                </p:txBody>
              </p:sp>
              <p:sp>
                <p:nvSpPr>
                  <p:cNvPr id="667" name="Rectangle 91"/>
                  <p:cNvSpPr>
                    <a:spLocks noChangeAspect="1" noChangeArrowheads="1"/>
                  </p:cNvSpPr>
                  <p:nvPr/>
                </p:nvSpPr>
                <p:spPr bwMode="auto">
                  <a:xfrm>
                    <a:off x="2368" y="3349"/>
                    <a:ext cx="0" cy="7"/>
                  </a:xfrm>
                  <a:prstGeom prst="rect">
                    <a:avLst/>
                  </a:prstGeom>
                  <a:solidFill>
                    <a:srgbClr val="114FFB"/>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68" name="Rectangle 92"/>
                  <p:cNvSpPr>
                    <a:spLocks noChangeAspect="1" noChangeArrowheads="1"/>
                  </p:cNvSpPr>
                  <p:nvPr/>
                </p:nvSpPr>
                <p:spPr bwMode="auto">
                  <a:xfrm>
                    <a:off x="2368" y="3317"/>
                    <a:ext cx="0" cy="2"/>
                  </a:xfrm>
                  <a:prstGeom prst="rect">
                    <a:avLst/>
                  </a:prstGeom>
                  <a:solidFill>
                    <a:srgbClr val="114FFB"/>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69" name="Rectangle 93"/>
                  <p:cNvSpPr>
                    <a:spLocks noChangeAspect="1" noChangeArrowheads="1"/>
                  </p:cNvSpPr>
                  <p:nvPr/>
                </p:nvSpPr>
                <p:spPr bwMode="auto">
                  <a:xfrm>
                    <a:off x="2368" y="3383"/>
                    <a:ext cx="0" cy="1"/>
                  </a:xfrm>
                  <a:prstGeom prst="rect">
                    <a:avLst/>
                  </a:prstGeom>
                  <a:solidFill>
                    <a:srgbClr val="114FFB"/>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nvGrpSpPr>
                <p:cNvPr id="661" name="Group 94"/>
                <p:cNvGrpSpPr>
                  <a:grpSpLocks noChangeAspect="1"/>
                </p:cNvGrpSpPr>
                <p:nvPr/>
              </p:nvGrpSpPr>
              <p:grpSpPr bwMode="auto">
                <a:xfrm>
                  <a:off x="2222" y="3304"/>
                  <a:ext cx="30" cy="101"/>
                  <a:chOff x="2222" y="3304"/>
                  <a:chExt cx="30" cy="101"/>
                </a:xfrm>
              </p:grpSpPr>
              <p:sp>
                <p:nvSpPr>
                  <p:cNvPr id="662" name="Freeform 95"/>
                  <p:cNvSpPr>
                    <a:spLocks noChangeAspect="1"/>
                  </p:cNvSpPr>
                  <p:nvPr/>
                </p:nvSpPr>
                <p:spPr bwMode="auto">
                  <a:xfrm>
                    <a:off x="2222" y="3304"/>
                    <a:ext cx="30" cy="101"/>
                  </a:xfrm>
                  <a:custGeom>
                    <a:avLst/>
                    <a:gdLst>
                      <a:gd name="T0" fmla="*/ 29 w 30"/>
                      <a:gd name="T1" fmla="*/ 0 h 101"/>
                      <a:gd name="T2" fmla="*/ 0 w 30"/>
                      <a:gd name="T3" fmla="*/ 7 h 101"/>
                      <a:gd name="T4" fmla="*/ 0 w 30"/>
                      <a:gd name="T5" fmla="*/ 90 h 101"/>
                      <a:gd name="T6" fmla="*/ 29 w 30"/>
                      <a:gd name="T7" fmla="*/ 100 h 101"/>
                      <a:gd name="T8" fmla="*/ 29 w 30"/>
                      <a:gd name="T9" fmla="*/ 0 h 101"/>
                      <a:gd name="T10" fmla="*/ 0 60000 65536"/>
                      <a:gd name="T11" fmla="*/ 0 60000 65536"/>
                      <a:gd name="T12" fmla="*/ 0 60000 65536"/>
                      <a:gd name="T13" fmla="*/ 0 60000 65536"/>
                      <a:gd name="T14" fmla="*/ 0 60000 65536"/>
                      <a:gd name="T15" fmla="*/ 0 w 30"/>
                      <a:gd name="T16" fmla="*/ 0 h 101"/>
                      <a:gd name="T17" fmla="*/ 30 w 30"/>
                      <a:gd name="T18" fmla="*/ 101 h 101"/>
                    </a:gdLst>
                    <a:ahLst/>
                    <a:cxnLst>
                      <a:cxn ang="T10">
                        <a:pos x="T0" y="T1"/>
                      </a:cxn>
                      <a:cxn ang="T11">
                        <a:pos x="T2" y="T3"/>
                      </a:cxn>
                      <a:cxn ang="T12">
                        <a:pos x="T4" y="T5"/>
                      </a:cxn>
                      <a:cxn ang="T13">
                        <a:pos x="T6" y="T7"/>
                      </a:cxn>
                      <a:cxn ang="T14">
                        <a:pos x="T8" y="T9"/>
                      </a:cxn>
                    </a:cxnLst>
                    <a:rect l="T15" t="T16" r="T17" b="T18"/>
                    <a:pathLst>
                      <a:path w="30" h="101">
                        <a:moveTo>
                          <a:pt x="29" y="0"/>
                        </a:moveTo>
                        <a:lnTo>
                          <a:pt x="0" y="7"/>
                        </a:lnTo>
                        <a:lnTo>
                          <a:pt x="0" y="90"/>
                        </a:lnTo>
                        <a:lnTo>
                          <a:pt x="29" y="100"/>
                        </a:lnTo>
                        <a:lnTo>
                          <a:pt x="29" y="0"/>
                        </a:lnTo>
                      </a:path>
                    </a:pathLst>
                  </a:custGeom>
                  <a:solidFill>
                    <a:srgbClr val="114FFB"/>
                  </a:solidFill>
                  <a:ln w="25400" cap="rnd" cmpd="sng">
                    <a:solidFill>
                      <a:schemeClr val="tx1"/>
                    </a:solidFill>
                    <a:prstDash val="solid"/>
                    <a:round/>
                    <a:headEnd/>
                    <a:tailEnd/>
                  </a:ln>
                </p:spPr>
                <p:txBody>
                  <a:bodyPr/>
                  <a:lstStyle/>
                  <a:p>
                    <a:endParaRPr lang="ru-RU" dirty="0">
                      <a:solidFill>
                        <a:srgbClr val="475B79"/>
                      </a:solidFill>
                    </a:endParaRPr>
                  </a:p>
                </p:txBody>
              </p:sp>
              <p:sp>
                <p:nvSpPr>
                  <p:cNvPr id="663" name="Rectangle 96"/>
                  <p:cNvSpPr>
                    <a:spLocks noChangeAspect="1" noChangeArrowheads="1"/>
                  </p:cNvSpPr>
                  <p:nvPr/>
                </p:nvSpPr>
                <p:spPr bwMode="auto">
                  <a:xfrm>
                    <a:off x="2249" y="3349"/>
                    <a:ext cx="0" cy="7"/>
                  </a:xfrm>
                  <a:prstGeom prst="rect">
                    <a:avLst/>
                  </a:prstGeom>
                  <a:solidFill>
                    <a:srgbClr val="114FFB"/>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64" name="Rectangle 97"/>
                  <p:cNvSpPr>
                    <a:spLocks noChangeAspect="1" noChangeArrowheads="1"/>
                  </p:cNvSpPr>
                  <p:nvPr/>
                </p:nvSpPr>
                <p:spPr bwMode="auto">
                  <a:xfrm>
                    <a:off x="2249" y="3317"/>
                    <a:ext cx="0" cy="2"/>
                  </a:xfrm>
                  <a:prstGeom prst="rect">
                    <a:avLst/>
                  </a:prstGeom>
                  <a:solidFill>
                    <a:srgbClr val="114FFB"/>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65" name="Rectangle 98"/>
                  <p:cNvSpPr>
                    <a:spLocks noChangeAspect="1" noChangeArrowheads="1"/>
                  </p:cNvSpPr>
                  <p:nvPr/>
                </p:nvSpPr>
                <p:spPr bwMode="auto">
                  <a:xfrm>
                    <a:off x="2249" y="3383"/>
                    <a:ext cx="0" cy="1"/>
                  </a:xfrm>
                  <a:prstGeom prst="rect">
                    <a:avLst/>
                  </a:prstGeom>
                  <a:solidFill>
                    <a:srgbClr val="114FFB"/>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sp>
            <p:nvSpPr>
              <p:cNvPr id="626" name="Rectangle 99"/>
              <p:cNvSpPr>
                <a:spLocks noChangeAspect="1" noChangeArrowheads="1"/>
              </p:cNvSpPr>
              <p:nvPr/>
            </p:nvSpPr>
            <p:spPr bwMode="auto">
              <a:xfrm>
                <a:off x="2259" y="3467"/>
                <a:ext cx="93" cy="69"/>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27" name="Group 100"/>
              <p:cNvGrpSpPr>
                <a:grpSpLocks noChangeAspect="1"/>
              </p:cNvGrpSpPr>
              <p:nvPr/>
            </p:nvGrpSpPr>
            <p:grpSpPr bwMode="auto">
              <a:xfrm>
                <a:off x="2339" y="3544"/>
                <a:ext cx="10" cy="14"/>
                <a:chOff x="2339" y="3544"/>
                <a:chExt cx="10" cy="14"/>
              </a:xfrm>
            </p:grpSpPr>
            <p:sp>
              <p:nvSpPr>
                <p:cNvPr id="650" name="Rectangle 101"/>
                <p:cNvSpPr>
                  <a:spLocks noChangeAspect="1" noChangeArrowheads="1"/>
                </p:cNvSpPr>
                <p:nvPr/>
              </p:nvSpPr>
              <p:spPr bwMode="auto">
                <a:xfrm>
                  <a:off x="2340" y="3552"/>
                  <a:ext cx="8" cy="0"/>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51" name="Line 102"/>
                <p:cNvSpPr>
                  <a:spLocks noChangeAspect="1" noChangeShapeType="1"/>
                </p:cNvSpPr>
                <p:nvPr/>
              </p:nvSpPr>
              <p:spPr bwMode="auto">
                <a:xfrm>
                  <a:off x="2339" y="3544"/>
                  <a:ext cx="0" cy="1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52" name="Line 103"/>
                <p:cNvSpPr>
                  <a:spLocks noChangeAspect="1" noChangeShapeType="1"/>
                </p:cNvSpPr>
                <p:nvPr/>
              </p:nvSpPr>
              <p:spPr bwMode="auto">
                <a:xfrm>
                  <a:off x="2349" y="3544"/>
                  <a:ext cx="0" cy="1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grpSp>
            <p:nvGrpSpPr>
              <p:cNvPr id="628" name="Group 104"/>
              <p:cNvGrpSpPr>
                <a:grpSpLocks noChangeAspect="1"/>
              </p:cNvGrpSpPr>
              <p:nvPr/>
            </p:nvGrpSpPr>
            <p:grpSpPr bwMode="auto">
              <a:xfrm>
                <a:off x="2261" y="3544"/>
                <a:ext cx="12" cy="14"/>
                <a:chOff x="2261" y="3544"/>
                <a:chExt cx="12" cy="14"/>
              </a:xfrm>
            </p:grpSpPr>
            <p:sp>
              <p:nvSpPr>
                <p:cNvPr id="647" name="Rectangle 105"/>
                <p:cNvSpPr>
                  <a:spLocks noChangeAspect="1" noChangeArrowheads="1"/>
                </p:cNvSpPr>
                <p:nvPr/>
              </p:nvSpPr>
              <p:spPr bwMode="auto">
                <a:xfrm>
                  <a:off x="2265" y="3552"/>
                  <a:ext cx="6" cy="0"/>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48" name="Line 106"/>
                <p:cNvSpPr>
                  <a:spLocks noChangeAspect="1" noChangeShapeType="1"/>
                </p:cNvSpPr>
                <p:nvPr/>
              </p:nvSpPr>
              <p:spPr bwMode="auto">
                <a:xfrm>
                  <a:off x="2261" y="3544"/>
                  <a:ext cx="0" cy="1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49" name="Line 107"/>
                <p:cNvSpPr>
                  <a:spLocks noChangeAspect="1" noChangeShapeType="1"/>
                </p:cNvSpPr>
                <p:nvPr/>
              </p:nvSpPr>
              <p:spPr bwMode="auto">
                <a:xfrm>
                  <a:off x="2273" y="3544"/>
                  <a:ext cx="0" cy="1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sp>
            <p:nvSpPr>
              <p:cNvPr id="629" name="Rectangle 108"/>
              <p:cNvSpPr>
                <a:spLocks noChangeAspect="1" noChangeArrowheads="1"/>
              </p:cNvSpPr>
              <p:nvPr/>
            </p:nvSpPr>
            <p:spPr bwMode="auto">
              <a:xfrm>
                <a:off x="2259" y="3470"/>
                <a:ext cx="93" cy="22"/>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nvGrpSpPr>
              <p:cNvPr id="630" name="Group 109"/>
              <p:cNvGrpSpPr>
                <a:grpSpLocks noChangeAspect="1"/>
              </p:cNvGrpSpPr>
              <p:nvPr/>
            </p:nvGrpSpPr>
            <p:grpSpPr bwMode="auto">
              <a:xfrm>
                <a:off x="2299" y="3521"/>
                <a:ext cx="51" cy="13"/>
                <a:chOff x="2299" y="3521"/>
                <a:chExt cx="51" cy="13"/>
              </a:xfrm>
            </p:grpSpPr>
            <p:grpSp>
              <p:nvGrpSpPr>
                <p:cNvPr id="643" name="Group 110"/>
                <p:cNvGrpSpPr>
                  <a:grpSpLocks noChangeAspect="1"/>
                </p:cNvGrpSpPr>
                <p:nvPr/>
              </p:nvGrpSpPr>
              <p:grpSpPr bwMode="auto">
                <a:xfrm>
                  <a:off x="2299" y="3521"/>
                  <a:ext cx="51" cy="13"/>
                  <a:chOff x="2299" y="3521"/>
                  <a:chExt cx="51" cy="13"/>
                </a:xfrm>
              </p:grpSpPr>
              <p:sp>
                <p:nvSpPr>
                  <p:cNvPr id="645" name="Rectangle 111"/>
                  <p:cNvSpPr>
                    <a:spLocks noChangeAspect="1" noChangeArrowheads="1"/>
                  </p:cNvSpPr>
                  <p:nvPr/>
                </p:nvSpPr>
                <p:spPr bwMode="auto">
                  <a:xfrm>
                    <a:off x="2326" y="3526"/>
                    <a:ext cx="24" cy="3"/>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46" name="Oval 112"/>
                  <p:cNvSpPr>
                    <a:spLocks noChangeAspect="1" noChangeArrowheads="1"/>
                  </p:cNvSpPr>
                  <p:nvPr/>
                </p:nvSpPr>
                <p:spPr bwMode="auto">
                  <a:xfrm>
                    <a:off x="2299" y="3521"/>
                    <a:ext cx="15" cy="13"/>
                  </a:xfrm>
                  <a:prstGeom prst="ellipse">
                    <a:avLst/>
                  </a:prstGeom>
                  <a:solidFill>
                    <a:srgbClr val="DADAD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sp>
              <p:nvSpPr>
                <p:cNvPr id="644" name="Oval 113"/>
                <p:cNvSpPr>
                  <a:spLocks noChangeAspect="1" noChangeArrowheads="1"/>
                </p:cNvSpPr>
                <p:nvPr/>
              </p:nvSpPr>
              <p:spPr bwMode="auto">
                <a:xfrm>
                  <a:off x="2303" y="3525"/>
                  <a:ext cx="7" cy="5"/>
                </a:xfrm>
                <a:prstGeom prst="ellipse">
                  <a:avLst/>
                </a:prstGeom>
                <a:solidFill>
                  <a:srgbClr val="DADAD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nvGrpSpPr>
              <p:cNvPr id="631" name="Group 114"/>
              <p:cNvGrpSpPr>
                <a:grpSpLocks noChangeAspect="1"/>
              </p:cNvGrpSpPr>
              <p:nvPr/>
            </p:nvGrpSpPr>
            <p:grpSpPr bwMode="auto">
              <a:xfrm>
                <a:off x="2293" y="3545"/>
                <a:ext cx="23" cy="39"/>
                <a:chOff x="2293" y="3545"/>
                <a:chExt cx="23" cy="39"/>
              </a:xfrm>
            </p:grpSpPr>
            <p:grpSp>
              <p:nvGrpSpPr>
                <p:cNvPr id="633" name="Group 115"/>
                <p:cNvGrpSpPr>
                  <a:grpSpLocks noChangeAspect="1"/>
                </p:cNvGrpSpPr>
                <p:nvPr/>
              </p:nvGrpSpPr>
              <p:grpSpPr bwMode="auto">
                <a:xfrm>
                  <a:off x="2296" y="3559"/>
                  <a:ext cx="19" cy="25"/>
                  <a:chOff x="2296" y="3559"/>
                  <a:chExt cx="19" cy="25"/>
                </a:xfrm>
              </p:grpSpPr>
              <p:sp>
                <p:nvSpPr>
                  <p:cNvPr id="640" name="Rectangle 116"/>
                  <p:cNvSpPr>
                    <a:spLocks noChangeAspect="1" noChangeArrowheads="1"/>
                  </p:cNvSpPr>
                  <p:nvPr/>
                </p:nvSpPr>
                <p:spPr bwMode="auto">
                  <a:xfrm>
                    <a:off x="2296" y="3567"/>
                    <a:ext cx="19" cy="9"/>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41" name="Line 117"/>
                  <p:cNvSpPr>
                    <a:spLocks noChangeAspect="1" noChangeShapeType="1"/>
                  </p:cNvSpPr>
                  <p:nvPr/>
                </p:nvSpPr>
                <p:spPr bwMode="auto">
                  <a:xfrm>
                    <a:off x="2297" y="3559"/>
                    <a:ext cx="0" cy="2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42" name="Line 118"/>
                  <p:cNvSpPr>
                    <a:spLocks noChangeAspect="1" noChangeShapeType="1"/>
                  </p:cNvSpPr>
                  <p:nvPr/>
                </p:nvSpPr>
                <p:spPr bwMode="auto">
                  <a:xfrm>
                    <a:off x="2313" y="3559"/>
                    <a:ext cx="0" cy="2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sp>
              <p:nvSpPr>
                <p:cNvPr id="634" name="Rectangle 119"/>
                <p:cNvSpPr>
                  <a:spLocks noChangeAspect="1" noChangeArrowheads="1"/>
                </p:cNvSpPr>
                <p:nvPr/>
              </p:nvSpPr>
              <p:spPr bwMode="auto">
                <a:xfrm>
                  <a:off x="2302" y="3552"/>
                  <a:ext cx="7" cy="0"/>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35" name="Line 120"/>
                <p:cNvSpPr>
                  <a:spLocks noChangeAspect="1" noChangeShapeType="1"/>
                </p:cNvSpPr>
                <p:nvPr/>
              </p:nvSpPr>
              <p:spPr bwMode="auto">
                <a:xfrm flipV="1">
                  <a:off x="2293" y="3552"/>
                  <a:ext cx="23" cy="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36" name="Line 121"/>
                <p:cNvSpPr>
                  <a:spLocks noChangeAspect="1" noChangeShapeType="1"/>
                </p:cNvSpPr>
                <p:nvPr/>
              </p:nvSpPr>
              <p:spPr bwMode="auto">
                <a:xfrm flipV="1">
                  <a:off x="2293" y="3550"/>
                  <a:ext cx="23" cy="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37" name="Line 122"/>
                <p:cNvSpPr>
                  <a:spLocks noChangeAspect="1" noChangeShapeType="1"/>
                </p:cNvSpPr>
                <p:nvPr/>
              </p:nvSpPr>
              <p:spPr bwMode="auto">
                <a:xfrm flipV="1">
                  <a:off x="2293" y="3548"/>
                  <a:ext cx="23" cy="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38" name="Line 123"/>
                <p:cNvSpPr>
                  <a:spLocks noChangeAspect="1" noChangeShapeType="1"/>
                </p:cNvSpPr>
                <p:nvPr/>
              </p:nvSpPr>
              <p:spPr bwMode="auto">
                <a:xfrm flipV="1">
                  <a:off x="2293" y="3546"/>
                  <a:ext cx="23" cy="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39" name="Line 124"/>
                <p:cNvSpPr>
                  <a:spLocks noChangeAspect="1" noChangeShapeType="1"/>
                </p:cNvSpPr>
                <p:nvPr/>
              </p:nvSpPr>
              <p:spPr bwMode="auto">
                <a:xfrm flipV="1">
                  <a:off x="2293" y="3545"/>
                  <a:ext cx="23" cy="1"/>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sp>
            <p:nvSpPr>
              <p:cNvPr id="632" name="Rectangle 125"/>
              <p:cNvSpPr>
                <a:spLocks noChangeAspect="1" noChangeArrowheads="1"/>
              </p:cNvSpPr>
              <p:nvPr/>
            </p:nvSpPr>
            <p:spPr bwMode="auto">
              <a:xfrm>
                <a:off x="2294" y="3472"/>
                <a:ext cx="21" cy="7"/>
              </a:xfrm>
              <a:prstGeom prst="rect">
                <a:avLst/>
              </a:prstGeom>
              <a:solidFill>
                <a:srgbClr val="DADADA"/>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nvGrpSpPr>
            <p:cNvPr id="16" name="Group 126"/>
            <p:cNvGrpSpPr>
              <a:grpSpLocks noChangeAspect="1"/>
            </p:cNvGrpSpPr>
            <p:nvPr/>
          </p:nvGrpSpPr>
          <p:grpSpPr bwMode="auto">
            <a:xfrm>
              <a:off x="4205" y="3661"/>
              <a:ext cx="429" cy="236"/>
              <a:chOff x="1877" y="3306"/>
              <a:chExt cx="299" cy="284"/>
            </a:xfrm>
          </p:grpSpPr>
          <p:sp>
            <p:nvSpPr>
              <p:cNvPr id="586" name="Freeform 127"/>
              <p:cNvSpPr>
                <a:spLocks noChangeAspect="1"/>
              </p:cNvSpPr>
              <p:nvPr/>
            </p:nvSpPr>
            <p:spPr bwMode="auto">
              <a:xfrm>
                <a:off x="1992" y="3324"/>
                <a:ext cx="64" cy="66"/>
              </a:xfrm>
              <a:custGeom>
                <a:avLst/>
                <a:gdLst>
                  <a:gd name="T0" fmla="*/ 4 w 64"/>
                  <a:gd name="T1" fmla="*/ 23 h 66"/>
                  <a:gd name="T2" fmla="*/ 10 w 64"/>
                  <a:gd name="T3" fmla="*/ 22 h 66"/>
                  <a:gd name="T4" fmla="*/ 16 w 64"/>
                  <a:gd name="T5" fmla="*/ 23 h 66"/>
                  <a:gd name="T6" fmla="*/ 18 w 64"/>
                  <a:gd name="T7" fmla="*/ 27 h 66"/>
                  <a:gd name="T8" fmla="*/ 21 w 64"/>
                  <a:gd name="T9" fmla="*/ 33 h 66"/>
                  <a:gd name="T10" fmla="*/ 21 w 64"/>
                  <a:gd name="T11" fmla="*/ 39 h 66"/>
                  <a:gd name="T12" fmla="*/ 18 w 64"/>
                  <a:gd name="T13" fmla="*/ 44 h 66"/>
                  <a:gd name="T14" fmla="*/ 14 w 64"/>
                  <a:gd name="T15" fmla="*/ 47 h 66"/>
                  <a:gd name="T16" fmla="*/ 13 w 64"/>
                  <a:gd name="T17" fmla="*/ 51 h 66"/>
                  <a:gd name="T18" fmla="*/ 13 w 64"/>
                  <a:gd name="T19" fmla="*/ 52 h 66"/>
                  <a:gd name="T20" fmla="*/ 16 w 64"/>
                  <a:gd name="T21" fmla="*/ 54 h 66"/>
                  <a:gd name="T22" fmla="*/ 18 w 64"/>
                  <a:gd name="T23" fmla="*/ 57 h 66"/>
                  <a:gd name="T24" fmla="*/ 20 w 64"/>
                  <a:gd name="T25" fmla="*/ 62 h 66"/>
                  <a:gd name="T26" fmla="*/ 23 w 64"/>
                  <a:gd name="T27" fmla="*/ 65 h 66"/>
                  <a:gd name="T28" fmla="*/ 26 w 64"/>
                  <a:gd name="T29" fmla="*/ 64 h 66"/>
                  <a:gd name="T30" fmla="*/ 30 w 64"/>
                  <a:gd name="T31" fmla="*/ 60 h 66"/>
                  <a:gd name="T32" fmla="*/ 34 w 64"/>
                  <a:gd name="T33" fmla="*/ 57 h 66"/>
                  <a:gd name="T34" fmla="*/ 36 w 64"/>
                  <a:gd name="T35" fmla="*/ 58 h 66"/>
                  <a:gd name="T36" fmla="*/ 38 w 64"/>
                  <a:gd name="T37" fmla="*/ 60 h 66"/>
                  <a:gd name="T38" fmla="*/ 41 w 64"/>
                  <a:gd name="T39" fmla="*/ 63 h 66"/>
                  <a:gd name="T40" fmla="*/ 43 w 64"/>
                  <a:gd name="T41" fmla="*/ 64 h 66"/>
                  <a:gd name="T42" fmla="*/ 46 w 64"/>
                  <a:gd name="T43" fmla="*/ 61 h 66"/>
                  <a:gd name="T44" fmla="*/ 56 w 64"/>
                  <a:gd name="T45" fmla="*/ 52 h 66"/>
                  <a:gd name="T46" fmla="*/ 54 w 64"/>
                  <a:gd name="T47" fmla="*/ 51 h 66"/>
                  <a:gd name="T48" fmla="*/ 51 w 64"/>
                  <a:gd name="T49" fmla="*/ 49 h 66"/>
                  <a:gd name="T50" fmla="*/ 50 w 64"/>
                  <a:gd name="T51" fmla="*/ 46 h 66"/>
                  <a:gd name="T52" fmla="*/ 50 w 64"/>
                  <a:gd name="T53" fmla="*/ 43 h 66"/>
                  <a:gd name="T54" fmla="*/ 49 w 64"/>
                  <a:gd name="T55" fmla="*/ 39 h 66"/>
                  <a:gd name="T56" fmla="*/ 48 w 64"/>
                  <a:gd name="T57" fmla="*/ 34 h 66"/>
                  <a:gd name="T58" fmla="*/ 49 w 64"/>
                  <a:gd name="T59" fmla="*/ 29 h 66"/>
                  <a:gd name="T60" fmla="*/ 50 w 64"/>
                  <a:gd name="T61" fmla="*/ 27 h 66"/>
                  <a:gd name="T62" fmla="*/ 53 w 64"/>
                  <a:gd name="T63" fmla="*/ 23 h 66"/>
                  <a:gd name="T64" fmla="*/ 56 w 64"/>
                  <a:gd name="T65" fmla="*/ 22 h 66"/>
                  <a:gd name="T66" fmla="*/ 59 w 64"/>
                  <a:gd name="T67" fmla="*/ 21 h 66"/>
                  <a:gd name="T68" fmla="*/ 63 w 64"/>
                  <a:gd name="T69" fmla="*/ 22 h 66"/>
                  <a:gd name="T70" fmla="*/ 62 w 64"/>
                  <a:gd name="T71" fmla="*/ 19 h 66"/>
                  <a:gd name="T72" fmla="*/ 61 w 64"/>
                  <a:gd name="T73" fmla="*/ 13 h 66"/>
                  <a:gd name="T74" fmla="*/ 61 w 64"/>
                  <a:gd name="T75" fmla="*/ 9 h 66"/>
                  <a:gd name="T76" fmla="*/ 59 w 64"/>
                  <a:gd name="T77" fmla="*/ 4 h 66"/>
                  <a:gd name="T78" fmla="*/ 54 w 64"/>
                  <a:gd name="T79" fmla="*/ 2 h 66"/>
                  <a:gd name="T80" fmla="*/ 48 w 64"/>
                  <a:gd name="T81" fmla="*/ 4 h 66"/>
                  <a:gd name="T82" fmla="*/ 39 w 64"/>
                  <a:gd name="T83" fmla="*/ 3 h 66"/>
                  <a:gd name="T84" fmla="*/ 32 w 64"/>
                  <a:gd name="T85" fmla="*/ 2 h 66"/>
                  <a:gd name="T86" fmla="*/ 21 w 64"/>
                  <a:gd name="T87" fmla="*/ 0 h 66"/>
                  <a:gd name="T88" fmla="*/ 12 w 64"/>
                  <a:gd name="T89" fmla="*/ 0 h 66"/>
                  <a:gd name="T90" fmla="*/ 7 w 64"/>
                  <a:gd name="T91" fmla="*/ 1 h 66"/>
                  <a:gd name="T92" fmla="*/ 2 w 64"/>
                  <a:gd name="T93" fmla="*/ 5 h 66"/>
                  <a:gd name="T94" fmla="*/ 1 w 64"/>
                  <a:gd name="T95" fmla="*/ 8 h 66"/>
                  <a:gd name="T96" fmla="*/ 0 w 64"/>
                  <a:gd name="T97" fmla="*/ 16 h 66"/>
                  <a:gd name="T98" fmla="*/ 3 w 64"/>
                  <a:gd name="T99" fmla="*/ 23 h 66"/>
                  <a:gd name="T100" fmla="*/ 4 w 64"/>
                  <a:gd name="T101" fmla="*/ 23 h 6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4"/>
                  <a:gd name="T154" fmla="*/ 0 h 66"/>
                  <a:gd name="T155" fmla="*/ 64 w 64"/>
                  <a:gd name="T156" fmla="*/ 66 h 6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4" h="66">
                    <a:moveTo>
                      <a:pt x="4" y="23"/>
                    </a:moveTo>
                    <a:lnTo>
                      <a:pt x="10" y="22"/>
                    </a:lnTo>
                    <a:lnTo>
                      <a:pt x="16" y="23"/>
                    </a:lnTo>
                    <a:lnTo>
                      <a:pt x="18" y="27"/>
                    </a:lnTo>
                    <a:lnTo>
                      <a:pt x="21" y="33"/>
                    </a:lnTo>
                    <a:lnTo>
                      <a:pt x="21" y="39"/>
                    </a:lnTo>
                    <a:lnTo>
                      <a:pt x="18" y="44"/>
                    </a:lnTo>
                    <a:lnTo>
                      <a:pt x="14" y="47"/>
                    </a:lnTo>
                    <a:lnTo>
                      <a:pt x="13" y="51"/>
                    </a:lnTo>
                    <a:lnTo>
                      <a:pt x="13" y="52"/>
                    </a:lnTo>
                    <a:lnTo>
                      <a:pt x="16" y="54"/>
                    </a:lnTo>
                    <a:lnTo>
                      <a:pt x="18" y="57"/>
                    </a:lnTo>
                    <a:lnTo>
                      <a:pt x="20" y="62"/>
                    </a:lnTo>
                    <a:lnTo>
                      <a:pt x="23" y="65"/>
                    </a:lnTo>
                    <a:lnTo>
                      <a:pt x="26" y="64"/>
                    </a:lnTo>
                    <a:lnTo>
                      <a:pt x="30" y="60"/>
                    </a:lnTo>
                    <a:lnTo>
                      <a:pt x="34" y="57"/>
                    </a:lnTo>
                    <a:lnTo>
                      <a:pt x="36" y="58"/>
                    </a:lnTo>
                    <a:lnTo>
                      <a:pt x="38" y="60"/>
                    </a:lnTo>
                    <a:lnTo>
                      <a:pt x="41" y="63"/>
                    </a:lnTo>
                    <a:lnTo>
                      <a:pt x="43" y="64"/>
                    </a:lnTo>
                    <a:lnTo>
                      <a:pt x="46" y="61"/>
                    </a:lnTo>
                    <a:lnTo>
                      <a:pt x="56" y="52"/>
                    </a:lnTo>
                    <a:lnTo>
                      <a:pt x="54" y="51"/>
                    </a:lnTo>
                    <a:lnTo>
                      <a:pt x="51" y="49"/>
                    </a:lnTo>
                    <a:lnTo>
                      <a:pt x="50" y="46"/>
                    </a:lnTo>
                    <a:lnTo>
                      <a:pt x="50" y="43"/>
                    </a:lnTo>
                    <a:lnTo>
                      <a:pt x="49" y="39"/>
                    </a:lnTo>
                    <a:lnTo>
                      <a:pt x="48" y="34"/>
                    </a:lnTo>
                    <a:lnTo>
                      <a:pt x="49" y="29"/>
                    </a:lnTo>
                    <a:lnTo>
                      <a:pt x="50" y="27"/>
                    </a:lnTo>
                    <a:lnTo>
                      <a:pt x="53" y="23"/>
                    </a:lnTo>
                    <a:lnTo>
                      <a:pt x="56" y="22"/>
                    </a:lnTo>
                    <a:lnTo>
                      <a:pt x="59" y="21"/>
                    </a:lnTo>
                    <a:lnTo>
                      <a:pt x="63" y="22"/>
                    </a:lnTo>
                    <a:lnTo>
                      <a:pt x="62" y="19"/>
                    </a:lnTo>
                    <a:lnTo>
                      <a:pt x="61" y="13"/>
                    </a:lnTo>
                    <a:lnTo>
                      <a:pt x="61" y="9"/>
                    </a:lnTo>
                    <a:lnTo>
                      <a:pt x="59" y="4"/>
                    </a:lnTo>
                    <a:lnTo>
                      <a:pt x="54" y="2"/>
                    </a:lnTo>
                    <a:lnTo>
                      <a:pt x="48" y="4"/>
                    </a:lnTo>
                    <a:lnTo>
                      <a:pt x="39" y="3"/>
                    </a:lnTo>
                    <a:lnTo>
                      <a:pt x="32" y="2"/>
                    </a:lnTo>
                    <a:lnTo>
                      <a:pt x="21" y="0"/>
                    </a:lnTo>
                    <a:lnTo>
                      <a:pt x="12" y="0"/>
                    </a:lnTo>
                    <a:lnTo>
                      <a:pt x="7" y="1"/>
                    </a:lnTo>
                    <a:lnTo>
                      <a:pt x="2" y="5"/>
                    </a:lnTo>
                    <a:lnTo>
                      <a:pt x="1" y="8"/>
                    </a:lnTo>
                    <a:lnTo>
                      <a:pt x="0" y="16"/>
                    </a:lnTo>
                    <a:lnTo>
                      <a:pt x="3" y="23"/>
                    </a:lnTo>
                    <a:lnTo>
                      <a:pt x="4" y="23"/>
                    </a:lnTo>
                  </a:path>
                </a:pathLst>
              </a:custGeom>
              <a:solidFill>
                <a:srgbClr val="BFBFB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87" name="Freeform 128"/>
              <p:cNvSpPr>
                <a:spLocks noChangeAspect="1"/>
              </p:cNvSpPr>
              <p:nvPr/>
            </p:nvSpPr>
            <p:spPr bwMode="auto">
              <a:xfrm>
                <a:off x="1992" y="3324"/>
                <a:ext cx="66" cy="68"/>
              </a:xfrm>
              <a:custGeom>
                <a:avLst/>
                <a:gdLst>
                  <a:gd name="T0" fmla="*/ 4 w 66"/>
                  <a:gd name="T1" fmla="*/ 23 h 68"/>
                  <a:gd name="T2" fmla="*/ 10 w 66"/>
                  <a:gd name="T3" fmla="*/ 22 h 68"/>
                  <a:gd name="T4" fmla="*/ 16 w 66"/>
                  <a:gd name="T5" fmla="*/ 24 h 68"/>
                  <a:gd name="T6" fmla="*/ 19 w 66"/>
                  <a:gd name="T7" fmla="*/ 27 h 68"/>
                  <a:gd name="T8" fmla="*/ 21 w 66"/>
                  <a:gd name="T9" fmla="*/ 34 h 68"/>
                  <a:gd name="T10" fmla="*/ 21 w 66"/>
                  <a:gd name="T11" fmla="*/ 41 h 68"/>
                  <a:gd name="T12" fmla="*/ 19 w 66"/>
                  <a:gd name="T13" fmla="*/ 45 h 68"/>
                  <a:gd name="T14" fmla="*/ 15 w 66"/>
                  <a:gd name="T15" fmla="*/ 49 h 68"/>
                  <a:gd name="T16" fmla="*/ 13 w 66"/>
                  <a:gd name="T17" fmla="*/ 52 h 68"/>
                  <a:gd name="T18" fmla="*/ 14 w 66"/>
                  <a:gd name="T19" fmla="*/ 54 h 68"/>
                  <a:gd name="T20" fmla="*/ 16 w 66"/>
                  <a:gd name="T21" fmla="*/ 56 h 68"/>
                  <a:gd name="T22" fmla="*/ 18 w 66"/>
                  <a:gd name="T23" fmla="*/ 58 h 68"/>
                  <a:gd name="T24" fmla="*/ 20 w 66"/>
                  <a:gd name="T25" fmla="*/ 64 h 68"/>
                  <a:gd name="T26" fmla="*/ 24 w 66"/>
                  <a:gd name="T27" fmla="*/ 67 h 68"/>
                  <a:gd name="T28" fmla="*/ 27 w 66"/>
                  <a:gd name="T29" fmla="*/ 66 h 68"/>
                  <a:gd name="T30" fmla="*/ 31 w 66"/>
                  <a:gd name="T31" fmla="*/ 61 h 68"/>
                  <a:gd name="T32" fmla="*/ 35 w 66"/>
                  <a:gd name="T33" fmla="*/ 58 h 68"/>
                  <a:gd name="T34" fmla="*/ 37 w 66"/>
                  <a:gd name="T35" fmla="*/ 60 h 68"/>
                  <a:gd name="T36" fmla="*/ 39 w 66"/>
                  <a:gd name="T37" fmla="*/ 62 h 68"/>
                  <a:gd name="T38" fmla="*/ 42 w 66"/>
                  <a:gd name="T39" fmla="*/ 65 h 68"/>
                  <a:gd name="T40" fmla="*/ 45 w 66"/>
                  <a:gd name="T41" fmla="*/ 66 h 68"/>
                  <a:gd name="T42" fmla="*/ 48 w 66"/>
                  <a:gd name="T43" fmla="*/ 63 h 68"/>
                  <a:gd name="T44" fmla="*/ 57 w 66"/>
                  <a:gd name="T45" fmla="*/ 54 h 68"/>
                  <a:gd name="T46" fmla="*/ 55 w 66"/>
                  <a:gd name="T47" fmla="*/ 53 h 68"/>
                  <a:gd name="T48" fmla="*/ 53 w 66"/>
                  <a:gd name="T49" fmla="*/ 51 h 68"/>
                  <a:gd name="T50" fmla="*/ 52 w 66"/>
                  <a:gd name="T51" fmla="*/ 48 h 68"/>
                  <a:gd name="T52" fmla="*/ 52 w 66"/>
                  <a:gd name="T53" fmla="*/ 44 h 68"/>
                  <a:gd name="T54" fmla="*/ 51 w 66"/>
                  <a:gd name="T55" fmla="*/ 40 h 68"/>
                  <a:gd name="T56" fmla="*/ 50 w 66"/>
                  <a:gd name="T57" fmla="*/ 35 h 68"/>
                  <a:gd name="T58" fmla="*/ 50 w 66"/>
                  <a:gd name="T59" fmla="*/ 30 h 68"/>
                  <a:gd name="T60" fmla="*/ 52 w 66"/>
                  <a:gd name="T61" fmla="*/ 27 h 68"/>
                  <a:gd name="T62" fmla="*/ 54 w 66"/>
                  <a:gd name="T63" fmla="*/ 24 h 68"/>
                  <a:gd name="T64" fmla="*/ 57 w 66"/>
                  <a:gd name="T65" fmla="*/ 22 h 68"/>
                  <a:gd name="T66" fmla="*/ 61 w 66"/>
                  <a:gd name="T67" fmla="*/ 21 h 68"/>
                  <a:gd name="T68" fmla="*/ 65 w 66"/>
                  <a:gd name="T69" fmla="*/ 22 h 68"/>
                  <a:gd name="T70" fmla="*/ 64 w 66"/>
                  <a:gd name="T71" fmla="*/ 19 h 68"/>
                  <a:gd name="T72" fmla="*/ 63 w 66"/>
                  <a:gd name="T73" fmla="*/ 14 h 68"/>
                  <a:gd name="T74" fmla="*/ 63 w 66"/>
                  <a:gd name="T75" fmla="*/ 9 h 68"/>
                  <a:gd name="T76" fmla="*/ 61 w 66"/>
                  <a:gd name="T77" fmla="*/ 4 h 68"/>
                  <a:gd name="T78" fmla="*/ 56 w 66"/>
                  <a:gd name="T79" fmla="*/ 2 h 68"/>
                  <a:gd name="T80" fmla="*/ 49 w 66"/>
                  <a:gd name="T81" fmla="*/ 4 h 68"/>
                  <a:gd name="T82" fmla="*/ 40 w 66"/>
                  <a:gd name="T83" fmla="*/ 3 h 68"/>
                  <a:gd name="T84" fmla="*/ 33 w 66"/>
                  <a:gd name="T85" fmla="*/ 2 h 68"/>
                  <a:gd name="T86" fmla="*/ 22 w 66"/>
                  <a:gd name="T87" fmla="*/ 0 h 68"/>
                  <a:gd name="T88" fmla="*/ 13 w 66"/>
                  <a:gd name="T89" fmla="*/ 0 h 68"/>
                  <a:gd name="T90" fmla="*/ 8 w 66"/>
                  <a:gd name="T91" fmla="*/ 1 h 68"/>
                  <a:gd name="T92" fmla="*/ 2 w 66"/>
                  <a:gd name="T93" fmla="*/ 5 h 68"/>
                  <a:gd name="T94" fmla="*/ 1 w 66"/>
                  <a:gd name="T95" fmla="*/ 8 h 68"/>
                  <a:gd name="T96" fmla="*/ 0 w 66"/>
                  <a:gd name="T97" fmla="*/ 17 h 68"/>
                  <a:gd name="T98" fmla="*/ 3 w 66"/>
                  <a:gd name="T99" fmla="*/ 23 h 68"/>
                  <a:gd name="T100" fmla="*/ 4 w 66"/>
                  <a:gd name="T101" fmla="*/ 23 h 6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6"/>
                  <a:gd name="T154" fmla="*/ 0 h 68"/>
                  <a:gd name="T155" fmla="*/ 66 w 66"/>
                  <a:gd name="T156" fmla="*/ 68 h 6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6" h="68">
                    <a:moveTo>
                      <a:pt x="4" y="23"/>
                    </a:moveTo>
                    <a:lnTo>
                      <a:pt x="10" y="22"/>
                    </a:lnTo>
                    <a:lnTo>
                      <a:pt x="16" y="24"/>
                    </a:lnTo>
                    <a:lnTo>
                      <a:pt x="19" y="27"/>
                    </a:lnTo>
                    <a:lnTo>
                      <a:pt x="21" y="34"/>
                    </a:lnTo>
                    <a:lnTo>
                      <a:pt x="21" y="41"/>
                    </a:lnTo>
                    <a:lnTo>
                      <a:pt x="19" y="45"/>
                    </a:lnTo>
                    <a:lnTo>
                      <a:pt x="15" y="49"/>
                    </a:lnTo>
                    <a:lnTo>
                      <a:pt x="13" y="52"/>
                    </a:lnTo>
                    <a:lnTo>
                      <a:pt x="14" y="54"/>
                    </a:lnTo>
                    <a:lnTo>
                      <a:pt x="16" y="56"/>
                    </a:lnTo>
                    <a:lnTo>
                      <a:pt x="18" y="58"/>
                    </a:lnTo>
                    <a:lnTo>
                      <a:pt x="20" y="64"/>
                    </a:lnTo>
                    <a:lnTo>
                      <a:pt x="24" y="67"/>
                    </a:lnTo>
                    <a:lnTo>
                      <a:pt x="27" y="66"/>
                    </a:lnTo>
                    <a:lnTo>
                      <a:pt x="31" y="61"/>
                    </a:lnTo>
                    <a:lnTo>
                      <a:pt x="35" y="58"/>
                    </a:lnTo>
                    <a:lnTo>
                      <a:pt x="37" y="60"/>
                    </a:lnTo>
                    <a:lnTo>
                      <a:pt x="39" y="62"/>
                    </a:lnTo>
                    <a:lnTo>
                      <a:pt x="42" y="65"/>
                    </a:lnTo>
                    <a:lnTo>
                      <a:pt x="45" y="66"/>
                    </a:lnTo>
                    <a:lnTo>
                      <a:pt x="48" y="63"/>
                    </a:lnTo>
                    <a:lnTo>
                      <a:pt x="57" y="54"/>
                    </a:lnTo>
                    <a:lnTo>
                      <a:pt x="55" y="53"/>
                    </a:lnTo>
                    <a:lnTo>
                      <a:pt x="53" y="51"/>
                    </a:lnTo>
                    <a:lnTo>
                      <a:pt x="52" y="48"/>
                    </a:lnTo>
                    <a:lnTo>
                      <a:pt x="52" y="44"/>
                    </a:lnTo>
                    <a:lnTo>
                      <a:pt x="51" y="40"/>
                    </a:lnTo>
                    <a:lnTo>
                      <a:pt x="50" y="35"/>
                    </a:lnTo>
                    <a:lnTo>
                      <a:pt x="50" y="30"/>
                    </a:lnTo>
                    <a:lnTo>
                      <a:pt x="52" y="27"/>
                    </a:lnTo>
                    <a:lnTo>
                      <a:pt x="54" y="24"/>
                    </a:lnTo>
                    <a:lnTo>
                      <a:pt x="57" y="22"/>
                    </a:lnTo>
                    <a:lnTo>
                      <a:pt x="61" y="21"/>
                    </a:lnTo>
                    <a:lnTo>
                      <a:pt x="65" y="22"/>
                    </a:lnTo>
                    <a:lnTo>
                      <a:pt x="64" y="19"/>
                    </a:lnTo>
                    <a:lnTo>
                      <a:pt x="63" y="14"/>
                    </a:lnTo>
                    <a:lnTo>
                      <a:pt x="63" y="9"/>
                    </a:lnTo>
                    <a:lnTo>
                      <a:pt x="61" y="4"/>
                    </a:lnTo>
                    <a:lnTo>
                      <a:pt x="56" y="2"/>
                    </a:lnTo>
                    <a:lnTo>
                      <a:pt x="49" y="4"/>
                    </a:lnTo>
                    <a:lnTo>
                      <a:pt x="40" y="3"/>
                    </a:lnTo>
                    <a:lnTo>
                      <a:pt x="33" y="2"/>
                    </a:lnTo>
                    <a:lnTo>
                      <a:pt x="22" y="0"/>
                    </a:lnTo>
                    <a:lnTo>
                      <a:pt x="13" y="0"/>
                    </a:lnTo>
                    <a:lnTo>
                      <a:pt x="8" y="1"/>
                    </a:lnTo>
                    <a:lnTo>
                      <a:pt x="2" y="5"/>
                    </a:lnTo>
                    <a:lnTo>
                      <a:pt x="1" y="8"/>
                    </a:lnTo>
                    <a:lnTo>
                      <a:pt x="0" y="17"/>
                    </a:lnTo>
                    <a:lnTo>
                      <a:pt x="3" y="23"/>
                    </a:lnTo>
                    <a:lnTo>
                      <a:pt x="4" y="23"/>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588" name="Freeform 129"/>
              <p:cNvSpPr>
                <a:spLocks noChangeAspect="1"/>
              </p:cNvSpPr>
              <p:nvPr/>
            </p:nvSpPr>
            <p:spPr bwMode="auto">
              <a:xfrm>
                <a:off x="2037" y="3378"/>
                <a:ext cx="24" cy="25"/>
              </a:xfrm>
              <a:custGeom>
                <a:avLst/>
                <a:gdLst>
                  <a:gd name="T0" fmla="*/ 11 w 24"/>
                  <a:gd name="T1" fmla="*/ 24 h 25"/>
                  <a:gd name="T2" fmla="*/ 0 w 24"/>
                  <a:gd name="T3" fmla="*/ 10 h 25"/>
                  <a:gd name="T4" fmla="*/ 11 w 24"/>
                  <a:gd name="T5" fmla="*/ 0 h 25"/>
                  <a:gd name="T6" fmla="*/ 23 w 24"/>
                  <a:gd name="T7" fmla="*/ 13 h 25"/>
                  <a:gd name="T8" fmla="*/ 11 w 24"/>
                  <a:gd name="T9" fmla="*/ 24 h 25"/>
                  <a:gd name="T10" fmla="*/ 0 60000 65536"/>
                  <a:gd name="T11" fmla="*/ 0 60000 65536"/>
                  <a:gd name="T12" fmla="*/ 0 60000 65536"/>
                  <a:gd name="T13" fmla="*/ 0 60000 65536"/>
                  <a:gd name="T14" fmla="*/ 0 60000 65536"/>
                  <a:gd name="T15" fmla="*/ 0 w 24"/>
                  <a:gd name="T16" fmla="*/ 0 h 25"/>
                  <a:gd name="T17" fmla="*/ 24 w 24"/>
                  <a:gd name="T18" fmla="*/ 25 h 25"/>
                </a:gdLst>
                <a:ahLst/>
                <a:cxnLst>
                  <a:cxn ang="T10">
                    <a:pos x="T0" y="T1"/>
                  </a:cxn>
                  <a:cxn ang="T11">
                    <a:pos x="T2" y="T3"/>
                  </a:cxn>
                  <a:cxn ang="T12">
                    <a:pos x="T4" y="T5"/>
                  </a:cxn>
                  <a:cxn ang="T13">
                    <a:pos x="T6" y="T7"/>
                  </a:cxn>
                  <a:cxn ang="T14">
                    <a:pos x="T8" y="T9"/>
                  </a:cxn>
                </a:cxnLst>
                <a:rect l="T15" t="T16" r="T17" b="T18"/>
                <a:pathLst>
                  <a:path w="24" h="25">
                    <a:moveTo>
                      <a:pt x="11" y="24"/>
                    </a:moveTo>
                    <a:lnTo>
                      <a:pt x="0" y="10"/>
                    </a:lnTo>
                    <a:lnTo>
                      <a:pt x="11" y="0"/>
                    </a:lnTo>
                    <a:lnTo>
                      <a:pt x="23" y="13"/>
                    </a:lnTo>
                    <a:lnTo>
                      <a:pt x="11" y="24"/>
                    </a:lnTo>
                  </a:path>
                </a:pathLst>
              </a:custGeom>
              <a:solidFill>
                <a:srgbClr val="BFBFB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89" name="Freeform 130"/>
              <p:cNvSpPr>
                <a:spLocks noChangeAspect="1"/>
              </p:cNvSpPr>
              <p:nvPr/>
            </p:nvSpPr>
            <p:spPr bwMode="auto">
              <a:xfrm>
                <a:off x="2037" y="3378"/>
                <a:ext cx="26" cy="26"/>
              </a:xfrm>
              <a:custGeom>
                <a:avLst/>
                <a:gdLst>
                  <a:gd name="T0" fmla="*/ 12 w 26"/>
                  <a:gd name="T1" fmla="*/ 25 h 26"/>
                  <a:gd name="T2" fmla="*/ 0 w 26"/>
                  <a:gd name="T3" fmla="*/ 11 h 26"/>
                  <a:gd name="T4" fmla="*/ 12 w 26"/>
                  <a:gd name="T5" fmla="*/ 0 h 26"/>
                  <a:gd name="T6" fmla="*/ 25 w 26"/>
                  <a:gd name="T7" fmla="*/ 13 h 26"/>
                  <a:gd name="T8" fmla="*/ 12 w 26"/>
                  <a:gd name="T9" fmla="*/ 25 h 26"/>
                  <a:gd name="T10" fmla="*/ 0 60000 65536"/>
                  <a:gd name="T11" fmla="*/ 0 60000 65536"/>
                  <a:gd name="T12" fmla="*/ 0 60000 65536"/>
                  <a:gd name="T13" fmla="*/ 0 60000 65536"/>
                  <a:gd name="T14" fmla="*/ 0 60000 65536"/>
                  <a:gd name="T15" fmla="*/ 0 w 26"/>
                  <a:gd name="T16" fmla="*/ 0 h 26"/>
                  <a:gd name="T17" fmla="*/ 26 w 26"/>
                  <a:gd name="T18" fmla="*/ 26 h 26"/>
                </a:gdLst>
                <a:ahLst/>
                <a:cxnLst>
                  <a:cxn ang="T10">
                    <a:pos x="T0" y="T1"/>
                  </a:cxn>
                  <a:cxn ang="T11">
                    <a:pos x="T2" y="T3"/>
                  </a:cxn>
                  <a:cxn ang="T12">
                    <a:pos x="T4" y="T5"/>
                  </a:cxn>
                  <a:cxn ang="T13">
                    <a:pos x="T6" y="T7"/>
                  </a:cxn>
                  <a:cxn ang="T14">
                    <a:pos x="T8" y="T9"/>
                  </a:cxn>
                </a:cxnLst>
                <a:rect l="T15" t="T16" r="T17" b="T18"/>
                <a:pathLst>
                  <a:path w="26" h="26">
                    <a:moveTo>
                      <a:pt x="12" y="25"/>
                    </a:moveTo>
                    <a:lnTo>
                      <a:pt x="0" y="11"/>
                    </a:lnTo>
                    <a:lnTo>
                      <a:pt x="12" y="0"/>
                    </a:lnTo>
                    <a:lnTo>
                      <a:pt x="25" y="13"/>
                    </a:lnTo>
                    <a:lnTo>
                      <a:pt x="12" y="25"/>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590" name="Freeform 131"/>
              <p:cNvSpPr>
                <a:spLocks noChangeAspect="1"/>
              </p:cNvSpPr>
              <p:nvPr/>
            </p:nvSpPr>
            <p:spPr bwMode="auto">
              <a:xfrm>
                <a:off x="1993" y="3377"/>
                <a:ext cx="25" cy="24"/>
              </a:xfrm>
              <a:custGeom>
                <a:avLst/>
                <a:gdLst>
                  <a:gd name="T0" fmla="*/ 12 w 25"/>
                  <a:gd name="T1" fmla="*/ 23 h 24"/>
                  <a:gd name="T2" fmla="*/ 0 w 25"/>
                  <a:gd name="T3" fmla="*/ 10 h 24"/>
                  <a:gd name="T4" fmla="*/ 11 w 25"/>
                  <a:gd name="T5" fmla="*/ 0 h 24"/>
                  <a:gd name="T6" fmla="*/ 24 w 25"/>
                  <a:gd name="T7" fmla="*/ 12 h 24"/>
                  <a:gd name="T8" fmla="*/ 12 w 25"/>
                  <a:gd name="T9" fmla="*/ 23 h 24"/>
                  <a:gd name="T10" fmla="*/ 0 60000 65536"/>
                  <a:gd name="T11" fmla="*/ 0 60000 65536"/>
                  <a:gd name="T12" fmla="*/ 0 60000 65536"/>
                  <a:gd name="T13" fmla="*/ 0 60000 65536"/>
                  <a:gd name="T14" fmla="*/ 0 60000 65536"/>
                  <a:gd name="T15" fmla="*/ 0 w 25"/>
                  <a:gd name="T16" fmla="*/ 0 h 24"/>
                  <a:gd name="T17" fmla="*/ 25 w 25"/>
                  <a:gd name="T18" fmla="*/ 24 h 24"/>
                </a:gdLst>
                <a:ahLst/>
                <a:cxnLst>
                  <a:cxn ang="T10">
                    <a:pos x="T0" y="T1"/>
                  </a:cxn>
                  <a:cxn ang="T11">
                    <a:pos x="T2" y="T3"/>
                  </a:cxn>
                  <a:cxn ang="T12">
                    <a:pos x="T4" y="T5"/>
                  </a:cxn>
                  <a:cxn ang="T13">
                    <a:pos x="T6" y="T7"/>
                  </a:cxn>
                  <a:cxn ang="T14">
                    <a:pos x="T8" y="T9"/>
                  </a:cxn>
                </a:cxnLst>
                <a:rect l="T15" t="T16" r="T17" b="T18"/>
                <a:pathLst>
                  <a:path w="25" h="24">
                    <a:moveTo>
                      <a:pt x="12" y="23"/>
                    </a:moveTo>
                    <a:lnTo>
                      <a:pt x="0" y="10"/>
                    </a:lnTo>
                    <a:lnTo>
                      <a:pt x="11" y="0"/>
                    </a:lnTo>
                    <a:lnTo>
                      <a:pt x="24" y="12"/>
                    </a:lnTo>
                    <a:lnTo>
                      <a:pt x="12" y="23"/>
                    </a:lnTo>
                  </a:path>
                </a:pathLst>
              </a:custGeom>
              <a:solidFill>
                <a:srgbClr val="BFBFB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91" name="Freeform 132"/>
              <p:cNvSpPr>
                <a:spLocks noChangeAspect="1"/>
              </p:cNvSpPr>
              <p:nvPr/>
            </p:nvSpPr>
            <p:spPr bwMode="auto">
              <a:xfrm>
                <a:off x="1993" y="3377"/>
                <a:ext cx="27" cy="26"/>
              </a:xfrm>
              <a:custGeom>
                <a:avLst/>
                <a:gdLst>
                  <a:gd name="T0" fmla="*/ 13 w 27"/>
                  <a:gd name="T1" fmla="*/ 25 h 26"/>
                  <a:gd name="T2" fmla="*/ 0 w 27"/>
                  <a:gd name="T3" fmla="*/ 11 h 26"/>
                  <a:gd name="T4" fmla="*/ 12 w 27"/>
                  <a:gd name="T5" fmla="*/ 0 h 26"/>
                  <a:gd name="T6" fmla="*/ 26 w 27"/>
                  <a:gd name="T7" fmla="*/ 13 h 26"/>
                  <a:gd name="T8" fmla="*/ 13 w 27"/>
                  <a:gd name="T9" fmla="*/ 25 h 26"/>
                  <a:gd name="T10" fmla="*/ 0 60000 65536"/>
                  <a:gd name="T11" fmla="*/ 0 60000 65536"/>
                  <a:gd name="T12" fmla="*/ 0 60000 65536"/>
                  <a:gd name="T13" fmla="*/ 0 60000 65536"/>
                  <a:gd name="T14" fmla="*/ 0 60000 65536"/>
                  <a:gd name="T15" fmla="*/ 0 w 27"/>
                  <a:gd name="T16" fmla="*/ 0 h 26"/>
                  <a:gd name="T17" fmla="*/ 27 w 27"/>
                  <a:gd name="T18" fmla="*/ 26 h 26"/>
                </a:gdLst>
                <a:ahLst/>
                <a:cxnLst>
                  <a:cxn ang="T10">
                    <a:pos x="T0" y="T1"/>
                  </a:cxn>
                  <a:cxn ang="T11">
                    <a:pos x="T2" y="T3"/>
                  </a:cxn>
                  <a:cxn ang="T12">
                    <a:pos x="T4" y="T5"/>
                  </a:cxn>
                  <a:cxn ang="T13">
                    <a:pos x="T6" y="T7"/>
                  </a:cxn>
                  <a:cxn ang="T14">
                    <a:pos x="T8" y="T9"/>
                  </a:cxn>
                </a:cxnLst>
                <a:rect l="T15" t="T16" r="T17" b="T18"/>
                <a:pathLst>
                  <a:path w="27" h="26">
                    <a:moveTo>
                      <a:pt x="13" y="25"/>
                    </a:moveTo>
                    <a:lnTo>
                      <a:pt x="0" y="11"/>
                    </a:lnTo>
                    <a:lnTo>
                      <a:pt x="12" y="0"/>
                    </a:lnTo>
                    <a:lnTo>
                      <a:pt x="26" y="13"/>
                    </a:lnTo>
                    <a:lnTo>
                      <a:pt x="13" y="25"/>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592" name="Rectangle 133"/>
              <p:cNvSpPr>
                <a:spLocks noChangeAspect="1" noChangeArrowheads="1"/>
              </p:cNvSpPr>
              <p:nvPr/>
            </p:nvSpPr>
            <p:spPr bwMode="auto">
              <a:xfrm>
                <a:off x="1996" y="3306"/>
                <a:ext cx="63" cy="22"/>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593" name="Freeform 134"/>
              <p:cNvSpPr>
                <a:spLocks noChangeAspect="1"/>
              </p:cNvSpPr>
              <p:nvPr/>
            </p:nvSpPr>
            <p:spPr bwMode="auto">
              <a:xfrm>
                <a:off x="1996" y="3306"/>
                <a:ext cx="66" cy="25"/>
              </a:xfrm>
              <a:custGeom>
                <a:avLst/>
                <a:gdLst>
                  <a:gd name="T0" fmla="*/ 0 w 66"/>
                  <a:gd name="T1" fmla="*/ 0 h 25"/>
                  <a:gd name="T2" fmla="*/ 65 w 66"/>
                  <a:gd name="T3" fmla="*/ 0 h 25"/>
                  <a:gd name="T4" fmla="*/ 65 w 66"/>
                  <a:gd name="T5" fmla="*/ 24 h 25"/>
                  <a:gd name="T6" fmla="*/ 0 w 66"/>
                  <a:gd name="T7" fmla="*/ 24 h 25"/>
                  <a:gd name="T8" fmla="*/ 0 w 66"/>
                  <a:gd name="T9" fmla="*/ 0 h 25"/>
                  <a:gd name="T10" fmla="*/ 0 60000 65536"/>
                  <a:gd name="T11" fmla="*/ 0 60000 65536"/>
                  <a:gd name="T12" fmla="*/ 0 60000 65536"/>
                  <a:gd name="T13" fmla="*/ 0 60000 65536"/>
                  <a:gd name="T14" fmla="*/ 0 60000 65536"/>
                  <a:gd name="T15" fmla="*/ 0 w 66"/>
                  <a:gd name="T16" fmla="*/ 0 h 25"/>
                  <a:gd name="T17" fmla="*/ 66 w 66"/>
                  <a:gd name="T18" fmla="*/ 25 h 25"/>
                </a:gdLst>
                <a:ahLst/>
                <a:cxnLst>
                  <a:cxn ang="T10">
                    <a:pos x="T0" y="T1"/>
                  </a:cxn>
                  <a:cxn ang="T11">
                    <a:pos x="T2" y="T3"/>
                  </a:cxn>
                  <a:cxn ang="T12">
                    <a:pos x="T4" y="T5"/>
                  </a:cxn>
                  <a:cxn ang="T13">
                    <a:pos x="T6" y="T7"/>
                  </a:cxn>
                  <a:cxn ang="T14">
                    <a:pos x="T8" y="T9"/>
                  </a:cxn>
                </a:cxnLst>
                <a:rect l="T15" t="T16" r="T17" b="T18"/>
                <a:pathLst>
                  <a:path w="66" h="25">
                    <a:moveTo>
                      <a:pt x="0" y="0"/>
                    </a:moveTo>
                    <a:lnTo>
                      <a:pt x="65" y="0"/>
                    </a:lnTo>
                    <a:lnTo>
                      <a:pt x="65" y="24"/>
                    </a:lnTo>
                    <a:lnTo>
                      <a:pt x="0" y="24"/>
                    </a:lnTo>
                    <a:lnTo>
                      <a:pt x="0" y="0"/>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594" name="Rectangle 135"/>
              <p:cNvSpPr>
                <a:spLocks noChangeAspect="1" noChangeArrowheads="1"/>
              </p:cNvSpPr>
              <p:nvPr/>
            </p:nvSpPr>
            <p:spPr bwMode="auto">
              <a:xfrm>
                <a:off x="2004" y="3327"/>
                <a:ext cx="43" cy="16"/>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595" name="Freeform 136"/>
              <p:cNvSpPr>
                <a:spLocks noChangeAspect="1"/>
              </p:cNvSpPr>
              <p:nvPr/>
            </p:nvSpPr>
            <p:spPr bwMode="auto">
              <a:xfrm>
                <a:off x="2003" y="3327"/>
                <a:ext cx="46" cy="17"/>
              </a:xfrm>
              <a:custGeom>
                <a:avLst/>
                <a:gdLst>
                  <a:gd name="T0" fmla="*/ 0 w 46"/>
                  <a:gd name="T1" fmla="*/ 0 h 17"/>
                  <a:gd name="T2" fmla="*/ 45 w 46"/>
                  <a:gd name="T3" fmla="*/ 0 h 17"/>
                  <a:gd name="T4" fmla="*/ 45 w 46"/>
                  <a:gd name="T5" fmla="*/ 16 h 17"/>
                  <a:gd name="T6" fmla="*/ 0 w 46"/>
                  <a:gd name="T7" fmla="*/ 16 h 17"/>
                  <a:gd name="T8" fmla="*/ 0 w 46"/>
                  <a:gd name="T9" fmla="*/ 0 h 17"/>
                  <a:gd name="T10" fmla="*/ 0 60000 65536"/>
                  <a:gd name="T11" fmla="*/ 0 60000 65536"/>
                  <a:gd name="T12" fmla="*/ 0 60000 65536"/>
                  <a:gd name="T13" fmla="*/ 0 60000 65536"/>
                  <a:gd name="T14" fmla="*/ 0 60000 65536"/>
                  <a:gd name="T15" fmla="*/ 0 w 46"/>
                  <a:gd name="T16" fmla="*/ 0 h 17"/>
                  <a:gd name="T17" fmla="*/ 46 w 46"/>
                  <a:gd name="T18" fmla="*/ 17 h 17"/>
                </a:gdLst>
                <a:ahLst/>
                <a:cxnLst>
                  <a:cxn ang="T10">
                    <a:pos x="T0" y="T1"/>
                  </a:cxn>
                  <a:cxn ang="T11">
                    <a:pos x="T2" y="T3"/>
                  </a:cxn>
                  <a:cxn ang="T12">
                    <a:pos x="T4" y="T5"/>
                  </a:cxn>
                  <a:cxn ang="T13">
                    <a:pos x="T6" y="T7"/>
                  </a:cxn>
                  <a:cxn ang="T14">
                    <a:pos x="T8" y="T9"/>
                  </a:cxn>
                </a:cxnLst>
                <a:rect l="T15" t="T16" r="T17" b="T18"/>
                <a:pathLst>
                  <a:path w="46" h="17">
                    <a:moveTo>
                      <a:pt x="0" y="0"/>
                    </a:moveTo>
                    <a:lnTo>
                      <a:pt x="45" y="0"/>
                    </a:lnTo>
                    <a:lnTo>
                      <a:pt x="45" y="16"/>
                    </a:lnTo>
                    <a:lnTo>
                      <a:pt x="0" y="16"/>
                    </a:lnTo>
                    <a:lnTo>
                      <a:pt x="0" y="0"/>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596" name="Freeform 137"/>
              <p:cNvSpPr>
                <a:spLocks noChangeAspect="1"/>
              </p:cNvSpPr>
              <p:nvPr/>
            </p:nvSpPr>
            <p:spPr bwMode="auto">
              <a:xfrm>
                <a:off x="1989" y="3321"/>
                <a:ext cx="17" cy="17"/>
              </a:xfrm>
              <a:custGeom>
                <a:avLst/>
                <a:gdLst>
                  <a:gd name="T0" fmla="*/ 16 w 17"/>
                  <a:gd name="T1" fmla="*/ 8 h 17"/>
                  <a:gd name="T2" fmla="*/ 13 w 17"/>
                  <a:gd name="T3" fmla="*/ 13 h 17"/>
                  <a:gd name="T4" fmla="*/ 8 w 17"/>
                  <a:gd name="T5" fmla="*/ 16 h 17"/>
                  <a:gd name="T6" fmla="*/ 2 w 17"/>
                  <a:gd name="T7" fmla="*/ 13 h 17"/>
                  <a:gd name="T8" fmla="*/ 0 w 17"/>
                  <a:gd name="T9" fmla="*/ 8 h 17"/>
                  <a:gd name="T10" fmla="*/ 2 w 17"/>
                  <a:gd name="T11" fmla="*/ 2 h 17"/>
                  <a:gd name="T12" fmla="*/ 8 w 17"/>
                  <a:gd name="T13" fmla="*/ 0 h 17"/>
                  <a:gd name="T14" fmla="*/ 13 w 17"/>
                  <a:gd name="T15" fmla="*/ 2 h 17"/>
                  <a:gd name="T16" fmla="*/ 16 w 17"/>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8"/>
                    </a:moveTo>
                    <a:lnTo>
                      <a:pt x="13" y="13"/>
                    </a:lnTo>
                    <a:lnTo>
                      <a:pt x="8" y="16"/>
                    </a:lnTo>
                    <a:lnTo>
                      <a:pt x="2" y="13"/>
                    </a:lnTo>
                    <a:lnTo>
                      <a:pt x="0" y="8"/>
                    </a:lnTo>
                    <a:lnTo>
                      <a:pt x="2" y="2"/>
                    </a:lnTo>
                    <a:lnTo>
                      <a:pt x="8" y="0"/>
                    </a:lnTo>
                    <a:lnTo>
                      <a:pt x="13" y="2"/>
                    </a:lnTo>
                    <a:lnTo>
                      <a:pt x="16" y="8"/>
                    </a:lnTo>
                  </a:path>
                </a:pathLst>
              </a:custGeom>
              <a:solidFill>
                <a:srgbClr val="BFBFB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97" name="Freeform 138"/>
              <p:cNvSpPr>
                <a:spLocks noChangeAspect="1"/>
              </p:cNvSpPr>
              <p:nvPr/>
            </p:nvSpPr>
            <p:spPr bwMode="auto">
              <a:xfrm>
                <a:off x="1989" y="3321"/>
                <a:ext cx="17" cy="17"/>
              </a:xfrm>
              <a:custGeom>
                <a:avLst/>
                <a:gdLst>
                  <a:gd name="T0" fmla="*/ 16 w 17"/>
                  <a:gd name="T1" fmla="*/ 8 h 17"/>
                  <a:gd name="T2" fmla="*/ 13 w 17"/>
                  <a:gd name="T3" fmla="*/ 13 h 17"/>
                  <a:gd name="T4" fmla="*/ 8 w 17"/>
                  <a:gd name="T5" fmla="*/ 16 h 17"/>
                  <a:gd name="T6" fmla="*/ 2 w 17"/>
                  <a:gd name="T7" fmla="*/ 13 h 17"/>
                  <a:gd name="T8" fmla="*/ 0 w 17"/>
                  <a:gd name="T9" fmla="*/ 8 h 17"/>
                  <a:gd name="T10" fmla="*/ 2 w 17"/>
                  <a:gd name="T11" fmla="*/ 2 h 17"/>
                  <a:gd name="T12" fmla="*/ 8 w 17"/>
                  <a:gd name="T13" fmla="*/ 0 h 17"/>
                  <a:gd name="T14" fmla="*/ 13 w 17"/>
                  <a:gd name="T15" fmla="*/ 2 h 17"/>
                  <a:gd name="T16" fmla="*/ 16 w 17"/>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8"/>
                    </a:moveTo>
                    <a:lnTo>
                      <a:pt x="13" y="13"/>
                    </a:lnTo>
                    <a:lnTo>
                      <a:pt x="8" y="16"/>
                    </a:lnTo>
                    <a:lnTo>
                      <a:pt x="2" y="13"/>
                    </a:lnTo>
                    <a:lnTo>
                      <a:pt x="0" y="8"/>
                    </a:lnTo>
                    <a:lnTo>
                      <a:pt x="2" y="2"/>
                    </a:lnTo>
                    <a:lnTo>
                      <a:pt x="8" y="0"/>
                    </a:lnTo>
                    <a:lnTo>
                      <a:pt x="13" y="2"/>
                    </a:lnTo>
                    <a:lnTo>
                      <a:pt x="16" y="8"/>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598" name="Freeform 139"/>
              <p:cNvSpPr>
                <a:spLocks noChangeAspect="1"/>
              </p:cNvSpPr>
              <p:nvPr/>
            </p:nvSpPr>
            <p:spPr bwMode="auto">
              <a:xfrm>
                <a:off x="2047" y="3321"/>
                <a:ext cx="17" cy="17"/>
              </a:xfrm>
              <a:custGeom>
                <a:avLst/>
                <a:gdLst>
                  <a:gd name="T0" fmla="*/ 16 w 17"/>
                  <a:gd name="T1" fmla="*/ 8 h 17"/>
                  <a:gd name="T2" fmla="*/ 13 w 17"/>
                  <a:gd name="T3" fmla="*/ 13 h 17"/>
                  <a:gd name="T4" fmla="*/ 8 w 17"/>
                  <a:gd name="T5" fmla="*/ 16 h 17"/>
                  <a:gd name="T6" fmla="*/ 2 w 17"/>
                  <a:gd name="T7" fmla="*/ 13 h 17"/>
                  <a:gd name="T8" fmla="*/ 0 w 17"/>
                  <a:gd name="T9" fmla="*/ 8 h 17"/>
                  <a:gd name="T10" fmla="*/ 2 w 17"/>
                  <a:gd name="T11" fmla="*/ 2 h 17"/>
                  <a:gd name="T12" fmla="*/ 8 w 17"/>
                  <a:gd name="T13" fmla="*/ 0 h 17"/>
                  <a:gd name="T14" fmla="*/ 13 w 17"/>
                  <a:gd name="T15" fmla="*/ 2 h 17"/>
                  <a:gd name="T16" fmla="*/ 16 w 17"/>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8"/>
                    </a:moveTo>
                    <a:lnTo>
                      <a:pt x="13" y="13"/>
                    </a:lnTo>
                    <a:lnTo>
                      <a:pt x="8" y="16"/>
                    </a:lnTo>
                    <a:lnTo>
                      <a:pt x="2" y="13"/>
                    </a:lnTo>
                    <a:lnTo>
                      <a:pt x="0" y="8"/>
                    </a:lnTo>
                    <a:lnTo>
                      <a:pt x="2" y="2"/>
                    </a:lnTo>
                    <a:lnTo>
                      <a:pt x="8" y="0"/>
                    </a:lnTo>
                    <a:lnTo>
                      <a:pt x="13" y="2"/>
                    </a:lnTo>
                    <a:lnTo>
                      <a:pt x="16" y="8"/>
                    </a:lnTo>
                  </a:path>
                </a:pathLst>
              </a:custGeom>
              <a:solidFill>
                <a:srgbClr val="BFBFB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99" name="Freeform 140"/>
              <p:cNvSpPr>
                <a:spLocks noChangeAspect="1"/>
              </p:cNvSpPr>
              <p:nvPr/>
            </p:nvSpPr>
            <p:spPr bwMode="auto">
              <a:xfrm>
                <a:off x="2047" y="3321"/>
                <a:ext cx="17" cy="17"/>
              </a:xfrm>
              <a:custGeom>
                <a:avLst/>
                <a:gdLst>
                  <a:gd name="T0" fmla="*/ 16 w 17"/>
                  <a:gd name="T1" fmla="*/ 8 h 17"/>
                  <a:gd name="T2" fmla="*/ 13 w 17"/>
                  <a:gd name="T3" fmla="*/ 13 h 17"/>
                  <a:gd name="T4" fmla="*/ 8 w 17"/>
                  <a:gd name="T5" fmla="*/ 16 h 17"/>
                  <a:gd name="T6" fmla="*/ 2 w 17"/>
                  <a:gd name="T7" fmla="*/ 13 h 17"/>
                  <a:gd name="T8" fmla="*/ 0 w 17"/>
                  <a:gd name="T9" fmla="*/ 8 h 17"/>
                  <a:gd name="T10" fmla="*/ 2 w 17"/>
                  <a:gd name="T11" fmla="*/ 2 h 17"/>
                  <a:gd name="T12" fmla="*/ 8 w 17"/>
                  <a:gd name="T13" fmla="*/ 0 h 17"/>
                  <a:gd name="T14" fmla="*/ 13 w 17"/>
                  <a:gd name="T15" fmla="*/ 2 h 17"/>
                  <a:gd name="T16" fmla="*/ 16 w 17"/>
                  <a:gd name="T17" fmla="*/ 8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8"/>
                    </a:moveTo>
                    <a:lnTo>
                      <a:pt x="13" y="13"/>
                    </a:lnTo>
                    <a:lnTo>
                      <a:pt x="8" y="16"/>
                    </a:lnTo>
                    <a:lnTo>
                      <a:pt x="2" y="13"/>
                    </a:lnTo>
                    <a:lnTo>
                      <a:pt x="0" y="8"/>
                    </a:lnTo>
                    <a:lnTo>
                      <a:pt x="2" y="2"/>
                    </a:lnTo>
                    <a:lnTo>
                      <a:pt x="8" y="0"/>
                    </a:lnTo>
                    <a:lnTo>
                      <a:pt x="13" y="2"/>
                    </a:lnTo>
                    <a:lnTo>
                      <a:pt x="16" y="8"/>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00" name="Freeform 141"/>
              <p:cNvSpPr>
                <a:spLocks noChangeAspect="1"/>
              </p:cNvSpPr>
              <p:nvPr/>
            </p:nvSpPr>
            <p:spPr bwMode="auto">
              <a:xfrm>
                <a:off x="1878" y="3484"/>
                <a:ext cx="55" cy="71"/>
              </a:xfrm>
              <a:custGeom>
                <a:avLst/>
                <a:gdLst>
                  <a:gd name="T0" fmla="*/ 0 w 55"/>
                  <a:gd name="T1" fmla="*/ 1 h 71"/>
                  <a:gd name="T2" fmla="*/ 22 w 55"/>
                  <a:gd name="T3" fmla="*/ 70 h 71"/>
                  <a:gd name="T4" fmla="*/ 54 w 55"/>
                  <a:gd name="T5" fmla="*/ 31 h 71"/>
                  <a:gd name="T6" fmla="*/ 45 w 55"/>
                  <a:gd name="T7" fmla="*/ 14 h 71"/>
                  <a:gd name="T8" fmla="*/ 0 w 55"/>
                  <a:gd name="T9" fmla="*/ 1 h 71"/>
                  <a:gd name="T10" fmla="*/ 1 w 55"/>
                  <a:gd name="T11" fmla="*/ 0 h 71"/>
                  <a:gd name="T12" fmla="*/ 0 w 55"/>
                  <a:gd name="T13" fmla="*/ 1 h 71"/>
                  <a:gd name="T14" fmla="*/ 0 60000 65536"/>
                  <a:gd name="T15" fmla="*/ 0 60000 65536"/>
                  <a:gd name="T16" fmla="*/ 0 60000 65536"/>
                  <a:gd name="T17" fmla="*/ 0 60000 65536"/>
                  <a:gd name="T18" fmla="*/ 0 60000 65536"/>
                  <a:gd name="T19" fmla="*/ 0 60000 65536"/>
                  <a:gd name="T20" fmla="*/ 0 60000 65536"/>
                  <a:gd name="T21" fmla="*/ 0 w 55"/>
                  <a:gd name="T22" fmla="*/ 0 h 71"/>
                  <a:gd name="T23" fmla="*/ 55 w 55"/>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 h="71">
                    <a:moveTo>
                      <a:pt x="0" y="1"/>
                    </a:moveTo>
                    <a:lnTo>
                      <a:pt x="22" y="70"/>
                    </a:lnTo>
                    <a:lnTo>
                      <a:pt x="54" y="31"/>
                    </a:lnTo>
                    <a:lnTo>
                      <a:pt x="45" y="14"/>
                    </a:lnTo>
                    <a:lnTo>
                      <a:pt x="0" y="1"/>
                    </a:lnTo>
                    <a:lnTo>
                      <a:pt x="1" y="0"/>
                    </a:lnTo>
                    <a:lnTo>
                      <a:pt x="0" y="1"/>
                    </a:lnTo>
                  </a:path>
                </a:pathLst>
              </a:custGeom>
              <a:gradFill rotWithShape="0">
                <a:gsLst>
                  <a:gs pos="0">
                    <a:srgbClr val="393939"/>
                  </a:gs>
                  <a:gs pos="50000">
                    <a:srgbClr val="BFBFBF"/>
                  </a:gs>
                  <a:gs pos="100000">
                    <a:srgbClr val="393939"/>
                  </a:gs>
                </a:gsLst>
                <a:lin ang="1890000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01" name="Freeform 142"/>
              <p:cNvSpPr>
                <a:spLocks noChangeAspect="1"/>
              </p:cNvSpPr>
              <p:nvPr/>
            </p:nvSpPr>
            <p:spPr bwMode="auto">
              <a:xfrm>
                <a:off x="1877" y="3484"/>
                <a:ext cx="56" cy="72"/>
              </a:xfrm>
              <a:custGeom>
                <a:avLst/>
                <a:gdLst>
                  <a:gd name="T0" fmla="*/ 0 w 56"/>
                  <a:gd name="T1" fmla="*/ 1 h 72"/>
                  <a:gd name="T2" fmla="*/ 23 w 56"/>
                  <a:gd name="T3" fmla="*/ 71 h 72"/>
                  <a:gd name="T4" fmla="*/ 55 w 56"/>
                  <a:gd name="T5" fmla="*/ 31 h 72"/>
                  <a:gd name="T6" fmla="*/ 46 w 56"/>
                  <a:gd name="T7" fmla="*/ 14 h 72"/>
                  <a:gd name="T8" fmla="*/ 0 w 56"/>
                  <a:gd name="T9" fmla="*/ 1 h 72"/>
                  <a:gd name="T10" fmla="*/ 1 w 56"/>
                  <a:gd name="T11" fmla="*/ 0 h 72"/>
                  <a:gd name="T12" fmla="*/ 0 w 56"/>
                  <a:gd name="T13" fmla="*/ 1 h 72"/>
                  <a:gd name="T14" fmla="*/ 0 60000 65536"/>
                  <a:gd name="T15" fmla="*/ 0 60000 65536"/>
                  <a:gd name="T16" fmla="*/ 0 60000 65536"/>
                  <a:gd name="T17" fmla="*/ 0 60000 65536"/>
                  <a:gd name="T18" fmla="*/ 0 60000 65536"/>
                  <a:gd name="T19" fmla="*/ 0 60000 65536"/>
                  <a:gd name="T20" fmla="*/ 0 60000 65536"/>
                  <a:gd name="T21" fmla="*/ 0 w 56"/>
                  <a:gd name="T22" fmla="*/ 0 h 72"/>
                  <a:gd name="T23" fmla="*/ 56 w 56"/>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72">
                    <a:moveTo>
                      <a:pt x="0" y="1"/>
                    </a:moveTo>
                    <a:lnTo>
                      <a:pt x="23" y="71"/>
                    </a:lnTo>
                    <a:lnTo>
                      <a:pt x="55" y="31"/>
                    </a:lnTo>
                    <a:lnTo>
                      <a:pt x="46" y="14"/>
                    </a:lnTo>
                    <a:lnTo>
                      <a:pt x="0" y="1"/>
                    </a:lnTo>
                    <a:lnTo>
                      <a:pt x="1" y="0"/>
                    </a:lnTo>
                    <a:lnTo>
                      <a:pt x="0" y="1"/>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02" name="Freeform 143"/>
              <p:cNvSpPr>
                <a:spLocks noChangeAspect="1"/>
              </p:cNvSpPr>
              <p:nvPr/>
            </p:nvSpPr>
            <p:spPr bwMode="auto">
              <a:xfrm>
                <a:off x="2119" y="3486"/>
                <a:ext cx="55" cy="70"/>
              </a:xfrm>
              <a:custGeom>
                <a:avLst/>
                <a:gdLst>
                  <a:gd name="T0" fmla="*/ 54 w 55"/>
                  <a:gd name="T1" fmla="*/ 1 h 70"/>
                  <a:gd name="T2" fmla="*/ 31 w 55"/>
                  <a:gd name="T3" fmla="*/ 69 h 70"/>
                  <a:gd name="T4" fmla="*/ 0 w 55"/>
                  <a:gd name="T5" fmla="*/ 31 h 70"/>
                  <a:gd name="T6" fmla="*/ 8 w 55"/>
                  <a:gd name="T7" fmla="*/ 13 h 70"/>
                  <a:gd name="T8" fmla="*/ 54 w 55"/>
                  <a:gd name="T9" fmla="*/ 1 h 70"/>
                  <a:gd name="T10" fmla="*/ 52 w 55"/>
                  <a:gd name="T11" fmla="*/ 0 h 70"/>
                  <a:gd name="T12" fmla="*/ 54 w 55"/>
                  <a:gd name="T13" fmla="*/ 1 h 70"/>
                  <a:gd name="T14" fmla="*/ 0 60000 65536"/>
                  <a:gd name="T15" fmla="*/ 0 60000 65536"/>
                  <a:gd name="T16" fmla="*/ 0 60000 65536"/>
                  <a:gd name="T17" fmla="*/ 0 60000 65536"/>
                  <a:gd name="T18" fmla="*/ 0 60000 65536"/>
                  <a:gd name="T19" fmla="*/ 0 60000 65536"/>
                  <a:gd name="T20" fmla="*/ 0 60000 65536"/>
                  <a:gd name="T21" fmla="*/ 0 w 55"/>
                  <a:gd name="T22" fmla="*/ 0 h 70"/>
                  <a:gd name="T23" fmla="*/ 55 w 55"/>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 h="70">
                    <a:moveTo>
                      <a:pt x="54" y="1"/>
                    </a:moveTo>
                    <a:lnTo>
                      <a:pt x="31" y="69"/>
                    </a:lnTo>
                    <a:lnTo>
                      <a:pt x="0" y="31"/>
                    </a:lnTo>
                    <a:lnTo>
                      <a:pt x="8" y="13"/>
                    </a:lnTo>
                    <a:lnTo>
                      <a:pt x="54" y="1"/>
                    </a:lnTo>
                    <a:lnTo>
                      <a:pt x="52" y="0"/>
                    </a:lnTo>
                    <a:lnTo>
                      <a:pt x="54" y="1"/>
                    </a:lnTo>
                  </a:path>
                </a:pathLst>
              </a:custGeom>
              <a:gradFill rotWithShape="0">
                <a:gsLst>
                  <a:gs pos="0">
                    <a:srgbClr val="4C4C4C"/>
                  </a:gs>
                  <a:gs pos="50000">
                    <a:srgbClr val="BFBFBF"/>
                  </a:gs>
                  <a:gs pos="100000">
                    <a:srgbClr val="4C4C4C"/>
                  </a:gs>
                </a:gsLst>
                <a:lin ang="270000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03" name="Freeform 144"/>
              <p:cNvSpPr>
                <a:spLocks noChangeAspect="1"/>
              </p:cNvSpPr>
              <p:nvPr/>
            </p:nvSpPr>
            <p:spPr bwMode="auto">
              <a:xfrm>
                <a:off x="2119" y="3486"/>
                <a:ext cx="57" cy="71"/>
              </a:xfrm>
              <a:custGeom>
                <a:avLst/>
                <a:gdLst>
                  <a:gd name="T0" fmla="*/ 56 w 57"/>
                  <a:gd name="T1" fmla="*/ 1 h 71"/>
                  <a:gd name="T2" fmla="*/ 32 w 57"/>
                  <a:gd name="T3" fmla="*/ 70 h 71"/>
                  <a:gd name="T4" fmla="*/ 0 w 57"/>
                  <a:gd name="T5" fmla="*/ 31 h 71"/>
                  <a:gd name="T6" fmla="*/ 9 w 57"/>
                  <a:gd name="T7" fmla="*/ 14 h 71"/>
                  <a:gd name="T8" fmla="*/ 56 w 57"/>
                  <a:gd name="T9" fmla="*/ 1 h 71"/>
                  <a:gd name="T10" fmla="*/ 54 w 57"/>
                  <a:gd name="T11" fmla="*/ 0 h 71"/>
                  <a:gd name="T12" fmla="*/ 56 w 57"/>
                  <a:gd name="T13" fmla="*/ 1 h 71"/>
                  <a:gd name="T14" fmla="*/ 0 60000 65536"/>
                  <a:gd name="T15" fmla="*/ 0 60000 65536"/>
                  <a:gd name="T16" fmla="*/ 0 60000 65536"/>
                  <a:gd name="T17" fmla="*/ 0 60000 65536"/>
                  <a:gd name="T18" fmla="*/ 0 60000 65536"/>
                  <a:gd name="T19" fmla="*/ 0 60000 65536"/>
                  <a:gd name="T20" fmla="*/ 0 60000 65536"/>
                  <a:gd name="T21" fmla="*/ 0 w 57"/>
                  <a:gd name="T22" fmla="*/ 0 h 71"/>
                  <a:gd name="T23" fmla="*/ 57 w 57"/>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71">
                    <a:moveTo>
                      <a:pt x="56" y="1"/>
                    </a:moveTo>
                    <a:lnTo>
                      <a:pt x="32" y="70"/>
                    </a:lnTo>
                    <a:lnTo>
                      <a:pt x="0" y="31"/>
                    </a:lnTo>
                    <a:lnTo>
                      <a:pt x="9" y="14"/>
                    </a:lnTo>
                    <a:lnTo>
                      <a:pt x="56" y="1"/>
                    </a:lnTo>
                    <a:lnTo>
                      <a:pt x="54" y="0"/>
                    </a:lnTo>
                    <a:lnTo>
                      <a:pt x="56" y="1"/>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04" name="Freeform 145"/>
              <p:cNvSpPr>
                <a:spLocks noChangeAspect="1"/>
              </p:cNvSpPr>
              <p:nvPr/>
            </p:nvSpPr>
            <p:spPr bwMode="auto">
              <a:xfrm>
                <a:off x="1879" y="3379"/>
                <a:ext cx="136" cy="119"/>
              </a:xfrm>
              <a:custGeom>
                <a:avLst/>
                <a:gdLst>
                  <a:gd name="T0" fmla="*/ 0 w 136"/>
                  <a:gd name="T1" fmla="*/ 106 h 119"/>
                  <a:gd name="T2" fmla="*/ 45 w 136"/>
                  <a:gd name="T3" fmla="*/ 118 h 119"/>
                  <a:gd name="T4" fmla="*/ 135 w 136"/>
                  <a:gd name="T5" fmla="*/ 27 h 119"/>
                  <a:gd name="T6" fmla="*/ 106 w 136"/>
                  <a:gd name="T7" fmla="*/ 0 h 119"/>
                  <a:gd name="T8" fmla="*/ 1 w 136"/>
                  <a:gd name="T9" fmla="*/ 104 h 119"/>
                  <a:gd name="T10" fmla="*/ 0 w 136"/>
                  <a:gd name="T11" fmla="*/ 106 h 119"/>
                  <a:gd name="T12" fmla="*/ 0 60000 65536"/>
                  <a:gd name="T13" fmla="*/ 0 60000 65536"/>
                  <a:gd name="T14" fmla="*/ 0 60000 65536"/>
                  <a:gd name="T15" fmla="*/ 0 60000 65536"/>
                  <a:gd name="T16" fmla="*/ 0 60000 65536"/>
                  <a:gd name="T17" fmla="*/ 0 60000 65536"/>
                  <a:gd name="T18" fmla="*/ 0 w 136"/>
                  <a:gd name="T19" fmla="*/ 0 h 119"/>
                  <a:gd name="T20" fmla="*/ 136 w 136"/>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136" h="119">
                    <a:moveTo>
                      <a:pt x="0" y="106"/>
                    </a:moveTo>
                    <a:lnTo>
                      <a:pt x="45" y="118"/>
                    </a:lnTo>
                    <a:lnTo>
                      <a:pt x="135" y="27"/>
                    </a:lnTo>
                    <a:lnTo>
                      <a:pt x="106" y="0"/>
                    </a:lnTo>
                    <a:lnTo>
                      <a:pt x="1" y="104"/>
                    </a:lnTo>
                    <a:lnTo>
                      <a:pt x="0" y="106"/>
                    </a:lnTo>
                  </a:path>
                </a:pathLst>
              </a:custGeom>
              <a:gradFill rotWithShape="0">
                <a:gsLst>
                  <a:gs pos="0">
                    <a:srgbClr val="737373"/>
                  </a:gs>
                  <a:gs pos="50000">
                    <a:srgbClr val="BFBFBF"/>
                  </a:gs>
                  <a:gs pos="100000">
                    <a:srgbClr val="737373"/>
                  </a:gs>
                </a:gsLst>
                <a:lin ang="2700000" scaled="1"/>
              </a:gra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05" name="Freeform 146"/>
              <p:cNvSpPr>
                <a:spLocks noChangeAspect="1"/>
              </p:cNvSpPr>
              <p:nvPr/>
            </p:nvSpPr>
            <p:spPr bwMode="auto">
              <a:xfrm>
                <a:off x="1879" y="3379"/>
                <a:ext cx="137" cy="120"/>
              </a:xfrm>
              <a:custGeom>
                <a:avLst/>
                <a:gdLst>
                  <a:gd name="T0" fmla="*/ 0 w 137"/>
                  <a:gd name="T1" fmla="*/ 107 h 120"/>
                  <a:gd name="T2" fmla="*/ 45 w 137"/>
                  <a:gd name="T3" fmla="*/ 119 h 120"/>
                  <a:gd name="T4" fmla="*/ 136 w 137"/>
                  <a:gd name="T5" fmla="*/ 28 h 120"/>
                  <a:gd name="T6" fmla="*/ 107 w 137"/>
                  <a:gd name="T7" fmla="*/ 0 h 120"/>
                  <a:gd name="T8" fmla="*/ 1 w 137"/>
                  <a:gd name="T9" fmla="*/ 105 h 120"/>
                  <a:gd name="T10" fmla="*/ 0 w 137"/>
                  <a:gd name="T11" fmla="*/ 107 h 120"/>
                  <a:gd name="T12" fmla="*/ 0 60000 65536"/>
                  <a:gd name="T13" fmla="*/ 0 60000 65536"/>
                  <a:gd name="T14" fmla="*/ 0 60000 65536"/>
                  <a:gd name="T15" fmla="*/ 0 60000 65536"/>
                  <a:gd name="T16" fmla="*/ 0 60000 65536"/>
                  <a:gd name="T17" fmla="*/ 0 60000 65536"/>
                  <a:gd name="T18" fmla="*/ 0 w 137"/>
                  <a:gd name="T19" fmla="*/ 0 h 120"/>
                  <a:gd name="T20" fmla="*/ 137 w 137"/>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37" h="120">
                    <a:moveTo>
                      <a:pt x="0" y="107"/>
                    </a:moveTo>
                    <a:lnTo>
                      <a:pt x="45" y="119"/>
                    </a:lnTo>
                    <a:lnTo>
                      <a:pt x="136" y="28"/>
                    </a:lnTo>
                    <a:lnTo>
                      <a:pt x="107" y="0"/>
                    </a:lnTo>
                    <a:lnTo>
                      <a:pt x="1" y="105"/>
                    </a:lnTo>
                    <a:lnTo>
                      <a:pt x="0" y="107"/>
                    </a:lnTo>
                  </a:path>
                </a:pathLst>
              </a:custGeom>
              <a:gradFill rotWithShape="0">
                <a:gsLst>
                  <a:gs pos="0">
                    <a:srgbClr val="272727"/>
                  </a:gs>
                  <a:gs pos="50000">
                    <a:srgbClr val="C4C4C4"/>
                  </a:gs>
                  <a:gs pos="100000">
                    <a:srgbClr val="272727"/>
                  </a:gs>
                </a:gsLst>
                <a:lin ang="2700000" scaled="1"/>
              </a:gradFill>
              <a:ln w="12700" cap="rnd" cmpd="sng">
                <a:solidFill>
                  <a:srgbClr val="595959"/>
                </a:solidFill>
                <a:prstDash val="solid"/>
                <a:round/>
                <a:headEnd/>
                <a:tailEnd/>
              </a:ln>
            </p:spPr>
            <p:txBody>
              <a:bodyPr/>
              <a:lstStyle/>
              <a:p>
                <a:endParaRPr lang="ru-RU" dirty="0">
                  <a:solidFill>
                    <a:srgbClr val="475B79"/>
                  </a:solidFill>
                </a:endParaRPr>
              </a:p>
            </p:txBody>
          </p:sp>
          <p:sp>
            <p:nvSpPr>
              <p:cNvPr id="606" name="Freeform 147"/>
              <p:cNvSpPr>
                <a:spLocks noChangeAspect="1"/>
              </p:cNvSpPr>
              <p:nvPr/>
            </p:nvSpPr>
            <p:spPr bwMode="auto">
              <a:xfrm>
                <a:off x="2037" y="3379"/>
                <a:ext cx="136" cy="119"/>
              </a:xfrm>
              <a:custGeom>
                <a:avLst/>
                <a:gdLst>
                  <a:gd name="T0" fmla="*/ 135 w 136"/>
                  <a:gd name="T1" fmla="*/ 106 h 119"/>
                  <a:gd name="T2" fmla="*/ 90 w 136"/>
                  <a:gd name="T3" fmla="*/ 118 h 119"/>
                  <a:gd name="T4" fmla="*/ 0 w 136"/>
                  <a:gd name="T5" fmla="*/ 28 h 119"/>
                  <a:gd name="T6" fmla="*/ 28 w 136"/>
                  <a:gd name="T7" fmla="*/ 0 h 119"/>
                  <a:gd name="T8" fmla="*/ 133 w 136"/>
                  <a:gd name="T9" fmla="*/ 104 h 119"/>
                  <a:gd name="T10" fmla="*/ 135 w 136"/>
                  <a:gd name="T11" fmla="*/ 106 h 119"/>
                  <a:gd name="T12" fmla="*/ 0 60000 65536"/>
                  <a:gd name="T13" fmla="*/ 0 60000 65536"/>
                  <a:gd name="T14" fmla="*/ 0 60000 65536"/>
                  <a:gd name="T15" fmla="*/ 0 60000 65536"/>
                  <a:gd name="T16" fmla="*/ 0 60000 65536"/>
                  <a:gd name="T17" fmla="*/ 0 60000 65536"/>
                  <a:gd name="T18" fmla="*/ 0 w 136"/>
                  <a:gd name="T19" fmla="*/ 0 h 119"/>
                  <a:gd name="T20" fmla="*/ 136 w 136"/>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136" h="119">
                    <a:moveTo>
                      <a:pt x="135" y="106"/>
                    </a:moveTo>
                    <a:lnTo>
                      <a:pt x="90" y="118"/>
                    </a:lnTo>
                    <a:lnTo>
                      <a:pt x="0" y="28"/>
                    </a:lnTo>
                    <a:lnTo>
                      <a:pt x="28" y="0"/>
                    </a:lnTo>
                    <a:lnTo>
                      <a:pt x="133" y="104"/>
                    </a:lnTo>
                    <a:lnTo>
                      <a:pt x="135" y="106"/>
                    </a:lnTo>
                  </a:path>
                </a:pathLst>
              </a:custGeom>
              <a:gradFill rotWithShape="0">
                <a:gsLst>
                  <a:gs pos="0">
                    <a:srgbClr val="131313"/>
                  </a:gs>
                  <a:gs pos="50000">
                    <a:srgbClr val="C4C4C4"/>
                  </a:gs>
                  <a:gs pos="100000">
                    <a:srgbClr val="131313"/>
                  </a:gs>
                </a:gsLst>
                <a:lin ang="18900000" scaled="1"/>
              </a:gradFill>
              <a:ln w="12700" cap="rnd" cmpd="sng">
                <a:solidFill>
                  <a:srgbClr val="595959"/>
                </a:solidFill>
                <a:prstDash val="solid"/>
                <a:round/>
                <a:headEnd/>
                <a:tailEnd/>
              </a:ln>
            </p:spPr>
            <p:txBody>
              <a:bodyPr/>
              <a:lstStyle/>
              <a:p>
                <a:endParaRPr lang="ru-RU" dirty="0">
                  <a:solidFill>
                    <a:srgbClr val="475B79"/>
                  </a:solidFill>
                </a:endParaRPr>
              </a:p>
            </p:txBody>
          </p:sp>
          <p:sp>
            <p:nvSpPr>
              <p:cNvPr id="607" name="Freeform 148"/>
              <p:cNvSpPr>
                <a:spLocks noChangeAspect="1"/>
              </p:cNvSpPr>
              <p:nvPr/>
            </p:nvSpPr>
            <p:spPr bwMode="auto">
              <a:xfrm>
                <a:off x="2037" y="3379"/>
                <a:ext cx="138" cy="121"/>
              </a:xfrm>
              <a:custGeom>
                <a:avLst/>
                <a:gdLst>
                  <a:gd name="T0" fmla="*/ 137 w 138"/>
                  <a:gd name="T1" fmla="*/ 108 h 121"/>
                  <a:gd name="T2" fmla="*/ 91 w 138"/>
                  <a:gd name="T3" fmla="*/ 120 h 121"/>
                  <a:gd name="T4" fmla="*/ 0 w 138"/>
                  <a:gd name="T5" fmla="*/ 28 h 121"/>
                  <a:gd name="T6" fmla="*/ 28 w 138"/>
                  <a:gd name="T7" fmla="*/ 0 h 121"/>
                  <a:gd name="T8" fmla="*/ 135 w 138"/>
                  <a:gd name="T9" fmla="*/ 106 h 121"/>
                  <a:gd name="T10" fmla="*/ 137 w 138"/>
                  <a:gd name="T11" fmla="*/ 108 h 121"/>
                  <a:gd name="T12" fmla="*/ 0 60000 65536"/>
                  <a:gd name="T13" fmla="*/ 0 60000 65536"/>
                  <a:gd name="T14" fmla="*/ 0 60000 65536"/>
                  <a:gd name="T15" fmla="*/ 0 60000 65536"/>
                  <a:gd name="T16" fmla="*/ 0 60000 65536"/>
                  <a:gd name="T17" fmla="*/ 0 60000 65536"/>
                  <a:gd name="T18" fmla="*/ 0 w 138"/>
                  <a:gd name="T19" fmla="*/ 0 h 121"/>
                  <a:gd name="T20" fmla="*/ 138 w 138"/>
                  <a:gd name="T21" fmla="*/ 121 h 121"/>
                </a:gdLst>
                <a:ahLst/>
                <a:cxnLst>
                  <a:cxn ang="T12">
                    <a:pos x="T0" y="T1"/>
                  </a:cxn>
                  <a:cxn ang="T13">
                    <a:pos x="T2" y="T3"/>
                  </a:cxn>
                  <a:cxn ang="T14">
                    <a:pos x="T4" y="T5"/>
                  </a:cxn>
                  <a:cxn ang="T15">
                    <a:pos x="T6" y="T7"/>
                  </a:cxn>
                  <a:cxn ang="T16">
                    <a:pos x="T8" y="T9"/>
                  </a:cxn>
                  <a:cxn ang="T17">
                    <a:pos x="T10" y="T11"/>
                  </a:cxn>
                </a:cxnLst>
                <a:rect l="T18" t="T19" r="T20" b="T21"/>
                <a:pathLst>
                  <a:path w="138" h="121">
                    <a:moveTo>
                      <a:pt x="137" y="108"/>
                    </a:moveTo>
                    <a:lnTo>
                      <a:pt x="91" y="120"/>
                    </a:lnTo>
                    <a:lnTo>
                      <a:pt x="0" y="28"/>
                    </a:lnTo>
                    <a:lnTo>
                      <a:pt x="28" y="0"/>
                    </a:lnTo>
                    <a:lnTo>
                      <a:pt x="135" y="106"/>
                    </a:lnTo>
                    <a:lnTo>
                      <a:pt x="137" y="108"/>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08" name="Freeform 149"/>
              <p:cNvSpPr>
                <a:spLocks noChangeAspect="1"/>
              </p:cNvSpPr>
              <p:nvPr/>
            </p:nvSpPr>
            <p:spPr bwMode="auto">
              <a:xfrm>
                <a:off x="1902" y="3518"/>
                <a:ext cx="248" cy="37"/>
              </a:xfrm>
              <a:custGeom>
                <a:avLst/>
                <a:gdLst>
                  <a:gd name="T0" fmla="*/ 0 w 248"/>
                  <a:gd name="T1" fmla="*/ 36 h 37"/>
                  <a:gd name="T2" fmla="*/ 247 w 248"/>
                  <a:gd name="T3" fmla="*/ 36 h 37"/>
                  <a:gd name="T4" fmla="*/ 215 w 248"/>
                  <a:gd name="T5" fmla="*/ 0 h 37"/>
                  <a:gd name="T6" fmla="*/ 30 w 248"/>
                  <a:gd name="T7" fmla="*/ 0 h 37"/>
                  <a:gd name="T8" fmla="*/ 0 w 248"/>
                  <a:gd name="T9" fmla="*/ 36 h 37"/>
                  <a:gd name="T10" fmla="*/ 0 60000 65536"/>
                  <a:gd name="T11" fmla="*/ 0 60000 65536"/>
                  <a:gd name="T12" fmla="*/ 0 60000 65536"/>
                  <a:gd name="T13" fmla="*/ 0 60000 65536"/>
                  <a:gd name="T14" fmla="*/ 0 60000 65536"/>
                  <a:gd name="T15" fmla="*/ 0 w 248"/>
                  <a:gd name="T16" fmla="*/ 0 h 37"/>
                  <a:gd name="T17" fmla="*/ 248 w 248"/>
                  <a:gd name="T18" fmla="*/ 37 h 37"/>
                </a:gdLst>
                <a:ahLst/>
                <a:cxnLst>
                  <a:cxn ang="T10">
                    <a:pos x="T0" y="T1"/>
                  </a:cxn>
                  <a:cxn ang="T11">
                    <a:pos x="T2" y="T3"/>
                  </a:cxn>
                  <a:cxn ang="T12">
                    <a:pos x="T4" y="T5"/>
                  </a:cxn>
                  <a:cxn ang="T13">
                    <a:pos x="T6" y="T7"/>
                  </a:cxn>
                  <a:cxn ang="T14">
                    <a:pos x="T8" y="T9"/>
                  </a:cxn>
                </a:cxnLst>
                <a:rect l="T15" t="T16" r="T17" b="T18"/>
                <a:pathLst>
                  <a:path w="248" h="37">
                    <a:moveTo>
                      <a:pt x="0" y="36"/>
                    </a:moveTo>
                    <a:lnTo>
                      <a:pt x="247" y="36"/>
                    </a:lnTo>
                    <a:lnTo>
                      <a:pt x="215" y="0"/>
                    </a:lnTo>
                    <a:lnTo>
                      <a:pt x="30" y="0"/>
                    </a:lnTo>
                    <a:lnTo>
                      <a:pt x="0" y="36"/>
                    </a:lnTo>
                  </a:path>
                </a:pathLst>
              </a:custGeom>
              <a:solidFill>
                <a:srgbClr val="BFBFB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09" name="Freeform 150"/>
              <p:cNvSpPr>
                <a:spLocks noChangeAspect="1"/>
              </p:cNvSpPr>
              <p:nvPr/>
            </p:nvSpPr>
            <p:spPr bwMode="auto">
              <a:xfrm>
                <a:off x="1902" y="3518"/>
                <a:ext cx="250" cy="38"/>
              </a:xfrm>
              <a:custGeom>
                <a:avLst/>
                <a:gdLst>
                  <a:gd name="T0" fmla="*/ 0 w 250"/>
                  <a:gd name="T1" fmla="*/ 37 h 38"/>
                  <a:gd name="T2" fmla="*/ 249 w 250"/>
                  <a:gd name="T3" fmla="*/ 37 h 38"/>
                  <a:gd name="T4" fmla="*/ 216 w 250"/>
                  <a:gd name="T5" fmla="*/ 0 h 38"/>
                  <a:gd name="T6" fmla="*/ 30 w 250"/>
                  <a:gd name="T7" fmla="*/ 0 h 38"/>
                  <a:gd name="T8" fmla="*/ 0 w 250"/>
                  <a:gd name="T9" fmla="*/ 37 h 38"/>
                  <a:gd name="T10" fmla="*/ 0 60000 65536"/>
                  <a:gd name="T11" fmla="*/ 0 60000 65536"/>
                  <a:gd name="T12" fmla="*/ 0 60000 65536"/>
                  <a:gd name="T13" fmla="*/ 0 60000 65536"/>
                  <a:gd name="T14" fmla="*/ 0 60000 65536"/>
                  <a:gd name="T15" fmla="*/ 0 w 250"/>
                  <a:gd name="T16" fmla="*/ 0 h 38"/>
                  <a:gd name="T17" fmla="*/ 250 w 250"/>
                  <a:gd name="T18" fmla="*/ 38 h 38"/>
                </a:gdLst>
                <a:ahLst/>
                <a:cxnLst>
                  <a:cxn ang="T10">
                    <a:pos x="T0" y="T1"/>
                  </a:cxn>
                  <a:cxn ang="T11">
                    <a:pos x="T2" y="T3"/>
                  </a:cxn>
                  <a:cxn ang="T12">
                    <a:pos x="T4" y="T5"/>
                  </a:cxn>
                  <a:cxn ang="T13">
                    <a:pos x="T6" y="T7"/>
                  </a:cxn>
                  <a:cxn ang="T14">
                    <a:pos x="T8" y="T9"/>
                  </a:cxn>
                </a:cxnLst>
                <a:rect l="T15" t="T16" r="T17" b="T18"/>
                <a:pathLst>
                  <a:path w="250" h="38">
                    <a:moveTo>
                      <a:pt x="0" y="37"/>
                    </a:moveTo>
                    <a:lnTo>
                      <a:pt x="249" y="37"/>
                    </a:lnTo>
                    <a:lnTo>
                      <a:pt x="216" y="0"/>
                    </a:lnTo>
                    <a:lnTo>
                      <a:pt x="30" y="0"/>
                    </a:lnTo>
                    <a:lnTo>
                      <a:pt x="0" y="37"/>
                    </a:lnTo>
                  </a:path>
                </a:pathLst>
              </a:custGeom>
              <a:gradFill rotWithShape="0">
                <a:gsLst>
                  <a:gs pos="0">
                    <a:srgbClr val="3A3A3A"/>
                  </a:gs>
                  <a:gs pos="50000">
                    <a:srgbClr val="C4C4C4"/>
                  </a:gs>
                  <a:gs pos="100000">
                    <a:srgbClr val="3A3A3A"/>
                  </a:gs>
                </a:gsLst>
                <a:lin ang="5400000" scaled="1"/>
              </a:gradFill>
              <a:ln w="12700" cap="rnd" cmpd="sng">
                <a:solidFill>
                  <a:srgbClr val="595959"/>
                </a:solidFill>
                <a:prstDash val="solid"/>
                <a:round/>
                <a:headEnd/>
                <a:tailEnd/>
              </a:ln>
            </p:spPr>
            <p:txBody>
              <a:bodyPr/>
              <a:lstStyle/>
              <a:p>
                <a:endParaRPr lang="ru-RU" dirty="0">
                  <a:solidFill>
                    <a:srgbClr val="475B79"/>
                  </a:solidFill>
                </a:endParaRPr>
              </a:p>
            </p:txBody>
          </p:sp>
          <p:sp>
            <p:nvSpPr>
              <p:cNvPr id="610" name="AutoShape 151"/>
              <p:cNvSpPr>
                <a:spLocks noChangeAspect="1" noChangeArrowheads="1"/>
              </p:cNvSpPr>
              <p:nvPr/>
            </p:nvSpPr>
            <p:spPr bwMode="auto">
              <a:xfrm>
                <a:off x="1987" y="3501"/>
                <a:ext cx="75" cy="71"/>
              </a:xfrm>
              <a:prstGeom prst="roundRect">
                <a:avLst>
                  <a:gd name="adj" fmla="val 9889"/>
                </a:avLst>
              </a:prstGeom>
              <a:solidFill>
                <a:srgbClr val="808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11" name="AutoShape 152"/>
              <p:cNvSpPr>
                <a:spLocks noChangeAspect="1" noChangeArrowheads="1"/>
              </p:cNvSpPr>
              <p:nvPr/>
            </p:nvSpPr>
            <p:spPr bwMode="auto">
              <a:xfrm>
                <a:off x="1991" y="3505"/>
                <a:ext cx="67" cy="63"/>
              </a:xfrm>
              <a:prstGeom prst="roundRect">
                <a:avLst>
                  <a:gd name="adj" fmla="val 9889"/>
                </a:avLst>
              </a:prstGeom>
              <a:noFill/>
              <a:ln w="12700">
                <a:solidFill>
                  <a:srgbClr val="59595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12" name="Freeform 153"/>
              <p:cNvSpPr>
                <a:spLocks noChangeAspect="1"/>
              </p:cNvSpPr>
              <p:nvPr/>
            </p:nvSpPr>
            <p:spPr bwMode="auto">
              <a:xfrm>
                <a:off x="1996" y="3511"/>
                <a:ext cx="59" cy="54"/>
              </a:xfrm>
              <a:custGeom>
                <a:avLst/>
                <a:gdLst>
                  <a:gd name="T0" fmla="*/ 58 w 59"/>
                  <a:gd name="T1" fmla="*/ 26 h 54"/>
                  <a:gd name="T2" fmla="*/ 55 w 59"/>
                  <a:gd name="T3" fmla="*/ 37 h 54"/>
                  <a:gd name="T4" fmla="*/ 49 w 59"/>
                  <a:gd name="T5" fmla="*/ 45 h 54"/>
                  <a:gd name="T6" fmla="*/ 40 w 59"/>
                  <a:gd name="T7" fmla="*/ 50 h 54"/>
                  <a:gd name="T8" fmla="*/ 29 w 59"/>
                  <a:gd name="T9" fmla="*/ 53 h 54"/>
                  <a:gd name="T10" fmla="*/ 17 w 59"/>
                  <a:gd name="T11" fmla="*/ 50 h 54"/>
                  <a:gd name="T12" fmla="*/ 8 w 59"/>
                  <a:gd name="T13" fmla="*/ 45 h 54"/>
                  <a:gd name="T14" fmla="*/ 2 w 59"/>
                  <a:gd name="T15" fmla="*/ 37 h 54"/>
                  <a:gd name="T16" fmla="*/ 0 w 59"/>
                  <a:gd name="T17" fmla="*/ 26 h 54"/>
                  <a:gd name="T18" fmla="*/ 2 w 59"/>
                  <a:gd name="T19" fmla="*/ 15 h 54"/>
                  <a:gd name="T20" fmla="*/ 8 w 59"/>
                  <a:gd name="T21" fmla="*/ 7 h 54"/>
                  <a:gd name="T22" fmla="*/ 17 w 59"/>
                  <a:gd name="T23" fmla="*/ 2 h 54"/>
                  <a:gd name="T24" fmla="*/ 29 w 59"/>
                  <a:gd name="T25" fmla="*/ 0 h 54"/>
                  <a:gd name="T26" fmla="*/ 40 w 59"/>
                  <a:gd name="T27" fmla="*/ 2 h 54"/>
                  <a:gd name="T28" fmla="*/ 49 w 59"/>
                  <a:gd name="T29" fmla="*/ 7 h 54"/>
                  <a:gd name="T30" fmla="*/ 55 w 59"/>
                  <a:gd name="T31" fmla="*/ 15 h 54"/>
                  <a:gd name="T32" fmla="*/ 58 w 59"/>
                  <a:gd name="T33" fmla="*/ 26 h 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9"/>
                  <a:gd name="T52" fmla="*/ 0 h 54"/>
                  <a:gd name="T53" fmla="*/ 59 w 59"/>
                  <a:gd name="T54" fmla="*/ 54 h 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9" h="54">
                    <a:moveTo>
                      <a:pt x="58" y="26"/>
                    </a:moveTo>
                    <a:lnTo>
                      <a:pt x="55" y="37"/>
                    </a:lnTo>
                    <a:lnTo>
                      <a:pt x="49" y="45"/>
                    </a:lnTo>
                    <a:lnTo>
                      <a:pt x="40" y="50"/>
                    </a:lnTo>
                    <a:lnTo>
                      <a:pt x="29" y="53"/>
                    </a:lnTo>
                    <a:lnTo>
                      <a:pt x="17" y="50"/>
                    </a:lnTo>
                    <a:lnTo>
                      <a:pt x="8" y="45"/>
                    </a:lnTo>
                    <a:lnTo>
                      <a:pt x="2" y="37"/>
                    </a:lnTo>
                    <a:lnTo>
                      <a:pt x="0" y="26"/>
                    </a:lnTo>
                    <a:lnTo>
                      <a:pt x="2" y="15"/>
                    </a:lnTo>
                    <a:lnTo>
                      <a:pt x="8" y="7"/>
                    </a:lnTo>
                    <a:lnTo>
                      <a:pt x="17" y="2"/>
                    </a:lnTo>
                    <a:lnTo>
                      <a:pt x="29" y="0"/>
                    </a:lnTo>
                    <a:lnTo>
                      <a:pt x="40" y="2"/>
                    </a:lnTo>
                    <a:lnTo>
                      <a:pt x="49" y="7"/>
                    </a:lnTo>
                    <a:lnTo>
                      <a:pt x="55" y="15"/>
                    </a:lnTo>
                    <a:lnTo>
                      <a:pt x="58" y="26"/>
                    </a:lnTo>
                  </a:path>
                </a:pathLst>
              </a:custGeom>
              <a:solidFill>
                <a:srgbClr val="8080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13" name="Freeform 154"/>
              <p:cNvSpPr>
                <a:spLocks noChangeAspect="1"/>
              </p:cNvSpPr>
              <p:nvPr/>
            </p:nvSpPr>
            <p:spPr bwMode="auto">
              <a:xfrm>
                <a:off x="1995" y="3511"/>
                <a:ext cx="60" cy="54"/>
              </a:xfrm>
              <a:custGeom>
                <a:avLst/>
                <a:gdLst>
                  <a:gd name="T0" fmla="*/ 59 w 60"/>
                  <a:gd name="T1" fmla="*/ 26 h 54"/>
                  <a:gd name="T2" fmla="*/ 56 w 60"/>
                  <a:gd name="T3" fmla="*/ 36 h 54"/>
                  <a:gd name="T4" fmla="*/ 50 w 60"/>
                  <a:gd name="T5" fmla="*/ 44 h 54"/>
                  <a:gd name="T6" fmla="*/ 41 w 60"/>
                  <a:gd name="T7" fmla="*/ 50 h 54"/>
                  <a:gd name="T8" fmla="*/ 29 w 60"/>
                  <a:gd name="T9" fmla="*/ 53 h 54"/>
                  <a:gd name="T10" fmla="*/ 17 w 60"/>
                  <a:gd name="T11" fmla="*/ 50 h 54"/>
                  <a:gd name="T12" fmla="*/ 8 w 60"/>
                  <a:gd name="T13" fmla="*/ 44 h 54"/>
                  <a:gd name="T14" fmla="*/ 2 w 60"/>
                  <a:gd name="T15" fmla="*/ 36 h 54"/>
                  <a:gd name="T16" fmla="*/ 0 w 60"/>
                  <a:gd name="T17" fmla="*/ 26 h 54"/>
                  <a:gd name="T18" fmla="*/ 2 w 60"/>
                  <a:gd name="T19" fmla="*/ 16 h 54"/>
                  <a:gd name="T20" fmla="*/ 8 w 60"/>
                  <a:gd name="T21" fmla="*/ 8 h 54"/>
                  <a:gd name="T22" fmla="*/ 17 w 60"/>
                  <a:gd name="T23" fmla="*/ 2 h 54"/>
                  <a:gd name="T24" fmla="*/ 29 w 60"/>
                  <a:gd name="T25" fmla="*/ 0 h 54"/>
                  <a:gd name="T26" fmla="*/ 41 w 60"/>
                  <a:gd name="T27" fmla="*/ 2 h 54"/>
                  <a:gd name="T28" fmla="*/ 50 w 60"/>
                  <a:gd name="T29" fmla="*/ 8 h 54"/>
                  <a:gd name="T30" fmla="*/ 56 w 60"/>
                  <a:gd name="T31" fmla="*/ 16 h 54"/>
                  <a:gd name="T32" fmla="*/ 59 w 60"/>
                  <a:gd name="T33" fmla="*/ 26 h 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0"/>
                  <a:gd name="T52" fmla="*/ 0 h 54"/>
                  <a:gd name="T53" fmla="*/ 60 w 60"/>
                  <a:gd name="T54" fmla="*/ 54 h 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0" h="54">
                    <a:moveTo>
                      <a:pt x="59" y="26"/>
                    </a:moveTo>
                    <a:lnTo>
                      <a:pt x="56" y="36"/>
                    </a:lnTo>
                    <a:lnTo>
                      <a:pt x="50" y="44"/>
                    </a:lnTo>
                    <a:lnTo>
                      <a:pt x="41" y="50"/>
                    </a:lnTo>
                    <a:lnTo>
                      <a:pt x="29" y="53"/>
                    </a:lnTo>
                    <a:lnTo>
                      <a:pt x="17" y="50"/>
                    </a:lnTo>
                    <a:lnTo>
                      <a:pt x="8" y="44"/>
                    </a:lnTo>
                    <a:lnTo>
                      <a:pt x="2" y="36"/>
                    </a:lnTo>
                    <a:lnTo>
                      <a:pt x="0" y="26"/>
                    </a:lnTo>
                    <a:lnTo>
                      <a:pt x="2" y="16"/>
                    </a:lnTo>
                    <a:lnTo>
                      <a:pt x="8" y="8"/>
                    </a:lnTo>
                    <a:lnTo>
                      <a:pt x="17" y="2"/>
                    </a:lnTo>
                    <a:lnTo>
                      <a:pt x="29" y="0"/>
                    </a:lnTo>
                    <a:lnTo>
                      <a:pt x="41" y="2"/>
                    </a:lnTo>
                    <a:lnTo>
                      <a:pt x="50" y="8"/>
                    </a:lnTo>
                    <a:lnTo>
                      <a:pt x="56" y="16"/>
                    </a:lnTo>
                    <a:lnTo>
                      <a:pt x="59" y="26"/>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14" name="Rectangle 155"/>
              <p:cNvSpPr>
                <a:spLocks noChangeAspect="1" noChangeArrowheads="1"/>
              </p:cNvSpPr>
              <p:nvPr/>
            </p:nvSpPr>
            <p:spPr bwMode="auto">
              <a:xfrm>
                <a:off x="2011" y="3574"/>
                <a:ext cx="31" cy="16"/>
              </a:xfrm>
              <a:prstGeom prst="rect">
                <a:avLst/>
              </a:prstGeom>
              <a:solidFill>
                <a:srgbClr val="808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15" name="Rectangle 156"/>
              <p:cNvSpPr>
                <a:spLocks noChangeAspect="1" noChangeArrowheads="1"/>
              </p:cNvSpPr>
              <p:nvPr/>
            </p:nvSpPr>
            <p:spPr bwMode="auto">
              <a:xfrm>
                <a:off x="1987" y="3309"/>
                <a:ext cx="16" cy="39"/>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16" name="Freeform 157"/>
              <p:cNvSpPr>
                <a:spLocks noChangeAspect="1"/>
              </p:cNvSpPr>
              <p:nvPr/>
            </p:nvSpPr>
            <p:spPr bwMode="auto">
              <a:xfrm>
                <a:off x="1987" y="3309"/>
                <a:ext cx="17" cy="41"/>
              </a:xfrm>
              <a:custGeom>
                <a:avLst/>
                <a:gdLst>
                  <a:gd name="T0" fmla="*/ 0 w 17"/>
                  <a:gd name="T1" fmla="*/ 0 h 41"/>
                  <a:gd name="T2" fmla="*/ 16 w 17"/>
                  <a:gd name="T3" fmla="*/ 0 h 41"/>
                  <a:gd name="T4" fmla="*/ 16 w 17"/>
                  <a:gd name="T5" fmla="*/ 40 h 41"/>
                  <a:gd name="T6" fmla="*/ 0 w 17"/>
                  <a:gd name="T7" fmla="*/ 40 h 41"/>
                  <a:gd name="T8" fmla="*/ 0 w 17"/>
                  <a:gd name="T9" fmla="*/ 0 h 41"/>
                  <a:gd name="T10" fmla="*/ 0 60000 65536"/>
                  <a:gd name="T11" fmla="*/ 0 60000 65536"/>
                  <a:gd name="T12" fmla="*/ 0 60000 65536"/>
                  <a:gd name="T13" fmla="*/ 0 60000 65536"/>
                  <a:gd name="T14" fmla="*/ 0 60000 65536"/>
                  <a:gd name="T15" fmla="*/ 0 w 17"/>
                  <a:gd name="T16" fmla="*/ 0 h 41"/>
                  <a:gd name="T17" fmla="*/ 17 w 17"/>
                  <a:gd name="T18" fmla="*/ 41 h 41"/>
                </a:gdLst>
                <a:ahLst/>
                <a:cxnLst>
                  <a:cxn ang="T10">
                    <a:pos x="T0" y="T1"/>
                  </a:cxn>
                  <a:cxn ang="T11">
                    <a:pos x="T2" y="T3"/>
                  </a:cxn>
                  <a:cxn ang="T12">
                    <a:pos x="T4" y="T5"/>
                  </a:cxn>
                  <a:cxn ang="T13">
                    <a:pos x="T6" y="T7"/>
                  </a:cxn>
                  <a:cxn ang="T14">
                    <a:pos x="T8" y="T9"/>
                  </a:cxn>
                </a:cxnLst>
                <a:rect l="T15" t="T16" r="T17" b="T18"/>
                <a:pathLst>
                  <a:path w="17" h="41">
                    <a:moveTo>
                      <a:pt x="0" y="0"/>
                    </a:moveTo>
                    <a:lnTo>
                      <a:pt x="16" y="0"/>
                    </a:lnTo>
                    <a:lnTo>
                      <a:pt x="16" y="40"/>
                    </a:lnTo>
                    <a:lnTo>
                      <a:pt x="0" y="40"/>
                    </a:lnTo>
                    <a:lnTo>
                      <a:pt x="0" y="0"/>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17" name="Rectangle 158"/>
              <p:cNvSpPr>
                <a:spLocks noChangeAspect="1" noChangeArrowheads="1"/>
              </p:cNvSpPr>
              <p:nvPr/>
            </p:nvSpPr>
            <p:spPr bwMode="auto">
              <a:xfrm>
                <a:off x="2058" y="3309"/>
                <a:ext cx="16" cy="39"/>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618" name="Freeform 159"/>
              <p:cNvSpPr>
                <a:spLocks noChangeAspect="1"/>
              </p:cNvSpPr>
              <p:nvPr/>
            </p:nvSpPr>
            <p:spPr bwMode="auto">
              <a:xfrm>
                <a:off x="2058" y="3309"/>
                <a:ext cx="17" cy="41"/>
              </a:xfrm>
              <a:custGeom>
                <a:avLst/>
                <a:gdLst>
                  <a:gd name="T0" fmla="*/ 0 w 17"/>
                  <a:gd name="T1" fmla="*/ 0 h 41"/>
                  <a:gd name="T2" fmla="*/ 16 w 17"/>
                  <a:gd name="T3" fmla="*/ 0 h 41"/>
                  <a:gd name="T4" fmla="*/ 16 w 17"/>
                  <a:gd name="T5" fmla="*/ 40 h 41"/>
                  <a:gd name="T6" fmla="*/ 0 w 17"/>
                  <a:gd name="T7" fmla="*/ 40 h 41"/>
                  <a:gd name="T8" fmla="*/ 0 w 17"/>
                  <a:gd name="T9" fmla="*/ 0 h 41"/>
                  <a:gd name="T10" fmla="*/ 0 60000 65536"/>
                  <a:gd name="T11" fmla="*/ 0 60000 65536"/>
                  <a:gd name="T12" fmla="*/ 0 60000 65536"/>
                  <a:gd name="T13" fmla="*/ 0 60000 65536"/>
                  <a:gd name="T14" fmla="*/ 0 60000 65536"/>
                  <a:gd name="T15" fmla="*/ 0 w 17"/>
                  <a:gd name="T16" fmla="*/ 0 h 41"/>
                  <a:gd name="T17" fmla="*/ 17 w 17"/>
                  <a:gd name="T18" fmla="*/ 41 h 41"/>
                </a:gdLst>
                <a:ahLst/>
                <a:cxnLst>
                  <a:cxn ang="T10">
                    <a:pos x="T0" y="T1"/>
                  </a:cxn>
                  <a:cxn ang="T11">
                    <a:pos x="T2" y="T3"/>
                  </a:cxn>
                  <a:cxn ang="T12">
                    <a:pos x="T4" y="T5"/>
                  </a:cxn>
                  <a:cxn ang="T13">
                    <a:pos x="T6" y="T7"/>
                  </a:cxn>
                  <a:cxn ang="T14">
                    <a:pos x="T8" y="T9"/>
                  </a:cxn>
                </a:cxnLst>
                <a:rect l="T15" t="T16" r="T17" b="T18"/>
                <a:pathLst>
                  <a:path w="17" h="41">
                    <a:moveTo>
                      <a:pt x="0" y="0"/>
                    </a:moveTo>
                    <a:lnTo>
                      <a:pt x="16" y="0"/>
                    </a:lnTo>
                    <a:lnTo>
                      <a:pt x="16" y="40"/>
                    </a:lnTo>
                    <a:lnTo>
                      <a:pt x="0" y="40"/>
                    </a:lnTo>
                    <a:lnTo>
                      <a:pt x="0" y="0"/>
                    </a:lnTo>
                  </a:path>
                </a:pathLst>
              </a:custGeom>
              <a:noFill/>
              <a:ln w="12700" cap="rnd" cmpd="sng">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19" name="Line 160"/>
              <p:cNvSpPr>
                <a:spLocks noChangeAspect="1" noChangeShapeType="1"/>
              </p:cNvSpPr>
              <p:nvPr/>
            </p:nvSpPr>
            <p:spPr bwMode="auto">
              <a:xfrm>
                <a:off x="1996" y="3307"/>
                <a:ext cx="61" cy="0"/>
              </a:xfrm>
              <a:prstGeom prst="line">
                <a:avLst/>
              </a:prstGeom>
              <a:noFill/>
              <a:ln w="12700">
                <a:solidFill>
                  <a:srgbClr val="59595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20" name="Freeform 161"/>
              <p:cNvSpPr>
                <a:spLocks noChangeAspect="1"/>
              </p:cNvSpPr>
              <p:nvPr/>
            </p:nvSpPr>
            <p:spPr bwMode="auto">
              <a:xfrm>
                <a:off x="1995" y="3347"/>
                <a:ext cx="18" cy="32"/>
              </a:xfrm>
              <a:custGeom>
                <a:avLst/>
                <a:gdLst>
                  <a:gd name="T0" fmla="*/ 0 w 18"/>
                  <a:gd name="T1" fmla="*/ 0 h 32"/>
                  <a:gd name="T2" fmla="*/ 6 w 18"/>
                  <a:gd name="T3" fmla="*/ 0 h 32"/>
                  <a:gd name="T4" fmla="*/ 12 w 18"/>
                  <a:gd name="T5" fmla="*/ 1 h 32"/>
                  <a:gd name="T6" fmla="*/ 16 w 18"/>
                  <a:gd name="T7" fmla="*/ 7 h 32"/>
                  <a:gd name="T8" fmla="*/ 17 w 18"/>
                  <a:gd name="T9" fmla="*/ 8 h 32"/>
                  <a:gd name="T10" fmla="*/ 17 w 18"/>
                  <a:gd name="T11" fmla="*/ 10 h 32"/>
                  <a:gd name="T12" fmla="*/ 16 w 18"/>
                  <a:gd name="T13" fmla="*/ 19 h 32"/>
                  <a:gd name="T14" fmla="*/ 14 w 18"/>
                  <a:gd name="T15" fmla="*/ 21 h 32"/>
                  <a:gd name="T16" fmla="*/ 10 w 18"/>
                  <a:gd name="T17" fmla="*/ 26 h 32"/>
                  <a:gd name="T18" fmla="*/ 7 w 18"/>
                  <a:gd name="T19" fmla="*/ 31 h 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32"/>
                  <a:gd name="T32" fmla="*/ 18 w 18"/>
                  <a:gd name="T33" fmla="*/ 32 h 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32">
                    <a:moveTo>
                      <a:pt x="0" y="0"/>
                    </a:moveTo>
                    <a:lnTo>
                      <a:pt x="6" y="0"/>
                    </a:lnTo>
                    <a:lnTo>
                      <a:pt x="12" y="1"/>
                    </a:lnTo>
                    <a:lnTo>
                      <a:pt x="16" y="7"/>
                    </a:lnTo>
                    <a:lnTo>
                      <a:pt x="17" y="8"/>
                    </a:lnTo>
                    <a:lnTo>
                      <a:pt x="17" y="10"/>
                    </a:lnTo>
                    <a:lnTo>
                      <a:pt x="16" y="19"/>
                    </a:lnTo>
                    <a:lnTo>
                      <a:pt x="14" y="21"/>
                    </a:lnTo>
                    <a:lnTo>
                      <a:pt x="10" y="26"/>
                    </a:lnTo>
                    <a:lnTo>
                      <a:pt x="7" y="31"/>
                    </a:lnTo>
                  </a:path>
                </a:pathLst>
              </a:custGeom>
              <a:noFill/>
              <a:ln w="12700" cap="rnd" cmpd="sng">
                <a:solidFill>
                  <a:srgbClr val="59595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21" name="Freeform 162"/>
              <p:cNvSpPr>
                <a:spLocks noChangeAspect="1"/>
              </p:cNvSpPr>
              <p:nvPr/>
            </p:nvSpPr>
            <p:spPr bwMode="auto">
              <a:xfrm>
                <a:off x="2041" y="3347"/>
                <a:ext cx="17" cy="31"/>
              </a:xfrm>
              <a:custGeom>
                <a:avLst/>
                <a:gdLst>
                  <a:gd name="T0" fmla="*/ 16 w 17"/>
                  <a:gd name="T1" fmla="*/ 0 h 31"/>
                  <a:gd name="T2" fmla="*/ 10 w 17"/>
                  <a:gd name="T3" fmla="*/ 0 h 31"/>
                  <a:gd name="T4" fmla="*/ 4 w 17"/>
                  <a:gd name="T5" fmla="*/ 1 h 31"/>
                  <a:gd name="T6" fmla="*/ 1 w 17"/>
                  <a:gd name="T7" fmla="*/ 7 h 31"/>
                  <a:gd name="T8" fmla="*/ 0 w 17"/>
                  <a:gd name="T9" fmla="*/ 8 h 31"/>
                  <a:gd name="T10" fmla="*/ 0 w 17"/>
                  <a:gd name="T11" fmla="*/ 9 h 31"/>
                  <a:gd name="T12" fmla="*/ 1 w 17"/>
                  <a:gd name="T13" fmla="*/ 18 h 31"/>
                  <a:gd name="T14" fmla="*/ 1 w 17"/>
                  <a:gd name="T15" fmla="*/ 19 h 31"/>
                  <a:gd name="T16" fmla="*/ 2 w 17"/>
                  <a:gd name="T17" fmla="*/ 21 h 31"/>
                  <a:gd name="T18" fmla="*/ 9 w 17"/>
                  <a:gd name="T19" fmla="*/ 30 h 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31"/>
                  <a:gd name="T32" fmla="*/ 17 w 17"/>
                  <a:gd name="T33" fmla="*/ 31 h 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31">
                    <a:moveTo>
                      <a:pt x="16" y="0"/>
                    </a:moveTo>
                    <a:lnTo>
                      <a:pt x="10" y="0"/>
                    </a:lnTo>
                    <a:lnTo>
                      <a:pt x="4" y="1"/>
                    </a:lnTo>
                    <a:lnTo>
                      <a:pt x="1" y="7"/>
                    </a:lnTo>
                    <a:lnTo>
                      <a:pt x="0" y="8"/>
                    </a:lnTo>
                    <a:lnTo>
                      <a:pt x="0" y="9"/>
                    </a:lnTo>
                    <a:lnTo>
                      <a:pt x="1" y="18"/>
                    </a:lnTo>
                    <a:lnTo>
                      <a:pt x="1" y="19"/>
                    </a:lnTo>
                    <a:lnTo>
                      <a:pt x="2" y="21"/>
                    </a:lnTo>
                    <a:lnTo>
                      <a:pt x="9" y="30"/>
                    </a:lnTo>
                  </a:path>
                </a:pathLst>
              </a:custGeom>
              <a:noFill/>
              <a:ln w="12700" cap="rnd" cmpd="sng">
                <a:solidFill>
                  <a:srgbClr val="59595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22" name="Freeform 163"/>
              <p:cNvSpPr>
                <a:spLocks noChangeAspect="1"/>
              </p:cNvSpPr>
              <p:nvPr/>
            </p:nvSpPr>
            <p:spPr bwMode="auto">
              <a:xfrm>
                <a:off x="2020" y="3333"/>
                <a:ext cx="17" cy="28"/>
              </a:xfrm>
              <a:custGeom>
                <a:avLst/>
                <a:gdLst>
                  <a:gd name="T0" fmla="*/ 0 w 17"/>
                  <a:gd name="T1" fmla="*/ 0 h 28"/>
                  <a:gd name="T2" fmla="*/ 7 w 17"/>
                  <a:gd name="T3" fmla="*/ 27 h 28"/>
                  <a:gd name="T4" fmla="*/ 15 w 17"/>
                  <a:gd name="T5" fmla="*/ 0 h 28"/>
                  <a:gd name="T6" fmla="*/ 16 w 17"/>
                  <a:gd name="T7" fmla="*/ 0 h 28"/>
                  <a:gd name="T8" fmla="*/ 0 60000 65536"/>
                  <a:gd name="T9" fmla="*/ 0 60000 65536"/>
                  <a:gd name="T10" fmla="*/ 0 60000 65536"/>
                  <a:gd name="T11" fmla="*/ 0 60000 65536"/>
                  <a:gd name="T12" fmla="*/ 0 w 17"/>
                  <a:gd name="T13" fmla="*/ 0 h 28"/>
                  <a:gd name="T14" fmla="*/ 17 w 17"/>
                  <a:gd name="T15" fmla="*/ 28 h 28"/>
                </a:gdLst>
                <a:ahLst/>
                <a:cxnLst>
                  <a:cxn ang="T8">
                    <a:pos x="T0" y="T1"/>
                  </a:cxn>
                  <a:cxn ang="T9">
                    <a:pos x="T2" y="T3"/>
                  </a:cxn>
                  <a:cxn ang="T10">
                    <a:pos x="T4" y="T5"/>
                  </a:cxn>
                  <a:cxn ang="T11">
                    <a:pos x="T6" y="T7"/>
                  </a:cxn>
                </a:cxnLst>
                <a:rect l="T12" t="T13" r="T14" b="T15"/>
                <a:pathLst>
                  <a:path w="17" h="28">
                    <a:moveTo>
                      <a:pt x="0" y="0"/>
                    </a:moveTo>
                    <a:lnTo>
                      <a:pt x="7" y="27"/>
                    </a:lnTo>
                    <a:lnTo>
                      <a:pt x="15" y="0"/>
                    </a:lnTo>
                    <a:lnTo>
                      <a:pt x="16" y="0"/>
                    </a:lnTo>
                  </a:path>
                </a:pathLst>
              </a:custGeom>
              <a:noFill/>
              <a:ln w="12700" cap="rnd" cmpd="sng">
                <a:solidFill>
                  <a:srgbClr val="595959"/>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23" name="Line 164"/>
              <p:cNvSpPr>
                <a:spLocks noChangeAspect="1" noChangeShapeType="1"/>
              </p:cNvSpPr>
              <p:nvPr/>
            </p:nvSpPr>
            <p:spPr bwMode="auto">
              <a:xfrm flipH="1">
                <a:off x="2008" y="3316"/>
                <a:ext cx="36" cy="0"/>
              </a:xfrm>
              <a:prstGeom prst="line">
                <a:avLst/>
              </a:prstGeom>
              <a:noFill/>
              <a:ln w="12700">
                <a:solidFill>
                  <a:srgbClr val="59595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624" name="Freeform 165"/>
              <p:cNvSpPr>
                <a:spLocks noChangeAspect="1"/>
              </p:cNvSpPr>
              <p:nvPr/>
            </p:nvSpPr>
            <p:spPr bwMode="auto">
              <a:xfrm>
                <a:off x="2009" y="3573"/>
                <a:ext cx="34" cy="17"/>
              </a:xfrm>
              <a:custGeom>
                <a:avLst/>
                <a:gdLst>
                  <a:gd name="T0" fmla="*/ 0 w 34"/>
                  <a:gd name="T1" fmla="*/ 0 h 17"/>
                  <a:gd name="T2" fmla="*/ 33 w 34"/>
                  <a:gd name="T3" fmla="*/ 0 h 17"/>
                  <a:gd name="T4" fmla="*/ 33 w 34"/>
                  <a:gd name="T5" fmla="*/ 16 h 17"/>
                  <a:gd name="T6" fmla="*/ 0 w 34"/>
                  <a:gd name="T7" fmla="*/ 16 h 17"/>
                  <a:gd name="T8" fmla="*/ 0 w 34"/>
                  <a:gd name="T9" fmla="*/ 0 h 17"/>
                  <a:gd name="T10" fmla="*/ 0 60000 65536"/>
                  <a:gd name="T11" fmla="*/ 0 60000 65536"/>
                  <a:gd name="T12" fmla="*/ 0 60000 65536"/>
                  <a:gd name="T13" fmla="*/ 0 60000 65536"/>
                  <a:gd name="T14" fmla="*/ 0 60000 65536"/>
                  <a:gd name="T15" fmla="*/ 0 w 34"/>
                  <a:gd name="T16" fmla="*/ 0 h 17"/>
                  <a:gd name="T17" fmla="*/ 34 w 34"/>
                  <a:gd name="T18" fmla="*/ 17 h 17"/>
                </a:gdLst>
                <a:ahLst/>
                <a:cxnLst>
                  <a:cxn ang="T10">
                    <a:pos x="T0" y="T1"/>
                  </a:cxn>
                  <a:cxn ang="T11">
                    <a:pos x="T2" y="T3"/>
                  </a:cxn>
                  <a:cxn ang="T12">
                    <a:pos x="T4" y="T5"/>
                  </a:cxn>
                  <a:cxn ang="T13">
                    <a:pos x="T6" y="T7"/>
                  </a:cxn>
                  <a:cxn ang="T14">
                    <a:pos x="T8" y="T9"/>
                  </a:cxn>
                </a:cxnLst>
                <a:rect l="T15" t="T16" r="T17" b="T18"/>
                <a:pathLst>
                  <a:path w="34" h="17">
                    <a:moveTo>
                      <a:pt x="0" y="0"/>
                    </a:moveTo>
                    <a:lnTo>
                      <a:pt x="33" y="0"/>
                    </a:lnTo>
                    <a:lnTo>
                      <a:pt x="33" y="16"/>
                    </a:lnTo>
                    <a:lnTo>
                      <a:pt x="0" y="16"/>
                    </a:lnTo>
                    <a:lnTo>
                      <a:pt x="0" y="0"/>
                    </a:lnTo>
                  </a:path>
                </a:pathLst>
              </a:custGeom>
              <a:solidFill>
                <a:srgbClr val="618FFD"/>
              </a:solidFill>
              <a:ln w="12700" cap="rnd" cmpd="sng">
                <a:solidFill>
                  <a:srgbClr val="595959"/>
                </a:solidFill>
                <a:prstDash val="solid"/>
                <a:round/>
                <a:headEnd/>
                <a:tailEnd/>
              </a:ln>
            </p:spPr>
            <p:txBody>
              <a:bodyPr/>
              <a:lstStyle/>
              <a:p>
                <a:endParaRPr lang="ru-RU" dirty="0">
                  <a:solidFill>
                    <a:srgbClr val="475B79"/>
                  </a:solidFill>
                </a:endParaRPr>
              </a:p>
            </p:txBody>
          </p:sp>
        </p:grpSp>
        <p:grpSp>
          <p:nvGrpSpPr>
            <p:cNvPr id="17" name="Group 166"/>
            <p:cNvGrpSpPr>
              <a:grpSpLocks noChangeAspect="1"/>
            </p:cNvGrpSpPr>
            <p:nvPr/>
          </p:nvGrpSpPr>
          <p:grpSpPr bwMode="auto">
            <a:xfrm>
              <a:off x="2593" y="3658"/>
              <a:ext cx="322" cy="374"/>
              <a:chOff x="752" y="3303"/>
              <a:chExt cx="225" cy="450"/>
            </a:xfrm>
          </p:grpSpPr>
          <p:sp>
            <p:nvSpPr>
              <p:cNvPr id="343" name="Oval 167"/>
              <p:cNvSpPr>
                <a:spLocks noChangeAspect="1" noChangeArrowheads="1"/>
              </p:cNvSpPr>
              <p:nvPr/>
            </p:nvSpPr>
            <p:spPr bwMode="auto">
              <a:xfrm>
                <a:off x="785" y="3473"/>
                <a:ext cx="30" cy="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44" name="Oval 168"/>
              <p:cNvSpPr>
                <a:spLocks noChangeAspect="1" noChangeArrowheads="1"/>
              </p:cNvSpPr>
              <p:nvPr/>
            </p:nvSpPr>
            <p:spPr bwMode="auto">
              <a:xfrm>
                <a:off x="785" y="3438"/>
                <a:ext cx="31" cy="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45" name="Freeform 169"/>
              <p:cNvSpPr>
                <a:spLocks noChangeAspect="1"/>
              </p:cNvSpPr>
              <p:nvPr/>
            </p:nvSpPr>
            <p:spPr bwMode="auto">
              <a:xfrm>
                <a:off x="752" y="3636"/>
                <a:ext cx="81" cy="92"/>
              </a:xfrm>
              <a:custGeom>
                <a:avLst/>
                <a:gdLst>
                  <a:gd name="T0" fmla="*/ 2 w 81"/>
                  <a:gd name="T1" fmla="*/ 39 h 92"/>
                  <a:gd name="T2" fmla="*/ 4 w 81"/>
                  <a:gd name="T3" fmla="*/ 30 h 92"/>
                  <a:gd name="T4" fmla="*/ 8 w 81"/>
                  <a:gd name="T5" fmla="*/ 22 h 92"/>
                  <a:gd name="T6" fmla="*/ 12 w 81"/>
                  <a:gd name="T7" fmla="*/ 16 h 92"/>
                  <a:gd name="T8" fmla="*/ 18 w 81"/>
                  <a:gd name="T9" fmla="*/ 9 h 92"/>
                  <a:gd name="T10" fmla="*/ 23 w 81"/>
                  <a:gd name="T11" fmla="*/ 4 h 92"/>
                  <a:gd name="T12" fmla="*/ 29 w 81"/>
                  <a:gd name="T13" fmla="*/ 1 h 92"/>
                  <a:gd name="T14" fmla="*/ 37 w 81"/>
                  <a:gd name="T15" fmla="*/ 0 h 92"/>
                  <a:gd name="T16" fmla="*/ 42 w 81"/>
                  <a:gd name="T17" fmla="*/ 0 h 92"/>
                  <a:gd name="T18" fmla="*/ 60 w 81"/>
                  <a:gd name="T19" fmla="*/ 2 h 92"/>
                  <a:gd name="T20" fmla="*/ 65 w 81"/>
                  <a:gd name="T21" fmla="*/ 4 h 92"/>
                  <a:gd name="T22" fmla="*/ 70 w 81"/>
                  <a:gd name="T23" fmla="*/ 9 h 92"/>
                  <a:gd name="T24" fmla="*/ 77 w 81"/>
                  <a:gd name="T25" fmla="*/ 20 h 92"/>
                  <a:gd name="T26" fmla="*/ 80 w 81"/>
                  <a:gd name="T27" fmla="*/ 26 h 92"/>
                  <a:gd name="T28" fmla="*/ 80 w 81"/>
                  <a:gd name="T29" fmla="*/ 33 h 92"/>
                  <a:gd name="T30" fmla="*/ 79 w 81"/>
                  <a:gd name="T31" fmla="*/ 50 h 92"/>
                  <a:gd name="T32" fmla="*/ 75 w 81"/>
                  <a:gd name="T33" fmla="*/ 59 h 92"/>
                  <a:gd name="T34" fmla="*/ 72 w 81"/>
                  <a:gd name="T35" fmla="*/ 67 h 92"/>
                  <a:gd name="T36" fmla="*/ 67 w 81"/>
                  <a:gd name="T37" fmla="*/ 74 h 92"/>
                  <a:gd name="T38" fmla="*/ 62 w 81"/>
                  <a:gd name="T39" fmla="*/ 80 h 92"/>
                  <a:gd name="T40" fmla="*/ 56 w 81"/>
                  <a:gd name="T41" fmla="*/ 85 h 92"/>
                  <a:gd name="T42" fmla="*/ 50 w 81"/>
                  <a:gd name="T43" fmla="*/ 89 h 92"/>
                  <a:gd name="T44" fmla="*/ 44 w 81"/>
                  <a:gd name="T45" fmla="*/ 91 h 92"/>
                  <a:gd name="T46" fmla="*/ 37 w 81"/>
                  <a:gd name="T47" fmla="*/ 91 h 92"/>
                  <a:gd name="T48" fmla="*/ 18 w 81"/>
                  <a:gd name="T49" fmla="*/ 87 h 92"/>
                  <a:gd name="T50" fmla="*/ 13 w 81"/>
                  <a:gd name="T51" fmla="*/ 85 h 92"/>
                  <a:gd name="T52" fmla="*/ 9 w 81"/>
                  <a:gd name="T53" fmla="*/ 81 h 92"/>
                  <a:gd name="T54" fmla="*/ 6 w 81"/>
                  <a:gd name="T55" fmla="*/ 76 h 92"/>
                  <a:gd name="T56" fmla="*/ 3 w 81"/>
                  <a:gd name="T57" fmla="*/ 69 h 92"/>
                  <a:gd name="T58" fmla="*/ 0 w 81"/>
                  <a:gd name="T59" fmla="*/ 55 h 92"/>
                  <a:gd name="T60" fmla="*/ 2 w 81"/>
                  <a:gd name="T61" fmla="*/ 39 h 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1"/>
                  <a:gd name="T94" fmla="*/ 0 h 92"/>
                  <a:gd name="T95" fmla="*/ 81 w 81"/>
                  <a:gd name="T96" fmla="*/ 92 h 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1" h="92">
                    <a:moveTo>
                      <a:pt x="2" y="39"/>
                    </a:moveTo>
                    <a:lnTo>
                      <a:pt x="4" y="30"/>
                    </a:lnTo>
                    <a:lnTo>
                      <a:pt x="8" y="22"/>
                    </a:lnTo>
                    <a:lnTo>
                      <a:pt x="12" y="16"/>
                    </a:lnTo>
                    <a:lnTo>
                      <a:pt x="18" y="9"/>
                    </a:lnTo>
                    <a:lnTo>
                      <a:pt x="23" y="4"/>
                    </a:lnTo>
                    <a:lnTo>
                      <a:pt x="29" y="1"/>
                    </a:lnTo>
                    <a:lnTo>
                      <a:pt x="37" y="0"/>
                    </a:lnTo>
                    <a:lnTo>
                      <a:pt x="42" y="0"/>
                    </a:lnTo>
                    <a:lnTo>
                      <a:pt x="60" y="2"/>
                    </a:lnTo>
                    <a:lnTo>
                      <a:pt x="65" y="4"/>
                    </a:lnTo>
                    <a:lnTo>
                      <a:pt x="70" y="9"/>
                    </a:lnTo>
                    <a:lnTo>
                      <a:pt x="77" y="20"/>
                    </a:lnTo>
                    <a:lnTo>
                      <a:pt x="80" y="26"/>
                    </a:lnTo>
                    <a:lnTo>
                      <a:pt x="80" y="33"/>
                    </a:lnTo>
                    <a:lnTo>
                      <a:pt x="79" y="50"/>
                    </a:lnTo>
                    <a:lnTo>
                      <a:pt x="75" y="59"/>
                    </a:lnTo>
                    <a:lnTo>
                      <a:pt x="72" y="67"/>
                    </a:lnTo>
                    <a:lnTo>
                      <a:pt x="67" y="74"/>
                    </a:lnTo>
                    <a:lnTo>
                      <a:pt x="62" y="80"/>
                    </a:lnTo>
                    <a:lnTo>
                      <a:pt x="56" y="85"/>
                    </a:lnTo>
                    <a:lnTo>
                      <a:pt x="50" y="89"/>
                    </a:lnTo>
                    <a:lnTo>
                      <a:pt x="44" y="91"/>
                    </a:lnTo>
                    <a:lnTo>
                      <a:pt x="37" y="91"/>
                    </a:lnTo>
                    <a:lnTo>
                      <a:pt x="18" y="87"/>
                    </a:lnTo>
                    <a:lnTo>
                      <a:pt x="13" y="85"/>
                    </a:lnTo>
                    <a:lnTo>
                      <a:pt x="9" y="81"/>
                    </a:lnTo>
                    <a:lnTo>
                      <a:pt x="6" y="76"/>
                    </a:lnTo>
                    <a:lnTo>
                      <a:pt x="3" y="69"/>
                    </a:lnTo>
                    <a:lnTo>
                      <a:pt x="0" y="55"/>
                    </a:lnTo>
                    <a:lnTo>
                      <a:pt x="2" y="39"/>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46" name="Freeform 170"/>
              <p:cNvSpPr>
                <a:spLocks noChangeAspect="1"/>
              </p:cNvSpPr>
              <p:nvPr/>
            </p:nvSpPr>
            <p:spPr bwMode="auto">
              <a:xfrm>
                <a:off x="752" y="3636"/>
                <a:ext cx="81" cy="92"/>
              </a:xfrm>
              <a:custGeom>
                <a:avLst/>
                <a:gdLst>
                  <a:gd name="T0" fmla="*/ 2 w 81"/>
                  <a:gd name="T1" fmla="*/ 39 h 92"/>
                  <a:gd name="T2" fmla="*/ 4 w 81"/>
                  <a:gd name="T3" fmla="*/ 30 h 92"/>
                  <a:gd name="T4" fmla="*/ 8 w 81"/>
                  <a:gd name="T5" fmla="*/ 22 h 92"/>
                  <a:gd name="T6" fmla="*/ 12 w 81"/>
                  <a:gd name="T7" fmla="*/ 16 h 92"/>
                  <a:gd name="T8" fmla="*/ 18 w 81"/>
                  <a:gd name="T9" fmla="*/ 9 h 92"/>
                  <a:gd name="T10" fmla="*/ 23 w 81"/>
                  <a:gd name="T11" fmla="*/ 4 h 92"/>
                  <a:gd name="T12" fmla="*/ 29 w 81"/>
                  <a:gd name="T13" fmla="*/ 1 h 92"/>
                  <a:gd name="T14" fmla="*/ 37 w 81"/>
                  <a:gd name="T15" fmla="*/ 0 h 92"/>
                  <a:gd name="T16" fmla="*/ 42 w 81"/>
                  <a:gd name="T17" fmla="*/ 0 h 92"/>
                  <a:gd name="T18" fmla="*/ 60 w 81"/>
                  <a:gd name="T19" fmla="*/ 2 h 92"/>
                  <a:gd name="T20" fmla="*/ 65 w 81"/>
                  <a:gd name="T21" fmla="*/ 4 h 92"/>
                  <a:gd name="T22" fmla="*/ 70 w 81"/>
                  <a:gd name="T23" fmla="*/ 9 h 92"/>
                  <a:gd name="T24" fmla="*/ 77 w 81"/>
                  <a:gd name="T25" fmla="*/ 20 h 92"/>
                  <a:gd name="T26" fmla="*/ 80 w 81"/>
                  <a:gd name="T27" fmla="*/ 26 h 92"/>
                  <a:gd name="T28" fmla="*/ 80 w 81"/>
                  <a:gd name="T29" fmla="*/ 33 h 92"/>
                  <a:gd name="T30" fmla="*/ 79 w 81"/>
                  <a:gd name="T31" fmla="*/ 50 h 92"/>
                  <a:gd name="T32" fmla="*/ 75 w 81"/>
                  <a:gd name="T33" fmla="*/ 59 h 92"/>
                  <a:gd name="T34" fmla="*/ 72 w 81"/>
                  <a:gd name="T35" fmla="*/ 67 h 92"/>
                  <a:gd name="T36" fmla="*/ 67 w 81"/>
                  <a:gd name="T37" fmla="*/ 74 h 92"/>
                  <a:gd name="T38" fmla="*/ 62 w 81"/>
                  <a:gd name="T39" fmla="*/ 80 h 92"/>
                  <a:gd name="T40" fmla="*/ 56 w 81"/>
                  <a:gd name="T41" fmla="*/ 85 h 92"/>
                  <a:gd name="T42" fmla="*/ 50 w 81"/>
                  <a:gd name="T43" fmla="*/ 89 h 92"/>
                  <a:gd name="T44" fmla="*/ 44 w 81"/>
                  <a:gd name="T45" fmla="*/ 91 h 92"/>
                  <a:gd name="T46" fmla="*/ 37 w 81"/>
                  <a:gd name="T47" fmla="*/ 91 h 92"/>
                  <a:gd name="T48" fmla="*/ 18 w 81"/>
                  <a:gd name="T49" fmla="*/ 87 h 92"/>
                  <a:gd name="T50" fmla="*/ 13 w 81"/>
                  <a:gd name="T51" fmla="*/ 85 h 92"/>
                  <a:gd name="T52" fmla="*/ 9 w 81"/>
                  <a:gd name="T53" fmla="*/ 81 h 92"/>
                  <a:gd name="T54" fmla="*/ 6 w 81"/>
                  <a:gd name="T55" fmla="*/ 76 h 92"/>
                  <a:gd name="T56" fmla="*/ 3 w 81"/>
                  <a:gd name="T57" fmla="*/ 69 h 92"/>
                  <a:gd name="T58" fmla="*/ 0 w 81"/>
                  <a:gd name="T59" fmla="*/ 55 h 92"/>
                  <a:gd name="T60" fmla="*/ 2 w 81"/>
                  <a:gd name="T61" fmla="*/ 39 h 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1"/>
                  <a:gd name="T94" fmla="*/ 0 h 92"/>
                  <a:gd name="T95" fmla="*/ 81 w 81"/>
                  <a:gd name="T96" fmla="*/ 92 h 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1" h="92">
                    <a:moveTo>
                      <a:pt x="2" y="39"/>
                    </a:moveTo>
                    <a:lnTo>
                      <a:pt x="4" y="30"/>
                    </a:lnTo>
                    <a:lnTo>
                      <a:pt x="8" y="22"/>
                    </a:lnTo>
                    <a:lnTo>
                      <a:pt x="12" y="16"/>
                    </a:lnTo>
                    <a:lnTo>
                      <a:pt x="18" y="9"/>
                    </a:lnTo>
                    <a:lnTo>
                      <a:pt x="23" y="4"/>
                    </a:lnTo>
                    <a:lnTo>
                      <a:pt x="29" y="1"/>
                    </a:lnTo>
                    <a:lnTo>
                      <a:pt x="37" y="0"/>
                    </a:lnTo>
                    <a:lnTo>
                      <a:pt x="42" y="0"/>
                    </a:lnTo>
                    <a:lnTo>
                      <a:pt x="60" y="2"/>
                    </a:lnTo>
                    <a:lnTo>
                      <a:pt x="65" y="4"/>
                    </a:lnTo>
                    <a:lnTo>
                      <a:pt x="70" y="9"/>
                    </a:lnTo>
                    <a:lnTo>
                      <a:pt x="77" y="20"/>
                    </a:lnTo>
                    <a:lnTo>
                      <a:pt x="80" y="26"/>
                    </a:lnTo>
                    <a:lnTo>
                      <a:pt x="80" y="33"/>
                    </a:lnTo>
                    <a:lnTo>
                      <a:pt x="79" y="50"/>
                    </a:lnTo>
                    <a:lnTo>
                      <a:pt x="75" y="59"/>
                    </a:lnTo>
                    <a:lnTo>
                      <a:pt x="72" y="67"/>
                    </a:lnTo>
                    <a:lnTo>
                      <a:pt x="67" y="74"/>
                    </a:lnTo>
                    <a:lnTo>
                      <a:pt x="62" y="80"/>
                    </a:lnTo>
                    <a:lnTo>
                      <a:pt x="56" y="85"/>
                    </a:lnTo>
                    <a:lnTo>
                      <a:pt x="50" y="89"/>
                    </a:lnTo>
                    <a:lnTo>
                      <a:pt x="44" y="91"/>
                    </a:lnTo>
                    <a:lnTo>
                      <a:pt x="37" y="91"/>
                    </a:lnTo>
                    <a:lnTo>
                      <a:pt x="18" y="87"/>
                    </a:lnTo>
                    <a:lnTo>
                      <a:pt x="13" y="85"/>
                    </a:lnTo>
                    <a:lnTo>
                      <a:pt x="9" y="81"/>
                    </a:lnTo>
                    <a:lnTo>
                      <a:pt x="6" y="76"/>
                    </a:lnTo>
                    <a:lnTo>
                      <a:pt x="3" y="69"/>
                    </a:lnTo>
                    <a:lnTo>
                      <a:pt x="0" y="55"/>
                    </a:lnTo>
                    <a:lnTo>
                      <a:pt x="2" y="39"/>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47" name="Freeform 171"/>
              <p:cNvSpPr>
                <a:spLocks noChangeAspect="1"/>
              </p:cNvSpPr>
              <p:nvPr/>
            </p:nvSpPr>
            <p:spPr bwMode="auto">
              <a:xfrm>
                <a:off x="766" y="3637"/>
                <a:ext cx="66" cy="91"/>
              </a:xfrm>
              <a:custGeom>
                <a:avLst/>
                <a:gdLst>
                  <a:gd name="T0" fmla="*/ 2 w 66"/>
                  <a:gd name="T1" fmla="*/ 39 h 91"/>
                  <a:gd name="T2" fmla="*/ 4 w 66"/>
                  <a:gd name="T3" fmla="*/ 30 h 91"/>
                  <a:gd name="T4" fmla="*/ 8 w 66"/>
                  <a:gd name="T5" fmla="*/ 22 h 91"/>
                  <a:gd name="T6" fmla="*/ 12 w 66"/>
                  <a:gd name="T7" fmla="*/ 15 h 91"/>
                  <a:gd name="T8" fmla="*/ 18 w 66"/>
                  <a:gd name="T9" fmla="*/ 10 h 91"/>
                  <a:gd name="T10" fmla="*/ 23 w 66"/>
                  <a:gd name="T11" fmla="*/ 5 h 91"/>
                  <a:gd name="T12" fmla="*/ 29 w 66"/>
                  <a:gd name="T13" fmla="*/ 1 h 91"/>
                  <a:gd name="T14" fmla="*/ 36 w 66"/>
                  <a:gd name="T15" fmla="*/ 0 h 91"/>
                  <a:gd name="T16" fmla="*/ 42 w 66"/>
                  <a:gd name="T17" fmla="*/ 0 h 91"/>
                  <a:gd name="T18" fmla="*/ 48 w 66"/>
                  <a:gd name="T19" fmla="*/ 1 h 91"/>
                  <a:gd name="T20" fmla="*/ 53 w 66"/>
                  <a:gd name="T21" fmla="*/ 5 h 91"/>
                  <a:gd name="T22" fmla="*/ 58 w 66"/>
                  <a:gd name="T23" fmla="*/ 10 h 91"/>
                  <a:gd name="T24" fmla="*/ 61 w 66"/>
                  <a:gd name="T25" fmla="*/ 15 h 91"/>
                  <a:gd name="T26" fmla="*/ 64 w 66"/>
                  <a:gd name="T27" fmla="*/ 22 h 91"/>
                  <a:gd name="T28" fmla="*/ 65 w 66"/>
                  <a:gd name="T29" fmla="*/ 30 h 91"/>
                  <a:gd name="T30" fmla="*/ 64 w 66"/>
                  <a:gd name="T31" fmla="*/ 48 h 91"/>
                  <a:gd name="T32" fmla="*/ 60 w 66"/>
                  <a:gd name="T33" fmla="*/ 57 h 91"/>
                  <a:gd name="T34" fmla="*/ 57 w 66"/>
                  <a:gd name="T35" fmla="*/ 65 h 91"/>
                  <a:gd name="T36" fmla="*/ 52 w 66"/>
                  <a:gd name="T37" fmla="*/ 73 h 91"/>
                  <a:gd name="T38" fmla="*/ 47 w 66"/>
                  <a:gd name="T39" fmla="*/ 79 h 91"/>
                  <a:gd name="T40" fmla="*/ 41 w 66"/>
                  <a:gd name="T41" fmla="*/ 84 h 91"/>
                  <a:gd name="T42" fmla="*/ 35 w 66"/>
                  <a:gd name="T43" fmla="*/ 88 h 91"/>
                  <a:gd name="T44" fmla="*/ 29 w 66"/>
                  <a:gd name="T45" fmla="*/ 90 h 91"/>
                  <a:gd name="T46" fmla="*/ 23 w 66"/>
                  <a:gd name="T47" fmla="*/ 90 h 91"/>
                  <a:gd name="T48" fmla="*/ 17 w 66"/>
                  <a:gd name="T49" fmla="*/ 88 h 91"/>
                  <a:gd name="T50" fmla="*/ 11 w 66"/>
                  <a:gd name="T51" fmla="*/ 84 h 91"/>
                  <a:gd name="T52" fmla="*/ 7 w 66"/>
                  <a:gd name="T53" fmla="*/ 79 h 91"/>
                  <a:gd name="T54" fmla="*/ 4 w 66"/>
                  <a:gd name="T55" fmla="*/ 73 h 91"/>
                  <a:gd name="T56" fmla="*/ 0 w 66"/>
                  <a:gd name="T57" fmla="*/ 65 h 91"/>
                  <a:gd name="T58" fmla="*/ 0 w 66"/>
                  <a:gd name="T59" fmla="*/ 57 h 91"/>
                  <a:gd name="T60" fmla="*/ 2 w 66"/>
                  <a:gd name="T61" fmla="*/ 39 h 9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6"/>
                  <a:gd name="T94" fmla="*/ 0 h 91"/>
                  <a:gd name="T95" fmla="*/ 66 w 66"/>
                  <a:gd name="T96" fmla="*/ 91 h 9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6" h="91">
                    <a:moveTo>
                      <a:pt x="2" y="39"/>
                    </a:moveTo>
                    <a:lnTo>
                      <a:pt x="4" y="30"/>
                    </a:lnTo>
                    <a:lnTo>
                      <a:pt x="8" y="22"/>
                    </a:lnTo>
                    <a:lnTo>
                      <a:pt x="12" y="15"/>
                    </a:lnTo>
                    <a:lnTo>
                      <a:pt x="18" y="10"/>
                    </a:lnTo>
                    <a:lnTo>
                      <a:pt x="23" y="5"/>
                    </a:lnTo>
                    <a:lnTo>
                      <a:pt x="29" y="1"/>
                    </a:lnTo>
                    <a:lnTo>
                      <a:pt x="36" y="0"/>
                    </a:lnTo>
                    <a:lnTo>
                      <a:pt x="42" y="0"/>
                    </a:lnTo>
                    <a:lnTo>
                      <a:pt x="48" y="1"/>
                    </a:lnTo>
                    <a:lnTo>
                      <a:pt x="53" y="5"/>
                    </a:lnTo>
                    <a:lnTo>
                      <a:pt x="58" y="10"/>
                    </a:lnTo>
                    <a:lnTo>
                      <a:pt x="61" y="15"/>
                    </a:lnTo>
                    <a:lnTo>
                      <a:pt x="64" y="22"/>
                    </a:lnTo>
                    <a:lnTo>
                      <a:pt x="65" y="30"/>
                    </a:lnTo>
                    <a:lnTo>
                      <a:pt x="64" y="48"/>
                    </a:lnTo>
                    <a:lnTo>
                      <a:pt x="60" y="57"/>
                    </a:lnTo>
                    <a:lnTo>
                      <a:pt x="57" y="65"/>
                    </a:lnTo>
                    <a:lnTo>
                      <a:pt x="52" y="73"/>
                    </a:lnTo>
                    <a:lnTo>
                      <a:pt x="47" y="79"/>
                    </a:lnTo>
                    <a:lnTo>
                      <a:pt x="41" y="84"/>
                    </a:lnTo>
                    <a:lnTo>
                      <a:pt x="35" y="88"/>
                    </a:lnTo>
                    <a:lnTo>
                      <a:pt x="29" y="90"/>
                    </a:lnTo>
                    <a:lnTo>
                      <a:pt x="23" y="90"/>
                    </a:lnTo>
                    <a:lnTo>
                      <a:pt x="17" y="88"/>
                    </a:lnTo>
                    <a:lnTo>
                      <a:pt x="11" y="84"/>
                    </a:lnTo>
                    <a:lnTo>
                      <a:pt x="7" y="79"/>
                    </a:lnTo>
                    <a:lnTo>
                      <a:pt x="4" y="73"/>
                    </a:lnTo>
                    <a:lnTo>
                      <a:pt x="0" y="65"/>
                    </a:lnTo>
                    <a:lnTo>
                      <a:pt x="0" y="57"/>
                    </a:lnTo>
                    <a:lnTo>
                      <a:pt x="2" y="39"/>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48" name="Freeform 172"/>
              <p:cNvSpPr>
                <a:spLocks noChangeAspect="1"/>
              </p:cNvSpPr>
              <p:nvPr/>
            </p:nvSpPr>
            <p:spPr bwMode="auto">
              <a:xfrm>
                <a:off x="787" y="3712"/>
                <a:ext cx="17" cy="17"/>
              </a:xfrm>
              <a:custGeom>
                <a:avLst/>
                <a:gdLst>
                  <a:gd name="T0" fmla="*/ 0 w 17"/>
                  <a:gd name="T1" fmla="*/ 7 h 17"/>
                  <a:gd name="T2" fmla="*/ 5 w 17"/>
                  <a:gd name="T3" fmla="*/ 1 h 17"/>
                  <a:gd name="T4" fmla="*/ 10 w 17"/>
                  <a:gd name="T5" fmla="*/ 0 h 17"/>
                  <a:gd name="T6" fmla="*/ 16 w 17"/>
                  <a:gd name="T7" fmla="*/ 3 h 17"/>
                  <a:gd name="T8" fmla="*/ 16 w 17"/>
                  <a:gd name="T9" fmla="*/ 8 h 17"/>
                  <a:gd name="T10" fmla="*/ 10 w 17"/>
                  <a:gd name="T11" fmla="*/ 12 h 17"/>
                  <a:gd name="T12" fmla="*/ 5 w 17"/>
                  <a:gd name="T13" fmla="*/ 16 h 17"/>
                  <a:gd name="T14" fmla="*/ 0 w 17"/>
                  <a:gd name="T15" fmla="*/ 12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5" y="1"/>
                    </a:lnTo>
                    <a:lnTo>
                      <a:pt x="10" y="0"/>
                    </a:lnTo>
                    <a:lnTo>
                      <a:pt x="16" y="3"/>
                    </a:lnTo>
                    <a:lnTo>
                      <a:pt x="16" y="8"/>
                    </a:lnTo>
                    <a:lnTo>
                      <a:pt x="10" y="12"/>
                    </a:lnTo>
                    <a:lnTo>
                      <a:pt x="5" y="16"/>
                    </a:lnTo>
                    <a:lnTo>
                      <a:pt x="0" y="12"/>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49" name="Freeform 173"/>
              <p:cNvSpPr>
                <a:spLocks noChangeAspect="1"/>
              </p:cNvSpPr>
              <p:nvPr/>
            </p:nvSpPr>
            <p:spPr bwMode="auto">
              <a:xfrm>
                <a:off x="773" y="3697"/>
                <a:ext cx="17" cy="17"/>
              </a:xfrm>
              <a:custGeom>
                <a:avLst/>
                <a:gdLst>
                  <a:gd name="T0" fmla="*/ 0 w 17"/>
                  <a:gd name="T1" fmla="*/ 7 h 17"/>
                  <a:gd name="T2" fmla="*/ 2 w 17"/>
                  <a:gd name="T3" fmla="*/ 2 h 17"/>
                  <a:gd name="T4" fmla="*/ 9 w 17"/>
                  <a:gd name="T5" fmla="*/ 0 h 17"/>
                  <a:gd name="T6" fmla="*/ 13 w 17"/>
                  <a:gd name="T7" fmla="*/ 2 h 17"/>
                  <a:gd name="T8" fmla="*/ 16 w 17"/>
                  <a:gd name="T9" fmla="*/ 8 h 17"/>
                  <a:gd name="T10" fmla="*/ 10 w 17"/>
                  <a:gd name="T11" fmla="*/ 14 h 17"/>
                  <a:gd name="T12" fmla="*/ 5 w 17"/>
                  <a:gd name="T13" fmla="*/ 16 h 17"/>
                  <a:gd name="T14" fmla="*/ 0 w 17"/>
                  <a:gd name="T15" fmla="*/ 13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2" y="2"/>
                    </a:lnTo>
                    <a:lnTo>
                      <a:pt x="9" y="0"/>
                    </a:lnTo>
                    <a:lnTo>
                      <a:pt x="13" y="2"/>
                    </a:lnTo>
                    <a:lnTo>
                      <a:pt x="16" y="8"/>
                    </a:lnTo>
                    <a:lnTo>
                      <a:pt x="10" y="14"/>
                    </a:lnTo>
                    <a:lnTo>
                      <a:pt x="5" y="16"/>
                    </a:lnTo>
                    <a:lnTo>
                      <a:pt x="0" y="13"/>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50" name="Freeform 174"/>
              <p:cNvSpPr>
                <a:spLocks noChangeAspect="1"/>
              </p:cNvSpPr>
              <p:nvPr/>
            </p:nvSpPr>
            <p:spPr bwMode="auto">
              <a:xfrm>
                <a:off x="773" y="3672"/>
                <a:ext cx="17" cy="17"/>
              </a:xfrm>
              <a:custGeom>
                <a:avLst/>
                <a:gdLst>
                  <a:gd name="T0" fmla="*/ 0 w 17"/>
                  <a:gd name="T1" fmla="*/ 7 h 17"/>
                  <a:gd name="T2" fmla="*/ 5 w 17"/>
                  <a:gd name="T3" fmla="*/ 1 h 17"/>
                  <a:gd name="T4" fmla="*/ 10 w 17"/>
                  <a:gd name="T5" fmla="*/ 0 h 17"/>
                  <a:gd name="T6" fmla="*/ 16 w 17"/>
                  <a:gd name="T7" fmla="*/ 2 h 17"/>
                  <a:gd name="T8" fmla="*/ 16 w 17"/>
                  <a:gd name="T9" fmla="*/ 9 h 17"/>
                  <a:gd name="T10" fmla="*/ 13 w 17"/>
                  <a:gd name="T11" fmla="*/ 14 h 17"/>
                  <a:gd name="T12" fmla="*/ 6 w 17"/>
                  <a:gd name="T13" fmla="*/ 16 h 17"/>
                  <a:gd name="T14" fmla="*/ 2 w 17"/>
                  <a:gd name="T15" fmla="*/ 14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5" y="1"/>
                    </a:lnTo>
                    <a:lnTo>
                      <a:pt x="10" y="0"/>
                    </a:lnTo>
                    <a:lnTo>
                      <a:pt x="16" y="2"/>
                    </a:lnTo>
                    <a:lnTo>
                      <a:pt x="16" y="9"/>
                    </a:lnTo>
                    <a:lnTo>
                      <a:pt x="13" y="14"/>
                    </a:lnTo>
                    <a:lnTo>
                      <a:pt x="6" y="16"/>
                    </a:lnTo>
                    <a:lnTo>
                      <a:pt x="2" y="14"/>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51" name="Freeform 175"/>
              <p:cNvSpPr>
                <a:spLocks noChangeAspect="1"/>
              </p:cNvSpPr>
              <p:nvPr/>
            </p:nvSpPr>
            <p:spPr bwMode="auto">
              <a:xfrm>
                <a:off x="787" y="3647"/>
                <a:ext cx="17" cy="17"/>
              </a:xfrm>
              <a:custGeom>
                <a:avLst/>
                <a:gdLst>
                  <a:gd name="T0" fmla="*/ 0 w 17"/>
                  <a:gd name="T1" fmla="*/ 7 h 17"/>
                  <a:gd name="T2" fmla="*/ 5 w 17"/>
                  <a:gd name="T3" fmla="*/ 1 h 17"/>
                  <a:gd name="T4" fmla="*/ 10 w 17"/>
                  <a:gd name="T5" fmla="*/ 0 h 17"/>
                  <a:gd name="T6" fmla="*/ 16 w 17"/>
                  <a:gd name="T7" fmla="*/ 2 h 17"/>
                  <a:gd name="T8" fmla="*/ 16 w 17"/>
                  <a:gd name="T9" fmla="*/ 8 h 17"/>
                  <a:gd name="T10" fmla="*/ 10 w 17"/>
                  <a:gd name="T11" fmla="*/ 12 h 17"/>
                  <a:gd name="T12" fmla="*/ 5 w 17"/>
                  <a:gd name="T13" fmla="*/ 16 h 17"/>
                  <a:gd name="T14" fmla="*/ 0 w 17"/>
                  <a:gd name="T15" fmla="*/ 12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5" y="1"/>
                    </a:lnTo>
                    <a:lnTo>
                      <a:pt x="10" y="0"/>
                    </a:lnTo>
                    <a:lnTo>
                      <a:pt x="16" y="2"/>
                    </a:lnTo>
                    <a:lnTo>
                      <a:pt x="16" y="8"/>
                    </a:lnTo>
                    <a:lnTo>
                      <a:pt x="10" y="12"/>
                    </a:lnTo>
                    <a:lnTo>
                      <a:pt x="5" y="16"/>
                    </a:lnTo>
                    <a:lnTo>
                      <a:pt x="0" y="12"/>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52" name="Freeform 176"/>
              <p:cNvSpPr>
                <a:spLocks noChangeAspect="1"/>
              </p:cNvSpPr>
              <p:nvPr/>
            </p:nvSpPr>
            <p:spPr bwMode="auto">
              <a:xfrm>
                <a:off x="783" y="3646"/>
                <a:ext cx="146" cy="95"/>
              </a:xfrm>
              <a:custGeom>
                <a:avLst/>
                <a:gdLst>
                  <a:gd name="T0" fmla="*/ 21 w 146"/>
                  <a:gd name="T1" fmla="*/ 60 h 95"/>
                  <a:gd name="T2" fmla="*/ 17 w 146"/>
                  <a:gd name="T3" fmla="*/ 61 h 95"/>
                  <a:gd name="T4" fmla="*/ 15 w 146"/>
                  <a:gd name="T5" fmla="*/ 62 h 95"/>
                  <a:gd name="T6" fmla="*/ 12 w 146"/>
                  <a:gd name="T7" fmla="*/ 62 h 95"/>
                  <a:gd name="T8" fmla="*/ 6 w 146"/>
                  <a:gd name="T9" fmla="*/ 58 h 95"/>
                  <a:gd name="T10" fmla="*/ 2 w 146"/>
                  <a:gd name="T11" fmla="*/ 52 h 95"/>
                  <a:gd name="T12" fmla="*/ 0 w 146"/>
                  <a:gd name="T13" fmla="*/ 43 h 95"/>
                  <a:gd name="T14" fmla="*/ 0 w 146"/>
                  <a:gd name="T15" fmla="*/ 31 h 95"/>
                  <a:gd name="T16" fmla="*/ 6 w 146"/>
                  <a:gd name="T17" fmla="*/ 17 h 95"/>
                  <a:gd name="T18" fmla="*/ 10 w 146"/>
                  <a:gd name="T19" fmla="*/ 12 h 95"/>
                  <a:gd name="T20" fmla="*/ 14 w 146"/>
                  <a:gd name="T21" fmla="*/ 9 h 95"/>
                  <a:gd name="T22" fmla="*/ 16 w 146"/>
                  <a:gd name="T23" fmla="*/ 6 h 95"/>
                  <a:gd name="T24" fmla="*/ 21 w 146"/>
                  <a:gd name="T25" fmla="*/ 4 h 95"/>
                  <a:gd name="T26" fmla="*/ 29 w 146"/>
                  <a:gd name="T27" fmla="*/ 0 h 95"/>
                  <a:gd name="T28" fmla="*/ 130 w 146"/>
                  <a:gd name="T29" fmla="*/ 0 h 95"/>
                  <a:gd name="T30" fmla="*/ 134 w 146"/>
                  <a:gd name="T31" fmla="*/ 0 h 95"/>
                  <a:gd name="T32" fmla="*/ 138 w 146"/>
                  <a:gd name="T33" fmla="*/ 2 h 95"/>
                  <a:gd name="T34" fmla="*/ 142 w 146"/>
                  <a:gd name="T35" fmla="*/ 6 h 95"/>
                  <a:gd name="T36" fmla="*/ 145 w 146"/>
                  <a:gd name="T37" fmla="*/ 10 h 95"/>
                  <a:gd name="T38" fmla="*/ 144 w 146"/>
                  <a:gd name="T39" fmla="*/ 15 h 95"/>
                  <a:gd name="T40" fmla="*/ 140 w 146"/>
                  <a:gd name="T41" fmla="*/ 24 h 95"/>
                  <a:gd name="T42" fmla="*/ 127 w 146"/>
                  <a:gd name="T43" fmla="*/ 49 h 95"/>
                  <a:gd name="T44" fmla="*/ 108 w 146"/>
                  <a:gd name="T45" fmla="*/ 81 h 95"/>
                  <a:gd name="T46" fmla="*/ 101 w 146"/>
                  <a:gd name="T47" fmla="*/ 85 h 95"/>
                  <a:gd name="T48" fmla="*/ 99 w 146"/>
                  <a:gd name="T49" fmla="*/ 87 h 95"/>
                  <a:gd name="T50" fmla="*/ 98 w 146"/>
                  <a:gd name="T51" fmla="*/ 89 h 95"/>
                  <a:gd name="T52" fmla="*/ 88 w 146"/>
                  <a:gd name="T53" fmla="*/ 92 h 95"/>
                  <a:gd name="T54" fmla="*/ 76 w 146"/>
                  <a:gd name="T55" fmla="*/ 94 h 95"/>
                  <a:gd name="T56" fmla="*/ 66 w 146"/>
                  <a:gd name="T57" fmla="*/ 92 h 95"/>
                  <a:gd name="T58" fmla="*/ 59 w 146"/>
                  <a:gd name="T59" fmla="*/ 89 h 95"/>
                  <a:gd name="T60" fmla="*/ 55 w 146"/>
                  <a:gd name="T61" fmla="*/ 89 h 95"/>
                  <a:gd name="T62" fmla="*/ 53 w 146"/>
                  <a:gd name="T63" fmla="*/ 89 h 95"/>
                  <a:gd name="T64" fmla="*/ 49 w 146"/>
                  <a:gd name="T65" fmla="*/ 88 h 95"/>
                  <a:gd name="T66" fmla="*/ 48 w 146"/>
                  <a:gd name="T67" fmla="*/ 85 h 95"/>
                  <a:gd name="T68" fmla="*/ 46 w 146"/>
                  <a:gd name="T69" fmla="*/ 81 h 95"/>
                  <a:gd name="T70" fmla="*/ 45 w 146"/>
                  <a:gd name="T71" fmla="*/ 76 h 95"/>
                  <a:gd name="T72" fmla="*/ 32 w 146"/>
                  <a:gd name="T73" fmla="*/ 69 h 95"/>
                  <a:gd name="T74" fmla="*/ 25 w 146"/>
                  <a:gd name="T75" fmla="*/ 64 h 95"/>
                  <a:gd name="T76" fmla="*/ 21 w 146"/>
                  <a:gd name="T77" fmla="*/ 60 h 9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46"/>
                  <a:gd name="T118" fmla="*/ 0 h 95"/>
                  <a:gd name="T119" fmla="*/ 146 w 146"/>
                  <a:gd name="T120" fmla="*/ 95 h 9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46" h="95">
                    <a:moveTo>
                      <a:pt x="21" y="60"/>
                    </a:moveTo>
                    <a:lnTo>
                      <a:pt x="17" y="61"/>
                    </a:lnTo>
                    <a:lnTo>
                      <a:pt x="15" y="62"/>
                    </a:lnTo>
                    <a:lnTo>
                      <a:pt x="12" y="62"/>
                    </a:lnTo>
                    <a:lnTo>
                      <a:pt x="6" y="58"/>
                    </a:lnTo>
                    <a:lnTo>
                      <a:pt x="2" y="52"/>
                    </a:lnTo>
                    <a:lnTo>
                      <a:pt x="0" y="43"/>
                    </a:lnTo>
                    <a:lnTo>
                      <a:pt x="0" y="31"/>
                    </a:lnTo>
                    <a:lnTo>
                      <a:pt x="6" y="17"/>
                    </a:lnTo>
                    <a:lnTo>
                      <a:pt x="10" y="12"/>
                    </a:lnTo>
                    <a:lnTo>
                      <a:pt x="14" y="9"/>
                    </a:lnTo>
                    <a:lnTo>
                      <a:pt x="16" y="6"/>
                    </a:lnTo>
                    <a:lnTo>
                      <a:pt x="21" y="4"/>
                    </a:lnTo>
                    <a:lnTo>
                      <a:pt x="29" y="0"/>
                    </a:lnTo>
                    <a:lnTo>
                      <a:pt x="130" y="0"/>
                    </a:lnTo>
                    <a:lnTo>
                      <a:pt x="134" y="0"/>
                    </a:lnTo>
                    <a:lnTo>
                      <a:pt x="138" y="2"/>
                    </a:lnTo>
                    <a:lnTo>
                      <a:pt x="142" y="6"/>
                    </a:lnTo>
                    <a:lnTo>
                      <a:pt x="145" y="10"/>
                    </a:lnTo>
                    <a:lnTo>
                      <a:pt x="144" y="15"/>
                    </a:lnTo>
                    <a:lnTo>
                      <a:pt x="140" y="24"/>
                    </a:lnTo>
                    <a:lnTo>
                      <a:pt x="127" y="49"/>
                    </a:lnTo>
                    <a:lnTo>
                      <a:pt x="108" y="81"/>
                    </a:lnTo>
                    <a:lnTo>
                      <a:pt x="101" y="85"/>
                    </a:lnTo>
                    <a:lnTo>
                      <a:pt x="99" y="87"/>
                    </a:lnTo>
                    <a:lnTo>
                      <a:pt x="98" y="89"/>
                    </a:lnTo>
                    <a:lnTo>
                      <a:pt x="88" y="92"/>
                    </a:lnTo>
                    <a:lnTo>
                      <a:pt x="76" y="94"/>
                    </a:lnTo>
                    <a:lnTo>
                      <a:pt x="66" y="92"/>
                    </a:lnTo>
                    <a:lnTo>
                      <a:pt x="59" y="89"/>
                    </a:lnTo>
                    <a:lnTo>
                      <a:pt x="55" y="89"/>
                    </a:lnTo>
                    <a:lnTo>
                      <a:pt x="53" y="89"/>
                    </a:lnTo>
                    <a:lnTo>
                      <a:pt x="49" y="88"/>
                    </a:lnTo>
                    <a:lnTo>
                      <a:pt x="48" y="85"/>
                    </a:lnTo>
                    <a:lnTo>
                      <a:pt x="46" y="81"/>
                    </a:lnTo>
                    <a:lnTo>
                      <a:pt x="45" y="76"/>
                    </a:lnTo>
                    <a:lnTo>
                      <a:pt x="32" y="69"/>
                    </a:lnTo>
                    <a:lnTo>
                      <a:pt x="25" y="64"/>
                    </a:lnTo>
                    <a:lnTo>
                      <a:pt x="21" y="60"/>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53" name="Freeform 177"/>
              <p:cNvSpPr>
                <a:spLocks noChangeAspect="1"/>
              </p:cNvSpPr>
              <p:nvPr/>
            </p:nvSpPr>
            <p:spPr bwMode="auto">
              <a:xfrm>
                <a:off x="804" y="3707"/>
                <a:ext cx="89" cy="34"/>
              </a:xfrm>
              <a:custGeom>
                <a:avLst/>
                <a:gdLst>
                  <a:gd name="T0" fmla="*/ 88 w 89"/>
                  <a:gd name="T1" fmla="*/ 20 h 34"/>
                  <a:gd name="T2" fmla="*/ 80 w 89"/>
                  <a:gd name="T3" fmla="*/ 24 h 34"/>
                  <a:gd name="T4" fmla="*/ 79 w 89"/>
                  <a:gd name="T5" fmla="*/ 26 h 34"/>
                  <a:gd name="T6" fmla="*/ 77 w 89"/>
                  <a:gd name="T7" fmla="*/ 28 h 34"/>
                  <a:gd name="T8" fmla="*/ 68 w 89"/>
                  <a:gd name="T9" fmla="*/ 31 h 34"/>
                  <a:gd name="T10" fmla="*/ 56 w 89"/>
                  <a:gd name="T11" fmla="*/ 33 h 34"/>
                  <a:gd name="T12" fmla="*/ 45 w 89"/>
                  <a:gd name="T13" fmla="*/ 31 h 34"/>
                  <a:gd name="T14" fmla="*/ 38 w 89"/>
                  <a:gd name="T15" fmla="*/ 28 h 34"/>
                  <a:gd name="T16" fmla="*/ 34 w 89"/>
                  <a:gd name="T17" fmla="*/ 28 h 34"/>
                  <a:gd name="T18" fmla="*/ 31 w 89"/>
                  <a:gd name="T19" fmla="*/ 28 h 34"/>
                  <a:gd name="T20" fmla="*/ 29 w 89"/>
                  <a:gd name="T21" fmla="*/ 27 h 34"/>
                  <a:gd name="T22" fmla="*/ 26 w 89"/>
                  <a:gd name="T23" fmla="*/ 24 h 34"/>
                  <a:gd name="T24" fmla="*/ 26 w 89"/>
                  <a:gd name="T25" fmla="*/ 20 h 34"/>
                  <a:gd name="T26" fmla="*/ 23 w 89"/>
                  <a:gd name="T27" fmla="*/ 15 h 34"/>
                  <a:gd name="T28" fmla="*/ 11 w 89"/>
                  <a:gd name="T29" fmla="*/ 8 h 34"/>
                  <a:gd name="T30" fmla="*/ 4 w 89"/>
                  <a:gd name="T31" fmla="*/ 4 h 34"/>
                  <a:gd name="T32" fmla="*/ 0 w 89"/>
                  <a:gd name="T33" fmla="*/ 0 h 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34"/>
                  <a:gd name="T53" fmla="*/ 89 w 89"/>
                  <a:gd name="T54" fmla="*/ 34 h 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34">
                    <a:moveTo>
                      <a:pt x="88" y="20"/>
                    </a:moveTo>
                    <a:lnTo>
                      <a:pt x="80" y="24"/>
                    </a:lnTo>
                    <a:lnTo>
                      <a:pt x="79" y="26"/>
                    </a:lnTo>
                    <a:lnTo>
                      <a:pt x="77" y="28"/>
                    </a:lnTo>
                    <a:lnTo>
                      <a:pt x="68" y="31"/>
                    </a:lnTo>
                    <a:lnTo>
                      <a:pt x="56" y="33"/>
                    </a:lnTo>
                    <a:lnTo>
                      <a:pt x="45" y="31"/>
                    </a:lnTo>
                    <a:lnTo>
                      <a:pt x="38" y="28"/>
                    </a:lnTo>
                    <a:lnTo>
                      <a:pt x="34" y="28"/>
                    </a:lnTo>
                    <a:lnTo>
                      <a:pt x="31" y="28"/>
                    </a:lnTo>
                    <a:lnTo>
                      <a:pt x="29" y="27"/>
                    </a:lnTo>
                    <a:lnTo>
                      <a:pt x="26" y="24"/>
                    </a:lnTo>
                    <a:lnTo>
                      <a:pt x="26" y="20"/>
                    </a:lnTo>
                    <a:lnTo>
                      <a:pt x="23" y="15"/>
                    </a:lnTo>
                    <a:lnTo>
                      <a:pt x="11" y="8"/>
                    </a:lnTo>
                    <a:lnTo>
                      <a:pt x="4" y="4"/>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54" name="Freeform 178"/>
              <p:cNvSpPr>
                <a:spLocks noChangeAspect="1"/>
              </p:cNvSpPr>
              <p:nvPr/>
            </p:nvSpPr>
            <p:spPr bwMode="auto">
              <a:xfrm>
                <a:off x="809" y="3627"/>
                <a:ext cx="109" cy="29"/>
              </a:xfrm>
              <a:custGeom>
                <a:avLst/>
                <a:gdLst>
                  <a:gd name="T0" fmla="*/ 0 w 109"/>
                  <a:gd name="T1" fmla="*/ 19 h 29"/>
                  <a:gd name="T2" fmla="*/ 0 w 109"/>
                  <a:gd name="T3" fmla="*/ 7 h 29"/>
                  <a:gd name="T4" fmla="*/ 7 w 109"/>
                  <a:gd name="T5" fmla="*/ 4 h 29"/>
                  <a:gd name="T6" fmla="*/ 19 w 109"/>
                  <a:gd name="T7" fmla="*/ 2 h 29"/>
                  <a:gd name="T8" fmla="*/ 34 w 109"/>
                  <a:gd name="T9" fmla="*/ 0 h 29"/>
                  <a:gd name="T10" fmla="*/ 53 w 109"/>
                  <a:gd name="T11" fmla="*/ 0 h 29"/>
                  <a:gd name="T12" fmla="*/ 87 w 109"/>
                  <a:gd name="T13" fmla="*/ 2 h 29"/>
                  <a:gd name="T14" fmla="*/ 98 w 109"/>
                  <a:gd name="T15" fmla="*/ 4 h 29"/>
                  <a:gd name="T16" fmla="*/ 107 w 109"/>
                  <a:gd name="T17" fmla="*/ 6 h 29"/>
                  <a:gd name="T18" fmla="*/ 108 w 109"/>
                  <a:gd name="T19" fmla="*/ 19 h 29"/>
                  <a:gd name="T20" fmla="*/ 107 w 109"/>
                  <a:gd name="T21" fmla="*/ 20 h 29"/>
                  <a:gd name="T22" fmla="*/ 103 w 109"/>
                  <a:gd name="T23" fmla="*/ 22 h 29"/>
                  <a:gd name="T24" fmla="*/ 91 w 109"/>
                  <a:gd name="T25" fmla="*/ 25 h 29"/>
                  <a:gd name="T26" fmla="*/ 75 w 109"/>
                  <a:gd name="T27" fmla="*/ 27 h 29"/>
                  <a:gd name="T28" fmla="*/ 53 w 109"/>
                  <a:gd name="T29" fmla="*/ 28 h 29"/>
                  <a:gd name="T30" fmla="*/ 32 w 109"/>
                  <a:gd name="T31" fmla="*/ 27 h 29"/>
                  <a:gd name="T32" fmla="*/ 15 w 109"/>
                  <a:gd name="T33" fmla="*/ 25 h 29"/>
                  <a:gd name="T34" fmla="*/ 9 w 109"/>
                  <a:gd name="T35" fmla="*/ 24 h 29"/>
                  <a:gd name="T36" fmla="*/ 4 w 109"/>
                  <a:gd name="T37" fmla="*/ 22 h 29"/>
                  <a:gd name="T38" fmla="*/ 0 w 109"/>
                  <a:gd name="T39" fmla="*/ 20 h 29"/>
                  <a:gd name="T40" fmla="*/ 0 w 109"/>
                  <a:gd name="T41" fmla="*/ 19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9"/>
                  <a:gd name="T64" fmla="*/ 0 h 29"/>
                  <a:gd name="T65" fmla="*/ 109 w 109"/>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9" h="29">
                    <a:moveTo>
                      <a:pt x="0" y="19"/>
                    </a:moveTo>
                    <a:lnTo>
                      <a:pt x="0" y="7"/>
                    </a:lnTo>
                    <a:lnTo>
                      <a:pt x="7" y="4"/>
                    </a:lnTo>
                    <a:lnTo>
                      <a:pt x="19" y="2"/>
                    </a:lnTo>
                    <a:lnTo>
                      <a:pt x="34" y="0"/>
                    </a:lnTo>
                    <a:lnTo>
                      <a:pt x="53" y="0"/>
                    </a:lnTo>
                    <a:lnTo>
                      <a:pt x="87" y="2"/>
                    </a:lnTo>
                    <a:lnTo>
                      <a:pt x="98" y="4"/>
                    </a:lnTo>
                    <a:lnTo>
                      <a:pt x="107" y="6"/>
                    </a:lnTo>
                    <a:lnTo>
                      <a:pt x="108" y="19"/>
                    </a:lnTo>
                    <a:lnTo>
                      <a:pt x="107" y="20"/>
                    </a:lnTo>
                    <a:lnTo>
                      <a:pt x="103" y="22"/>
                    </a:lnTo>
                    <a:lnTo>
                      <a:pt x="91" y="25"/>
                    </a:lnTo>
                    <a:lnTo>
                      <a:pt x="75" y="27"/>
                    </a:lnTo>
                    <a:lnTo>
                      <a:pt x="53" y="28"/>
                    </a:lnTo>
                    <a:lnTo>
                      <a:pt x="32" y="27"/>
                    </a:lnTo>
                    <a:lnTo>
                      <a:pt x="15" y="25"/>
                    </a:lnTo>
                    <a:lnTo>
                      <a:pt x="9" y="24"/>
                    </a:lnTo>
                    <a:lnTo>
                      <a:pt x="4" y="22"/>
                    </a:lnTo>
                    <a:lnTo>
                      <a:pt x="0" y="20"/>
                    </a:lnTo>
                    <a:lnTo>
                      <a:pt x="0" y="19"/>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55" name="Freeform 179"/>
              <p:cNvSpPr>
                <a:spLocks noChangeAspect="1"/>
              </p:cNvSpPr>
              <p:nvPr/>
            </p:nvSpPr>
            <p:spPr bwMode="auto">
              <a:xfrm>
                <a:off x="809" y="3627"/>
                <a:ext cx="109" cy="29"/>
              </a:xfrm>
              <a:custGeom>
                <a:avLst/>
                <a:gdLst>
                  <a:gd name="T0" fmla="*/ 0 w 109"/>
                  <a:gd name="T1" fmla="*/ 19 h 29"/>
                  <a:gd name="T2" fmla="*/ 0 w 109"/>
                  <a:gd name="T3" fmla="*/ 7 h 29"/>
                  <a:gd name="T4" fmla="*/ 7 w 109"/>
                  <a:gd name="T5" fmla="*/ 4 h 29"/>
                  <a:gd name="T6" fmla="*/ 19 w 109"/>
                  <a:gd name="T7" fmla="*/ 2 h 29"/>
                  <a:gd name="T8" fmla="*/ 34 w 109"/>
                  <a:gd name="T9" fmla="*/ 0 h 29"/>
                  <a:gd name="T10" fmla="*/ 53 w 109"/>
                  <a:gd name="T11" fmla="*/ 0 h 29"/>
                  <a:gd name="T12" fmla="*/ 87 w 109"/>
                  <a:gd name="T13" fmla="*/ 2 h 29"/>
                  <a:gd name="T14" fmla="*/ 98 w 109"/>
                  <a:gd name="T15" fmla="*/ 4 h 29"/>
                  <a:gd name="T16" fmla="*/ 107 w 109"/>
                  <a:gd name="T17" fmla="*/ 6 h 29"/>
                  <a:gd name="T18" fmla="*/ 108 w 109"/>
                  <a:gd name="T19" fmla="*/ 19 h 29"/>
                  <a:gd name="T20" fmla="*/ 107 w 109"/>
                  <a:gd name="T21" fmla="*/ 20 h 29"/>
                  <a:gd name="T22" fmla="*/ 103 w 109"/>
                  <a:gd name="T23" fmla="*/ 22 h 29"/>
                  <a:gd name="T24" fmla="*/ 91 w 109"/>
                  <a:gd name="T25" fmla="*/ 25 h 29"/>
                  <a:gd name="T26" fmla="*/ 75 w 109"/>
                  <a:gd name="T27" fmla="*/ 27 h 29"/>
                  <a:gd name="T28" fmla="*/ 53 w 109"/>
                  <a:gd name="T29" fmla="*/ 28 h 29"/>
                  <a:gd name="T30" fmla="*/ 32 w 109"/>
                  <a:gd name="T31" fmla="*/ 27 h 29"/>
                  <a:gd name="T32" fmla="*/ 15 w 109"/>
                  <a:gd name="T33" fmla="*/ 25 h 29"/>
                  <a:gd name="T34" fmla="*/ 9 w 109"/>
                  <a:gd name="T35" fmla="*/ 24 h 29"/>
                  <a:gd name="T36" fmla="*/ 4 w 109"/>
                  <a:gd name="T37" fmla="*/ 22 h 29"/>
                  <a:gd name="T38" fmla="*/ 0 w 109"/>
                  <a:gd name="T39" fmla="*/ 20 h 29"/>
                  <a:gd name="T40" fmla="*/ 0 w 109"/>
                  <a:gd name="T41" fmla="*/ 19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9"/>
                  <a:gd name="T64" fmla="*/ 0 h 29"/>
                  <a:gd name="T65" fmla="*/ 109 w 109"/>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9" h="29">
                    <a:moveTo>
                      <a:pt x="0" y="19"/>
                    </a:moveTo>
                    <a:lnTo>
                      <a:pt x="0" y="7"/>
                    </a:lnTo>
                    <a:lnTo>
                      <a:pt x="7" y="4"/>
                    </a:lnTo>
                    <a:lnTo>
                      <a:pt x="19" y="2"/>
                    </a:lnTo>
                    <a:lnTo>
                      <a:pt x="34" y="0"/>
                    </a:lnTo>
                    <a:lnTo>
                      <a:pt x="53" y="0"/>
                    </a:lnTo>
                    <a:lnTo>
                      <a:pt x="87" y="2"/>
                    </a:lnTo>
                    <a:lnTo>
                      <a:pt x="98" y="4"/>
                    </a:lnTo>
                    <a:lnTo>
                      <a:pt x="107" y="6"/>
                    </a:lnTo>
                    <a:lnTo>
                      <a:pt x="108" y="19"/>
                    </a:lnTo>
                    <a:lnTo>
                      <a:pt x="107" y="20"/>
                    </a:lnTo>
                    <a:lnTo>
                      <a:pt x="103" y="22"/>
                    </a:lnTo>
                    <a:lnTo>
                      <a:pt x="91" y="25"/>
                    </a:lnTo>
                    <a:lnTo>
                      <a:pt x="75" y="27"/>
                    </a:lnTo>
                    <a:lnTo>
                      <a:pt x="53" y="28"/>
                    </a:lnTo>
                    <a:lnTo>
                      <a:pt x="32" y="27"/>
                    </a:lnTo>
                    <a:lnTo>
                      <a:pt x="15" y="25"/>
                    </a:lnTo>
                    <a:lnTo>
                      <a:pt x="9" y="24"/>
                    </a:lnTo>
                    <a:lnTo>
                      <a:pt x="4" y="22"/>
                    </a:lnTo>
                    <a:lnTo>
                      <a:pt x="0" y="20"/>
                    </a:lnTo>
                    <a:lnTo>
                      <a:pt x="0" y="19"/>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56" name="Oval 180"/>
              <p:cNvSpPr>
                <a:spLocks noChangeAspect="1" noChangeArrowheads="1"/>
              </p:cNvSpPr>
              <p:nvPr/>
            </p:nvSpPr>
            <p:spPr bwMode="auto">
              <a:xfrm>
                <a:off x="813" y="3631"/>
                <a:ext cx="100" cy="10"/>
              </a:xfrm>
              <a:prstGeom prst="ellipse">
                <a:avLst/>
              </a:prstGeom>
              <a:solidFill>
                <a:srgbClr val="B3B3B3"/>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57" name="Freeform 181"/>
              <p:cNvSpPr>
                <a:spLocks noChangeAspect="1"/>
              </p:cNvSpPr>
              <p:nvPr/>
            </p:nvSpPr>
            <p:spPr bwMode="auto">
              <a:xfrm>
                <a:off x="830" y="3600"/>
                <a:ext cx="64" cy="41"/>
              </a:xfrm>
              <a:custGeom>
                <a:avLst/>
                <a:gdLst>
                  <a:gd name="T0" fmla="*/ 63 w 64"/>
                  <a:gd name="T1" fmla="*/ 35 h 41"/>
                  <a:gd name="T2" fmla="*/ 59 w 64"/>
                  <a:gd name="T3" fmla="*/ 37 h 41"/>
                  <a:gd name="T4" fmla="*/ 53 w 64"/>
                  <a:gd name="T5" fmla="*/ 39 h 41"/>
                  <a:gd name="T6" fmla="*/ 31 w 64"/>
                  <a:gd name="T7" fmla="*/ 40 h 41"/>
                  <a:gd name="T8" fmla="*/ 9 w 64"/>
                  <a:gd name="T9" fmla="*/ 39 h 41"/>
                  <a:gd name="T10" fmla="*/ 2 w 64"/>
                  <a:gd name="T11" fmla="*/ 37 h 41"/>
                  <a:gd name="T12" fmla="*/ 0 w 64"/>
                  <a:gd name="T13" fmla="*/ 35 h 41"/>
                  <a:gd name="T14" fmla="*/ 0 w 64"/>
                  <a:gd name="T15" fmla="*/ 0 h 41"/>
                  <a:gd name="T16" fmla="*/ 62 w 64"/>
                  <a:gd name="T17" fmla="*/ 0 h 41"/>
                  <a:gd name="T18" fmla="*/ 63 w 64"/>
                  <a:gd name="T19" fmla="*/ 35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
                  <a:gd name="T31" fmla="*/ 0 h 41"/>
                  <a:gd name="T32" fmla="*/ 64 w 64"/>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 h="41">
                    <a:moveTo>
                      <a:pt x="63" y="35"/>
                    </a:moveTo>
                    <a:lnTo>
                      <a:pt x="59" y="37"/>
                    </a:lnTo>
                    <a:lnTo>
                      <a:pt x="53" y="39"/>
                    </a:lnTo>
                    <a:lnTo>
                      <a:pt x="31" y="40"/>
                    </a:lnTo>
                    <a:lnTo>
                      <a:pt x="9" y="39"/>
                    </a:lnTo>
                    <a:lnTo>
                      <a:pt x="2" y="37"/>
                    </a:lnTo>
                    <a:lnTo>
                      <a:pt x="0" y="35"/>
                    </a:lnTo>
                    <a:lnTo>
                      <a:pt x="0" y="0"/>
                    </a:lnTo>
                    <a:lnTo>
                      <a:pt x="62" y="0"/>
                    </a:lnTo>
                    <a:lnTo>
                      <a:pt x="63" y="35"/>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58" name="Freeform 182"/>
              <p:cNvSpPr>
                <a:spLocks noChangeAspect="1"/>
              </p:cNvSpPr>
              <p:nvPr/>
            </p:nvSpPr>
            <p:spPr bwMode="auto">
              <a:xfrm>
                <a:off x="890" y="3656"/>
                <a:ext cx="83" cy="96"/>
              </a:xfrm>
              <a:custGeom>
                <a:avLst/>
                <a:gdLst>
                  <a:gd name="T0" fmla="*/ 0 w 83"/>
                  <a:gd name="T1" fmla="*/ 42 h 96"/>
                  <a:gd name="T2" fmla="*/ 4 w 83"/>
                  <a:gd name="T3" fmla="*/ 32 h 96"/>
                  <a:gd name="T4" fmla="*/ 7 w 83"/>
                  <a:gd name="T5" fmla="*/ 24 h 96"/>
                  <a:gd name="T6" fmla="*/ 17 w 83"/>
                  <a:gd name="T7" fmla="*/ 10 h 96"/>
                  <a:gd name="T8" fmla="*/ 24 w 83"/>
                  <a:gd name="T9" fmla="*/ 5 h 96"/>
                  <a:gd name="T10" fmla="*/ 29 w 83"/>
                  <a:gd name="T11" fmla="*/ 2 h 96"/>
                  <a:gd name="T12" fmla="*/ 37 w 83"/>
                  <a:gd name="T13" fmla="*/ 0 h 96"/>
                  <a:gd name="T14" fmla="*/ 43 w 83"/>
                  <a:gd name="T15" fmla="*/ 0 h 96"/>
                  <a:gd name="T16" fmla="*/ 62 w 83"/>
                  <a:gd name="T17" fmla="*/ 3 h 96"/>
                  <a:gd name="T18" fmla="*/ 67 w 83"/>
                  <a:gd name="T19" fmla="*/ 5 h 96"/>
                  <a:gd name="T20" fmla="*/ 72 w 83"/>
                  <a:gd name="T21" fmla="*/ 9 h 96"/>
                  <a:gd name="T22" fmla="*/ 78 w 83"/>
                  <a:gd name="T23" fmla="*/ 20 h 96"/>
                  <a:gd name="T24" fmla="*/ 81 w 83"/>
                  <a:gd name="T25" fmla="*/ 27 h 96"/>
                  <a:gd name="T26" fmla="*/ 82 w 83"/>
                  <a:gd name="T27" fmla="*/ 36 h 96"/>
                  <a:gd name="T28" fmla="*/ 81 w 83"/>
                  <a:gd name="T29" fmla="*/ 53 h 96"/>
                  <a:gd name="T30" fmla="*/ 77 w 83"/>
                  <a:gd name="T31" fmla="*/ 62 h 96"/>
                  <a:gd name="T32" fmla="*/ 73 w 83"/>
                  <a:gd name="T33" fmla="*/ 71 h 96"/>
                  <a:gd name="T34" fmla="*/ 64 w 83"/>
                  <a:gd name="T35" fmla="*/ 85 h 96"/>
                  <a:gd name="T36" fmla="*/ 57 w 83"/>
                  <a:gd name="T37" fmla="*/ 90 h 96"/>
                  <a:gd name="T38" fmla="*/ 52 w 83"/>
                  <a:gd name="T39" fmla="*/ 93 h 96"/>
                  <a:gd name="T40" fmla="*/ 44 w 83"/>
                  <a:gd name="T41" fmla="*/ 95 h 96"/>
                  <a:gd name="T42" fmla="*/ 38 w 83"/>
                  <a:gd name="T43" fmla="*/ 95 h 96"/>
                  <a:gd name="T44" fmla="*/ 18 w 83"/>
                  <a:gd name="T45" fmla="*/ 92 h 96"/>
                  <a:gd name="T46" fmla="*/ 13 w 83"/>
                  <a:gd name="T47" fmla="*/ 89 h 96"/>
                  <a:gd name="T48" fmla="*/ 8 w 83"/>
                  <a:gd name="T49" fmla="*/ 85 h 96"/>
                  <a:gd name="T50" fmla="*/ 5 w 83"/>
                  <a:gd name="T51" fmla="*/ 80 h 96"/>
                  <a:gd name="T52" fmla="*/ 2 w 83"/>
                  <a:gd name="T53" fmla="*/ 73 h 96"/>
                  <a:gd name="T54" fmla="*/ 0 w 83"/>
                  <a:gd name="T55" fmla="*/ 67 h 96"/>
                  <a:gd name="T56" fmla="*/ 0 w 83"/>
                  <a:gd name="T57" fmla="*/ 59 h 96"/>
                  <a:gd name="T58" fmla="*/ 0 w 83"/>
                  <a:gd name="T59" fmla="*/ 42 h 9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3"/>
                  <a:gd name="T91" fmla="*/ 0 h 96"/>
                  <a:gd name="T92" fmla="*/ 83 w 83"/>
                  <a:gd name="T93" fmla="*/ 96 h 9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3" h="96">
                    <a:moveTo>
                      <a:pt x="0" y="42"/>
                    </a:moveTo>
                    <a:lnTo>
                      <a:pt x="4" y="32"/>
                    </a:lnTo>
                    <a:lnTo>
                      <a:pt x="7" y="24"/>
                    </a:lnTo>
                    <a:lnTo>
                      <a:pt x="17" y="10"/>
                    </a:lnTo>
                    <a:lnTo>
                      <a:pt x="24" y="5"/>
                    </a:lnTo>
                    <a:lnTo>
                      <a:pt x="29" y="2"/>
                    </a:lnTo>
                    <a:lnTo>
                      <a:pt x="37" y="0"/>
                    </a:lnTo>
                    <a:lnTo>
                      <a:pt x="43" y="0"/>
                    </a:lnTo>
                    <a:lnTo>
                      <a:pt x="62" y="3"/>
                    </a:lnTo>
                    <a:lnTo>
                      <a:pt x="67" y="5"/>
                    </a:lnTo>
                    <a:lnTo>
                      <a:pt x="72" y="9"/>
                    </a:lnTo>
                    <a:lnTo>
                      <a:pt x="78" y="20"/>
                    </a:lnTo>
                    <a:lnTo>
                      <a:pt x="81" y="27"/>
                    </a:lnTo>
                    <a:lnTo>
                      <a:pt x="82" y="36"/>
                    </a:lnTo>
                    <a:lnTo>
                      <a:pt x="81" y="53"/>
                    </a:lnTo>
                    <a:lnTo>
                      <a:pt x="77" y="62"/>
                    </a:lnTo>
                    <a:lnTo>
                      <a:pt x="73" y="71"/>
                    </a:lnTo>
                    <a:lnTo>
                      <a:pt x="64" y="85"/>
                    </a:lnTo>
                    <a:lnTo>
                      <a:pt x="57" y="90"/>
                    </a:lnTo>
                    <a:lnTo>
                      <a:pt x="52" y="93"/>
                    </a:lnTo>
                    <a:lnTo>
                      <a:pt x="44" y="95"/>
                    </a:lnTo>
                    <a:lnTo>
                      <a:pt x="38" y="95"/>
                    </a:lnTo>
                    <a:lnTo>
                      <a:pt x="18" y="92"/>
                    </a:lnTo>
                    <a:lnTo>
                      <a:pt x="13" y="89"/>
                    </a:lnTo>
                    <a:lnTo>
                      <a:pt x="8" y="85"/>
                    </a:lnTo>
                    <a:lnTo>
                      <a:pt x="5" y="80"/>
                    </a:lnTo>
                    <a:lnTo>
                      <a:pt x="2" y="73"/>
                    </a:lnTo>
                    <a:lnTo>
                      <a:pt x="0" y="67"/>
                    </a:lnTo>
                    <a:lnTo>
                      <a:pt x="0" y="59"/>
                    </a:lnTo>
                    <a:lnTo>
                      <a:pt x="0" y="42"/>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59" name="Freeform 183"/>
              <p:cNvSpPr>
                <a:spLocks noChangeAspect="1"/>
              </p:cNvSpPr>
              <p:nvPr/>
            </p:nvSpPr>
            <p:spPr bwMode="auto">
              <a:xfrm>
                <a:off x="814" y="3481"/>
                <a:ext cx="79" cy="124"/>
              </a:xfrm>
              <a:custGeom>
                <a:avLst/>
                <a:gdLst>
                  <a:gd name="T0" fmla="*/ 0 w 79"/>
                  <a:gd name="T1" fmla="*/ 106 h 124"/>
                  <a:gd name="T2" fmla="*/ 0 w 79"/>
                  <a:gd name="T3" fmla="*/ 4 h 124"/>
                  <a:gd name="T4" fmla="*/ 22 w 79"/>
                  <a:gd name="T5" fmla="*/ 0 h 124"/>
                  <a:gd name="T6" fmla="*/ 22 w 79"/>
                  <a:gd name="T7" fmla="*/ 100 h 124"/>
                  <a:gd name="T8" fmla="*/ 78 w 79"/>
                  <a:gd name="T9" fmla="*/ 100 h 124"/>
                  <a:gd name="T10" fmla="*/ 77 w 79"/>
                  <a:gd name="T11" fmla="*/ 116 h 124"/>
                  <a:gd name="T12" fmla="*/ 71 w 79"/>
                  <a:gd name="T13" fmla="*/ 119 h 124"/>
                  <a:gd name="T14" fmla="*/ 63 w 79"/>
                  <a:gd name="T15" fmla="*/ 122 h 124"/>
                  <a:gd name="T16" fmla="*/ 50 w 79"/>
                  <a:gd name="T17" fmla="*/ 123 h 124"/>
                  <a:gd name="T18" fmla="*/ 34 w 79"/>
                  <a:gd name="T19" fmla="*/ 122 h 124"/>
                  <a:gd name="T20" fmla="*/ 23 w 79"/>
                  <a:gd name="T21" fmla="*/ 119 h 124"/>
                  <a:gd name="T22" fmla="*/ 14 w 79"/>
                  <a:gd name="T23" fmla="*/ 117 h 124"/>
                  <a:gd name="T24" fmla="*/ 8 w 79"/>
                  <a:gd name="T25" fmla="*/ 114 h 124"/>
                  <a:gd name="T26" fmla="*/ 2 w 79"/>
                  <a:gd name="T27" fmla="*/ 109 h 124"/>
                  <a:gd name="T28" fmla="*/ 0 w 79"/>
                  <a:gd name="T29" fmla="*/ 106 h 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
                  <a:gd name="T46" fmla="*/ 0 h 124"/>
                  <a:gd name="T47" fmla="*/ 79 w 79"/>
                  <a:gd name="T48" fmla="*/ 124 h 1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 h="124">
                    <a:moveTo>
                      <a:pt x="0" y="106"/>
                    </a:moveTo>
                    <a:lnTo>
                      <a:pt x="0" y="4"/>
                    </a:lnTo>
                    <a:lnTo>
                      <a:pt x="22" y="0"/>
                    </a:lnTo>
                    <a:lnTo>
                      <a:pt x="22" y="100"/>
                    </a:lnTo>
                    <a:lnTo>
                      <a:pt x="78" y="100"/>
                    </a:lnTo>
                    <a:lnTo>
                      <a:pt x="77" y="116"/>
                    </a:lnTo>
                    <a:lnTo>
                      <a:pt x="71" y="119"/>
                    </a:lnTo>
                    <a:lnTo>
                      <a:pt x="63" y="122"/>
                    </a:lnTo>
                    <a:lnTo>
                      <a:pt x="50" y="123"/>
                    </a:lnTo>
                    <a:lnTo>
                      <a:pt x="34" y="122"/>
                    </a:lnTo>
                    <a:lnTo>
                      <a:pt x="23" y="119"/>
                    </a:lnTo>
                    <a:lnTo>
                      <a:pt x="14" y="117"/>
                    </a:lnTo>
                    <a:lnTo>
                      <a:pt x="8" y="114"/>
                    </a:lnTo>
                    <a:lnTo>
                      <a:pt x="2" y="109"/>
                    </a:lnTo>
                    <a:lnTo>
                      <a:pt x="0" y="106"/>
                    </a:lnTo>
                  </a:path>
                </a:pathLst>
              </a:custGeom>
              <a:solidFill>
                <a:srgbClr val="66666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60" name="Freeform 184"/>
              <p:cNvSpPr>
                <a:spLocks noChangeAspect="1"/>
              </p:cNvSpPr>
              <p:nvPr/>
            </p:nvSpPr>
            <p:spPr bwMode="auto">
              <a:xfrm>
                <a:off x="830" y="3518"/>
                <a:ext cx="17" cy="30"/>
              </a:xfrm>
              <a:custGeom>
                <a:avLst/>
                <a:gdLst>
                  <a:gd name="T0" fmla="*/ 2 w 17"/>
                  <a:gd name="T1" fmla="*/ 0 h 30"/>
                  <a:gd name="T2" fmla="*/ 13 w 17"/>
                  <a:gd name="T3" fmla="*/ 0 h 30"/>
                  <a:gd name="T4" fmla="*/ 16 w 17"/>
                  <a:gd name="T5" fmla="*/ 2 h 30"/>
                  <a:gd name="T6" fmla="*/ 16 w 17"/>
                  <a:gd name="T7" fmla="*/ 28 h 30"/>
                  <a:gd name="T8" fmla="*/ 13 w 17"/>
                  <a:gd name="T9" fmla="*/ 29 h 30"/>
                  <a:gd name="T10" fmla="*/ 2 w 17"/>
                  <a:gd name="T11" fmla="*/ 28 h 30"/>
                  <a:gd name="T12" fmla="*/ 0 w 17"/>
                  <a:gd name="T13" fmla="*/ 26 h 30"/>
                  <a:gd name="T14" fmla="*/ 0 w 17"/>
                  <a:gd name="T15" fmla="*/ 1 h 30"/>
                  <a:gd name="T16" fmla="*/ 2 w 1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30"/>
                  <a:gd name="T29" fmla="*/ 17 w 1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30">
                    <a:moveTo>
                      <a:pt x="2" y="0"/>
                    </a:moveTo>
                    <a:lnTo>
                      <a:pt x="13" y="0"/>
                    </a:lnTo>
                    <a:lnTo>
                      <a:pt x="16" y="2"/>
                    </a:lnTo>
                    <a:lnTo>
                      <a:pt x="16" y="28"/>
                    </a:lnTo>
                    <a:lnTo>
                      <a:pt x="13" y="29"/>
                    </a:lnTo>
                    <a:lnTo>
                      <a:pt x="2" y="28"/>
                    </a:lnTo>
                    <a:lnTo>
                      <a:pt x="0" y="26"/>
                    </a:lnTo>
                    <a:lnTo>
                      <a:pt x="0" y="1"/>
                    </a:lnTo>
                    <a:lnTo>
                      <a:pt x="2" y="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61" name="Freeform 185"/>
              <p:cNvSpPr>
                <a:spLocks noChangeAspect="1"/>
              </p:cNvSpPr>
              <p:nvPr/>
            </p:nvSpPr>
            <p:spPr bwMode="auto">
              <a:xfrm>
                <a:off x="825" y="3522"/>
                <a:ext cx="17" cy="25"/>
              </a:xfrm>
              <a:custGeom>
                <a:avLst/>
                <a:gdLst>
                  <a:gd name="T0" fmla="*/ 6 w 17"/>
                  <a:gd name="T1" fmla="*/ 0 h 25"/>
                  <a:gd name="T2" fmla="*/ 12 w 17"/>
                  <a:gd name="T3" fmla="*/ 0 h 25"/>
                  <a:gd name="T4" fmla="*/ 15 w 17"/>
                  <a:gd name="T5" fmla="*/ 1 h 25"/>
                  <a:gd name="T6" fmla="*/ 16 w 17"/>
                  <a:gd name="T7" fmla="*/ 3 h 25"/>
                  <a:gd name="T8" fmla="*/ 16 w 17"/>
                  <a:gd name="T9" fmla="*/ 20 h 25"/>
                  <a:gd name="T10" fmla="*/ 12 w 17"/>
                  <a:gd name="T11" fmla="*/ 22 h 25"/>
                  <a:gd name="T12" fmla="*/ 8 w 17"/>
                  <a:gd name="T13" fmla="*/ 24 h 25"/>
                  <a:gd name="T14" fmla="*/ 6 w 17"/>
                  <a:gd name="T15" fmla="*/ 21 h 25"/>
                  <a:gd name="T16" fmla="*/ 4 w 17"/>
                  <a:gd name="T17" fmla="*/ 20 h 25"/>
                  <a:gd name="T18" fmla="*/ 3 w 17"/>
                  <a:gd name="T19" fmla="*/ 19 h 25"/>
                  <a:gd name="T20" fmla="*/ 0 w 17"/>
                  <a:gd name="T21" fmla="*/ 3 h 25"/>
                  <a:gd name="T22" fmla="*/ 3 w 17"/>
                  <a:gd name="T23" fmla="*/ 0 h 25"/>
                  <a:gd name="T24" fmla="*/ 6 w 1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25"/>
                  <a:gd name="T41" fmla="*/ 17 w 1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25">
                    <a:moveTo>
                      <a:pt x="6" y="0"/>
                    </a:moveTo>
                    <a:lnTo>
                      <a:pt x="12" y="0"/>
                    </a:lnTo>
                    <a:lnTo>
                      <a:pt x="15" y="1"/>
                    </a:lnTo>
                    <a:lnTo>
                      <a:pt x="16" y="3"/>
                    </a:lnTo>
                    <a:lnTo>
                      <a:pt x="16" y="20"/>
                    </a:lnTo>
                    <a:lnTo>
                      <a:pt x="12" y="22"/>
                    </a:lnTo>
                    <a:lnTo>
                      <a:pt x="8" y="24"/>
                    </a:lnTo>
                    <a:lnTo>
                      <a:pt x="6" y="21"/>
                    </a:lnTo>
                    <a:lnTo>
                      <a:pt x="4" y="20"/>
                    </a:lnTo>
                    <a:lnTo>
                      <a:pt x="3" y="19"/>
                    </a:lnTo>
                    <a:lnTo>
                      <a:pt x="0" y="3"/>
                    </a:lnTo>
                    <a:lnTo>
                      <a:pt x="3" y="0"/>
                    </a:lnTo>
                    <a:lnTo>
                      <a:pt x="6" y="0"/>
                    </a:lnTo>
                  </a:path>
                </a:pathLst>
              </a:custGeom>
              <a:solidFill>
                <a:srgbClr val="66666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62" name="Freeform 186"/>
              <p:cNvSpPr>
                <a:spLocks noChangeAspect="1"/>
              </p:cNvSpPr>
              <p:nvPr/>
            </p:nvSpPr>
            <p:spPr bwMode="auto">
              <a:xfrm>
                <a:off x="825" y="3525"/>
                <a:ext cx="17" cy="23"/>
              </a:xfrm>
              <a:custGeom>
                <a:avLst/>
                <a:gdLst>
                  <a:gd name="T0" fmla="*/ 5 w 17"/>
                  <a:gd name="T1" fmla="*/ 0 h 23"/>
                  <a:gd name="T2" fmla="*/ 10 w 17"/>
                  <a:gd name="T3" fmla="*/ 0 h 23"/>
                  <a:gd name="T4" fmla="*/ 16 w 17"/>
                  <a:gd name="T5" fmla="*/ 0 h 23"/>
                  <a:gd name="T6" fmla="*/ 16 w 17"/>
                  <a:gd name="T7" fmla="*/ 3 h 23"/>
                  <a:gd name="T8" fmla="*/ 16 w 17"/>
                  <a:gd name="T9" fmla="*/ 19 h 23"/>
                  <a:gd name="T10" fmla="*/ 16 w 17"/>
                  <a:gd name="T11" fmla="*/ 21 h 23"/>
                  <a:gd name="T12" fmla="*/ 10 w 17"/>
                  <a:gd name="T13" fmla="*/ 22 h 23"/>
                  <a:gd name="T14" fmla="*/ 5 w 17"/>
                  <a:gd name="T15" fmla="*/ 21 h 23"/>
                  <a:gd name="T16" fmla="*/ 0 w 17"/>
                  <a:gd name="T17" fmla="*/ 20 h 23"/>
                  <a:gd name="T18" fmla="*/ 0 w 17"/>
                  <a:gd name="T19" fmla="*/ 18 h 23"/>
                  <a:gd name="T20" fmla="*/ 0 w 17"/>
                  <a:gd name="T21" fmla="*/ 2 h 23"/>
                  <a:gd name="T22" fmla="*/ 0 w 17"/>
                  <a:gd name="T23" fmla="*/ 0 h 23"/>
                  <a:gd name="T24" fmla="*/ 5 w 17"/>
                  <a:gd name="T25" fmla="*/ 0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23"/>
                  <a:gd name="T41" fmla="*/ 17 w 17"/>
                  <a:gd name="T42" fmla="*/ 23 h 2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23">
                    <a:moveTo>
                      <a:pt x="5" y="0"/>
                    </a:moveTo>
                    <a:lnTo>
                      <a:pt x="10" y="0"/>
                    </a:lnTo>
                    <a:lnTo>
                      <a:pt x="16" y="0"/>
                    </a:lnTo>
                    <a:lnTo>
                      <a:pt x="16" y="3"/>
                    </a:lnTo>
                    <a:lnTo>
                      <a:pt x="16" y="19"/>
                    </a:lnTo>
                    <a:lnTo>
                      <a:pt x="16" y="21"/>
                    </a:lnTo>
                    <a:lnTo>
                      <a:pt x="10" y="22"/>
                    </a:lnTo>
                    <a:lnTo>
                      <a:pt x="5" y="21"/>
                    </a:lnTo>
                    <a:lnTo>
                      <a:pt x="0" y="20"/>
                    </a:lnTo>
                    <a:lnTo>
                      <a:pt x="0" y="18"/>
                    </a:lnTo>
                    <a:lnTo>
                      <a:pt x="0" y="2"/>
                    </a:lnTo>
                    <a:lnTo>
                      <a:pt x="0" y="0"/>
                    </a:lnTo>
                    <a:lnTo>
                      <a:pt x="5" y="0"/>
                    </a:lnTo>
                  </a:path>
                </a:pathLst>
              </a:custGeom>
              <a:solidFill>
                <a:schemeClr val="bg2"/>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63" name="Freeform 187"/>
              <p:cNvSpPr>
                <a:spLocks noChangeAspect="1"/>
              </p:cNvSpPr>
              <p:nvPr/>
            </p:nvSpPr>
            <p:spPr bwMode="auto">
              <a:xfrm>
                <a:off x="827" y="3579"/>
                <a:ext cx="58" cy="18"/>
              </a:xfrm>
              <a:custGeom>
                <a:avLst/>
                <a:gdLst>
                  <a:gd name="T0" fmla="*/ 57 w 58"/>
                  <a:gd name="T1" fmla="*/ 4 h 18"/>
                  <a:gd name="T2" fmla="*/ 57 w 58"/>
                  <a:gd name="T3" fmla="*/ 11 h 18"/>
                  <a:gd name="T4" fmla="*/ 54 w 58"/>
                  <a:gd name="T5" fmla="*/ 14 h 18"/>
                  <a:gd name="T6" fmla="*/ 49 w 58"/>
                  <a:gd name="T7" fmla="*/ 15 h 18"/>
                  <a:gd name="T8" fmla="*/ 30 w 58"/>
                  <a:gd name="T9" fmla="*/ 17 h 18"/>
                  <a:gd name="T10" fmla="*/ 12 w 58"/>
                  <a:gd name="T11" fmla="*/ 15 h 18"/>
                  <a:gd name="T12" fmla="*/ 7 w 58"/>
                  <a:gd name="T13" fmla="*/ 14 h 18"/>
                  <a:gd name="T14" fmla="*/ 4 w 58"/>
                  <a:gd name="T15" fmla="*/ 11 h 18"/>
                  <a:gd name="T16" fmla="*/ 4 w 58"/>
                  <a:gd name="T17" fmla="*/ 11 h 18"/>
                  <a:gd name="T18" fmla="*/ 4 w 58"/>
                  <a:gd name="T19" fmla="*/ 10 h 18"/>
                  <a:gd name="T20" fmla="*/ 0 w 58"/>
                  <a:gd name="T21" fmla="*/ 9 h 18"/>
                  <a:gd name="T22" fmla="*/ 0 w 58"/>
                  <a:gd name="T23" fmla="*/ 3 h 18"/>
                  <a:gd name="T24" fmla="*/ 8 w 58"/>
                  <a:gd name="T25" fmla="*/ 0 h 18"/>
                  <a:gd name="T26" fmla="*/ 57 w 58"/>
                  <a:gd name="T27" fmla="*/ 4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8"/>
                  <a:gd name="T43" fmla="*/ 0 h 18"/>
                  <a:gd name="T44" fmla="*/ 58 w 58"/>
                  <a:gd name="T45" fmla="*/ 18 h 1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8" h="18">
                    <a:moveTo>
                      <a:pt x="57" y="4"/>
                    </a:moveTo>
                    <a:lnTo>
                      <a:pt x="57" y="11"/>
                    </a:lnTo>
                    <a:lnTo>
                      <a:pt x="54" y="14"/>
                    </a:lnTo>
                    <a:lnTo>
                      <a:pt x="49" y="15"/>
                    </a:lnTo>
                    <a:lnTo>
                      <a:pt x="30" y="17"/>
                    </a:lnTo>
                    <a:lnTo>
                      <a:pt x="12" y="15"/>
                    </a:lnTo>
                    <a:lnTo>
                      <a:pt x="7" y="14"/>
                    </a:lnTo>
                    <a:lnTo>
                      <a:pt x="4" y="11"/>
                    </a:lnTo>
                    <a:lnTo>
                      <a:pt x="4" y="10"/>
                    </a:lnTo>
                    <a:lnTo>
                      <a:pt x="0" y="9"/>
                    </a:lnTo>
                    <a:lnTo>
                      <a:pt x="0" y="3"/>
                    </a:lnTo>
                    <a:lnTo>
                      <a:pt x="8" y="0"/>
                    </a:lnTo>
                    <a:lnTo>
                      <a:pt x="57" y="4"/>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64" name="AutoShape 188"/>
              <p:cNvSpPr>
                <a:spLocks noChangeAspect="1" noChangeArrowheads="1"/>
              </p:cNvSpPr>
              <p:nvPr/>
            </p:nvSpPr>
            <p:spPr bwMode="auto">
              <a:xfrm>
                <a:off x="857" y="3546"/>
                <a:ext cx="16" cy="22"/>
              </a:xfrm>
              <a:prstGeom prst="roundRect">
                <a:avLst>
                  <a:gd name="adj" fmla="val 37569"/>
                </a:avLst>
              </a:pr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65" name="AutoShape 189"/>
              <p:cNvSpPr>
                <a:spLocks noChangeAspect="1" noChangeArrowheads="1"/>
              </p:cNvSpPr>
              <p:nvPr/>
            </p:nvSpPr>
            <p:spPr bwMode="auto">
              <a:xfrm>
                <a:off x="861" y="3550"/>
                <a:ext cx="8" cy="15"/>
              </a:xfrm>
              <a:prstGeom prst="roundRect">
                <a:avLst>
                  <a:gd name="adj" fmla="val 33329"/>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66" name="Freeform 190"/>
              <p:cNvSpPr>
                <a:spLocks noChangeAspect="1"/>
              </p:cNvSpPr>
              <p:nvPr/>
            </p:nvSpPr>
            <p:spPr bwMode="auto">
              <a:xfrm>
                <a:off x="833" y="3575"/>
                <a:ext cx="57" cy="17"/>
              </a:xfrm>
              <a:custGeom>
                <a:avLst/>
                <a:gdLst>
                  <a:gd name="T0" fmla="*/ 0 w 57"/>
                  <a:gd name="T1" fmla="*/ 9 h 17"/>
                  <a:gd name="T2" fmla="*/ 2 w 57"/>
                  <a:gd name="T3" fmla="*/ 5 h 17"/>
                  <a:gd name="T4" fmla="*/ 8 w 57"/>
                  <a:gd name="T5" fmla="*/ 3 h 17"/>
                  <a:gd name="T6" fmla="*/ 28 w 57"/>
                  <a:gd name="T7" fmla="*/ 0 h 17"/>
                  <a:gd name="T8" fmla="*/ 47 w 57"/>
                  <a:gd name="T9" fmla="*/ 3 h 17"/>
                  <a:gd name="T10" fmla="*/ 53 w 57"/>
                  <a:gd name="T11" fmla="*/ 5 h 17"/>
                  <a:gd name="T12" fmla="*/ 56 w 57"/>
                  <a:gd name="T13" fmla="*/ 9 h 17"/>
                  <a:gd name="T14" fmla="*/ 53 w 57"/>
                  <a:gd name="T15" fmla="*/ 12 h 17"/>
                  <a:gd name="T16" fmla="*/ 47 w 57"/>
                  <a:gd name="T17" fmla="*/ 14 h 17"/>
                  <a:gd name="T18" fmla="*/ 28 w 57"/>
                  <a:gd name="T19" fmla="*/ 16 h 17"/>
                  <a:gd name="T20" fmla="*/ 8 w 57"/>
                  <a:gd name="T21" fmla="*/ 14 h 17"/>
                  <a:gd name="T22" fmla="*/ 2 w 57"/>
                  <a:gd name="T23" fmla="*/ 12 h 17"/>
                  <a:gd name="T24" fmla="*/ 0 w 57"/>
                  <a:gd name="T25" fmla="*/ 9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7"/>
                  <a:gd name="T40" fmla="*/ 0 h 17"/>
                  <a:gd name="T41" fmla="*/ 57 w 57"/>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7" h="17">
                    <a:moveTo>
                      <a:pt x="0" y="9"/>
                    </a:moveTo>
                    <a:lnTo>
                      <a:pt x="2" y="5"/>
                    </a:lnTo>
                    <a:lnTo>
                      <a:pt x="8" y="3"/>
                    </a:lnTo>
                    <a:lnTo>
                      <a:pt x="28" y="0"/>
                    </a:lnTo>
                    <a:lnTo>
                      <a:pt x="47" y="3"/>
                    </a:lnTo>
                    <a:lnTo>
                      <a:pt x="53" y="5"/>
                    </a:lnTo>
                    <a:lnTo>
                      <a:pt x="56" y="9"/>
                    </a:lnTo>
                    <a:lnTo>
                      <a:pt x="53" y="12"/>
                    </a:lnTo>
                    <a:lnTo>
                      <a:pt x="47" y="14"/>
                    </a:lnTo>
                    <a:lnTo>
                      <a:pt x="28" y="16"/>
                    </a:lnTo>
                    <a:lnTo>
                      <a:pt x="8" y="14"/>
                    </a:lnTo>
                    <a:lnTo>
                      <a:pt x="2" y="12"/>
                    </a:lnTo>
                    <a:lnTo>
                      <a:pt x="0" y="9"/>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67" name="Freeform 191"/>
              <p:cNvSpPr>
                <a:spLocks noChangeAspect="1"/>
              </p:cNvSpPr>
              <p:nvPr/>
            </p:nvSpPr>
            <p:spPr bwMode="auto">
              <a:xfrm>
                <a:off x="848" y="3491"/>
                <a:ext cx="26" cy="17"/>
              </a:xfrm>
              <a:custGeom>
                <a:avLst/>
                <a:gdLst>
                  <a:gd name="T0" fmla="*/ 24 w 26"/>
                  <a:gd name="T1" fmla="*/ 0 h 17"/>
                  <a:gd name="T2" fmla="*/ 0 w 26"/>
                  <a:gd name="T3" fmla="*/ 0 h 17"/>
                  <a:gd name="T4" fmla="*/ 0 w 26"/>
                  <a:gd name="T5" fmla="*/ 12 h 17"/>
                  <a:gd name="T6" fmla="*/ 6 w 26"/>
                  <a:gd name="T7" fmla="*/ 16 h 17"/>
                  <a:gd name="T8" fmla="*/ 15 w 26"/>
                  <a:gd name="T9" fmla="*/ 16 h 17"/>
                  <a:gd name="T10" fmla="*/ 25 w 26"/>
                  <a:gd name="T11" fmla="*/ 12 h 17"/>
                  <a:gd name="T12" fmla="*/ 24 w 26"/>
                  <a:gd name="T13" fmla="*/ 0 h 17"/>
                  <a:gd name="T14" fmla="*/ 0 60000 65536"/>
                  <a:gd name="T15" fmla="*/ 0 60000 65536"/>
                  <a:gd name="T16" fmla="*/ 0 60000 65536"/>
                  <a:gd name="T17" fmla="*/ 0 60000 65536"/>
                  <a:gd name="T18" fmla="*/ 0 60000 65536"/>
                  <a:gd name="T19" fmla="*/ 0 60000 65536"/>
                  <a:gd name="T20" fmla="*/ 0 60000 65536"/>
                  <a:gd name="T21" fmla="*/ 0 w 26"/>
                  <a:gd name="T22" fmla="*/ 0 h 17"/>
                  <a:gd name="T23" fmla="*/ 26 w 26"/>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7">
                    <a:moveTo>
                      <a:pt x="24" y="0"/>
                    </a:moveTo>
                    <a:lnTo>
                      <a:pt x="0" y="0"/>
                    </a:lnTo>
                    <a:lnTo>
                      <a:pt x="0" y="12"/>
                    </a:lnTo>
                    <a:lnTo>
                      <a:pt x="6" y="16"/>
                    </a:lnTo>
                    <a:lnTo>
                      <a:pt x="15" y="16"/>
                    </a:lnTo>
                    <a:lnTo>
                      <a:pt x="25" y="12"/>
                    </a:lnTo>
                    <a:lnTo>
                      <a:pt x="24" y="0"/>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68" name="Line 192"/>
              <p:cNvSpPr>
                <a:spLocks noChangeAspect="1" noChangeShapeType="1"/>
              </p:cNvSpPr>
              <p:nvPr/>
            </p:nvSpPr>
            <p:spPr bwMode="auto">
              <a:xfrm>
                <a:off x="857" y="3491"/>
                <a:ext cx="0" cy="1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69" name="Line 193"/>
              <p:cNvSpPr>
                <a:spLocks noChangeAspect="1" noChangeShapeType="1"/>
              </p:cNvSpPr>
              <p:nvPr/>
            </p:nvSpPr>
            <p:spPr bwMode="auto">
              <a:xfrm>
                <a:off x="867" y="3491"/>
                <a:ext cx="0" cy="1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70" name="Oval 194"/>
              <p:cNvSpPr>
                <a:spLocks noChangeAspect="1" noChangeArrowheads="1"/>
              </p:cNvSpPr>
              <p:nvPr/>
            </p:nvSpPr>
            <p:spPr bwMode="auto">
              <a:xfrm>
                <a:off x="847" y="3547"/>
                <a:ext cx="29" cy="8"/>
              </a:xfrm>
              <a:prstGeom prst="ellipse">
                <a:avLst/>
              </a:prstGeom>
              <a:solidFill>
                <a:srgbClr val="B3B3B3"/>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71" name="Oval 195"/>
              <p:cNvSpPr>
                <a:spLocks noChangeAspect="1" noChangeArrowheads="1"/>
              </p:cNvSpPr>
              <p:nvPr/>
            </p:nvSpPr>
            <p:spPr bwMode="auto">
              <a:xfrm>
                <a:off x="840" y="3580"/>
                <a:ext cx="42" cy="8"/>
              </a:xfrm>
              <a:prstGeom prst="ellipse">
                <a:avLst/>
              </a:prstGeom>
              <a:solidFill>
                <a:srgbClr val="E6E6E6"/>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72" name="Freeform 196"/>
              <p:cNvSpPr>
                <a:spLocks noChangeAspect="1"/>
              </p:cNvSpPr>
              <p:nvPr/>
            </p:nvSpPr>
            <p:spPr bwMode="auto">
              <a:xfrm>
                <a:off x="854" y="3546"/>
                <a:ext cx="17" cy="17"/>
              </a:xfrm>
              <a:custGeom>
                <a:avLst/>
                <a:gdLst>
                  <a:gd name="T0" fmla="*/ 0 w 17"/>
                  <a:gd name="T1" fmla="*/ 0 h 17"/>
                  <a:gd name="T2" fmla="*/ 16 w 17"/>
                  <a:gd name="T3" fmla="*/ 0 h 17"/>
                  <a:gd name="T4" fmla="*/ 16 w 17"/>
                  <a:gd name="T5" fmla="*/ 16 h 17"/>
                  <a:gd name="T6" fmla="*/ 12 w 17"/>
                  <a:gd name="T7" fmla="*/ 16 h 17"/>
                  <a:gd name="T8" fmla="*/ 3 w 17"/>
                  <a:gd name="T9" fmla="*/ 16 h 17"/>
                  <a:gd name="T10" fmla="*/ 0 w 17"/>
                  <a:gd name="T11" fmla="*/ 16 h 17"/>
                  <a:gd name="T12" fmla="*/ 0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0"/>
                    </a:moveTo>
                    <a:lnTo>
                      <a:pt x="16" y="0"/>
                    </a:lnTo>
                    <a:lnTo>
                      <a:pt x="16" y="16"/>
                    </a:lnTo>
                    <a:lnTo>
                      <a:pt x="12" y="16"/>
                    </a:lnTo>
                    <a:lnTo>
                      <a:pt x="3" y="16"/>
                    </a:lnTo>
                    <a:lnTo>
                      <a:pt x="0" y="16"/>
                    </a:lnTo>
                    <a:lnTo>
                      <a:pt x="0" y="0"/>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73" name="Freeform 197"/>
              <p:cNvSpPr>
                <a:spLocks noChangeAspect="1"/>
              </p:cNvSpPr>
              <p:nvPr/>
            </p:nvSpPr>
            <p:spPr bwMode="auto">
              <a:xfrm>
                <a:off x="857" y="3553"/>
                <a:ext cx="17" cy="17"/>
              </a:xfrm>
              <a:custGeom>
                <a:avLst/>
                <a:gdLst>
                  <a:gd name="T0" fmla="*/ 0 w 17"/>
                  <a:gd name="T1" fmla="*/ 0 h 17"/>
                  <a:gd name="T2" fmla="*/ 16 w 17"/>
                  <a:gd name="T3" fmla="*/ 0 h 17"/>
                  <a:gd name="T4" fmla="*/ 16 w 17"/>
                  <a:gd name="T5" fmla="*/ 16 h 17"/>
                  <a:gd name="T6" fmla="*/ 0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0"/>
                    </a:lnTo>
                    <a:lnTo>
                      <a:pt x="16" y="16"/>
                    </a:lnTo>
                    <a:lnTo>
                      <a:pt x="0" y="16"/>
                    </a:lnTo>
                    <a:lnTo>
                      <a:pt x="0" y="0"/>
                    </a:lnTo>
                  </a:path>
                </a:pathLst>
              </a:custGeom>
              <a:solidFill>
                <a:srgbClr val="E6E6E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74" name="Rectangle 198"/>
              <p:cNvSpPr>
                <a:spLocks noChangeAspect="1" noChangeArrowheads="1"/>
              </p:cNvSpPr>
              <p:nvPr/>
            </p:nvSpPr>
            <p:spPr bwMode="auto">
              <a:xfrm>
                <a:off x="861" y="3557"/>
                <a:ext cx="8" cy="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75" name="Freeform 199"/>
              <p:cNvSpPr>
                <a:spLocks noChangeAspect="1"/>
              </p:cNvSpPr>
              <p:nvPr/>
            </p:nvSpPr>
            <p:spPr bwMode="auto">
              <a:xfrm>
                <a:off x="838" y="3588"/>
                <a:ext cx="17" cy="17"/>
              </a:xfrm>
              <a:custGeom>
                <a:avLst/>
                <a:gdLst>
                  <a:gd name="T0" fmla="*/ 5 w 17"/>
                  <a:gd name="T1" fmla="*/ 0 h 17"/>
                  <a:gd name="T2" fmla="*/ 10 w 17"/>
                  <a:gd name="T3" fmla="*/ 0 h 17"/>
                  <a:gd name="T4" fmla="*/ 13 w 17"/>
                  <a:gd name="T5" fmla="*/ 2 h 17"/>
                  <a:gd name="T6" fmla="*/ 16 w 17"/>
                  <a:gd name="T7" fmla="*/ 5 h 17"/>
                  <a:gd name="T8" fmla="*/ 16 w 17"/>
                  <a:gd name="T9" fmla="*/ 10 h 17"/>
                  <a:gd name="T10" fmla="*/ 13 w 17"/>
                  <a:gd name="T11" fmla="*/ 16 h 17"/>
                  <a:gd name="T12" fmla="*/ 5 w 17"/>
                  <a:gd name="T13" fmla="*/ 16 h 17"/>
                  <a:gd name="T14" fmla="*/ 2 w 17"/>
                  <a:gd name="T15" fmla="*/ 16 h 17"/>
                  <a:gd name="T16" fmla="*/ 0 w 17"/>
                  <a:gd name="T17" fmla="*/ 10 h 17"/>
                  <a:gd name="T18" fmla="*/ 0 w 17"/>
                  <a:gd name="T19" fmla="*/ 5 h 17"/>
                  <a:gd name="T20" fmla="*/ 2 w 17"/>
                  <a:gd name="T21" fmla="*/ 2 h 17"/>
                  <a:gd name="T22" fmla="*/ 5 w 1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17"/>
                  <a:gd name="T38" fmla="*/ 17 w 1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17">
                    <a:moveTo>
                      <a:pt x="5" y="0"/>
                    </a:moveTo>
                    <a:lnTo>
                      <a:pt x="10" y="0"/>
                    </a:lnTo>
                    <a:lnTo>
                      <a:pt x="13" y="2"/>
                    </a:lnTo>
                    <a:lnTo>
                      <a:pt x="16" y="5"/>
                    </a:lnTo>
                    <a:lnTo>
                      <a:pt x="16" y="10"/>
                    </a:lnTo>
                    <a:lnTo>
                      <a:pt x="13" y="16"/>
                    </a:lnTo>
                    <a:lnTo>
                      <a:pt x="5" y="16"/>
                    </a:lnTo>
                    <a:lnTo>
                      <a:pt x="2" y="16"/>
                    </a:lnTo>
                    <a:lnTo>
                      <a:pt x="0" y="10"/>
                    </a:lnTo>
                    <a:lnTo>
                      <a:pt x="0" y="5"/>
                    </a:lnTo>
                    <a:lnTo>
                      <a:pt x="2" y="2"/>
                    </a:lnTo>
                    <a:lnTo>
                      <a:pt x="5" y="0"/>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76" name="Freeform 200"/>
              <p:cNvSpPr>
                <a:spLocks noChangeAspect="1"/>
              </p:cNvSpPr>
              <p:nvPr/>
            </p:nvSpPr>
            <p:spPr bwMode="auto">
              <a:xfrm>
                <a:off x="871" y="3587"/>
                <a:ext cx="17" cy="17"/>
              </a:xfrm>
              <a:custGeom>
                <a:avLst/>
                <a:gdLst>
                  <a:gd name="T0" fmla="*/ 5 w 17"/>
                  <a:gd name="T1" fmla="*/ 1 h 17"/>
                  <a:gd name="T2" fmla="*/ 10 w 17"/>
                  <a:gd name="T3" fmla="*/ 0 h 17"/>
                  <a:gd name="T4" fmla="*/ 16 w 17"/>
                  <a:gd name="T5" fmla="*/ 5 h 17"/>
                  <a:gd name="T6" fmla="*/ 16 w 17"/>
                  <a:gd name="T7" fmla="*/ 10 h 17"/>
                  <a:gd name="T8" fmla="*/ 12 w 17"/>
                  <a:gd name="T9" fmla="*/ 14 h 17"/>
                  <a:gd name="T10" fmla="*/ 5 w 17"/>
                  <a:gd name="T11" fmla="*/ 16 h 17"/>
                  <a:gd name="T12" fmla="*/ 1 w 17"/>
                  <a:gd name="T13" fmla="*/ 14 h 17"/>
                  <a:gd name="T14" fmla="*/ 0 w 17"/>
                  <a:gd name="T15" fmla="*/ 10 h 17"/>
                  <a:gd name="T16" fmla="*/ 0 w 17"/>
                  <a:gd name="T17" fmla="*/ 5 h 17"/>
                  <a:gd name="T18" fmla="*/ 1 w 17"/>
                  <a:gd name="T19" fmla="*/ 1 h 17"/>
                  <a:gd name="T20" fmla="*/ 5 w 17"/>
                  <a:gd name="T21" fmla="*/ 1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5" y="1"/>
                    </a:moveTo>
                    <a:lnTo>
                      <a:pt x="10" y="0"/>
                    </a:lnTo>
                    <a:lnTo>
                      <a:pt x="16" y="5"/>
                    </a:lnTo>
                    <a:lnTo>
                      <a:pt x="16" y="10"/>
                    </a:lnTo>
                    <a:lnTo>
                      <a:pt x="12" y="14"/>
                    </a:lnTo>
                    <a:lnTo>
                      <a:pt x="5" y="16"/>
                    </a:lnTo>
                    <a:lnTo>
                      <a:pt x="1" y="14"/>
                    </a:lnTo>
                    <a:lnTo>
                      <a:pt x="0" y="10"/>
                    </a:lnTo>
                    <a:lnTo>
                      <a:pt x="0" y="5"/>
                    </a:lnTo>
                    <a:lnTo>
                      <a:pt x="1" y="1"/>
                    </a:lnTo>
                    <a:lnTo>
                      <a:pt x="5" y="1"/>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77" name="Freeform 201"/>
              <p:cNvSpPr>
                <a:spLocks noChangeAspect="1"/>
              </p:cNvSpPr>
              <p:nvPr/>
            </p:nvSpPr>
            <p:spPr bwMode="auto">
              <a:xfrm>
                <a:off x="812" y="3477"/>
                <a:ext cx="101" cy="133"/>
              </a:xfrm>
              <a:custGeom>
                <a:avLst/>
                <a:gdLst>
                  <a:gd name="T0" fmla="*/ 72 w 101"/>
                  <a:gd name="T1" fmla="*/ 18 h 133"/>
                  <a:gd name="T2" fmla="*/ 73 w 101"/>
                  <a:gd name="T3" fmla="*/ 24 h 133"/>
                  <a:gd name="T4" fmla="*/ 73 w 101"/>
                  <a:gd name="T5" fmla="*/ 117 h 133"/>
                  <a:gd name="T6" fmla="*/ 72 w 101"/>
                  <a:gd name="T7" fmla="*/ 121 h 133"/>
                  <a:gd name="T8" fmla="*/ 69 w 101"/>
                  <a:gd name="T9" fmla="*/ 122 h 133"/>
                  <a:gd name="T10" fmla="*/ 65 w 101"/>
                  <a:gd name="T11" fmla="*/ 122 h 133"/>
                  <a:gd name="T12" fmla="*/ 52 w 101"/>
                  <a:gd name="T13" fmla="*/ 122 h 133"/>
                  <a:gd name="T14" fmla="*/ 37 w 101"/>
                  <a:gd name="T15" fmla="*/ 122 h 133"/>
                  <a:gd name="T16" fmla="*/ 24 w 101"/>
                  <a:gd name="T17" fmla="*/ 119 h 133"/>
                  <a:gd name="T18" fmla="*/ 18 w 101"/>
                  <a:gd name="T19" fmla="*/ 118 h 133"/>
                  <a:gd name="T20" fmla="*/ 14 w 101"/>
                  <a:gd name="T21" fmla="*/ 116 h 133"/>
                  <a:gd name="T22" fmla="*/ 12 w 101"/>
                  <a:gd name="T23" fmla="*/ 115 h 133"/>
                  <a:gd name="T24" fmla="*/ 9 w 101"/>
                  <a:gd name="T25" fmla="*/ 114 h 133"/>
                  <a:gd name="T26" fmla="*/ 6 w 101"/>
                  <a:gd name="T27" fmla="*/ 113 h 133"/>
                  <a:gd name="T28" fmla="*/ 5 w 101"/>
                  <a:gd name="T29" fmla="*/ 112 h 133"/>
                  <a:gd name="T30" fmla="*/ 4 w 101"/>
                  <a:gd name="T31" fmla="*/ 18 h 133"/>
                  <a:gd name="T32" fmla="*/ 5 w 101"/>
                  <a:gd name="T33" fmla="*/ 15 h 133"/>
                  <a:gd name="T34" fmla="*/ 7 w 101"/>
                  <a:gd name="T35" fmla="*/ 9 h 133"/>
                  <a:gd name="T36" fmla="*/ 9 w 101"/>
                  <a:gd name="T37" fmla="*/ 7 h 133"/>
                  <a:gd name="T38" fmla="*/ 10 w 101"/>
                  <a:gd name="T39" fmla="*/ 7 h 133"/>
                  <a:gd name="T40" fmla="*/ 10 w 101"/>
                  <a:gd name="T41" fmla="*/ 8 h 133"/>
                  <a:gd name="T42" fmla="*/ 96 w 101"/>
                  <a:gd name="T43" fmla="*/ 6 h 133"/>
                  <a:gd name="T44" fmla="*/ 97 w 101"/>
                  <a:gd name="T45" fmla="*/ 10 h 133"/>
                  <a:gd name="T46" fmla="*/ 100 w 101"/>
                  <a:gd name="T47" fmla="*/ 18 h 133"/>
                  <a:gd name="T48" fmla="*/ 100 w 101"/>
                  <a:gd name="T49" fmla="*/ 108 h 133"/>
                  <a:gd name="T50" fmla="*/ 99 w 101"/>
                  <a:gd name="T51" fmla="*/ 113 h 133"/>
                  <a:gd name="T52" fmla="*/ 94 w 101"/>
                  <a:gd name="T53" fmla="*/ 117 h 133"/>
                  <a:gd name="T54" fmla="*/ 88 w 101"/>
                  <a:gd name="T55" fmla="*/ 122 h 133"/>
                  <a:gd name="T56" fmla="*/ 78 w 101"/>
                  <a:gd name="T57" fmla="*/ 127 h 133"/>
                  <a:gd name="T58" fmla="*/ 69 w 101"/>
                  <a:gd name="T59" fmla="*/ 131 h 133"/>
                  <a:gd name="T60" fmla="*/ 61 w 101"/>
                  <a:gd name="T61" fmla="*/ 132 h 133"/>
                  <a:gd name="T62" fmla="*/ 41 w 101"/>
                  <a:gd name="T63" fmla="*/ 131 h 133"/>
                  <a:gd name="T64" fmla="*/ 31 w 101"/>
                  <a:gd name="T65" fmla="*/ 130 h 133"/>
                  <a:gd name="T66" fmla="*/ 24 w 101"/>
                  <a:gd name="T67" fmla="*/ 128 h 133"/>
                  <a:gd name="T68" fmla="*/ 15 w 101"/>
                  <a:gd name="T69" fmla="*/ 124 h 133"/>
                  <a:gd name="T70" fmla="*/ 6 w 101"/>
                  <a:gd name="T71" fmla="*/ 117 h 133"/>
                  <a:gd name="T72" fmla="*/ 2 w 101"/>
                  <a:gd name="T73" fmla="*/ 113 h 133"/>
                  <a:gd name="T74" fmla="*/ 0 w 101"/>
                  <a:gd name="T75" fmla="*/ 108 h 133"/>
                  <a:gd name="T76" fmla="*/ 0 w 101"/>
                  <a:gd name="T77" fmla="*/ 14 h 133"/>
                  <a:gd name="T78" fmla="*/ 0 w 101"/>
                  <a:gd name="T79" fmla="*/ 10 h 133"/>
                  <a:gd name="T80" fmla="*/ 2 w 101"/>
                  <a:gd name="T81" fmla="*/ 8 h 133"/>
                  <a:gd name="T82" fmla="*/ 5 w 101"/>
                  <a:gd name="T83" fmla="*/ 4 h 133"/>
                  <a:gd name="T84" fmla="*/ 14 w 101"/>
                  <a:gd name="T85" fmla="*/ 0 h 133"/>
                  <a:gd name="T86" fmla="*/ 72 w 101"/>
                  <a:gd name="T87" fmla="*/ 18 h 1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01"/>
                  <a:gd name="T133" fmla="*/ 0 h 133"/>
                  <a:gd name="T134" fmla="*/ 101 w 101"/>
                  <a:gd name="T135" fmla="*/ 133 h 13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01" h="133">
                    <a:moveTo>
                      <a:pt x="72" y="18"/>
                    </a:moveTo>
                    <a:lnTo>
                      <a:pt x="73" y="24"/>
                    </a:lnTo>
                    <a:lnTo>
                      <a:pt x="73" y="117"/>
                    </a:lnTo>
                    <a:lnTo>
                      <a:pt x="72" y="121"/>
                    </a:lnTo>
                    <a:lnTo>
                      <a:pt x="69" y="122"/>
                    </a:lnTo>
                    <a:lnTo>
                      <a:pt x="65" y="122"/>
                    </a:lnTo>
                    <a:lnTo>
                      <a:pt x="52" y="122"/>
                    </a:lnTo>
                    <a:lnTo>
                      <a:pt x="37" y="122"/>
                    </a:lnTo>
                    <a:lnTo>
                      <a:pt x="24" y="119"/>
                    </a:lnTo>
                    <a:lnTo>
                      <a:pt x="18" y="118"/>
                    </a:lnTo>
                    <a:lnTo>
                      <a:pt x="14" y="116"/>
                    </a:lnTo>
                    <a:lnTo>
                      <a:pt x="12" y="115"/>
                    </a:lnTo>
                    <a:lnTo>
                      <a:pt x="9" y="114"/>
                    </a:lnTo>
                    <a:lnTo>
                      <a:pt x="6" y="113"/>
                    </a:lnTo>
                    <a:lnTo>
                      <a:pt x="5" y="112"/>
                    </a:lnTo>
                    <a:lnTo>
                      <a:pt x="4" y="18"/>
                    </a:lnTo>
                    <a:lnTo>
                      <a:pt x="5" y="15"/>
                    </a:lnTo>
                    <a:lnTo>
                      <a:pt x="7" y="9"/>
                    </a:lnTo>
                    <a:lnTo>
                      <a:pt x="9" y="7"/>
                    </a:lnTo>
                    <a:lnTo>
                      <a:pt x="10" y="7"/>
                    </a:lnTo>
                    <a:lnTo>
                      <a:pt x="10" y="8"/>
                    </a:lnTo>
                    <a:lnTo>
                      <a:pt x="96" y="6"/>
                    </a:lnTo>
                    <a:lnTo>
                      <a:pt x="97" y="10"/>
                    </a:lnTo>
                    <a:lnTo>
                      <a:pt x="100" y="18"/>
                    </a:lnTo>
                    <a:lnTo>
                      <a:pt x="100" y="108"/>
                    </a:lnTo>
                    <a:lnTo>
                      <a:pt x="99" y="113"/>
                    </a:lnTo>
                    <a:lnTo>
                      <a:pt x="94" y="117"/>
                    </a:lnTo>
                    <a:lnTo>
                      <a:pt x="88" y="122"/>
                    </a:lnTo>
                    <a:lnTo>
                      <a:pt x="78" y="127"/>
                    </a:lnTo>
                    <a:lnTo>
                      <a:pt x="69" y="131"/>
                    </a:lnTo>
                    <a:lnTo>
                      <a:pt x="61" y="132"/>
                    </a:lnTo>
                    <a:lnTo>
                      <a:pt x="41" y="131"/>
                    </a:lnTo>
                    <a:lnTo>
                      <a:pt x="31" y="130"/>
                    </a:lnTo>
                    <a:lnTo>
                      <a:pt x="24" y="128"/>
                    </a:lnTo>
                    <a:lnTo>
                      <a:pt x="15" y="124"/>
                    </a:lnTo>
                    <a:lnTo>
                      <a:pt x="6" y="117"/>
                    </a:lnTo>
                    <a:lnTo>
                      <a:pt x="2" y="113"/>
                    </a:lnTo>
                    <a:lnTo>
                      <a:pt x="0" y="108"/>
                    </a:lnTo>
                    <a:lnTo>
                      <a:pt x="0" y="14"/>
                    </a:lnTo>
                    <a:lnTo>
                      <a:pt x="0" y="10"/>
                    </a:lnTo>
                    <a:lnTo>
                      <a:pt x="2" y="8"/>
                    </a:lnTo>
                    <a:lnTo>
                      <a:pt x="5" y="4"/>
                    </a:lnTo>
                    <a:lnTo>
                      <a:pt x="14" y="0"/>
                    </a:lnTo>
                    <a:lnTo>
                      <a:pt x="72" y="18"/>
                    </a:lnTo>
                  </a:path>
                </a:pathLst>
              </a:custGeom>
              <a:solidFill>
                <a:srgbClr val="00AE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78" name="Freeform 202"/>
              <p:cNvSpPr>
                <a:spLocks noChangeAspect="1"/>
              </p:cNvSpPr>
              <p:nvPr/>
            </p:nvSpPr>
            <p:spPr bwMode="auto">
              <a:xfrm>
                <a:off x="812" y="3477"/>
                <a:ext cx="101" cy="133"/>
              </a:xfrm>
              <a:custGeom>
                <a:avLst/>
                <a:gdLst>
                  <a:gd name="T0" fmla="*/ 72 w 101"/>
                  <a:gd name="T1" fmla="*/ 18 h 133"/>
                  <a:gd name="T2" fmla="*/ 73 w 101"/>
                  <a:gd name="T3" fmla="*/ 24 h 133"/>
                  <a:gd name="T4" fmla="*/ 73 w 101"/>
                  <a:gd name="T5" fmla="*/ 117 h 133"/>
                  <a:gd name="T6" fmla="*/ 72 w 101"/>
                  <a:gd name="T7" fmla="*/ 121 h 133"/>
                  <a:gd name="T8" fmla="*/ 69 w 101"/>
                  <a:gd name="T9" fmla="*/ 122 h 133"/>
                  <a:gd name="T10" fmla="*/ 65 w 101"/>
                  <a:gd name="T11" fmla="*/ 122 h 133"/>
                  <a:gd name="T12" fmla="*/ 52 w 101"/>
                  <a:gd name="T13" fmla="*/ 122 h 133"/>
                  <a:gd name="T14" fmla="*/ 37 w 101"/>
                  <a:gd name="T15" fmla="*/ 122 h 133"/>
                  <a:gd name="T16" fmla="*/ 24 w 101"/>
                  <a:gd name="T17" fmla="*/ 119 h 133"/>
                  <a:gd name="T18" fmla="*/ 18 w 101"/>
                  <a:gd name="T19" fmla="*/ 118 h 133"/>
                  <a:gd name="T20" fmla="*/ 14 w 101"/>
                  <a:gd name="T21" fmla="*/ 116 h 133"/>
                  <a:gd name="T22" fmla="*/ 12 w 101"/>
                  <a:gd name="T23" fmla="*/ 115 h 133"/>
                  <a:gd name="T24" fmla="*/ 9 w 101"/>
                  <a:gd name="T25" fmla="*/ 114 h 133"/>
                  <a:gd name="T26" fmla="*/ 6 w 101"/>
                  <a:gd name="T27" fmla="*/ 113 h 133"/>
                  <a:gd name="T28" fmla="*/ 5 w 101"/>
                  <a:gd name="T29" fmla="*/ 112 h 133"/>
                  <a:gd name="T30" fmla="*/ 4 w 101"/>
                  <a:gd name="T31" fmla="*/ 18 h 133"/>
                  <a:gd name="T32" fmla="*/ 5 w 101"/>
                  <a:gd name="T33" fmla="*/ 15 h 133"/>
                  <a:gd name="T34" fmla="*/ 7 w 101"/>
                  <a:gd name="T35" fmla="*/ 9 h 133"/>
                  <a:gd name="T36" fmla="*/ 9 w 101"/>
                  <a:gd name="T37" fmla="*/ 7 h 133"/>
                  <a:gd name="T38" fmla="*/ 10 w 101"/>
                  <a:gd name="T39" fmla="*/ 7 h 133"/>
                  <a:gd name="T40" fmla="*/ 10 w 101"/>
                  <a:gd name="T41" fmla="*/ 8 h 133"/>
                  <a:gd name="T42" fmla="*/ 96 w 101"/>
                  <a:gd name="T43" fmla="*/ 6 h 133"/>
                  <a:gd name="T44" fmla="*/ 97 w 101"/>
                  <a:gd name="T45" fmla="*/ 10 h 133"/>
                  <a:gd name="T46" fmla="*/ 100 w 101"/>
                  <a:gd name="T47" fmla="*/ 18 h 133"/>
                  <a:gd name="T48" fmla="*/ 100 w 101"/>
                  <a:gd name="T49" fmla="*/ 108 h 133"/>
                  <a:gd name="T50" fmla="*/ 99 w 101"/>
                  <a:gd name="T51" fmla="*/ 113 h 133"/>
                  <a:gd name="T52" fmla="*/ 94 w 101"/>
                  <a:gd name="T53" fmla="*/ 117 h 133"/>
                  <a:gd name="T54" fmla="*/ 88 w 101"/>
                  <a:gd name="T55" fmla="*/ 122 h 133"/>
                  <a:gd name="T56" fmla="*/ 78 w 101"/>
                  <a:gd name="T57" fmla="*/ 127 h 133"/>
                  <a:gd name="T58" fmla="*/ 69 w 101"/>
                  <a:gd name="T59" fmla="*/ 131 h 133"/>
                  <a:gd name="T60" fmla="*/ 61 w 101"/>
                  <a:gd name="T61" fmla="*/ 132 h 133"/>
                  <a:gd name="T62" fmla="*/ 41 w 101"/>
                  <a:gd name="T63" fmla="*/ 131 h 133"/>
                  <a:gd name="T64" fmla="*/ 31 w 101"/>
                  <a:gd name="T65" fmla="*/ 130 h 133"/>
                  <a:gd name="T66" fmla="*/ 24 w 101"/>
                  <a:gd name="T67" fmla="*/ 128 h 133"/>
                  <a:gd name="T68" fmla="*/ 15 w 101"/>
                  <a:gd name="T69" fmla="*/ 124 h 133"/>
                  <a:gd name="T70" fmla="*/ 6 w 101"/>
                  <a:gd name="T71" fmla="*/ 117 h 133"/>
                  <a:gd name="T72" fmla="*/ 2 w 101"/>
                  <a:gd name="T73" fmla="*/ 113 h 133"/>
                  <a:gd name="T74" fmla="*/ 0 w 101"/>
                  <a:gd name="T75" fmla="*/ 108 h 133"/>
                  <a:gd name="T76" fmla="*/ 0 w 101"/>
                  <a:gd name="T77" fmla="*/ 14 h 133"/>
                  <a:gd name="T78" fmla="*/ 0 w 101"/>
                  <a:gd name="T79" fmla="*/ 10 h 133"/>
                  <a:gd name="T80" fmla="*/ 2 w 101"/>
                  <a:gd name="T81" fmla="*/ 8 h 133"/>
                  <a:gd name="T82" fmla="*/ 5 w 101"/>
                  <a:gd name="T83" fmla="*/ 4 h 133"/>
                  <a:gd name="T84" fmla="*/ 14 w 101"/>
                  <a:gd name="T85" fmla="*/ 0 h 133"/>
                  <a:gd name="T86" fmla="*/ 72 w 101"/>
                  <a:gd name="T87" fmla="*/ 18 h 1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01"/>
                  <a:gd name="T133" fmla="*/ 0 h 133"/>
                  <a:gd name="T134" fmla="*/ 101 w 101"/>
                  <a:gd name="T135" fmla="*/ 133 h 13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01" h="133">
                    <a:moveTo>
                      <a:pt x="72" y="18"/>
                    </a:moveTo>
                    <a:lnTo>
                      <a:pt x="73" y="24"/>
                    </a:lnTo>
                    <a:lnTo>
                      <a:pt x="73" y="117"/>
                    </a:lnTo>
                    <a:lnTo>
                      <a:pt x="72" y="121"/>
                    </a:lnTo>
                    <a:lnTo>
                      <a:pt x="69" y="122"/>
                    </a:lnTo>
                    <a:lnTo>
                      <a:pt x="65" y="122"/>
                    </a:lnTo>
                    <a:lnTo>
                      <a:pt x="52" y="122"/>
                    </a:lnTo>
                    <a:lnTo>
                      <a:pt x="37" y="122"/>
                    </a:lnTo>
                    <a:lnTo>
                      <a:pt x="24" y="119"/>
                    </a:lnTo>
                    <a:lnTo>
                      <a:pt x="18" y="118"/>
                    </a:lnTo>
                    <a:lnTo>
                      <a:pt x="14" y="116"/>
                    </a:lnTo>
                    <a:lnTo>
                      <a:pt x="12" y="115"/>
                    </a:lnTo>
                    <a:lnTo>
                      <a:pt x="9" y="114"/>
                    </a:lnTo>
                    <a:lnTo>
                      <a:pt x="6" y="113"/>
                    </a:lnTo>
                    <a:lnTo>
                      <a:pt x="5" y="112"/>
                    </a:lnTo>
                    <a:lnTo>
                      <a:pt x="4" y="18"/>
                    </a:lnTo>
                    <a:lnTo>
                      <a:pt x="5" y="15"/>
                    </a:lnTo>
                    <a:lnTo>
                      <a:pt x="7" y="9"/>
                    </a:lnTo>
                    <a:lnTo>
                      <a:pt x="9" y="7"/>
                    </a:lnTo>
                    <a:lnTo>
                      <a:pt x="10" y="7"/>
                    </a:lnTo>
                    <a:lnTo>
                      <a:pt x="10" y="8"/>
                    </a:lnTo>
                    <a:lnTo>
                      <a:pt x="96" y="6"/>
                    </a:lnTo>
                    <a:lnTo>
                      <a:pt x="97" y="10"/>
                    </a:lnTo>
                    <a:lnTo>
                      <a:pt x="100" y="18"/>
                    </a:lnTo>
                    <a:lnTo>
                      <a:pt x="100" y="108"/>
                    </a:lnTo>
                    <a:lnTo>
                      <a:pt x="99" y="113"/>
                    </a:lnTo>
                    <a:lnTo>
                      <a:pt x="94" y="117"/>
                    </a:lnTo>
                    <a:lnTo>
                      <a:pt x="88" y="122"/>
                    </a:lnTo>
                    <a:lnTo>
                      <a:pt x="78" y="127"/>
                    </a:lnTo>
                    <a:lnTo>
                      <a:pt x="69" y="131"/>
                    </a:lnTo>
                    <a:lnTo>
                      <a:pt x="61" y="132"/>
                    </a:lnTo>
                    <a:lnTo>
                      <a:pt x="41" y="131"/>
                    </a:lnTo>
                    <a:lnTo>
                      <a:pt x="31" y="130"/>
                    </a:lnTo>
                    <a:lnTo>
                      <a:pt x="24" y="128"/>
                    </a:lnTo>
                    <a:lnTo>
                      <a:pt x="15" y="124"/>
                    </a:lnTo>
                    <a:lnTo>
                      <a:pt x="6" y="117"/>
                    </a:lnTo>
                    <a:lnTo>
                      <a:pt x="2" y="113"/>
                    </a:lnTo>
                    <a:lnTo>
                      <a:pt x="0" y="108"/>
                    </a:lnTo>
                    <a:lnTo>
                      <a:pt x="0" y="14"/>
                    </a:lnTo>
                    <a:lnTo>
                      <a:pt x="0" y="10"/>
                    </a:lnTo>
                    <a:lnTo>
                      <a:pt x="2" y="8"/>
                    </a:lnTo>
                    <a:lnTo>
                      <a:pt x="5" y="4"/>
                    </a:lnTo>
                    <a:lnTo>
                      <a:pt x="14" y="0"/>
                    </a:lnTo>
                    <a:lnTo>
                      <a:pt x="72" y="18"/>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79" name="Oval 203"/>
              <p:cNvSpPr>
                <a:spLocks noChangeAspect="1" noChangeArrowheads="1"/>
              </p:cNvSpPr>
              <p:nvPr/>
            </p:nvSpPr>
            <p:spPr bwMode="auto">
              <a:xfrm>
                <a:off x="847" y="3546"/>
                <a:ext cx="29" cy="8"/>
              </a:xfrm>
              <a:prstGeom prst="ellipse">
                <a:avLst/>
              </a:prstGeom>
              <a:solidFill>
                <a:srgbClr val="999999"/>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80" name="Freeform 204"/>
              <p:cNvSpPr>
                <a:spLocks noChangeAspect="1"/>
              </p:cNvSpPr>
              <p:nvPr/>
            </p:nvSpPr>
            <p:spPr bwMode="auto">
              <a:xfrm>
                <a:off x="843" y="3525"/>
                <a:ext cx="36" cy="20"/>
              </a:xfrm>
              <a:custGeom>
                <a:avLst/>
                <a:gdLst>
                  <a:gd name="T0" fmla="*/ 12 w 36"/>
                  <a:gd name="T1" fmla="*/ 19 h 20"/>
                  <a:gd name="T2" fmla="*/ 9 w 36"/>
                  <a:gd name="T3" fmla="*/ 19 h 20"/>
                  <a:gd name="T4" fmla="*/ 0 w 36"/>
                  <a:gd name="T5" fmla="*/ 14 h 20"/>
                  <a:gd name="T6" fmla="*/ 0 w 36"/>
                  <a:gd name="T7" fmla="*/ 6 h 20"/>
                  <a:gd name="T8" fmla="*/ 9 w 36"/>
                  <a:gd name="T9" fmla="*/ 0 h 20"/>
                  <a:gd name="T10" fmla="*/ 26 w 36"/>
                  <a:gd name="T11" fmla="*/ 0 h 20"/>
                  <a:gd name="T12" fmla="*/ 35 w 36"/>
                  <a:gd name="T13" fmla="*/ 5 h 20"/>
                  <a:gd name="T14" fmla="*/ 35 w 36"/>
                  <a:gd name="T15" fmla="*/ 14 h 20"/>
                  <a:gd name="T16" fmla="*/ 26 w 36"/>
                  <a:gd name="T17" fmla="*/ 19 h 20"/>
                  <a:gd name="T18" fmla="*/ 12 w 36"/>
                  <a:gd name="T19" fmla="*/ 19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20"/>
                  <a:gd name="T32" fmla="*/ 36 w 36"/>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20">
                    <a:moveTo>
                      <a:pt x="12" y="19"/>
                    </a:moveTo>
                    <a:lnTo>
                      <a:pt x="9" y="19"/>
                    </a:lnTo>
                    <a:lnTo>
                      <a:pt x="0" y="14"/>
                    </a:lnTo>
                    <a:lnTo>
                      <a:pt x="0" y="6"/>
                    </a:lnTo>
                    <a:lnTo>
                      <a:pt x="9" y="0"/>
                    </a:lnTo>
                    <a:lnTo>
                      <a:pt x="26" y="0"/>
                    </a:lnTo>
                    <a:lnTo>
                      <a:pt x="35" y="5"/>
                    </a:lnTo>
                    <a:lnTo>
                      <a:pt x="35" y="14"/>
                    </a:lnTo>
                    <a:lnTo>
                      <a:pt x="26" y="19"/>
                    </a:lnTo>
                    <a:lnTo>
                      <a:pt x="12" y="19"/>
                    </a:lnTo>
                  </a:path>
                </a:pathLst>
              </a:custGeom>
              <a:solidFill>
                <a:srgbClr val="7F7F7F"/>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81" name="Freeform 205"/>
              <p:cNvSpPr>
                <a:spLocks noChangeAspect="1"/>
              </p:cNvSpPr>
              <p:nvPr/>
            </p:nvSpPr>
            <p:spPr bwMode="auto">
              <a:xfrm>
                <a:off x="851" y="3544"/>
                <a:ext cx="23" cy="17"/>
              </a:xfrm>
              <a:custGeom>
                <a:avLst/>
                <a:gdLst>
                  <a:gd name="T0" fmla="*/ 18 w 23"/>
                  <a:gd name="T1" fmla="*/ 0 h 17"/>
                  <a:gd name="T2" fmla="*/ 2 w 23"/>
                  <a:gd name="T3" fmla="*/ 0 h 17"/>
                  <a:gd name="T4" fmla="*/ 0 w 23"/>
                  <a:gd name="T5" fmla="*/ 9 h 17"/>
                  <a:gd name="T6" fmla="*/ 8 w 23"/>
                  <a:gd name="T7" fmla="*/ 16 h 17"/>
                  <a:gd name="T8" fmla="*/ 22 w 23"/>
                  <a:gd name="T9" fmla="*/ 9 h 17"/>
                  <a:gd name="T10" fmla="*/ 18 w 23"/>
                  <a:gd name="T11" fmla="*/ 0 h 17"/>
                  <a:gd name="T12" fmla="*/ 0 60000 65536"/>
                  <a:gd name="T13" fmla="*/ 0 60000 65536"/>
                  <a:gd name="T14" fmla="*/ 0 60000 65536"/>
                  <a:gd name="T15" fmla="*/ 0 60000 65536"/>
                  <a:gd name="T16" fmla="*/ 0 60000 65536"/>
                  <a:gd name="T17" fmla="*/ 0 60000 65536"/>
                  <a:gd name="T18" fmla="*/ 0 w 23"/>
                  <a:gd name="T19" fmla="*/ 0 h 17"/>
                  <a:gd name="T20" fmla="*/ 23 w 23"/>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23" h="17">
                    <a:moveTo>
                      <a:pt x="18" y="0"/>
                    </a:moveTo>
                    <a:lnTo>
                      <a:pt x="2" y="0"/>
                    </a:lnTo>
                    <a:lnTo>
                      <a:pt x="0" y="9"/>
                    </a:lnTo>
                    <a:lnTo>
                      <a:pt x="8" y="16"/>
                    </a:lnTo>
                    <a:lnTo>
                      <a:pt x="22" y="9"/>
                    </a:lnTo>
                    <a:lnTo>
                      <a:pt x="18" y="0"/>
                    </a:lnTo>
                  </a:path>
                </a:pathLst>
              </a:custGeom>
              <a:solidFill>
                <a:srgbClr val="7F7F7F"/>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82" name="Oval 206"/>
              <p:cNvSpPr>
                <a:spLocks noChangeAspect="1" noChangeArrowheads="1"/>
              </p:cNvSpPr>
              <p:nvPr/>
            </p:nvSpPr>
            <p:spPr bwMode="auto">
              <a:xfrm>
                <a:off x="851" y="3538"/>
                <a:ext cx="8" cy="8"/>
              </a:xfrm>
              <a:prstGeom prst="ellipse">
                <a:avLst/>
              </a:prstGeom>
              <a:solidFill>
                <a:srgbClr val="CCCCCC"/>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83" name="Oval 207"/>
              <p:cNvSpPr>
                <a:spLocks noChangeAspect="1" noChangeArrowheads="1"/>
              </p:cNvSpPr>
              <p:nvPr/>
            </p:nvSpPr>
            <p:spPr bwMode="auto">
              <a:xfrm>
                <a:off x="856" y="3539"/>
                <a:ext cx="8" cy="8"/>
              </a:xfrm>
              <a:prstGeom prst="ellipse">
                <a:avLst/>
              </a:prstGeom>
              <a:solidFill>
                <a:srgbClr val="CCCCCC"/>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84" name="Oval 208"/>
              <p:cNvSpPr>
                <a:spLocks noChangeAspect="1" noChangeArrowheads="1"/>
              </p:cNvSpPr>
              <p:nvPr/>
            </p:nvSpPr>
            <p:spPr bwMode="auto">
              <a:xfrm>
                <a:off x="865" y="3540"/>
                <a:ext cx="8" cy="8"/>
              </a:xfrm>
              <a:prstGeom prst="ellipse">
                <a:avLst/>
              </a:prstGeom>
              <a:solidFill>
                <a:srgbClr val="CCCCCC"/>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85" name="Freeform 209"/>
              <p:cNvSpPr>
                <a:spLocks noChangeAspect="1"/>
              </p:cNvSpPr>
              <p:nvPr/>
            </p:nvSpPr>
            <p:spPr bwMode="auto">
              <a:xfrm>
                <a:off x="865" y="3529"/>
                <a:ext cx="17" cy="17"/>
              </a:xfrm>
              <a:custGeom>
                <a:avLst/>
                <a:gdLst>
                  <a:gd name="T0" fmla="*/ 16 w 17"/>
                  <a:gd name="T1" fmla="*/ 2 h 17"/>
                  <a:gd name="T2" fmla="*/ 12 w 17"/>
                  <a:gd name="T3" fmla="*/ 0 h 17"/>
                  <a:gd name="T4" fmla="*/ 4 w 17"/>
                  <a:gd name="T5" fmla="*/ 1 h 17"/>
                  <a:gd name="T6" fmla="*/ 1 w 17"/>
                  <a:gd name="T7" fmla="*/ 2 h 17"/>
                  <a:gd name="T8" fmla="*/ 0 w 17"/>
                  <a:gd name="T9" fmla="*/ 13 h 17"/>
                  <a:gd name="T10" fmla="*/ 8 w 17"/>
                  <a:gd name="T11" fmla="*/ 16 h 17"/>
                  <a:gd name="T12" fmla="*/ 16 w 17"/>
                  <a:gd name="T13" fmla="*/ 12 h 17"/>
                  <a:gd name="T14" fmla="*/ 16 w 17"/>
                  <a:gd name="T15" fmla="*/ 2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2"/>
                    </a:moveTo>
                    <a:lnTo>
                      <a:pt x="12" y="0"/>
                    </a:lnTo>
                    <a:lnTo>
                      <a:pt x="4" y="1"/>
                    </a:lnTo>
                    <a:lnTo>
                      <a:pt x="1" y="2"/>
                    </a:lnTo>
                    <a:lnTo>
                      <a:pt x="0" y="13"/>
                    </a:lnTo>
                    <a:lnTo>
                      <a:pt x="8" y="16"/>
                    </a:lnTo>
                    <a:lnTo>
                      <a:pt x="16" y="12"/>
                    </a:lnTo>
                    <a:lnTo>
                      <a:pt x="16" y="2"/>
                    </a:lnTo>
                  </a:path>
                </a:pathLst>
              </a:custGeom>
              <a:solidFill>
                <a:srgbClr val="66666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86" name="Line 210"/>
              <p:cNvSpPr>
                <a:spLocks noChangeAspect="1" noChangeShapeType="1"/>
              </p:cNvSpPr>
              <p:nvPr/>
            </p:nvSpPr>
            <p:spPr bwMode="auto">
              <a:xfrm flipH="1">
                <a:off x="858" y="3541"/>
                <a:ext cx="8"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87" name="Oval 211"/>
              <p:cNvSpPr>
                <a:spLocks noChangeAspect="1" noChangeArrowheads="1"/>
              </p:cNvSpPr>
              <p:nvPr/>
            </p:nvSpPr>
            <p:spPr bwMode="auto">
              <a:xfrm>
                <a:off x="833" y="3532"/>
                <a:ext cx="8" cy="8"/>
              </a:xfrm>
              <a:prstGeom prst="ellipse">
                <a:avLst/>
              </a:prstGeom>
              <a:solidFill>
                <a:srgbClr val="CCCCCC"/>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88" name="Oval 212"/>
              <p:cNvSpPr>
                <a:spLocks noChangeAspect="1" noChangeArrowheads="1"/>
              </p:cNvSpPr>
              <p:nvPr/>
            </p:nvSpPr>
            <p:spPr bwMode="auto">
              <a:xfrm>
                <a:off x="833" y="3547"/>
                <a:ext cx="8" cy="8"/>
              </a:xfrm>
              <a:prstGeom prst="ellipse">
                <a:avLst/>
              </a:prstGeom>
              <a:solidFill>
                <a:srgbClr val="CCCCCC"/>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89" name="Line 213"/>
              <p:cNvSpPr>
                <a:spLocks noChangeAspect="1" noChangeShapeType="1"/>
              </p:cNvSpPr>
              <p:nvPr/>
            </p:nvSpPr>
            <p:spPr bwMode="auto">
              <a:xfrm flipH="1" flipV="1">
                <a:off x="857" y="3525"/>
                <a:ext cx="10" cy="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90" name="Line 214"/>
              <p:cNvSpPr>
                <a:spLocks noChangeAspect="1" noChangeShapeType="1"/>
              </p:cNvSpPr>
              <p:nvPr/>
            </p:nvSpPr>
            <p:spPr bwMode="auto">
              <a:xfrm flipV="1">
                <a:off x="833" y="3524"/>
                <a:ext cx="5"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91" name="Freeform 215"/>
              <p:cNvSpPr>
                <a:spLocks noChangeAspect="1"/>
              </p:cNvSpPr>
              <p:nvPr/>
            </p:nvSpPr>
            <p:spPr bwMode="auto">
              <a:xfrm>
                <a:off x="832" y="3596"/>
                <a:ext cx="18" cy="17"/>
              </a:xfrm>
              <a:custGeom>
                <a:avLst/>
                <a:gdLst>
                  <a:gd name="T0" fmla="*/ 4 w 18"/>
                  <a:gd name="T1" fmla="*/ 0 h 17"/>
                  <a:gd name="T2" fmla="*/ 13 w 18"/>
                  <a:gd name="T3" fmla="*/ 2 h 17"/>
                  <a:gd name="T4" fmla="*/ 17 w 18"/>
                  <a:gd name="T5" fmla="*/ 5 h 17"/>
                  <a:gd name="T6" fmla="*/ 16 w 18"/>
                  <a:gd name="T7" fmla="*/ 13 h 17"/>
                  <a:gd name="T8" fmla="*/ 13 w 18"/>
                  <a:gd name="T9" fmla="*/ 16 h 17"/>
                  <a:gd name="T10" fmla="*/ 4 w 18"/>
                  <a:gd name="T11" fmla="*/ 14 h 17"/>
                  <a:gd name="T12" fmla="*/ 3 w 18"/>
                  <a:gd name="T13" fmla="*/ 12 h 17"/>
                  <a:gd name="T14" fmla="*/ 0 w 18"/>
                  <a:gd name="T15" fmla="*/ 5 h 17"/>
                  <a:gd name="T16" fmla="*/ 4 w 18"/>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17"/>
                  <a:gd name="T29" fmla="*/ 18 w 1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17">
                    <a:moveTo>
                      <a:pt x="4" y="0"/>
                    </a:moveTo>
                    <a:lnTo>
                      <a:pt x="13" y="2"/>
                    </a:lnTo>
                    <a:lnTo>
                      <a:pt x="17" y="5"/>
                    </a:lnTo>
                    <a:lnTo>
                      <a:pt x="16" y="13"/>
                    </a:lnTo>
                    <a:lnTo>
                      <a:pt x="13" y="16"/>
                    </a:lnTo>
                    <a:lnTo>
                      <a:pt x="4" y="14"/>
                    </a:lnTo>
                    <a:lnTo>
                      <a:pt x="3" y="12"/>
                    </a:lnTo>
                    <a:lnTo>
                      <a:pt x="0" y="5"/>
                    </a:lnTo>
                    <a:lnTo>
                      <a:pt x="4" y="0"/>
                    </a:lnTo>
                  </a:path>
                </a:pathLst>
              </a:custGeom>
              <a:solidFill>
                <a:srgbClr val="66666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92" name="Freeform 216"/>
              <p:cNvSpPr>
                <a:spLocks noChangeAspect="1"/>
              </p:cNvSpPr>
              <p:nvPr/>
            </p:nvSpPr>
            <p:spPr bwMode="auto">
              <a:xfrm>
                <a:off x="831" y="3600"/>
                <a:ext cx="17" cy="17"/>
              </a:xfrm>
              <a:custGeom>
                <a:avLst/>
                <a:gdLst>
                  <a:gd name="T0" fmla="*/ 2 w 17"/>
                  <a:gd name="T1" fmla="*/ 0 h 17"/>
                  <a:gd name="T2" fmla="*/ 13 w 17"/>
                  <a:gd name="T3" fmla="*/ 2 h 17"/>
                  <a:gd name="T4" fmla="*/ 16 w 17"/>
                  <a:gd name="T5" fmla="*/ 6 h 17"/>
                  <a:gd name="T6" fmla="*/ 16 w 17"/>
                  <a:gd name="T7" fmla="*/ 13 h 17"/>
                  <a:gd name="T8" fmla="*/ 13 w 17"/>
                  <a:gd name="T9" fmla="*/ 16 h 17"/>
                  <a:gd name="T10" fmla="*/ 2 w 17"/>
                  <a:gd name="T11" fmla="*/ 13 h 17"/>
                  <a:gd name="T12" fmla="*/ 0 w 17"/>
                  <a:gd name="T13" fmla="*/ 9 h 17"/>
                  <a:gd name="T14" fmla="*/ 0 w 17"/>
                  <a:gd name="T15" fmla="*/ 2 h 17"/>
                  <a:gd name="T16" fmla="*/ 2 w 17"/>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2" y="0"/>
                    </a:moveTo>
                    <a:lnTo>
                      <a:pt x="13" y="2"/>
                    </a:lnTo>
                    <a:lnTo>
                      <a:pt x="16" y="6"/>
                    </a:lnTo>
                    <a:lnTo>
                      <a:pt x="16" y="13"/>
                    </a:lnTo>
                    <a:lnTo>
                      <a:pt x="13" y="16"/>
                    </a:lnTo>
                    <a:lnTo>
                      <a:pt x="2" y="13"/>
                    </a:lnTo>
                    <a:lnTo>
                      <a:pt x="0" y="9"/>
                    </a:lnTo>
                    <a:lnTo>
                      <a:pt x="0" y="2"/>
                    </a:lnTo>
                    <a:lnTo>
                      <a:pt x="2" y="0"/>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93" name="Oval 217"/>
              <p:cNvSpPr>
                <a:spLocks noChangeAspect="1" noChangeArrowheads="1"/>
              </p:cNvSpPr>
              <p:nvPr/>
            </p:nvSpPr>
            <p:spPr bwMode="auto">
              <a:xfrm>
                <a:off x="856" y="3528"/>
                <a:ext cx="10" cy="8"/>
              </a:xfrm>
              <a:prstGeom prst="ellipse">
                <a:avLst/>
              </a:prstGeom>
              <a:solidFill>
                <a:srgbClr val="999999"/>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94" name="AutoShape 218"/>
              <p:cNvSpPr>
                <a:spLocks noChangeAspect="1" noChangeArrowheads="1"/>
              </p:cNvSpPr>
              <p:nvPr/>
            </p:nvSpPr>
            <p:spPr bwMode="auto">
              <a:xfrm>
                <a:off x="854" y="3505"/>
                <a:ext cx="16" cy="20"/>
              </a:xfrm>
              <a:prstGeom prst="roundRect">
                <a:avLst>
                  <a:gd name="adj" fmla="val 24894"/>
                </a:avLst>
              </a:pr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95" name="AutoShape 219"/>
              <p:cNvSpPr>
                <a:spLocks noChangeAspect="1" noChangeArrowheads="1"/>
              </p:cNvSpPr>
              <p:nvPr/>
            </p:nvSpPr>
            <p:spPr bwMode="auto">
              <a:xfrm>
                <a:off x="858" y="3509"/>
                <a:ext cx="8" cy="12"/>
              </a:xfrm>
              <a:prstGeom prst="roundRect">
                <a:avLst>
                  <a:gd name="adj" fmla="val 23042"/>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96" name="Freeform 220"/>
              <p:cNvSpPr>
                <a:spLocks noChangeAspect="1"/>
              </p:cNvSpPr>
              <p:nvPr/>
            </p:nvSpPr>
            <p:spPr bwMode="auto">
              <a:xfrm>
                <a:off x="857" y="3575"/>
                <a:ext cx="17" cy="17"/>
              </a:xfrm>
              <a:custGeom>
                <a:avLst/>
                <a:gdLst>
                  <a:gd name="T0" fmla="*/ 0 w 17"/>
                  <a:gd name="T1" fmla="*/ 5 h 17"/>
                  <a:gd name="T2" fmla="*/ 16 w 17"/>
                  <a:gd name="T3" fmla="*/ 0 h 17"/>
                  <a:gd name="T4" fmla="*/ 16 w 17"/>
                  <a:gd name="T5" fmla="*/ 11 h 17"/>
                  <a:gd name="T6" fmla="*/ 5 w 17"/>
                  <a:gd name="T7" fmla="*/ 16 h 17"/>
                  <a:gd name="T8" fmla="*/ 0 w 17"/>
                  <a:gd name="T9" fmla="*/ 16 h 17"/>
                  <a:gd name="T10" fmla="*/ 0 w 17"/>
                  <a:gd name="T11" fmla="*/ 5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5"/>
                    </a:moveTo>
                    <a:lnTo>
                      <a:pt x="16" y="0"/>
                    </a:lnTo>
                    <a:lnTo>
                      <a:pt x="16" y="11"/>
                    </a:lnTo>
                    <a:lnTo>
                      <a:pt x="5" y="16"/>
                    </a:lnTo>
                    <a:lnTo>
                      <a:pt x="0" y="16"/>
                    </a:lnTo>
                    <a:lnTo>
                      <a:pt x="0" y="5"/>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97" name="Freeform 221"/>
              <p:cNvSpPr>
                <a:spLocks noChangeAspect="1"/>
              </p:cNvSpPr>
              <p:nvPr/>
            </p:nvSpPr>
            <p:spPr bwMode="auto">
              <a:xfrm>
                <a:off x="848" y="3576"/>
                <a:ext cx="17" cy="17"/>
              </a:xfrm>
              <a:custGeom>
                <a:avLst/>
                <a:gdLst>
                  <a:gd name="T0" fmla="*/ 0 w 17"/>
                  <a:gd name="T1" fmla="*/ 0 h 17"/>
                  <a:gd name="T2" fmla="*/ 16 w 17"/>
                  <a:gd name="T3" fmla="*/ 0 h 17"/>
                  <a:gd name="T4" fmla="*/ 16 w 17"/>
                  <a:gd name="T5" fmla="*/ 16 h 17"/>
                  <a:gd name="T6" fmla="*/ 0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0"/>
                    </a:lnTo>
                    <a:lnTo>
                      <a:pt x="16" y="16"/>
                    </a:lnTo>
                    <a:lnTo>
                      <a:pt x="0" y="16"/>
                    </a:lnTo>
                    <a:lnTo>
                      <a:pt x="0" y="0"/>
                    </a:lnTo>
                  </a:path>
                </a:pathLst>
              </a:custGeom>
              <a:solidFill>
                <a:srgbClr val="B3B3B3"/>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98" name="Rectangle 222"/>
              <p:cNvSpPr>
                <a:spLocks noChangeAspect="1" noChangeArrowheads="1"/>
              </p:cNvSpPr>
              <p:nvPr/>
            </p:nvSpPr>
            <p:spPr bwMode="auto">
              <a:xfrm>
                <a:off x="853" y="3580"/>
                <a:ext cx="8" cy="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399" name="AutoShape 223"/>
              <p:cNvSpPr>
                <a:spLocks noChangeAspect="1" noChangeArrowheads="1"/>
              </p:cNvSpPr>
              <p:nvPr/>
            </p:nvSpPr>
            <p:spPr bwMode="auto">
              <a:xfrm>
                <a:off x="868" y="3556"/>
                <a:ext cx="16" cy="16"/>
              </a:xfrm>
              <a:prstGeom prst="roundRect">
                <a:avLst>
                  <a:gd name="adj" fmla="val 39417"/>
                </a:avLst>
              </a:pr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00" name="AutoShape 224"/>
              <p:cNvSpPr>
                <a:spLocks noChangeAspect="1" noChangeArrowheads="1"/>
              </p:cNvSpPr>
              <p:nvPr/>
            </p:nvSpPr>
            <p:spPr bwMode="auto">
              <a:xfrm>
                <a:off x="872" y="3560"/>
                <a:ext cx="8" cy="8"/>
              </a:xfrm>
              <a:prstGeom prst="roundRect">
                <a:avLst>
                  <a:gd name="adj" fmla="val 32792"/>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01" name="Freeform 225"/>
              <p:cNvSpPr>
                <a:spLocks noChangeAspect="1"/>
              </p:cNvSpPr>
              <p:nvPr/>
            </p:nvSpPr>
            <p:spPr bwMode="auto">
              <a:xfrm>
                <a:off x="848" y="3565"/>
                <a:ext cx="30" cy="17"/>
              </a:xfrm>
              <a:custGeom>
                <a:avLst/>
                <a:gdLst>
                  <a:gd name="T0" fmla="*/ 0 w 30"/>
                  <a:gd name="T1" fmla="*/ 14 h 17"/>
                  <a:gd name="T2" fmla="*/ 0 w 30"/>
                  <a:gd name="T3" fmla="*/ 3 h 17"/>
                  <a:gd name="T4" fmla="*/ 29 w 30"/>
                  <a:gd name="T5" fmla="*/ 0 h 17"/>
                  <a:gd name="T6" fmla="*/ 29 w 30"/>
                  <a:gd name="T7" fmla="*/ 11 h 17"/>
                  <a:gd name="T8" fmla="*/ 25 w 30"/>
                  <a:gd name="T9" fmla="*/ 13 h 17"/>
                  <a:gd name="T10" fmla="*/ 20 w 30"/>
                  <a:gd name="T11" fmla="*/ 14 h 17"/>
                  <a:gd name="T12" fmla="*/ 15 w 30"/>
                  <a:gd name="T13" fmla="*/ 16 h 17"/>
                  <a:gd name="T14" fmla="*/ 3 w 30"/>
                  <a:gd name="T15" fmla="*/ 16 h 17"/>
                  <a:gd name="T16" fmla="*/ 0 w 30"/>
                  <a:gd name="T17" fmla="*/ 14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17"/>
                  <a:gd name="T29" fmla="*/ 30 w 3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17">
                    <a:moveTo>
                      <a:pt x="0" y="14"/>
                    </a:moveTo>
                    <a:lnTo>
                      <a:pt x="0" y="3"/>
                    </a:lnTo>
                    <a:lnTo>
                      <a:pt x="29" y="0"/>
                    </a:lnTo>
                    <a:lnTo>
                      <a:pt x="29" y="11"/>
                    </a:lnTo>
                    <a:lnTo>
                      <a:pt x="25" y="13"/>
                    </a:lnTo>
                    <a:lnTo>
                      <a:pt x="20" y="14"/>
                    </a:lnTo>
                    <a:lnTo>
                      <a:pt x="15" y="16"/>
                    </a:lnTo>
                    <a:lnTo>
                      <a:pt x="3" y="16"/>
                    </a:lnTo>
                    <a:lnTo>
                      <a:pt x="0" y="14"/>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02" name="Freeform 226"/>
              <p:cNvSpPr>
                <a:spLocks noChangeAspect="1"/>
              </p:cNvSpPr>
              <p:nvPr/>
            </p:nvSpPr>
            <p:spPr bwMode="auto">
              <a:xfrm>
                <a:off x="865" y="3564"/>
                <a:ext cx="17" cy="17"/>
              </a:xfrm>
              <a:custGeom>
                <a:avLst/>
                <a:gdLst>
                  <a:gd name="T0" fmla="*/ 0 w 17"/>
                  <a:gd name="T1" fmla="*/ 0 h 17"/>
                  <a:gd name="T2" fmla="*/ 16 w 17"/>
                  <a:gd name="T3" fmla="*/ 0 h 17"/>
                  <a:gd name="T4" fmla="*/ 16 w 17"/>
                  <a:gd name="T5" fmla="*/ 16 h 17"/>
                  <a:gd name="T6" fmla="*/ 0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0"/>
                    </a:lnTo>
                    <a:lnTo>
                      <a:pt x="16" y="16"/>
                    </a:lnTo>
                    <a:lnTo>
                      <a:pt x="0" y="16"/>
                    </a:lnTo>
                    <a:lnTo>
                      <a:pt x="0" y="0"/>
                    </a:lnTo>
                  </a:path>
                </a:pathLst>
              </a:custGeom>
              <a:solidFill>
                <a:srgbClr val="B3B3B3"/>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403" name="Rectangle 227"/>
              <p:cNvSpPr>
                <a:spLocks noChangeAspect="1" noChangeArrowheads="1"/>
              </p:cNvSpPr>
              <p:nvPr/>
            </p:nvSpPr>
            <p:spPr bwMode="auto">
              <a:xfrm>
                <a:off x="871" y="3568"/>
                <a:ext cx="8" cy="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04" name="AutoShape 228"/>
              <p:cNvSpPr>
                <a:spLocks noChangeAspect="1" noChangeArrowheads="1"/>
              </p:cNvSpPr>
              <p:nvPr/>
            </p:nvSpPr>
            <p:spPr bwMode="auto">
              <a:xfrm>
                <a:off x="849" y="3561"/>
                <a:ext cx="16" cy="16"/>
              </a:xfrm>
              <a:prstGeom prst="roundRect">
                <a:avLst>
                  <a:gd name="adj" fmla="val 39801"/>
                </a:avLst>
              </a:pr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05" name="AutoShape 229"/>
              <p:cNvSpPr>
                <a:spLocks noChangeAspect="1" noChangeArrowheads="1"/>
              </p:cNvSpPr>
              <p:nvPr/>
            </p:nvSpPr>
            <p:spPr bwMode="auto">
              <a:xfrm>
                <a:off x="853" y="3565"/>
                <a:ext cx="8" cy="8"/>
              </a:xfrm>
              <a:prstGeom prst="roundRect">
                <a:avLst>
                  <a:gd name="adj" fmla="val 33056"/>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06" name="Freeform 230"/>
              <p:cNvSpPr>
                <a:spLocks noChangeAspect="1"/>
              </p:cNvSpPr>
              <p:nvPr/>
            </p:nvSpPr>
            <p:spPr bwMode="auto">
              <a:xfrm>
                <a:off x="847" y="3567"/>
                <a:ext cx="17" cy="17"/>
              </a:xfrm>
              <a:custGeom>
                <a:avLst/>
                <a:gdLst>
                  <a:gd name="T0" fmla="*/ 0 w 17"/>
                  <a:gd name="T1" fmla="*/ 0 h 17"/>
                  <a:gd name="T2" fmla="*/ 16 w 17"/>
                  <a:gd name="T3" fmla="*/ 0 h 17"/>
                  <a:gd name="T4" fmla="*/ 16 w 17"/>
                  <a:gd name="T5" fmla="*/ 16 h 17"/>
                  <a:gd name="T6" fmla="*/ 0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0"/>
                    </a:lnTo>
                    <a:lnTo>
                      <a:pt x="16" y="16"/>
                    </a:lnTo>
                    <a:lnTo>
                      <a:pt x="0" y="16"/>
                    </a:lnTo>
                    <a:lnTo>
                      <a:pt x="0" y="0"/>
                    </a:lnTo>
                  </a:path>
                </a:pathLst>
              </a:custGeom>
              <a:solidFill>
                <a:srgbClr val="B3B3B3"/>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407" name="Rectangle 231"/>
              <p:cNvSpPr>
                <a:spLocks noChangeAspect="1" noChangeArrowheads="1"/>
              </p:cNvSpPr>
              <p:nvPr/>
            </p:nvSpPr>
            <p:spPr bwMode="auto">
              <a:xfrm>
                <a:off x="852" y="3571"/>
                <a:ext cx="8" cy="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08" name="Freeform 232"/>
              <p:cNvSpPr>
                <a:spLocks noChangeAspect="1"/>
              </p:cNvSpPr>
              <p:nvPr/>
            </p:nvSpPr>
            <p:spPr bwMode="auto">
              <a:xfrm>
                <a:off x="848" y="3567"/>
                <a:ext cx="30" cy="17"/>
              </a:xfrm>
              <a:custGeom>
                <a:avLst/>
                <a:gdLst>
                  <a:gd name="T0" fmla="*/ 0 w 30"/>
                  <a:gd name="T1" fmla="*/ 12 h 17"/>
                  <a:gd name="T2" fmla="*/ 3 w 30"/>
                  <a:gd name="T3" fmla="*/ 16 h 17"/>
                  <a:gd name="T4" fmla="*/ 12 w 30"/>
                  <a:gd name="T5" fmla="*/ 11 h 17"/>
                  <a:gd name="T6" fmla="*/ 18 w 30"/>
                  <a:gd name="T7" fmla="*/ 3 h 17"/>
                  <a:gd name="T8" fmla="*/ 25 w 30"/>
                  <a:gd name="T9" fmla="*/ 4 h 17"/>
                  <a:gd name="T10" fmla="*/ 29 w 30"/>
                  <a:gd name="T11" fmla="*/ 0 h 17"/>
                  <a:gd name="T12" fmla="*/ 0 60000 65536"/>
                  <a:gd name="T13" fmla="*/ 0 60000 65536"/>
                  <a:gd name="T14" fmla="*/ 0 60000 65536"/>
                  <a:gd name="T15" fmla="*/ 0 60000 65536"/>
                  <a:gd name="T16" fmla="*/ 0 60000 65536"/>
                  <a:gd name="T17" fmla="*/ 0 60000 65536"/>
                  <a:gd name="T18" fmla="*/ 0 w 30"/>
                  <a:gd name="T19" fmla="*/ 0 h 17"/>
                  <a:gd name="T20" fmla="*/ 30 w 30"/>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0" h="17">
                    <a:moveTo>
                      <a:pt x="0" y="12"/>
                    </a:moveTo>
                    <a:lnTo>
                      <a:pt x="3" y="16"/>
                    </a:lnTo>
                    <a:lnTo>
                      <a:pt x="12" y="11"/>
                    </a:lnTo>
                    <a:lnTo>
                      <a:pt x="18" y="3"/>
                    </a:lnTo>
                    <a:lnTo>
                      <a:pt x="25" y="4"/>
                    </a:lnTo>
                    <a:lnTo>
                      <a:pt x="29"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09" name="Freeform 233"/>
              <p:cNvSpPr>
                <a:spLocks noChangeAspect="1"/>
              </p:cNvSpPr>
              <p:nvPr/>
            </p:nvSpPr>
            <p:spPr bwMode="auto">
              <a:xfrm>
                <a:off x="905" y="3659"/>
                <a:ext cx="67" cy="93"/>
              </a:xfrm>
              <a:custGeom>
                <a:avLst/>
                <a:gdLst>
                  <a:gd name="T0" fmla="*/ 0 w 67"/>
                  <a:gd name="T1" fmla="*/ 41 h 93"/>
                  <a:gd name="T2" fmla="*/ 4 w 67"/>
                  <a:gd name="T3" fmla="*/ 31 h 93"/>
                  <a:gd name="T4" fmla="*/ 7 w 67"/>
                  <a:gd name="T5" fmla="*/ 23 h 93"/>
                  <a:gd name="T6" fmla="*/ 17 w 67"/>
                  <a:gd name="T7" fmla="*/ 9 h 93"/>
                  <a:gd name="T8" fmla="*/ 23 w 67"/>
                  <a:gd name="T9" fmla="*/ 4 h 93"/>
                  <a:gd name="T10" fmla="*/ 29 w 67"/>
                  <a:gd name="T11" fmla="*/ 1 h 93"/>
                  <a:gd name="T12" fmla="*/ 36 w 67"/>
                  <a:gd name="T13" fmla="*/ 0 h 93"/>
                  <a:gd name="T14" fmla="*/ 42 w 67"/>
                  <a:gd name="T15" fmla="*/ 0 h 93"/>
                  <a:gd name="T16" fmla="*/ 49 w 67"/>
                  <a:gd name="T17" fmla="*/ 1 h 93"/>
                  <a:gd name="T18" fmla="*/ 54 w 67"/>
                  <a:gd name="T19" fmla="*/ 4 h 93"/>
                  <a:gd name="T20" fmla="*/ 58 w 67"/>
                  <a:gd name="T21" fmla="*/ 10 h 93"/>
                  <a:gd name="T22" fmla="*/ 62 w 67"/>
                  <a:gd name="T23" fmla="*/ 16 h 93"/>
                  <a:gd name="T24" fmla="*/ 66 w 67"/>
                  <a:gd name="T25" fmla="*/ 31 h 93"/>
                  <a:gd name="T26" fmla="*/ 65 w 67"/>
                  <a:gd name="T27" fmla="*/ 51 h 93"/>
                  <a:gd name="T28" fmla="*/ 61 w 67"/>
                  <a:gd name="T29" fmla="*/ 60 h 93"/>
                  <a:gd name="T30" fmla="*/ 57 w 67"/>
                  <a:gd name="T31" fmla="*/ 68 h 93"/>
                  <a:gd name="T32" fmla="*/ 48 w 67"/>
                  <a:gd name="T33" fmla="*/ 82 h 93"/>
                  <a:gd name="T34" fmla="*/ 42 w 67"/>
                  <a:gd name="T35" fmla="*/ 87 h 93"/>
                  <a:gd name="T36" fmla="*/ 36 w 67"/>
                  <a:gd name="T37" fmla="*/ 90 h 93"/>
                  <a:gd name="T38" fmla="*/ 29 w 67"/>
                  <a:gd name="T39" fmla="*/ 92 h 93"/>
                  <a:gd name="T40" fmla="*/ 23 w 67"/>
                  <a:gd name="T41" fmla="*/ 92 h 93"/>
                  <a:gd name="T42" fmla="*/ 16 w 67"/>
                  <a:gd name="T43" fmla="*/ 90 h 93"/>
                  <a:gd name="T44" fmla="*/ 11 w 67"/>
                  <a:gd name="T45" fmla="*/ 87 h 93"/>
                  <a:gd name="T46" fmla="*/ 7 w 67"/>
                  <a:gd name="T47" fmla="*/ 82 h 93"/>
                  <a:gd name="T48" fmla="*/ 3 w 67"/>
                  <a:gd name="T49" fmla="*/ 75 h 93"/>
                  <a:gd name="T50" fmla="*/ 0 w 67"/>
                  <a:gd name="T51" fmla="*/ 60 h 93"/>
                  <a:gd name="T52" fmla="*/ 0 w 67"/>
                  <a:gd name="T53" fmla="*/ 41 h 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7"/>
                  <a:gd name="T82" fmla="*/ 0 h 93"/>
                  <a:gd name="T83" fmla="*/ 67 w 67"/>
                  <a:gd name="T84" fmla="*/ 93 h 9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7" h="93">
                    <a:moveTo>
                      <a:pt x="0" y="41"/>
                    </a:moveTo>
                    <a:lnTo>
                      <a:pt x="4" y="31"/>
                    </a:lnTo>
                    <a:lnTo>
                      <a:pt x="7" y="23"/>
                    </a:lnTo>
                    <a:lnTo>
                      <a:pt x="17" y="9"/>
                    </a:lnTo>
                    <a:lnTo>
                      <a:pt x="23" y="4"/>
                    </a:lnTo>
                    <a:lnTo>
                      <a:pt x="29" y="1"/>
                    </a:lnTo>
                    <a:lnTo>
                      <a:pt x="36" y="0"/>
                    </a:lnTo>
                    <a:lnTo>
                      <a:pt x="42" y="0"/>
                    </a:lnTo>
                    <a:lnTo>
                      <a:pt x="49" y="1"/>
                    </a:lnTo>
                    <a:lnTo>
                      <a:pt x="54" y="4"/>
                    </a:lnTo>
                    <a:lnTo>
                      <a:pt x="58" y="10"/>
                    </a:lnTo>
                    <a:lnTo>
                      <a:pt x="62" y="16"/>
                    </a:lnTo>
                    <a:lnTo>
                      <a:pt x="66" y="31"/>
                    </a:lnTo>
                    <a:lnTo>
                      <a:pt x="65" y="51"/>
                    </a:lnTo>
                    <a:lnTo>
                      <a:pt x="61" y="60"/>
                    </a:lnTo>
                    <a:lnTo>
                      <a:pt x="57" y="68"/>
                    </a:lnTo>
                    <a:lnTo>
                      <a:pt x="48" y="82"/>
                    </a:lnTo>
                    <a:lnTo>
                      <a:pt x="42" y="87"/>
                    </a:lnTo>
                    <a:lnTo>
                      <a:pt x="36" y="90"/>
                    </a:lnTo>
                    <a:lnTo>
                      <a:pt x="29" y="92"/>
                    </a:lnTo>
                    <a:lnTo>
                      <a:pt x="23" y="92"/>
                    </a:lnTo>
                    <a:lnTo>
                      <a:pt x="16" y="90"/>
                    </a:lnTo>
                    <a:lnTo>
                      <a:pt x="11" y="87"/>
                    </a:lnTo>
                    <a:lnTo>
                      <a:pt x="7" y="82"/>
                    </a:lnTo>
                    <a:lnTo>
                      <a:pt x="3" y="75"/>
                    </a:lnTo>
                    <a:lnTo>
                      <a:pt x="0" y="60"/>
                    </a:lnTo>
                    <a:lnTo>
                      <a:pt x="0" y="41"/>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0" name="Freeform 234"/>
              <p:cNvSpPr>
                <a:spLocks noChangeAspect="1"/>
              </p:cNvSpPr>
              <p:nvPr/>
            </p:nvSpPr>
            <p:spPr bwMode="auto">
              <a:xfrm>
                <a:off x="960" y="3678"/>
                <a:ext cx="17" cy="17"/>
              </a:xfrm>
              <a:custGeom>
                <a:avLst/>
                <a:gdLst>
                  <a:gd name="T0" fmla="*/ 0 w 17"/>
                  <a:gd name="T1" fmla="*/ 6 h 17"/>
                  <a:gd name="T2" fmla="*/ 5 w 17"/>
                  <a:gd name="T3" fmla="*/ 3 h 17"/>
                  <a:gd name="T4" fmla="*/ 10 w 17"/>
                  <a:gd name="T5" fmla="*/ 0 h 17"/>
                  <a:gd name="T6" fmla="*/ 16 w 17"/>
                  <a:gd name="T7" fmla="*/ 3 h 17"/>
                  <a:gd name="T8" fmla="*/ 16 w 17"/>
                  <a:gd name="T9" fmla="*/ 8 h 17"/>
                  <a:gd name="T10" fmla="*/ 10 w 17"/>
                  <a:gd name="T11" fmla="*/ 13 h 17"/>
                  <a:gd name="T12" fmla="*/ 5 w 17"/>
                  <a:gd name="T13" fmla="*/ 16 h 17"/>
                  <a:gd name="T14" fmla="*/ 0 w 17"/>
                  <a:gd name="T15" fmla="*/ 13 h 17"/>
                  <a:gd name="T16" fmla="*/ 0 w 17"/>
                  <a:gd name="T17" fmla="*/ 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6"/>
                    </a:moveTo>
                    <a:lnTo>
                      <a:pt x="5" y="3"/>
                    </a:lnTo>
                    <a:lnTo>
                      <a:pt x="10" y="0"/>
                    </a:lnTo>
                    <a:lnTo>
                      <a:pt x="16" y="3"/>
                    </a:lnTo>
                    <a:lnTo>
                      <a:pt x="16" y="8"/>
                    </a:lnTo>
                    <a:lnTo>
                      <a:pt x="10" y="13"/>
                    </a:lnTo>
                    <a:lnTo>
                      <a:pt x="5" y="16"/>
                    </a:lnTo>
                    <a:lnTo>
                      <a:pt x="0" y="13"/>
                    </a:lnTo>
                    <a:lnTo>
                      <a:pt x="0" y="6"/>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1" name="Freeform 235"/>
              <p:cNvSpPr>
                <a:spLocks noChangeAspect="1"/>
              </p:cNvSpPr>
              <p:nvPr/>
            </p:nvSpPr>
            <p:spPr bwMode="auto">
              <a:xfrm>
                <a:off x="960" y="3706"/>
                <a:ext cx="17" cy="17"/>
              </a:xfrm>
              <a:custGeom>
                <a:avLst/>
                <a:gdLst>
                  <a:gd name="T0" fmla="*/ 0 w 17"/>
                  <a:gd name="T1" fmla="*/ 7 h 17"/>
                  <a:gd name="T2" fmla="*/ 5 w 17"/>
                  <a:gd name="T3" fmla="*/ 1 h 17"/>
                  <a:gd name="T4" fmla="*/ 10 w 17"/>
                  <a:gd name="T5" fmla="*/ 0 h 17"/>
                  <a:gd name="T6" fmla="*/ 16 w 17"/>
                  <a:gd name="T7" fmla="*/ 3 h 17"/>
                  <a:gd name="T8" fmla="*/ 16 w 17"/>
                  <a:gd name="T9" fmla="*/ 8 h 17"/>
                  <a:gd name="T10" fmla="*/ 10 w 17"/>
                  <a:gd name="T11" fmla="*/ 14 h 17"/>
                  <a:gd name="T12" fmla="*/ 5 w 17"/>
                  <a:gd name="T13" fmla="*/ 16 h 17"/>
                  <a:gd name="T14" fmla="*/ 0 w 17"/>
                  <a:gd name="T15" fmla="*/ 12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5" y="1"/>
                    </a:lnTo>
                    <a:lnTo>
                      <a:pt x="10" y="0"/>
                    </a:lnTo>
                    <a:lnTo>
                      <a:pt x="16" y="3"/>
                    </a:lnTo>
                    <a:lnTo>
                      <a:pt x="16" y="8"/>
                    </a:lnTo>
                    <a:lnTo>
                      <a:pt x="10" y="14"/>
                    </a:lnTo>
                    <a:lnTo>
                      <a:pt x="5" y="16"/>
                    </a:lnTo>
                    <a:lnTo>
                      <a:pt x="0" y="12"/>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2" name="Freeform 236"/>
              <p:cNvSpPr>
                <a:spLocks noChangeAspect="1"/>
              </p:cNvSpPr>
              <p:nvPr/>
            </p:nvSpPr>
            <p:spPr bwMode="auto">
              <a:xfrm>
                <a:off x="946" y="3728"/>
                <a:ext cx="17" cy="17"/>
              </a:xfrm>
              <a:custGeom>
                <a:avLst/>
                <a:gdLst>
                  <a:gd name="T0" fmla="*/ 0 w 17"/>
                  <a:gd name="T1" fmla="*/ 6 h 17"/>
                  <a:gd name="T2" fmla="*/ 5 w 17"/>
                  <a:gd name="T3" fmla="*/ 2 h 17"/>
                  <a:gd name="T4" fmla="*/ 10 w 17"/>
                  <a:gd name="T5" fmla="*/ 0 h 17"/>
                  <a:gd name="T6" fmla="*/ 16 w 17"/>
                  <a:gd name="T7" fmla="*/ 2 h 17"/>
                  <a:gd name="T8" fmla="*/ 16 w 17"/>
                  <a:gd name="T9" fmla="*/ 7 h 17"/>
                  <a:gd name="T10" fmla="*/ 10 w 17"/>
                  <a:gd name="T11" fmla="*/ 13 h 17"/>
                  <a:gd name="T12" fmla="*/ 5 w 17"/>
                  <a:gd name="T13" fmla="*/ 16 h 17"/>
                  <a:gd name="T14" fmla="*/ 0 w 17"/>
                  <a:gd name="T15" fmla="*/ 13 h 17"/>
                  <a:gd name="T16" fmla="*/ 0 w 17"/>
                  <a:gd name="T17" fmla="*/ 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6"/>
                    </a:moveTo>
                    <a:lnTo>
                      <a:pt x="5" y="2"/>
                    </a:lnTo>
                    <a:lnTo>
                      <a:pt x="10" y="0"/>
                    </a:lnTo>
                    <a:lnTo>
                      <a:pt x="16" y="2"/>
                    </a:lnTo>
                    <a:lnTo>
                      <a:pt x="16" y="7"/>
                    </a:lnTo>
                    <a:lnTo>
                      <a:pt x="10" y="13"/>
                    </a:lnTo>
                    <a:lnTo>
                      <a:pt x="5" y="16"/>
                    </a:lnTo>
                    <a:lnTo>
                      <a:pt x="0" y="13"/>
                    </a:lnTo>
                    <a:lnTo>
                      <a:pt x="0" y="6"/>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3" name="Freeform 237"/>
              <p:cNvSpPr>
                <a:spLocks noChangeAspect="1"/>
              </p:cNvSpPr>
              <p:nvPr/>
            </p:nvSpPr>
            <p:spPr bwMode="auto">
              <a:xfrm>
                <a:off x="925" y="3736"/>
                <a:ext cx="17" cy="17"/>
              </a:xfrm>
              <a:custGeom>
                <a:avLst/>
                <a:gdLst>
                  <a:gd name="T0" fmla="*/ 0 w 17"/>
                  <a:gd name="T1" fmla="*/ 7 h 17"/>
                  <a:gd name="T2" fmla="*/ 5 w 17"/>
                  <a:gd name="T3" fmla="*/ 1 h 17"/>
                  <a:gd name="T4" fmla="*/ 10 w 17"/>
                  <a:gd name="T5" fmla="*/ 0 h 17"/>
                  <a:gd name="T6" fmla="*/ 16 w 17"/>
                  <a:gd name="T7" fmla="*/ 3 h 17"/>
                  <a:gd name="T8" fmla="*/ 16 w 17"/>
                  <a:gd name="T9" fmla="*/ 8 h 17"/>
                  <a:gd name="T10" fmla="*/ 10 w 17"/>
                  <a:gd name="T11" fmla="*/ 14 h 17"/>
                  <a:gd name="T12" fmla="*/ 5 w 17"/>
                  <a:gd name="T13" fmla="*/ 16 h 17"/>
                  <a:gd name="T14" fmla="*/ 0 w 17"/>
                  <a:gd name="T15" fmla="*/ 12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5" y="1"/>
                    </a:lnTo>
                    <a:lnTo>
                      <a:pt x="10" y="0"/>
                    </a:lnTo>
                    <a:lnTo>
                      <a:pt x="16" y="3"/>
                    </a:lnTo>
                    <a:lnTo>
                      <a:pt x="16" y="8"/>
                    </a:lnTo>
                    <a:lnTo>
                      <a:pt x="10" y="14"/>
                    </a:lnTo>
                    <a:lnTo>
                      <a:pt x="5" y="16"/>
                    </a:lnTo>
                    <a:lnTo>
                      <a:pt x="0" y="12"/>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4" name="Freeform 238"/>
              <p:cNvSpPr>
                <a:spLocks noChangeAspect="1"/>
              </p:cNvSpPr>
              <p:nvPr/>
            </p:nvSpPr>
            <p:spPr bwMode="auto">
              <a:xfrm>
                <a:off x="909" y="3719"/>
                <a:ext cx="17" cy="17"/>
              </a:xfrm>
              <a:custGeom>
                <a:avLst/>
                <a:gdLst>
                  <a:gd name="T0" fmla="*/ 0 w 17"/>
                  <a:gd name="T1" fmla="*/ 6 h 17"/>
                  <a:gd name="T2" fmla="*/ 4 w 17"/>
                  <a:gd name="T3" fmla="*/ 2 h 17"/>
                  <a:gd name="T4" fmla="*/ 10 w 17"/>
                  <a:gd name="T5" fmla="*/ 0 h 17"/>
                  <a:gd name="T6" fmla="*/ 16 w 17"/>
                  <a:gd name="T7" fmla="*/ 2 h 17"/>
                  <a:gd name="T8" fmla="*/ 16 w 17"/>
                  <a:gd name="T9" fmla="*/ 8 h 17"/>
                  <a:gd name="T10" fmla="*/ 13 w 17"/>
                  <a:gd name="T11" fmla="*/ 13 h 17"/>
                  <a:gd name="T12" fmla="*/ 4 w 17"/>
                  <a:gd name="T13" fmla="*/ 16 h 17"/>
                  <a:gd name="T14" fmla="*/ 0 w 17"/>
                  <a:gd name="T15" fmla="*/ 12 h 17"/>
                  <a:gd name="T16" fmla="*/ 0 w 17"/>
                  <a:gd name="T17" fmla="*/ 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6"/>
                    </a:moveTo>
                    <a:lnTo>
                      <a:pt x="4" y="2"/>
                    </a:lnTo>
                    <a:lnTo>
                      <a:pt x="10" y="0"/>
                    </a:lnTo>
                    <a:lnTo>
                      <a:pt x="16" y="2"/>
                    </a:lnTo>
                    <a:lnTo>
                      <a:pt x="16" y="8"/>
                    </a:lnTo>
                    <a:lnTo>
                      <a:pt x="13" y="13"/>
                    </a:lnTo>
                    <a:lnTo>
                      <a:pt x="4" y="16"/>
                    </a:lnTo>
                    <a:lnTo>
                      <a:pt x="0" y="12"/>
                    </a:lnTo>
                    <a:lnTo>
                      <a:pt x="0" y="6"/>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5" name="Freeform 239"/>
              <p:cNvSpPr>
                <a:spLocks noChangeAspect="1"/>
              </p:cNvSpPr>
              <p:nvPr/>
            </p:nvSpPr>
            <p:spPr bwMode="auto">
              <a:xfrm>
                <a:off x="909" y="3693"/>
                <a:ext cx="17" cy="17"/>
              </a:xfrm>
              <a:custGeom>
                <a:avLst/>
                <a:gdLst>
                  <a:gd name="T0" fmla="*/ 0 w 17"/>
                  <a:gd name="T1" fmla="*/ 7 h 17"/>
                  <a:gd name="T2" fmla="*/ 5 w 17"/>
                  <a:gd name="T3" fmla="*/ 1 h 17"/>
                  <a:gd name="T4" fmla="*/ 10 w 17"/>
                  <a:gd name="T5" fmla="*/ 0 h 17"/>
                  <a:gd name="T6" fmla="*/ 16 w 17"/>
                  <a:gd name="T7" fmla="*/ 3 h 17"/>
                  <a:gd name="T8" fmla="*/ 16 w 17"/>
                  <a:gd name="T9" fmla="*/ 8 h 17"/>
                  <a:gd name="T10" fmla="*/ 10 w 17"/>
                  <a:gd name="T11" fmla="*/ 14 h 17"/>
                  <a:gd name="T12" fmla="*/ 5 w 17"/>
                  <a:gd name="T13" fmla="*/ 16 h 17"/>
                  <a:gd name="T14" fmla="*/ 0 w 17"/>
                  <a:gd name="T15" fmla="*/ 12 h 17"/>
                  <a:gd name="T16" fmla="*/ 0 w 17"/>
                  <a:gd name="T17" fmla="*/ 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7"/>
                    </a:moveTo>
                    <a:lnTo>
                      <a:pt x="5" y="1"/>
                    </a:lnTo>
                    <a:lnTo>
                      <a:pt x="10" y="0"/>
                    </a:lnTo>
                    <a:lnTo>
                      <a:pt x="16" y="3"/>
                    </a:lnTo>
                    <a:lnTo>
                      <a:pt x="16" y="8"/>
                    </a:lnTo>
                    <a:lnTo>
                      <a:pt x="10" y="14"/>
                    </a:lnTo>
                    <a:lnTo>
                      <a:pt x="5" y="16"/>
                    </a:lnTo>
                    <a:lnTo>
                      <a:pt x="0" y="12"/>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6" name="Freeform 240"/>
              <p:cNvSpPr>
                <a:spLocks noChangeAspect="1"/>
              </p:cNvSpPr>
              <p:nvPr/>
            </p:nvSpPr>
            <p:spPr bwMode="auto">
              <a:xfrm>
                <a:off x="925" y="3669"/>
                <a:ext cx="17" cy="17"/>
              </a:xfrm>
              <a:custGeom>
                <a:avLst/>
                <a:gdLst>
                  <a:gd name="T0" fmla="*/ 0 w 17"/>
                  <a:gd name="T1" fmla="*/ 6 h 17"/>
                  <a:gd name="T2" fmla="*/ 5 w 17"/>
                  <a:gd name="T3" fmla="*/ 2 h 17"/>
                  <a:gd name="T4" fmla="*/ 10 w 17"/>
                  <a:gd name="T5" fmla="*/ 0 h 17"/>
                  <a:gd name="T6" fmla="*/ 16 w 17"/>
                  <a:gd name="T7" fmla="*/ 2 h 17"/>
                  <a:gd name="T8" fmla="*/ 16 w 17"/>
                  <a:gd name="T9" fmla="*/ 8 h 17"/>
                  <a:gd name="T10" fmla="*/ 10 w 17"/>
                  <a:gd name="T11" fmla="*/ 13 h 17"/>
                  <a:gd name="T12" fmla="*/ 5 w 17"/>
                  <a:gd name="T13" fmla="*/ 16 h 17"/>
                  <a:gd name="T14" fmla="*/ 0 w 17"/>
                  <a:gd name="T15" fmla="*/ 13 h 17"/>
                  <a:gd name="T16" fmla="*/ 0 w 17"/>
                  <a:gd name="T17" fmla="*/ 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6"/>
                    </a:moveTo>
                    <a:lnTo>
                      <a:pt x="5" y="2"/>
                    </a:lnTo>
                    <a:lnTo>
                      <a:pt x="10" y="0"/>
                    </a:lnTo>
                    <a:lnTo>
                      <a:pt x="16" y="2"/>
                    </a:lnTo>
                    <a:lnTo>
                      <a:pt x="16" y="8"/>
                    </a:lnTo>
                    <a:lnTo>
                      <a:pt x="10" y="13"/>
                    </a:lnTo>
                    <a:lnTo>
                      <a:pt x="5" y="16"/>
                    </a:lnTo>
                    <a:lnTo>
                      <a:pt x="0" y="13"/>
                    </a:lnTo>
                    <a:lnTo>
                      <a:pt x="0" y="6"/>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17" name="Freeform 241"/>
              <p:cNvSpPr>
                <a:spLocks noChangeAspect="1"/>
              </p:cNvSpPr>
              <p:nvPr/>
            </p:nvSpPr>
            <p:spPr bwMode="auto">
              <a:xfrm>
                <a:off x="876" y="3636"/>
                <a:ext cx="17" cy="17"/>
              </a:xfrm>
              <a:custGeom>
                <a:avLst/>
                <a:gdLst>
                  <a:gd name="T0" fmla="*/ 0 w 17"/>
                  <a:gd name="T1" fmla="*/ 2 h 17"/>
                  <a:gd name="T2" fmla="*/ 8 w 17"/>
                  <a:gd name="T3" fmla="*/ 0 h 17"/>
                  <a:gd name="T4" fmla="*/ 16 w 17"/>
                  <a:gd name="T5" fmla="*/ 2 h 17"/>
                  <a:gd name="T6" fmla="*/ 13 w 17"/>
                  <a:gd name="T7" fmla="*/ 10 h 17"/>
                  <a:gd name="T8" fmla="*/ 8 w 17"/>
                  <a:gd name="T9" fmla="*/ 16 h 17"/>
                  <a:gd name="T10" fmla="*/ 2 w 17"/>
                  <a:gd name="T11" fmla="*/ 10 h 17"/>
                  <a:gd name="T12" fmla="*/ 0 w 17"/>
                  <a:gd name="T13" fmla="*/ 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2"/>
                    </a:moveTo>
                    <a:lnTo>
                      <a:pt x="8" y="0"/>
                    </a:lnTo>
                    <a:lnTo>
                      <a:pt x="16" y="2"/>
                    </a:lnTo>
                    <a:lnTo>
                      <a:pt x="13" y="10"/>
                    </a:lnTo>
                    <a:lnTo>
                      <a:pt x="8" y="16"/>
                    </a:lnTo>
                    <a:lnTo>
                      <a:pt x="2" y="10"/>
                    </a:lnTo>
                    <a:lnTo>
                      <a:pt x="0" y="2"/>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18" name="Freeform 242"/>
              <p:cNvSpPr>
                <a:spLocks noChangeAspect="1"/>
              </p:cNvSpPr>
              <p:nvPr/>
            </p:nvSpPr>
            <p:spPr bwMode="auto">
              <a:xfrm>
                <a:off x="876" y="3637"/>
                <a:ext cx="17" cy="17"/>
              </a:xfrm>
              <a:custGeom>
                <a:avLst/>
                <a:gdLst>
                  <a:gd name="T0" fmla="*/ 16 w 17"/>
                  <a:gd name="T1" fmla="*/ 13 h 17"/>
                  <a:gd name="T2" fmla="*/ 8 w 17"/>
                  <a:gd name="T3" fmla="*/ 16 h 17"/>
                  <a:gd name="T4" fmla="*/ 0 w 17"/>
                  <a:gd name="T5" fmla="*/ 13 h 17"/>
                  <a:gd name="T6" fmla="*/ 0 w 17"/>
                  <a:gd name="T7" fmla="*/ 0 h 17"/>
                  <a:gd name="T8" fmla="*/ 3 w 17"/>
                  <a:gd name="T9" fmla="*/ 2 h 17"/>
                  <a:gd name="T10" fmla="*/ 8 w 17"/>
                  <a:gd name="T11" fmla="*/ 2 h 17"/>
                  <a:gd name="T12" fmla="*/ 13 w 17"/>
                  <a:gd name="T13" fmla="*/ 2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3" y="2"/>
                    </a:lnTo>
                    <a:lnTo>
                      <a:pt x="8" y="2"/>
                    </a:lnTo>
                    <a:lnTo>
                      <a:pt x="13" y="2"/>
                    </a:lnTo>
                    <a:lnTo>
                      <a:pt x="16" y="0"/>
                    </a:lnTo>
                    <a:lnTo>
                      <a:pt x="16" y="13"/>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19" name="Line 243"/>
              <p:cNvSpPr>
                <a:spLocks noChangeAspect="1" noChangeShapeType="1"/>
              </p:cNvSpPr>
              <p:nvPr/>
            </p:nvSpPr>
            <p:spPr bwMode="auto">
              <a:xfrm>
                <a:off x="879" y="3637"/>
                <a:ext cx="0"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20" name="Line 244"/>
              <p:cNvSpPr>
                <a:spLocks noChangeAspect="1" noChangeShapeType="1"/>
              </p:cNvSpPr>
              <p:nvPr/>
            </p:nvSpPr>
            <p:spPr bwMode="auto">
              <a:xfrm>
                <a:off x="888" y="3637"/>
                <a:ext cx="0"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21" name="Freeform 245"/>
              <p:cNvSpPr>
                <a:spLocks noChangeAspect="1"/>
              </p:cNvSpPr>
              <p:nvPr/>
            </p:nvSpPr>
            <p:spPr bwMode="auto">
              <a:xfrm>
                <a:off x="880" y="3636"/>
                <a:ext cx="17" cy="17"/>
              </a:xfrm>
              <a:custGeom>
                <a:avLst/>
                <a:gdLst>
                  <a:gd name="T0" fmla="*/ 16 w 17"/>
                  <a:gd name="T1" fmla="*/ 16 h 17"/>
                  <a:gd name="T2" fmla="*/ 9 w 17"/>
                  <a:gd name="T3" fmla="*/ 16 h 17"/>
                  <a:gd name="T4" fmla="*/ 0 w 17"/>
                  <a:gd name="T5" fmla="*/ 16 h 17"/>
                  <a:gd name="T6" fmla="*/ 0 w 17"/>
                  <a:gd name="T7" fmla="*/ 0 h 17"/>
                  <a:gd name="T8" fmla="*/ 16 w 17"/>
                  <a:gd name="T9" fmla="*/ 0 h 17"/>
                  <a:gd name="T10" fmla="*/ 16 w 17"/>
                  <a:gd name="T11" fmla="*/ 1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16"/>
                    </a:moveTo>
                    <a:lnTo>
                      <a:pt x="9" y="16"/>
                    </a:lnTo>
                    <a:lnTo>
                      <a:pt x="0" y="16"/>
                    </a:lnTo>
                    <a:lnTo>
                      <a:pt x="0" y="0"/>
                    </a:lnTo>
                    <a:lnTo>
                      <a:pt x="16" y="0"/>
                    </a:lnTo>
                    <a:lnTo>
                      <a:pt x="16" y="16"/>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22" name="Oval 246"/>
              <p:cNvSpPr>
                <a:spLocks noChangeAspect="1" noChangeArrowheads="1"/>
              </p:cNvSpPr>
              <p:nvPr/>
            </p:nvSpPr>
            <p:spPr bwMode="auto">
              <a:xfrm>
                <a:off x="884" y="3639"/>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23" name="Freeform 247"/>
              <p:cNvSpPr>
                <a:spLocks noChangeAspect="1"/>
              </p:cNvSpPr>
              <p:nvPr/>
            </p:nvSpPr>
            <p:spPr bwMode="auto">
              <a:xfrm>
                <a:off x="813" y="3627"/>
                <a:ext cx="17" cy="17"/>
              </a:xfrm>
              <a:custGeom>
                <a:avLst/>
                <a:gdLst>
                  <a:gd name="T0" fmla="*/ 0 w 17"/>
                  <a:gd name="T1" fmla="*/ 6 h 17"/>
                  <a:gd name="T2" fmla="*/ 8 w 17"/>
                  <a:gd name="T3" fmla="*/ 0 h 17"/>
                  <a:gd name="T4" fmla="*/ 16 w 17"/>
                  <a:gd name="T5" fmla="*/ 6 h 17"/>
                  <a:gd name="T6" fmla="*/ 13 w 17"/>
                  <a:gd name="T7" fmla="*/ 9 h 17"/>
                  <a:gd name="T8" fmla="*/ 8 w 17"/>
                  <a:gd name="T9" fmla="*/ 16 h 17"/>
                  <a:gd name="T10" fmla="*/ 2 w 17"/>
                  <a:gd name="T11" fmla="*/ 9 h 17"/>
                  <a:gd name="T12" fmla="*/ 0 w 17"/>
                  <a:gd name="T13" fmla="*/ 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6"/>
                    </a:moveTo>
                    <a:lnTo>
                      <a:pt x="8" y="0"/>
                    </a:lnTo>
                    <a:lnTo>
                      <a:pt x="16" y="6"/>
                    </a:lnTo>
                    <a:lnTo>
                      <a:pt x="13" y="9"/>
                    </a:lnTo>
                    <a:lnTo>
                      <a:pt x="8" y="16"/>
                    </a:lnTo>
                    <a:lnTo>
                      <a:pt x="2" y="9"/>
                    </a:lnTo>
                    <a:lnTo>
                      <a:pt x="0" y="6"/>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24" name="Freeform 248"/>
              <p:cNvSpPr>
                <a:spLocks noChangeAspect="1"/>
              </p:cNvSpPr>
              <p:nvPr/>
            </p:nvSpPr>
            <p:spPr bwMode="auto">
              <a:xfrm>
                <a:off x="813" y="3628"/>
                <a:ext cx="17" cy="17"/>
              </a:xfrm>
              <a:custGeom>
                <a:avLst/>
                <a:gdLst>
                  <a:gd name="T0" fmla="*/ 16 w 17"/>
                  <a:gd name="T1" fmla="*/ 11 h 17"/>
                  <a:gd name="T2" fmla="*/ 8 w 17"/>
                  <a:gd name="T3" fmla="*/ 16 h 17"/>
                  <a:gd name="T4" fmla="*/ 0 w 17"/>
                  <a:gd name="T5" fmla="*/ 11 h 17"/>
                  <a:gd name="T6" fmla="*/ 0 w 17"/>
                  <a:gd name="T7" fmla="*/ 0 h 17"/>
                  <a:gd name="T8" fmla="*/ 4 w 17"/>
                  <a:gd name="T9" fmla="*/ 4 h 17"/>
                  <a:gd name="T10" fmla="*/ 8 w 17"/>
                  <a:gd name="T11" fmla="*/ 4 h 17"/>
                  <a:gd name="T12" fmla="*/ 12 w 17"/>
                  <a:gd name="T13" fmla="*/ 2 h 17"/>
                  <a:gd name="T14" fmla="*/ 16 w 17"/>
                  <a:gd name="T15" fmla="*/ 0 h 17"/>
                  <a:gd name="T16" fmla="*/ 16 w 17"/>
                  <a:gd name="T17" fmla="*/ 1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1"/>
                    </a:moveTo>
                    <a:lnTo>
                      <a:pt x="8" y="16"/>
                    </a:lnTo>
                    <a:lnTo>
                      <a:pt x="0" y="11"/>
                    </a:lnTo>
                    <a:lnTo>
                      <a:pt x="0" y="0"/>
                    </a:lnTo>
                    <a:lnTo>
                      <a:pt x="4" y="4"/>
                    </a:lnTo>
                    <a:lnTo>
                      <a:pt x="8" y="4"/>
                    </a:lnTo>
                    <a:lnTo>
                      <a:pt x="12" y="2"/>
                    </a:lnTo>
                    <a:lnTo>
                      <a:pt x="16" y="0"/>
                    </a:lnTo>
                    <a:lnTo>
                      <a:pt x="16" y="11"/>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25" name="Line 249"/>
              <p:cNvSpPr>
                <a:spLocks noChangeAspect="1" noChangeShapeType="1"/>
              </p:cNvSpPr>
              <p:nvPr/>
            </p:nvSpPr>
            <p:spPr bwMode="auto">
              <a:xfrm>
                <a:off x="816" y="3628"/>
                <a:ext cx="0"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26" name="Line 250"/>
              <p:cNvSpPr>
                <a:spLocks noChangeAspect="1" noChangeShapeType="1"/>
              </p:cNvSpPr>
              <p:nvPr/>
            </p:nvSpPr>
            <p:spPr bwMode="auto">
              <a:xfrm>
                <a:off x="823" y="3629"/>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27" name="Freeform 251"/>
              <p:cNvSpPr>
                <a:spLocks noChangeAspect="1"/>
              </p:cNvSpPr>
              <p:nvPr/>
            </p:nvSpPr>
            <p:spPr bwMode="auto">
              <a:xfrm>
                <a:off x="819" y="3627"/>
                <a:ext cx="17" cy="17"/>
              </a:xfrm>
              <a:custGeom>
                <a:avLst/>
                <a:gdLst>
                  <a:gd name="T0" fmla="*/ 16 w 17"/>
                  <a:gd name="T1" fmla="*/ 12 h 17"/>
                  <a:gd name="T2" fmla="*/ 8 w 17"/>
                  <a:gd name="T3" fmla="*/ 16 h 17"/>
                  <a:gd name="T4" fmla="*/ 0 w 17"/>
                  <a:gd name="T5" fmla="*/ 12 h 17"/>
                  <a:gd name="T6" fmla="*/ 0 w 17"/>
                  <a:gd name="T7" fmla="*/ 0 h 17"/>
                  <a:gd name="T8" fmla="*/ 16 w 17"/>
                  <a:gd name="T9" fmla="*/ 0 h 17"/>
                  <a:gd name="T10" fmla="*/ 16 w 17"/>
                  <a:gd name="T11" fmla="*/ 12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12"/>
                    </a:moveTo>
                    <a:lnTo>
                      <a:pt x="8" y="16"/>
                    </a:lnTo>
                    <a:lnTo>
                      <a:pt x="0" y="12"/>
                    </a:lnTo>
                    <a:lnTo>
                      <a:pt x="0" y="0"/>
                    </a:lnTo>
                    <a:lnTo>
                      <a:pt x="16" y="0"/>
                    </a:lnTo>
                    <a:lnTo>
                      <a:pt x="16" y="12"/>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28" name="Oval 252"/>
              <p:cNvSpPr>
                <a:spLocks noChangeAspect="1" noChangeArrowheads="1"/>
              </p:cNvSpPr>
              <p:nvPr/>
            </p:nvSpPr>
            <p:spPr bwMode="auto">
              <a:xfrm>
                <a:off x="823" y="3630"/>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29" name="Freeform 253"/>
              <p:cNvSpPr>
                <a:spLocks noChangeAspect="1"/>
              </p:cNvSpPr>
              <p:nvPr/>
            </p:nvSpPr>
            <p:spPr bwMode="auto">
              <a:xfrm>
                <a:off x="818" y="3633"/>
                <a:ext cx="17" cy="17"/>
              </a:xfrm>
              <a:custGeom>
                <a:avLst/>
                <a:gdLst>
                  <a:gd name="T0" fmla="*/ 0 w 17"/>
                  <a:gd name="T1" fmla="*/ 2 h 17"/>
                  <a:gd name="T2" fmla="*/ 8 w 17"/>
                  <a:gd name="T3" fmla="*/ 0 h 17"/>
                  <a:gd name="T4" fmla="*/ 16 w 17"/>
                  <a:gd name="T5" fmla="*/ 2 h 17"/>
                  <a:gd name="T6" fmla="*/ 13 w 17"/>
                  <a:gd name="T7" fmla="*/ 13 h 17"/>
                  <a:gd name="T8" fmla="*/ 8 w 17"/>
                  <a:gd name="T9" fmla="*/ 16 h 17"/>
                  <a:gd name="T10" fmla="*/ 2 w 17"/>
                  <a:gd name="T11" fmla="*/ 13 h 17"/>
                  <a:gd name="T12" fmla="*/ 0 w 17"/>
                  <a:gd name="T13" fmla="*/ 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2"/>
                    </a:moveTo>
                    <a:lnTo>
                      <a:pt x="8" y="0"/>
                    </a:lnTo>
                    <a:lnTo>
                      <a:pt x="16" y="2"/>
                    </a:lnTo>
                    <a:lnTo>
                      <a:pt x="13" y="13"/>
                    </a:lnTo>
                    <a:lnTo>
                      <a:pt x="8" y="16"/>
                    </a:lnTo>
                    <a:lnTo>
                      <a:pt x="2" y="13"/>
                    </a:lnTo>
                    <a:lnTo>
                      <a:pt x="0" y="2"/>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30" name="Freeform 254"/>
              <p:cNvSpPr>
                <a:spLocks noChangeAspect="1"/>
              </p:cNvSpPr>
              <p:nvPr/>
            </p:nvSpPr>
            <p:spPr bwMode="auto">
              <a:xfrm>
                <a:off x="818" y="3634"/>
                <a:ext cx="17" cy="17"/>
              </a:xfrm>
              <a:custGeom>
                <a:avLst/>
                <a:gdLst>
                  <a:gd name="T0" fmla="*/ 16 w 17"/>
                  <a:gd name="T1" fmla="*/ 13 h 17"/>
                  <a:gd name="T2" fmla="*/ 8 w 17"/>
                  <a:gd name="T3" fmla="*/ 16 h 17"/>
                  <a:gd name="T4" fmla="*/ 0 w 17"/>
                  <a:gd name="T5" fmla="*/ 13 h 17"/>
                  <a:gd name="T6" fmla="*/ 0 w 17"/>
                  <a:gd name="T7" fmla="*/ 0 h 17"/>
                  <a:gd name="T8" fmla="*/ 4 w 17"/>
                  <a:gd name="T9" fmla="*/ 4 h 17"/>
                  <a:gd name="T10" fmla="*/ 8 w 17"/>
                  <a:gd name="T11" fmla="*/ 4 h 17"/>
                  <a:gd name="T12" fmla="*/ 12 w 17"/>
                  <a:gd name="T13" fmla="*/ 4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4" y="4"/>
                    </a:lnTo>
                    <a:lnTo>
                      <a:pt x="8" y="4"/>
                    </a:lnTo>
                    <a:lnTo>
                      <a:pt x="12" y="4"/>
                    </a:lnTo>
                    <a:lnTo>
                      <a:pt x="16" y="0"/>
                    </a:lnTo>
                    <a:lnTo>
                      <a:pt x="16" y="13"/>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31" name="Line 255"/>
              <p:cNvSpPr>
                <a:spLocks noChangeAspect="1" noChangeShapeType="1"/>
              </p:cNvSpPr>
              <p:nvPr/>
            </p:nvSpPr>
            <p:spPr bwMode="auto">
              <a:xfrm>
                <a:off x="821" y="3636"/>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32" name="Line 256"/>
              <p:cNvSpPr>
                <a:spLocks noChangeAspect="1" noChangeShapeType="1"/>
              </p:cNvSpPr>
              <p:nvPr/>
            </p:nvSpPr>
            <p:spPr bwMode="auto">
              <a:xfrm>
                <a:off x="828" y="3636"/>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33" name="Freeform 257"/>
              <p:cNvSpPr>
                <a:spLocks noChangeAspect="1"/>
              </p:cNvSpPr>
              <p:nvPr/>
            </p:nvSpPr>
            <p:spPr bwMode="auto">
              <a:xfrm>
                <a:off x="821" y="3632"/>
                <a:ext cx="17" cy="17"/>
              </a:xfrm>
              <a:custGeom>
                <a:avLst/>
                <a:gdLst>
                  <a:gd name="T0" fmla="*/ 16 w 17"/>
                  <a:gd name="T1" fmla="*/ 9 h 17"/>
                  <a:gd name="T2" fmla="*/ 8 w 17"/>
                  <a:gd name="T3" fmla="*/ 16 h 17"/>
                  <a:gd name="T4" fmla="*/ 0 w 17"/>
                  <a:gd name="T5" fmla="*/ 9 h 17"/>
                  <a:gd name="T6" fmla="*/ 0 w 17"/>
                  <a:gd name="T7" fmla="*/ 0 h 17"/>
                  <a:gd name="T8" fmla="*/ 16 w 17"/>
                  <a:gd name="T9" fmla="*/ 0 h 17"/>
                  <a:gd name="T10" fmla="*/ 16 w 17"/>
                  <a:gd name="T11" fmla="*/ 9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9"/>
                    </a:moveTo>
                    <a:lnTo>
                      <a:pt x="8" y="16"/>
                    </a:lnTo>
                    <a:lnTo>
                      <a:pt x="0" y="9"/>
                    </a:lnTo>
                    <a:lnTo>
                      <a:pt x="0" y="0"/>
                    </a:lnTo>
                    <a:lnTo>
                      <a:pt x="16" y="0"/>
                    </a:lnTo>
                    <a:lnTo>
                      <a:pt x="16" y="9"/>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34" name="Oval 258"/>
              <p:cNvSpPr>
                <a:spLocks noChangeAspect="1" noChangeArrowheads="1"/>
              </p:cNvSpPr>
              <p:nvPr/>
            </p:nvSpPr>
            <p:spPr bwMode="auto">
              <a:xfrm>
                <a:off x="826" y="3636"/>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35" name="Freeform 259"/>
              <p:cNvSpPr>
                <a:spLocks noChangeAspect="1"/>
              </p:cNvSpPr>
              <p:nvPr/>
            </p:nvSpPr>
            <p:spPr bwMode="auto">
              <a:xfrm>
                <a:off x="843" y="3636"/>
                <a:ext cx="17" cy="17"/>
              </a:xfrm>
              <a:custGeom>
                <a:avLst/>
                <a:gdLst>
                  <a:gd name="T0" fmla="*/ 0 w 17"/>
                  <a:gd name="T1" fmla="*/ 3 h 17"/>
                  <a:gd name="T2" fmla="*/ 8 w 17"/>
                  <a:gd name="T3" fmla="*/ 0 h 17"/>
                  <a:gd name="T4" fmla="*/ 16 w 17"/>
                  <a:gd name="T5" fmla="*/ 3 h 17"/>
                  <a:gd name="T6" fmla="*/ 13 w 17"/>
                  <a:gd name="T7" fmla="*/ 12 h 17"/>
                  <a:gd name="T8" fmla="*/ 8 w 17"/>
                  <a:gd name="T9" fmla="*/ 16 h 17"/>
                  <a:gd name="T10" fmla="*/ 2 w 17"/>
                  <a:gd name="T11" fmla="*/ 12 h 17"/>
                  <a:gd name="T12" fmla="*/ 0 w 17"/>
                  <a:gd name="T13" fmla="*/ 3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3"/>
                    </a:moveTo>
                    <a:lnTo>
                      <a:pt x="8" y="0"/>
                    </a:lnTo>
                    <a:lnTo>
                      <a:pt x="16" y="3"/>
                    </a:lnTo>
                    <a:lnTo>
                      <a:pt x="13" y="12"/>
                    </a:lnTo>
                    <a:lnTo>
                      <a:pt x="8" y="16"/>
                    </a:lnTo>
                    <a:lnTo>
                      <a:pt x="2" y="12"/>
                    </a:lnTo>
                    <a:lnTo>
                      <a:pt x="0" y="3"/>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36" name="Freeform 260"/>
              <p:cNvSpPr>
                <a:spLocks noChangeAspect="1"/>
              </p:cNvSpPr>
              <p:nvPr/>
            </p:nvSpPr>
            <p:spPr bwMode="auto">
              <a:xfrm>
                <a:off x="843" y="3637"/>
                <a:ext cx="17" cy="17"/>
              </a:xfrm>
              <a:custGeom>
                <a:avLst/>
                <a:gdLst>
                  <a:gd name="T0" fmla="*/ 16 w 17"/>
                  <a:gd name="T1" fmla="*/ 13 h 17"/>
                  <a:gd name="T2" fmla="*/ 8 w 17"/>
                  <a:gd name="T3" fmla="*/ 16 h 17"/>
                  <a:gd name="T4" fmla="*/ 0 w 17"/>
                  <a:gd name="T5" fmla="*/ 13 h 17"/>
                  <a:gd name="T6" fmla="*/ 0 w 17"/>
                  <a:gd name="T7" fmla="*/ 0 h 17"/>
                  <a:gd name="T8" fmla="*/ 3 w 17"/>
                  <a:gd name="T9" fmla="*/ 2 h 17"/>
                  <a:gd name="T10" fmla="*/ 8 w 17"/>
                  <a:gd name="T11" fmla="*/ 2 h 17"/>
                  <a:gd name="T12" fmla="*/ 13 w 17"/>
                  <a:gd name="T13" fmla="*/ 2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3" y="2"/>
                    </a:lnTo>
                    <a:lnTo>
                      <a:pt x="8" y="2"/>
                    </a:lnTo>
                    <a:lnTo>
                      <a:pt x="13" y="2"/>
                    </a:lnTo>
                    <a:lnTo>
                      <a:pt x="16" y="0"/>
                    </a:lnTo>
                    <a:lnTo>
                      <a:pt x="16" y="13"/>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37" name="Line 261"/>
              <p:cNvSpPr>
                <a:spLocks noChangeAspect="1" noChangeShapeType="1"/>
              </p:cNvSpPr>
              <p:nvPr/>
            </p:nvSpPr>
            <p:spPr bwMode="auto">
              <a:xfrm>
                <a:off x="848" y="3638"/>
                <a:ext cx="0"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38" name="Line 262"/>
              <p:cNvSpPr>
                <a:spLocks noChangeAspect="1" noChangeShapeType="1"/>
              </p:cNvSpPr>
              <p:nvPr/>
            </p:nvSpPr>
            <p:spPr bwMode="auto">
              <a:xfrm>
                <a:off x="854" y="3638"/>
                <a:ext cx="0"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39" name="Freeform 263"/>
              <p:cNvSpPr>
                <a:spLocks noChangeAspect="1"/>
              </p:cNvSpPr>
              <p:nvPr/>
            </p:nvSpPr>
            <p:spPr bwMode="auto">
              <a:xfrm>
                <a:off x="848" y="3636"/>
                <a:ext cx="17" cy="17"/>
              </a:xfrm>
              <a:custGeom>
                <a:avLst/>
                <a:gdLst>
                  <a:gd name="T0" fmla="*/ 16 w 17"/>
                  <a:gd name="T1" fmla="*/ 16 h 17"/>
                  <a:gd name="T2" fmla="*/ 9 w 17"/>
                  <a:gd name="T3" fmla="*/ 16 h 17"/>
                  <a:gd name="T4" fmla="*/ 0 w 17"/>
                  <a:gd name="T5" fmla="*/ 16 h 17"/>
                  <a:gd name="T6" fmla="*/ 0 w 17"/>
                  <a:gd name="T7" fmla="*/ 0 h 17"/>
                  <a:gd name="T8" fmla="*/ 16 w 17"/>
                  <a:gd name="T9" fmla="*/ 0 h 17"/>
                  <a:gd name="T10" fmla="*/ 16 w 17"/>
                  <a:gd name="T11" fmla="*/ 1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16"/>
                    </a:moveTo>
                    <a:lnTo>
                      <a:pt x="9" y="16"/>
                    </a:lnTo>
                    <a:lnTo>
                      <a:pt x="0" y="16"/>
                    </a:lnTo>
                    <a:lnTo>
                      <a:pt x="0" y="0"/>
                    </a:lnTo>
                    <a:lnTo>
                      <a:pt x="16" y="0"/>
                    </a:lnTo>
                    <a:lnTo>
                      <a:pt x="16" y="16"/>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40" name="Oval 264"/>
              <p:cNvSpPr>
                <a:spLocks noChangeAspect="1" noChangeArrowheads="1"/>
              </p:cNvSpPr>
              <p:nvPr/>
            </p:nvSpPr>
            <p:spPr bwMode="auto">
              <a:xfrm>
                <a:off x="853" y="3640"/>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41" name="Freeform 265"/>
              <p:cNvSpPr>
                <a:spLocks noChangeAspect="1"/>
              </p:cNvSpPr>
              <p:nvPr/>
            </p:nvSpPr>
            <p:spPr bwMode="auto">
              <a:xfrm>
                <a:off x="893" y="3626"/>
                <a:ext cx="17" cy="17"/>
              </a:xfrm>
              <a:custGeom>
                <a:avLst/>
                <a:gdLst>
                  <a:gd name="T0" fmla="*/ 0 w 17"/>
                  <a:gd name="T1" fmla="*/ 2 h 17"/>
                  <a:gd name="T2" fmla="*/ 8 w 17"/>
                  <a:gd name="T3" fmla="*/ 0 h 17"/>
                  <a:gd name="T4" fmla="*/ 16 w 17"/>
                  <a:gd name="T5" fmla="*/ 2 h 17"/>
                  <a:gd name="T6" fmla="*/ 13 w 17"/>
                  <a:gd name="T7" fmla="*/ 10 h 17"/>
                  <a:gd name="T8" fmla="*/ 8 w 17"/>
                  <a:gd name="T9" fmla="*/ 16 h 17"/>
                  <a:gd name="T10" fmla="*/ 2 w 17"/>
                  <a:gd name="T11" fmla="*/ 10 h 17"/>
                  <a:gd name="T12" fmla="*/ 0 w 17"/>
                  <a:gd name="T13" fmla="*/ 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2"/>
                    </a:moveTo>
                    <a:lnTo>
                      <a:pt x="8" y="0"/>
                    </a:lnTo>
                    <a:lnTo>
                      <a:pt x="16" y="2"/>
                    </a:lnTo>
                    <a:lnTo>
                      <a:pt x="13" y="10"/>
                    </a:lnTo>
                    <a:lnTo>
                      <a:pt x="8" y="16"/>
                    </a:lnTo>
                    <a:lnTo>
                      <a:pt x="2" y="10"/>
                    </a:lnTo>
                    <a:lnTo>
                      <a:pt x="0" y="2"/>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42" name="Freeform 266"/>
              <p:cNvSpPr>
                <a:spLocks noChangeAspect="1"/>
              </p:cNvSpPr>
              <p:nvPr/>
            </p:nvSpPr>
            <p:spPr bwMode="auto">
              <a:xfrm>
                <a:off x="893" y="3627"/>
                <a:ext cx="17" cy="17"/>
              </a:xfrm>
              <a:custGeom>
                <a:avLst/>
                <a:gdLst>
                  <a:gd name="T0" fmla="*/ 16 w 17"/>
                  <a:gd name="T1" fmla="*/ 13 h 17"/>
                  <a:gd name="T2" fmla="*/ 8 w 17"/>
                  <a:gd name="T3" fmla="*/ 16 h 17"/>
                  <a:gd name="T4" fmla="*/ 0 w 17"/>
                  <a:gd name="T5" fmla="*/ 13 h 17"/>
                  <a:gd name="T6" fmla="*/ 0 w 17"/>
                  <a:gd name="T7" fmla="*/ 0 h 17"/>
                  <a:gd name="T8" fmla="*/ 4 w 17"/>
                  <a:gd name="T9" fmla="*/ 2 h 17"/>
                  <a:gd name="T10" fmla="*/ 8 w 17"/>
                  <a:gd name="T11" fmla="*/ 2 h 17"/>
                  <a:gd name="T12" fmla="*/ 12 w 17"/>
                  <a:gd name="T13" fmla="*/ 2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4" y="2"/>
                    </a:lnTo>
                    <a:lnTo>
                      <a:pt x="8" y="2"/>
                    </a:lnTo>
                    <a:lnTo>
                      <a:pt x="12" y="2"/>
                    </a:lnTo>
                    <a:lnTo>
                      <a:pt x="16" y="0"/>
                    </a:lnTo>
                    <a:lnTo>
                      <a:pt x="16" y="13"/>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43" name="Line 267"/>
              <p:cNvSpPr>
                <a:spLocks noChangeAspect="1" noChangeShapeType="1"/>
              </p:cNvSpPr>
              <p:nvPr/>
            </p:nvSpPr>
            <p:spPr bwMode="auto">
              <a:xfrm>
                <a:off x="899" y="3628"/>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44" name="Line 268"/>
              <p:cNvSpPr>
                <a:spLocks noChangeAspect="1" noChangeShapeType="1"/>
              </p:cNvSpPr>
              <p:nvPr/>
            </p:nvSpPr>
            <p:spPr bwMode="auto">
              <a:xfrm>
                <a:off x="906" y="3628"/>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45" name="Freeform 269"/>
              <p:cNvSpPr>
                <a:spLocks noChangeAspect="1"/>
              </p:cNvSpPr>
              <p:nvPr/>
            </p:nvSpPr>
            <p:spPr bwMode="auto">
              <a:xfrm>
                <a:off x="900" y="3626"/>
                <a:ext cx="17" cy="17"/>
              </a:xfrm>
              <a:custGeom>
                <a:avLst/>
                <a:gdLst>
                  <a:gd name="T0" fmla="*/ 16 w 17"/>
                  <a:gd name="T1" fmla="*/ 16 h 17"/>
                  <a:gd name="T2" fmla="*/ 8 w 17"/>
                  <a:gd name="T3" fmla="*/ 16 h 17"/>
                  <a:gd name="T4" fmla="*/ 0 w 17"/>
                  <a:gd name="T5" fmla="*/ 16 h 17"/>
                  <a:gd name="T6" fmla="*/ 0 w 17"/>
                  <a:gd name="T7" fmla="*/ 0 h 17"/>
                  <a:gd name="T8" fmla="*/ 16 w 17"/>
                  <a:gd name="T9" fmla="*/ 0 h 17"/>
                  <a:gd name="T10" fmla="*/ 16 w 17"/>
                  <a:gd name="T11" fmla="*/ 1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16"/>
                    </a:moveTo>
                    <a:lnTo>
                      <a:pt x="8" y="16"/>
                    </a:lnTo>
                    <a:lnTo>
                      <a:pt x="0" y="16"/>
                    </a:lnTo>
                    <a:lnTo>
                      <a:pt x="0" y="0"/>
                    </a:lnTo>
                    <a:lnTo>
                      <a:pt x="16" y="0"/>
                    </a:lnTo>
                    <a:lnTo>
                      <a:pt x="16" y="16"/>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46" name="Oval 270"/>
              <p:cNvSpPr>
                <a:spLocks noChangeAspect="1" noChangeArrowheads="1"/>
              </p:cNvSpPr>
              <p:nvPr/>
            </p:nvSpPr>
            <p:spPr bwMode="auto">
              <a:xfrm>
                <a:off x="904" y="3629"/>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47" name="Freeform 271"/>
              <p:cNvSpPr>
                <a:spLocks noChangeAspect="1"/>
              </p:cNvSpPr>
              <p:nvPr/>
            </p:nvSpPr>
            <p:spPr bwMode="auto">
              <a:xfrm>
                <a:off x="899" y="3631"/>
                <a:ext cx="17" cy="17"/>
              </a:xfrm>
              <a:custGeom>
                <a:avLst/>
                <a:gdLst>
                  <a:gd name="T0" fmla="*/ 0 w 17"/>
                  <a:gd name="T1" fmla="*/ 4 h 17"/>
                  <a:gd name="T2" fmla="*/ 8 w 17"/>
                  <a:gd name="T3" fmla="*/ 0 h 17"/>
                  <a:gd name="T4" fmla="*/ 16 w 17"/>
                  <a:gd name="T5" fmla="*/ 4 h 17"/>
                  <a:gd name="T6" fmla="*/ 13 w 17"/>
                  <a:gd name="T7" fmla="*/ 11 h 17"/>
                  <a:gd name="T8" fmla="*/ 8 w 17"/>
                  <a:gd name="T9" fmla="*/ 16 h 17"/>
                  <a:gd name="T10" fmla="*/ 2 w 17"/>
                  <a:gd name="T11" fmla="*/ 11 h 17"/>
                  <a:gd name="T12" fmla="*/ 0 w 17"/>
                  <a:gd name="T13" fmla="*/ 4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4"/>
                    </a:moveTo>
                    <a:lnTo>
                      <a:pt x="8" y="0"/>
                    </a:lnTo>
                    <a:lnTo>
                      <a:pt x="16" y="4"/>
                    </a:lnTo>
                    <a:lnTo>
                      <a:pt x="13" y="11"/>
                    </a:lnTo>
                    <a:lnTo>
                      <a:pt x="8" y="16"/>
                    </a:lnTo>
                    <a:lnTo>
                      <a:pt x="2" y="11"/>
                    </a:lnTo>
                    <a:lnTo>
                      <a:pt x="0" y="4"/>
                    </a:lnTo>
                  </a:path>
                </a:pathLst>
              </a:custGeom>
              <a:solidFill>
                <a:srgbClr val="E6E6E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48" name="Freeform 272"/>
              <p:cNvSpPr>
                <a:spLocks noChangeAspect="1"/>
              </p:cNvSpPr>
              <p:nvPr/>
            </p:nvSpPr>
            <p:spPr bwMode="auto">
              <a:xfrm>
                <a:off x="899" y="3632"/>
                <a:ext cx="17" cy="17"/>
              </a:xfrm>
              <a:custGeom>
                <a:avLst/>
                <a:gdLst>
                  <a:gd name="T0" fmla="*/ 16 w 17"/>
                  <a:gd name="T1" fmla="*/ 13 h 17"/>
                  <a:gd name="T2" fmla="*/ 8 w 17"/>
                  <a:gd name="T3" fmla="*/ 16 h 17"/>
                  <a:gd name="T4" fmla="*/ 0 w 17"/>
                  <a:gd name="T5" fmla="*/ 13 h 17"/>
                  <a:gd name="T6" fmla="*/ 0 w 17"/>
                  <a:gd name="T7" fmla="*/ 0 h 17"/>
                  <a:gd name="T8" fmla="*/ 3 w 17"/>
                  <a:gd name="T9" fmla="*/ 4 h 17"/>
                  <a:gd name="T10" fmla="*/ 8 w 17"/>
                  <a:gd name="T11" fmla="*/ 4 h 17"/>
                  <a:gd name="T12" fmla="*/ 13 w 17"/>
                  <a:gd name="T13" fmla="*/ 4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3" y="4"/>
                    </a:lnTo>
                    <a:lnTo>
                      <a:pt x="8" y="4"/>
                    </a:lnTo>
                    <a:lnTo>
                      <a:pt x="13" y="4"/>
                    </a:lnTo>
                    <a:lnTo>
                      <a:pt x="16" y="0"/>
                    </a:lnTo>
                    <a:lnTo>
                      <a:pt x="16" y="13"/>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49" name="Line 273"/>
              <p:cNvSpPr>
                <a:spLocks noChangeAspect="1" noChangeShapeType="1"/>
              </p:cNvSpPr>
              <p:nvPr/>
            </p:nvSpPr>
            <p:spPr bwMode="auto">
              <a:xfrm>
                <a:off x="901" y="3634"/>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50" name="Line 274"/>
              <p:cNvSpPr>
                <a:spLocks noChangeAspect="1" noChangeShapeType="1"/>
              </p:cNvSpPr>
              <p:nvPr/>
            </p:nvSpPr>
            <p:spPr bwMode="auto">
              <a:xfrm>
                <a:off x="909" y="3634"/>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51" name="Freeform 275"/>
              <p:cNvSpPr>
                <a:spLocks noChangeAspect="1"/>
              </p:cNvSpPr>
              <p:nvPr/>
            </p:nvSpPr>
            <p:spPr bwMode="auto">
              <a:xfrm>
                <a:off x="902" y="3631"/>
                <a:ext cx="17" cy="17"/>
              </a:xfrm>
              <a:custGeom>
                <a:avLst/>
                <a:gdLst>
                  <a:gd name="T0" fmla="*/ 16 w 17"/>
                  <a:gd name="T1" fmla="*/ 9 h 17"/>
                  <a:gd name="T2" fmla="*/ 10 w 17"/>
                  <a:gd name="T3" fmla="*/ 16 h 17"/>
                  <a:gd name="T4" fmla="*/ 0 w 17"/>
                  <a:gd name="T5" fmla="*/ 9 h 17"/>
                  <a:gd name="T6" fmla="*/ 0 w 17"/>
                  <a:gd name="T7" fmla="*/ 0 h 17"/>
                  <a:gd name="T8" fmla="*/ 16 w 17"/>
                  <a:gd name="T9" fmla="*/ 0 h 17"/>
                  <a:gd name="T10" fmla="*/ 16 w 17"/>
                  <a:gd name="T11" fmla="*/ 9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9"/>
                    </a:moveTo>
                    <a:lnTo>
                      <a:pt x="10" y="16"/>
                    </a:lnTo>
                    <a:lnTo>
                      <a:pt x="0" y="9"/>
                    </a:lnTo>
                    <a:lnTo>
                      <a:pt x="0" y="0"/>
                    </a:lnTo>
                    <a:lnTo>
                      <a:pt x="16" y="0"/>
                    </a:lnTo>
                    <a:lnTo>
                      <a:pt x="16" y="9"/>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52" name="Oval 276"/>
              <p:cNvSpPr>
                <a:spLocks noChangeAspect="1" noChangeArrowheads="1"/>
              </p:cNvSpPr>
              <p:nvPr/>
            </p:nvSpPr>
            <p:spPr bwMode="auto">
              <a:xfrm>
                <a:off x="907" y="3635"/>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53" name="Line 277"/>
              <p:cNvSpPr>
                <a:spLocks noChangeAspect="1" noChangeShapeType="1"/>
              </p:cNvSpPr>
              <p:nvPr/>
            </p:nvSpPr>
            <p:spPr bwMode="auto">
              <a:xfrm flipV="1">
                <a:off x="873" y="3667"/>
                <a:ext cx="35" cy="1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54" name="Freeform 278"/>
              <p:cNvSpPr>
                <a:spLocks noChangeAspect="1"/>
              </p:cNvSpPr>
              <p:nvPr/>
            </p:nvSpPr>
            <p:spPr bwMode="auto">
              <a:xfrm>
                <a:off x="804" y="3664"/>
                <a:ext cx="63" cy="17"/>
              </a:xfrm>
              <a:custGeom>
                <a:avLst/>
                <a:gdLst>
                  <a:gd name="T0" fmla="*/ 0 w 63"/>
                  <a:gd name="T1" fmla="*/ 7 h 17"/>
                  <a:gd name="T2" fmla="*/ 2 w 63"/>
                  <a:gd name="T3" fmla="*/ 7 h 17"/>
                  <a:gd name="T4" fmla="*/ 5 w 63"/>
                  <a:gd name="T5" fmla="*/ 7 h 17"/>
                  <a:gd name="T6" fmla="*/ 6 w 63"/>
                  <a:gd name="T7" fmla="*/ 16 h 17"/>
                  <a:gd name="T8" fmla="*/ 7 w 63"/>
                  <a:gd name="T9" fmla="*/ 8 h 17"/>
                  <a:gd name="T10" fmla="*/ 6 w 63"/>
                  <a:gd name="T11" fmla="*/ 0 h 17"/>
                  <a:gd name="T12" fmla="*/ 14 w 63"/>
                  <a:gd name="T13" fmla="*/ 7 h 17"/>
                  <a:gd name="T14" fmla="*/ 27 w 63"/>
                  <a:gd name="T15" fmla="*/ 11 h 17"/>
                  <a:gd name="T16" fmla="*/ 58 w 63"/>
                  <a:gd name="T17" fmla="*/ 16 h 17"/>
                  <a:gd name="T18" fmla="*/ 62 w 63"/>
                  <a:gd name="T19" fmla="*/ 1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3"/>
                  <a:gd name="T31" fmla="*/ 0 h 17"/>
                  <a:gd name="T32" fmla="*/ 63 w 63"/>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3" h="17">
                    <a:moveTo>
                      <a:pt x="0" y="7"/>
                    </a:moveTo>
                    <a:lnTo>
                      <a:pt x="2" y="7"/>
                    </a:lnTo>
                    <a:lnTo>
                      <a:pt x="5" y="7"/>
                    </a:lnTo>
                    <a:lnTo>
                      <a:pt x="6" y="16"/>
                    </a:lnTo>
                    <a:lnTo>
                      <a:pt x="7" y="8"/>
                    </a:lnTo>
                    <a:lnTo>
                      <a:pt x="6" y="0"/>
                    </a:lnTo>
                    <a:lnTo>
                      <a:pt x="14" y="7"/>
                    </a:lnTo>
                    <a:lnTo>
                      <a:pt x="27" y="11"/>
                    </a:lnTo>
                    <a:lnTo>
                      <a:pt x="58" y="16"/>
                    </a:lnTo>
                    <a:lnTo>
                      <a:pt x="62" y="16"/>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55" name="Freeform 279"/>
              <p:cNvSpPr>
                <a:spLocks noChangeAspect="1"/>
              </p:cNvSpPr>
              <p:nvPr/>
            </p:nvSpPr>
            <p:spPr bwMode="auto">
              <a:xfrm>
                <a:off x="788" y="3665"/>
                <a:ext cx="17" cy="43"/>
              </a:xfrm>
              <a:custGeom>
                <a:avLst/>
                <a:gdLst>
                  <a:gd name="T0" fmla="*/ 16 w 17"/>
                  <a:gd name="T1" fmla="*/ 42 h 43"/>
                  <a:gd name="T2" fmla="*/ 12 w 17"/>
                  <a:gd name="T3" fmla="*/ 40 h 43"/>
                  <a:gd name="T4" fmla="*/ 5 w 17"/>
                  <a:gd name="T5" fmla="*/ 37 h 43"/>
                  <a:gd name="T6" fmla="*/ 2 w 17"/>
                  <a:gd name="T7" fmla="*/ 31 h 43"/>
                  <a:gd name="T8" fmla="*/ 0 w 17"/>
                  <a:gd name="T9" fmla="*/ 23 h 43"/>
                  <a:gd name="T10" fmla="*/ 2 w 17"/>
                  <a:gd name="T11" fmla="*/ 12 h 43"/>
                  <a:gd name="T12" fmla="*/ 5 w 17"/>
                  <a:gd name="T13" fmla="*/ 5 h 43"/>
                  <a:gd name="T14" fmla="*/ 10 w 17"/>
                  <a:gd name="T15" fmla="*/ 0 h 43"/>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43"/>
                  <a:gd name="T26" fmla="*/ 17 w 17"/>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43">
                    <a:moveTo>
                      <a:pt x="16" y="42"/>
                    </a:moveTo>
                    <a:lnTo>
                      <a:pt x="12" y="40"/>
                    </a:lnTo>
                    <a:lnTo>
                      <a:pt x="5" y="37"/>
                    </a:lnTo>
                    <a:lnTo>
                      <a:pt x="2" y="31"/>
                    </a:lnTo>
                    <a:lnTo>
                      <a:pt x="0" y="23"/>
                    </a:lnTo>
                    <a:lnTo>
                      <a:pt x="2" y="12"/>
                    </a:lnTo>
                    <a:lnTo>
                      <a:pt x="5" y="5"/>
                    </a:lnTo>
                    <a:lnTo>
                      <a:pt x="1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56" name="Freeform 280"/>
              <p:cNvSpPr>
                <a:spLocks noChangeAspect="1"/>
              </p:cNvSpPr>
              <p:nvPr/>
            </p:nvSpPr>
            <p:spPr bwMode="auto">
              <a:xfrm>
                <a:off x="929" y="3690"/>
                <a:ext cx="19" cy="30"/>
              </a:xfrm>
              <a:custGeom>
                <a:avLst/>
                <a:gdLst>
                  <a:gd name="T0" fmla="*/ 0 w 19"/>
                  <a:gd name="T1" fmla="*/ 12 h 30"/>
                  <a:gd name="T2" fmla="*/ 4 w 19"/>
                  <a:gd name="T3" fmla="*/ 3 h 30"/>
                  <a:gd name="T4" fmla="*/ 5 w 19"/>
                  <a:gd name="T5" fmla="*/ 1 h 30"/>
                  <a:gd name="T6" fmla="*/ 8 w 19"/>
                  <a:gd name="T7" fmla="*/ 0 h 30"/>
                  <a:gd name="T8" fmla="*/ 12 w 19"/>
                  <a:gd name="T9" fmla="*/ 0 h 30"/>
                  <a:gd name="T10" fmla="*/ 14 w 19"/>
                  <a:gd name="T11" fmla="*/ 1 h 30"/>
                  <a:gd name="T12" fmla="*/ 18 w 19"/>
                  <a:gd name="T13" fmla="*/ 5 h 30"/>
                  <a:gd name="T14" fmla="*/ 18 w 19"/>
                  <a:gd name="T15" fmla="*/ 16 h 30"/>
                  <a:gd name="T16" fmla="*/ 13 w 19"/>
                  <a:gd name="T17" fmla="*/ 25 h 30"/>
                  <a:gd name="T18" fmla="*/ 10 w 19"/>
                  <a:gd name="T19" fmla="*/ 27 h 30"/>
                  <a:gd name="T20" fmla="*/ 9 w 19"/>
                  <a:gd name="T21" fmla="*/ 28 h 30"/>
                  <a:gd name="T22" fmla="*/ 5 w 19"/>
                  <a:gd name="T23" fmla="*/ 29 h 30"/>
                  <a:gd name="T24" fmla="*/ 2 w 19"/>
                  <a:gd name="T25" fmla="*/ 27 h 30"/>
                  <a:gd name="T26" fmla="*/ 0 w 19"/>
                  <a:gd name="T27" fmla="*/ 23 h 30"/>
                  <a:gd name="T28" fmla="*/ 0 w 19"/>
                  <a:gd name="T29" fmla="*/ 12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30"/>
                  <a:gd name="T47" fmla="*/ 19 w 19"/>
                  <a:gd name="T48" fmla="*/ 30 h 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30">
                    <a:moveTo>
                      <a:pt x="0" y="12"/>
                    </a:moveTo>
                    <a:lnTo>
                      <a:pt x="4" y="3"/>
                    </a:lnTo>
                    <a:lnTo>
                      <a:pt x="5" y="1"/>
                    </a:lnTo>
                    <a:lnTo>
                      <a:pt x="8" y="0"/>
                    </a:lnTo>
                    <a:lnTo>
                      <a:pt x="12" y="0"/>
                    </a:lnTo>
                    <a:lnTo>
                      <a:pt x="14" y="1"/>
                    </a:lnTo>
                    <a:lnTo>
                      <a:pt x="18" y="5"/>
                    </a:lnTo>
                    <a:lnTo>
                      <a:pt x="18" y="16"/>
                    </a:lnTo>
                    <a:lnTo>
                      <a:pt x="13" y="25"/>
                    </a:lnTo>
                    <a:lnTo>
                      <a:pt x="10" y="27"/>
                    </a:lnTo>
                    <a:lnTo>
                      <a:pt x="9" y="28"/>
                    </a:lnTo>
                    <a:lnTo>
                      <a:pt x="5" y="29"/>
                    </a:lnTo>
                    <a:lnTo>
                      <a:pt x="2" y="27"/>
                    </a:lnTo>
                    <a:lnTo>
                      <a:pt x="0" y="23"/>
                    </a:lnTo>
                    <a:lnTo>
                      <a:pt x="0" y="12"/>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57" name="Freeform 281"/>
              <p:cNvSpPr>
                <a:spLocks noChangeAspect="1"/>
              </p:cNvSpPr>
              <p:nvPr/>
            </p:nvSpPr>
            <p:spPr bwMode="auto">
              <a:xfrm>
                <a:off x="921" y="3675"/>
                <a:ext cx="39" cy="59"/>
              </a:xfrm>
              <a:custGeom>
                <a:avLst/>
                <a:gdLst>
                  <a:gd name="T0" fmla="*/ 0 w 39"/>
                  <a:gd name="T1" fmla="*/ 26 h 59"/>
                  <a:gd name="T2" fmla="*/ 4 w 39"/>
                  <a:gd name="T3" fmla="*/ 15 h 59"/>
                  <a:gd name="T4" fmla="*/ 10 w 39"/>
                  <a:gd name="T5" fmla="*/ 6 h 59"/>
                  <a:gd name="T6" fmla="*/ 17 w 39"/>
                  <a:gd name="T7" fmla="*/ 1 h 59"/>
                  <a:gd name="T8" fmla="*/ 21 w 39"/>
                  <a:gd name="T9" fmla="*/ 0 h 59"/>
                  <a:gd name="T10" fmla="*/ 24 w 39"/>
                  <a:gd name="T11" fmla="*/ 0 h 59"/>
                  <a:gd name="T12" fmla="*/ 31 w 39"/>
                  <a:gd name="T13" fmla="*/ 3 h 59"/>
                  <a:gd name="T14" fmla="*/ 35 w 39"/>
                  <a:gd name="T15" fmla="*/ 10 h 59"/>
                  <a:gd name="T16" fmla="*/ 38 w 39"/>
                  <a:gd name="T17" fmla="*/ 19 h 59"/>
                  <a:gd name="T18" fmla="*/ 37 w 39"/>
                  <a:gd name="T19" fmla="*/ 31 h 59"/>
                  <a:gd name="T20" fmla="*/ 32 w 39"/>
                  <a:gd name="T21" fmla="*/ 42 h 59"/>
                  <a:gd name="T22" fmla="*/ 27 w 39"/>
                  <a:gd name="T23" fmla="*/ 51 h 59"/>
                  <a:gd name="T24" fmla="*/ 20 w 39"/>
                  <a:gd name="T25" fmla="*/ 56 h 59"/>
                  <a:gd name="T26" fmla="*/ 16 w 39"/>
                  <a:gd name="T27" fmla="*/ 57 h 59"/>
                  <a:gd name="T28" fmla="*/ 12 w 39"/>
                  <a:gd name="T29" fmla="*/ 58 h 59"/>
                  <a:gd name="T30" fmla="*/ 6 w 39"/>
                  <a:gd name="T31" fmla="*/ 54 h 59"/>
                  <a:gd name="T32" fmla="*/ 0 w 39"/>
                  <a:gd name="T33" fmla="*/ 47 h 59"/>
                  <a:gd name="T34" fmla="*/ 0 w 39"/>
                  <a:gd name="T35" fmla="*/ 38 h 59"/>
                  <a:gd name="T36" fmla="*/ 0 w 39"/>
                  <a:gd name="T37" fmla="*/ 26 h 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59"/>
                  <a:gd name="T59" fmla="*/ 39 w 39"/>
                  <a:gd name="T60" fmla="*/ 59 h 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59">
                    <a:moveTo>
                      <a:pt x="0" y="26"/>
                    </a:moveTo>
                    <a:lnTo>
                      <a:pt x="4" y="15"/>
                    </a:lnTo>
                    <a:lnTo>
                      <a:pt x="10" y="6"/>
                    </a:lnTo>
                    <a:lnTo>
                      <a:pt x="17" y="1"/>
                    </a:lnTo>
                    <a:lnTo>
                      <a:pt x="21" y="0"/>
                    </a:lnTo>
                    <a:lnTo>
                      <a:pt x="24" y="0"/>
                    </a:lnTo>
                    <a:lnTo>
                      <a:pt x="31" y="3"/>
                    </a:lnTo>
                    <a:lnTo>
                      <a:pt x="35" y="10"/>
                    </a:lnTo>
                    <a:lnTo>
                      <a:pt x="38" y="19"/>
                    </a:lnTo>
                    <a:lnTo>
                      <a:pt x="37" y="31"/>
                    </a:lnTo>
                    <a:lnTo>
                      <a:pt x="32" y="42"/>
                    </a:lnTo>
                    <a:lnTo>
                      <a:pt x="27" y="51"/>
                    </a:lnTo>
                    <a:lnTo>
                      <a:pt x="20" y="56"/>
                    </a:lnTo>
                    <a:lnTo>
                      <a:pt x="16" y="57"/>
                    </a:lnTo>
                    <a:lnTo>
                      <a:pt x="12" y="58"/>
                    </a:lnTo>
                    <a:lnTo>
                      <a:pt x="6" y="54"/>
                    </a:lnTo>
                    <a:lnTo>
                      <a:pt x="0" y="47"/>
                    </a:lnTo>
                    <a:lnTo>
                      <a:pt x="0" y="38"/>
                    </a:lnTo>
                    <a:lnTo>
                      <a:pt x="0" y="26"/>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58" name="Freeform 282"/>
              <p:cNvSpPr>
                <a:spLocks noChangeAspect="1"/>
              </p:cNvSpPr>
              <p:nvPr/>
            </p:nvSpPr>
            <p:spPr bwMode="auto">
              <a:xfrm>
                <a:off x="944" y="3663"/>
                <a:ext cx="17" cy="17"/>
              </a:xfrm>
              <a:custGeom>
                <a:avLst/>
                <a:gdLst>
                  <a:gd name="T0" fmla="*/ 0 w 17"/>
                  <a:gd name="T1" fmla="*/ 6 h 17"/>
                  <a:gd name="T2" fmla="*/ 3 w 17"/>
                  <a:gd name="T3" fmla="*/ 1 h 17"/>
                  <a:gd name="T4" fmla="*/ 10 w 17"/>
                  <a:gd name="T5" fmla="*/ 0 h 17"/>
                  <a:gd name="T6" fmla="*/ 15 w 17"/>
                  <a:gd name="T7" fmla="*/ 2 h 17"/>
                  <a:gd name="T8" fmla="*/ 16 w 17"/>
                  <a:gd name="T9" fmla="*/ 7 h 17"/>
                  <a:gd name="T10" fmla="*/ 12 w 17"/>
                  <a:gd name="T11" fmla="*/ 13 h 17"/>
                  <a:gd name="T12" fmla="*/ 5 w 17"/>
                  <a:gd name="T13" fmla="*/ 16 h 17"/>
                  <a:gd name="T14" fmla="*/ 1 w 17"/>
                  <a:gd name="T15" fmla="*/ 12 h 17"/>
                  <a:gd name="T16" fmla="*/ 0 w 17"/>
                  <a:gd name="T17" fmla="*/ 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6"/>
                    </a:moveTo>
                    <a:lnTo>
                      <a:pt x="3" y="1"/>
                    </a:lnTo>
                    <a:lnTo>
                      <a:pt x="10" y="0"/>
                    </a:lnTo>
                    <a:lnTo>
                      <a:pt x="15" y="2"/>
                    </a:lnTo>
                    <a:lnTo>
                      <a:pt x="16" y="7"/>
                    </a:lnTo>
                    <a:lnTo>
                      <a:pt x="12" y="13"/>
                    </a:lnTo>
                    <a:lnTo>
                      <a:pt x="5" y="16"/>
                    </a:lnTo>
                    <a:lnTo>
                      <a:pt x="1" y="12"/>
                    </a:lnTo>
                    <a:lnTo>
                      <a:pt x="0" y="6"/>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59" name="Freeform 283"/>
              <p:cNvSpPr>
                <a:spLocks noChangeAspect="1"/>
              </p:cNvSpPr>
              <p:nvPr/>
            </p:nvSpPr>
            <p:spPr bwMode="auto">
              <a:xfrm>
                <a:off x="811" y="3670"/>
                <a:ext cx="56" cy="17"/>
              </a:xfrm>
              <a:custGeom>
                <a:avLst/>
                <a:gdLst>
                  <a:gd name="T0" fmla="*/ 0 w 56"/>
                  <a:gd name="T1" fmla="*/ 0 h 17"/>
                  <a:gd name="T2" fmla="*/ 8 w 56"/>
                  <a:gd name="T3" fmla="*/ 5 h 17"/>
                  <a:gd name="T4" fmla="*/ 20 w 56"/>
                  <a:gd name="T5" fmla="*/ 12 h 17"/>
                  <a:gd name="T6" fmla="*/ 51 w 56"/>
                  <a:gd name="T7" fmla="*/ 16 h 17"/>
                  <a:gd name="T8" fmla="*/ 55 w 56"/>
                  <a:gd name="T9" fmla="*/ 16 h 17"/>
                  <a:gd name="T10" fmla="*/ 0 60000 65536"/>
                  <a:gd name="T11" fmla="*/ 0 60000 65536"/>
                  <a:gd name="T12" fmla="*/ 0 60000 65536"/>
                  <a:gd name="T13" fmla="*/ 0 60000 65536"/>
                  <a:gd name="T14" fmla="*/ 0 60000 65536"/>
                  <a:gd name="T15" fmla="*/ 0 w 56"/>
                  <a:gd name="T16" fmla="*/ 0 h 17"/>
                  <a:gd name="T17" fmla="*/ 56 w 56"/>
                  <a:gd name="T18" fmla="*/ 17 h 17"/>
                </a:gdLst>
                <a:ahLst/>
                <a:cxnLst>
                  <a:cxn ang="T10">
                    <a:pos x="T0" y="T1"/>
                  </a:cxn>
                  <a:cxn ang="T11">
                    <a:pos x="T2" y="T3"/>
                  </a:cxn>
                  <a:cxn ang="T12">
                    <a:pos x="T4" y="T5"/>
                  </a:cxn>
                  <a:cxn ang="T13">
                    <a:pos x="T6" y="T7"/>
                  </a:cxn>
                  <a:cxn ang="T14">
                    <a:pos x="T8" y="T9"/>
                  </a:cxn>
                </a:cxnLst>
                <a:rect l="T15" t="T16" r="T17" b="T18"/>
                <a:pathLst>
                  <a:path w="56" h="17">
                    <a:moveTo>
                      <a:pt x="0" y="0"/>
                    </a:moveTo>
                    <a:lnTo>
                      <a:pt x="8" y="5"/>
                    </a:lnTo>
                    <a:lnTo>
                      <a:pt x="20" y="12"/>
                    </a:lnTo>
                    <a:lnTo>
                      <a:pt x="51" y="16"/>
                    </a:lnTo>
                    <a:lnTo>
                      <a:pt x="55" y="16"/>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60" name="Freeform 284"/>
              <p:cNvSpPr>
                <a:spLocks noChangeAspect="1"/>
              </p:cNvSpPr>
              <p:nvPr/>
            </p:nvSpPr>
            <p:spPr bwMode="auto">
              <a:xfrm>
                <a:off x="794" y="3650"/>
                <a:ext cx="17" cy="17"/>
              </a:xfrm>
              <a:custGeom>
                <a:avLst/>
                <a:gdLst>
                  <a:gd name="T0" fmla="*/ 15 w 17"/>
                  <a:gd name="T1" fmla="*/ 12 h 17"/>
                  <a:gd name="T2" fmla="*/ 12 w 17"/>
                  <a:gd name="T3" fmla="*/ 15 h 17"/>
                  <a:gd name="T4" fmla="*/ 8 w 17"/>
                  <a:gd name="T5" fmla="*/ 16 h 17"/>
                  <a:gd name="T6" fmla="*/ 5 w 17"/>
                  <a:gd name="T7" fmla="*/ 15 h 17"/>
                  <a:gd name="T8" fmla="*/ 2 w 17"/>
                  <a:gd name="T9" fmla="*/ 13 h 17"/>
                  <a:gd name="T10" fmla="*/ 0 w 17"/>
                  <a:gd name="T11" fmla="*/ 8 h 17"/>
                  <a:gd name="T12" fmla="*/ 2 w 17"/>
                  <a:gd name="T13" fmla="*/ 4 h 17"/>
                  <a:gd name="T14" fmla="*/ 5 w 17"/>
                  <a:gd name="T15" fmla="*/ 3 h 17"/>
                  <a:gd name="T16" fmla="*/ 9 w 17"/>
                  <a:gd name="T17" fmla="*/ 2 h 17"/>
                  <a:gd name="T18" fmla="*/ 13 w 17"/>
                  <a:gd name="T19" fmla="*/ 3 h 17"/>
                  <a:gd name="T20" fmla="*/ 16 w 17"/>
                  <a:gd name="T21" fmla="*/ 6 h 17"/>
                  <a:gd name="T22" fmla="*/ 16 w 1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17"/>
                  <a:gd name="T38" fmla="*/ 17 w 1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17">
                    <a:moveTo>
                      <a:pt x="15" y="12"/>
                    </a:moveTo>
                    <a:lnTo>
                      <a:pt x="12" y="15"/>
                    </a:lnTo>
                    <a:lnTo>
                      <a:pt x="8" y="16"/>
                    </a:lnTo>
                    <a:lnTo>
                      <a:pt x="5" y="15"/>
                    </a:lnTo>
                    <a:lnTo>
                      <a:pt x="2" y="13"/>
                    </a:lnTo>
                    <a:lnTo>
                      <a:pt x="0" y="8"/>
                    </a:lnTo>
                    <a:lnTo>
                      <a:pt x="2" y="4"/>
                    </a:lnTo>
                    <a:lnTo>
                      <a:pt x="5" y="3"/>
                    </a:lnTo>
                    <a:lnTo>
                      <a:pt x="9" y="2"/>
                    </a:lnTo>
                    <a:lnTo>
                      <a:pt x="13" y="3"/>
                    </a:lnTo>
                    <a:lnTo>
                      <a:pt x="16" y="6"/>
                    </a:lnTo>
                    <a:lnTo>
                      <a:pt x="16"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61" name="Freeform 285"/>
              <p:cNvSpPr>
                <a:spLocks noChangeAspect="1"/>
              </p:cNvSpPr>
              <p:nvPr/>
            </p:nvSpPr>
            <p:spPr bwMode="auto">
              <a:xfrm>
                <a:off x="866" y="3663"/>
                <a:ext cx="17" cy="17"/>
              </a:xfrm>
              <a:custGeom>
                <a:avLst/>
                <a:gdLst>
                  <a:gd name="T0" fmla="*/ 3 w 17"/>
                  <a:gd name="T1" fmla="*/ 1 h 17"/>
                  <a:gd name="T2" fmla="*/ 7 w 17"/>
                  <a:gd name="T3" fmla="*/ 0 h 17"/>
                  <a:gd name="T4" fmla="*/ 10 w 17"/>
                  <a:gd name="T5" fmla="*/ 0 h 17"/>
                  <a:gd name="T6" fmla="*/ 13 w 17"/>
                  <a:gd name="T7" fmla="*/ 2 h 17"/>
                  <a:gd name="T8" fmla="*/ 16 w 17"/>
                  <a:gd name="T9" fmla="*/ 8 h 17"/>
                  <a:gd name="T10" fmla="*/ 13 w 17"/>
                  <a:gd name="T11" fmla="*/ 14 h 17"/>
                  <a:gd name="T12" fmla="*/ 10 w 17"/>
                  <a:gd name="T13" fmla="*/ 16 h 17"/>
                  <a:gd name="T14" fmla="*/ 8 w 17"/>
                  <a:gd name="T15" fmla="*/ 16 h 17"/>
                  <a:gd name="T16" fmla="*/ 4 w 17"/>
                  <a:gd name="T17" fmla="*/ 16 h 17"/>
                  <a:gd name="T18" fmla="*/ 1 w 17"/>
                  <a:gd name="T19" fmla="*/ 13 h 17"/>
                  <a:gd name="T20" fmla="*/ 0 w 17"/>
                  <a:gd name="T21" fmla="*/ 8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3" y="1"/>
                    </a:moveTo>
                    <a:lnTo>
                      <a:pt x="7" y="0"/>
                    </a:lnTo>
                    <a:lnTo>
                      <a:pt x="10" y="0"/>
                    </a:lnTo>
                    <a:lnTo>
                      <a:pt x="13" y="2"/>
                    </a:lnTo>
                    <a:lnTo>
                      <a:pt x="16" y="8"/>
                    </a:lnTo>
                    <a:lnTo>
                      <a:pt x="13" y="14"/>
                    </a:lnTo>
                    <a:lnTo>
                      <a:pt x="10" y="16"/>
                    </a:lnTo>
                    <a:lnTo>
                      <a:pt x="8" y="16"/>
                    </a:lnTo>
                    <a:lnTo>
                      <a:pt x="4" y="16"/>
                    </a:lnTo>
                    <a:lnTo>
                      <a:pt x="1" y="13"/>
                    </a:lnTo>
                    <a:lnTo>
                      <a:pt x="0" y="8"/>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62" name="Freeform 286"/>
              <p:cNvSpPr>
                <a:spLocks noChangeAspect="1"/>
              </p:cNvSpPr>
              <p:nvPr/>
            </p:nvSpPr>
            <p:spPr bwMode="auto">
              <a:xfrm>
                <a:off x="809" y="3648"/>
                <a:ext cx="109" cy="17"/>
              </a:xfrm>
              <a:custGeom>
                <a:avLst/>
                <a:gdLst>
                  <a:gd name="T0" fmla="*/ 108 w 109"/>
                  <a:gd name="T1" fmla="*/ 0 h 17"/>
                  <a:gd name="T2" fmla="*/ 107 w 109"/>
                  <a:gd name="T3" fmla="*/ 3 h 17"/>
                  <a:gd name="T4" fmla="*/ 103 w 109"/>
                  <a:gd name="T5" fmla="*/ 6 h 17"/>
                  <a:gd name="T6" fmla="*/ 91 w 109"/>
                  <a:gd name="T7" fmla="*/ 12 h 17"/>
                  <a:gd name="T8" fmla="*/ 75 w 109"/>
                  <a:gd name="T9" fmla="*/ 16 h 17"/>
                  <a:gd name="T10" fmla="*/ 53 w 109"/>
                  <a:gd name="T11" fmla="*/ 16 h 17"/>
                  <a:gd name="T12" fmla="*/ 32 w 109"/>
                  <a:gd name="T13" fmla="*/ 16 h 17"/>
                  <a:gd name="T14" fmla="*/ 15 w 109"/>
                  <a:gd name="T15" fmla="*/ 12 h 17"/>
                  <a:gd name="T16" fmla="*/ 9 w 109"/>
                  <a:gd name="T17" fmla="*/ 9 h 17"/>
                  <a:gd name="T18" fmla="*/ 4 w 109"/>
                  <a:gd name="T19" fmla="*/ 6 h 17"/>
                  <a:gd name="T20" fmla="*/ 0 w 109"/>
                  <a:gd name="T21" fmla="*/ 3 h 17"/>
                  <a:gd name="T22" fmla="*/ 0 w 109"/>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9"/>
                  <a:gd name="T37" fmla="*/ 0 h 17"/>
                  <a:gd name="T38" fmla="*/ 109 w 109"/>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9" h="17">
                    <a:moveTo>
                      <a:pt x="108" y="0"/>
                    </a:moveTo>
                    <a:lnTo>
                      <a:pt x="107" y="3"/>
                    </a:lnTo>
                    <a:lnTo>
                      <a:pt x="103" y="6"/>
                    </a:lnTo>
                    <a:lnTo>
                      <a:pt x="91" y="12"/>
                    </a:lnTo>
                    <a:lnTo>
                      <a:pt x="75" y="16"/>
                    </a:lnTo>
                    <a:lnTo>
                      <a:pt x="53" y="16"/>
                    </a:lnTo>
                    <a:lnTo>
                      <a:pt x="32" y="16"/>
                    </a:lnTo>
                    <a:lnTo>
                      <a:pt x="15" y="12"/>
                    </a:lnTo>
                    <a:lnTo>
                      <a:pt x="9" y="9"/>
                    </a:lnTo>
                    <a:lnTo>
                      <a:pt x="4" y="6"/>
                    </a:lnTo>
                    <a:lnTo>
                      <a:pt x="0" y="3"/>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63" name="Freeform 287"/>
              <p:cNvSpPr>
                <a:spLocks noChangeAspect="1"/>
              </p:cNvSpPr>
              <p:nvPr/>
            </p:nvSpPr>
            <p:spPr bwMode="auto">
              <a:xfrm>
                <a:off x="778" y="3330"/>
                <a:ext cx="174" cy="119"/>
              </a:xfrm>
              <a:custGeom>
                <a:avLst/>
                <a:gdLst>
                  <a:gd name="T0" fmla="*/ 0 w 174"/>
                  <a:gd name="T1" fmla="*/ 0 h 119"/>
                  <a:gd name="T2" fmla="*/ 0 w 174"/>
                  <a:gd name="T3" fmla="*/ 6 h 119"/>
                  <a:gd name="T4" fmla="*/ 0 w 174"/>
                  <a:gd name="T5" fmla="*/ 16 h 119"/>
                  <a:gd name="T6" fmla="*/ 4 w 174"/>
                  <a:gd name="T7" fmla="*/ 22 h 119"/>
                  <a:gd name="T8" fmla="*/ 10 w 174"/>
                  <a:gd name="T9" fmla="*/ 26 h 119"/>
                  <a:gd name="T10" fmla="*/ 18 w 174"/>
                  <a:gd name="T11" fmla="*/ 29 h 119"/>
                  <a:gd name="T12" fmla="*/ 32 w 174"/>
                  <a:gd name="T13" fmla="*/ 31 h 119"/>
                  <a:gd name="T14" fmla="*/ 32 w 174"/>
                  <a:gd name="T15" fmla="*/ 34 h 119"/>
                  <a:gd name="T16" fmla="*/ 47 w 174"/>
                  <a:gd name="T17" fmla="*/ 36 h 119"/>
                  <a:gd name="T18" fmla="*/ 47 w 174"/>
                  <a:gd name="T19" fmla="*/ 94 h 119"/>
                  <a:gd name="T20" fmla="*/ 58 w 174"/>
                  <a:gd name="T21" fmla="*/ 99 h 119"/>
                  <a:gd name="T22" fmla="*/ 83 w 174"/>
                  <a:gd name="T23" fmla="*/ 108 h 119"/>
                  <a:gd name="T24" fmla="*/ 114 w 174"/>
                  <a:gd name="T25" fmla="*/ 117 h 119"/>
                  <a:gd name="T26" fmla="*/ 127 w 174"/>
                  <a:gd name="T27" fmla="*/ 118 h 119"/>
                  <a:gd name="T28" fmla="*/ 133 w 174"/>
                  <a:gd name="T29" fmla="*/ 116 h 119"/>
                  <a:gd name="T30" fmla="*/ 139 w 174"/>
                  <a:gd name="T31" fmla="*/ 114 h 119"/>
                  <a:gd name="T32" fmla="*/ 136 w 174"/>
                  <a:gd name="T33" fmla="*/ 114 h 119"/>
                  <a:gd name="T34" fmla="*/ 133 w 174"/>
                  <a:gd name="T35" fmla="*/ 112 h 119"/>
                  <a:gd name="T36" fmla="*/ 132 w 174"/>
                  <a:gd name="T37" fmla="*/ 104 h 119"/>
                  <a:gd name="T38" fmla="*/ 129 w 174"/>
                  <a:gd name="T39" fmla="*/ 102 h 119"/>
                  <a:gd name="T40" fmla="*/ 124 w 174"/>
                  <a:gd name="T41" fmla="*/ 101 h 119"/>
                  <a:gd name="T42" fmla="*/ 123 w 174"/>
                  <a:gd name="T43" fmla="*/ 94 h 119"/>
                  <a:gd name="T44" fmla="*/ 123 w 174"/>
                  <a:gd name="T45" fmla="*/ 36 h 119"/>
                  <a:gd name="T46" fmla="*/ 140 w 174"/>
                  <a:gd name="T47" fmla="*/ 34 h 119"/>
                  <a:gd name="T48" fmla="*/ 140 w 174"/>
                  <a:gd name="T49" fmla="*/ 31 h 119"/>
                  <a:gd name="T50" fmla="*/ 152 w 174"/>
                  <a:gd name="T51" fmla="*/ 30 h 119"/>
                  <a:gd name="T52" fmla="*/ 159 w 174"/>
                  <a:gd name="T53" fmla="*/ 27 h 119"/>
                  <a:gd name="T54" fmla="*/ 164 w 174"/>
                  <a:gd name="T55" fmla="*/ 25 h 119"/>
                  <a:gd name="T56" fmla="*/ 170 w 174"/>
                  <a:gd name="T57" fmla="*/ 19 h 119"/>
                  <a:gd name="T58" fmla="*/ 173 w 174"/>
                  <a:gd name="T59" fmla="*/ 12 h 119"/>
                  <a:gd name="T60" fmla="*/ 172 w 174"/>
                  <a:gd name="T61" fmla="*/ 0 h 119"/>
                  <a:gd name="T62" fmla="*/ 0 w 174"/>
                  <a:gd name="T63" fmla="*/ 0 h 1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74"/>
                  <a:gd name="T97" fmla="*/ 0 h 119"/>
                  <a:gd name="T98" fmla="*/ 174 w 174"/>
                  <a:gd name="T99" fmla="*/ 119 h 1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74" h="119">
                    <a:moveTo>
                      <a:pt x="0" y="0"/>
                    </a:moveTo>
                    <a:lnTo>
                      <a:pt x="0" y="6"/>
                    </a:lnTo>
                    <a:lnTo>
                      <a:pt x="0" y="16"/>
                    </a:lnTo>
                    <a:lnTo>
                      <a:pt x="4" y="22"/>
                    </a:lnTo>
                    <a:lnTo>
                      <a:pt x="10" y="26"/>
                    </a:lnTo>
                    <a:lnTo>
                      <a:pt x="18" y="29"/>
                    </a:lnTo>
                    <a:lnTo>
                      <a:pt x="32" y="31"/>
                    </a:lnTo>
                    <a:lnTo>
                      <a:pt x="32" y="34"/>
                    </a:lnTo>
                    <a:lnTo>
                      <a:pt x="47" y="36"/>
                    </a:lnTo>
                    <a:lnTo>
                      <a:pt x="47" y="94"/>
                    </a:lnTo>
                    <a:lnTo>
                      <a:pt x="58" y="99"/>
                    </a:lnTo>
                    <a:lnTo>
                      <a:pt x="83" y="108"/>
                    </a:lnTo>
                    <a:lnTo>
                      <a:pt x="114" y="117"/>
                    </a:lnTo>
                    <a:lnTo>
                      <a:pt x="127" y="118"/>
                    </a:lnTo>
                    <a:lnTo>
                      <a:pt x="133" y="116"/>
                    </a:lnTo>
                    <a:lnTo>
                      <a:pt x="139" y="114"/>
                    </a:lnTo>
                    <a:lnTo>
                      <a:pt x="136" y="114"/>
                    </a:lnTo>
                    <a:lnTo>
                      <a:pt x="133" y="112"/>
                    </a:lnTo>
                    <a:lnTo>
                      <a:pt x="132" y="104"/>
                    </a:lnTo>
                    <a:lnTo>
                      <a:pt x="129" y="102"/>
                    </a:lnTo>
                    <a:lnTo>
                      <a:pt x="124" y="101"/>
                    </a:lnTo>
                    <a:lnTo>
                      <a:pt x="123" y="94"/>
                    </a:lnTo>
                    <a:lnTo>
                      <a:pt x="123" y="36"/>
                    </a:lnTo>
                    <a:lnTo>
                      <a:pt x="140" y="34"/>
                    </a:lnTo>
                    <a:lnTo>
                      <a:pt x="140" y="31"/>
                    </a:lnTo>
                    <a:lnTo>
                      <a:pt x="152" y="30"/>
                    </a:lnTo>
                    <a:lnTo>
                      <a:pt x="159" y="27"/>
                    </a:lnTo>
                    <a:lnTo>
                      <a:pt x="164" y="25"/>
                    </a:lnTo>
                    <a:lnTo>
                      <a:pt x="170" y="19"/>
                    </a:lnTo>
                    <a:lnTo>
                      <a:pt x="173" y="12"/>
                    </a:lnTo>
                    <a:lnTo>
                      <a:pt x="172" y="0"/>
                    </a:lnTo>
                    <a:lnTo>
                      <a:pt x="0" y="0"/>
                    </a:lnTo>
                  </a:path>
                </a:pathLst>
              </a:custGeom>
              <a:solidFill>
                <a:srgbClr val="00AE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464" name="Freeform 288"/>
              <p:cNvSpPr>
                <a:spLocks noChangeAspect="1"/>
              </p:cNvSpPr>
              <p:nvPr/>
            </p:nvSpPr>
            <p:spPr bwMode="auto">
              <a:xfrm>
                <a:off x="778" y="3330"/>
                <a:ext cx="174" cy="119"/>
              </a:xfrm>
              <a:custGeom>
                <a:avLst/>
                <a:gdLst>
                  <a:gd name="T0" fmla="*/ 0 w 174"/>
                  <a:gd name="T1" fmla="*/ 0 h 119"/>
                  <a:gd name="T2" fmla="*/ 0 w 174"/>
                  <a:gd name="T3" fmla="*/ 6 h 119"/>
                  <a:gd name="T4" fmla="*/ 0 w 174"/>
                  <a:gd name="T5" fmla="*/ 16 h 119"/>
                  <a:gd name="T6" fmla="*/ 4 w 174"/>
                  <a:gd name="T7" fmla="*/ 22 h 119"/>
                  <a:gd name="T8" fmla="*/ 10 w 174"/>
                  <a:gd name="T9" fmla="*/ 26 h 119"/>
                  <a:gd name="T10" fmla="*/ 18 w 174"/>
                  <a:gd name="T11" fmla="*/ 29 h 119"/>
                  <a:gd name="T12" fmla="*/ 32 w 174"/>
                  <a:gd name="T13" fmla="*/ 31 h 119"/>
                  <a:gd name="T14" fmla="*/ 32 w 174"/>
                  <a:gd name="T15" fmla="*/ 34 h 119"/>
                  <a:gd name="T16" fmla="*/ 47 w 174"/>
                  <a:gd name="T17" fmla="*/ 36 h 119"/>
                  <a:gd name="T18" fmla="*/ 47 w 174"/>
                  <a:gd name="T19" fmla="*/ 94 h 119"/>
                  <a:gd name="T20" fmla="*/ 58 w 174"/>
                  <a:gd name="T21" fmla="*/ 99 h 119"/>
                  <a:gd name="T22" fmla="*/ 83 w 174"/>
                  <a:gd name="T23" fmla="*/ 108 h 119"/>
                  <a:gd name="T24" fmla="*/ 114 w 174"/>
                  <a:gd name="T25" fmla="*/ 117 h 119"/>
                  <a:gd name="T26" fmla="*/ 127 w 174"/>
                  <a:gd name="T27" fmla="*/ 118 h 119"/>
                  <a:gd name="T28" fmla="*/ 133 w 174"/>
                  <a:gd name="T29" fmla="*/ 116 h 119"/>
                  <a:gd name="T30" fmla="*/ 139 w 174"/>
                  <a:gd name="T31" fmla="*/ 114 h 119"/>
                  <a:gd name="T32" fmla="*/ 136 w 174"/>
                  <a:gd name="T33" fmla="*/ 114 h 119"/>
                  <a:gd name="T34" fmla="*/ 133 w 174"/>
                  <a:gd name="T35" fmla="*/ 112 h 119"/>
                  <a:gd name="T36" fmla="*/ 132 w 174"/>
                  <a:gd name="T37" fmla="*/ 104 h 119"/>
                  <a:gd name="T38" fmla="*/ 129 w 174"/>
                  <a:gd name="T39" fmla="*/ 102 h 119"/>
                  <a:gd name="T40" fmla="*/ 124 w 174"/>
                  <a:gd name="T41" fmla="*/ 101 h 119"/>
                  <a:gd name="T42" fmla="*/ 123 w 174"/>
                  <a:gd name="T43" fmla="*/ 94 h 119"/>
                  <a:gd name="T44" fmla="*/ 123 w 174"/>
                  <a:gd name="T45" fmla="*/ 36 h 119"/>
                  <a:gd name="T46" fmla="*/ 140 w 174"/>
                  <a:gd name="T47" fmla="*/ 34 h 119"/>
                  <a:gd name="T48" fmla="*/ 140 w 174"/>
                  <a:gd name="T49" fmla="*/ 31 h 119"/>
                  <a:gd name="T50" fmla="*/ 152 w 174"/>
                  <a:gd name="T51" fmla="*/ 30 h 119"/>
                  <a:gd name="T52" fmla="*/ 159 w 174"/>
                  <a:gd name="T53" fmla="*/ 27 h 119"/>
                  <a:gd name="T54" fmla="*/ 164 w 174"/>
                  <a:gd name="T55" fmla="*/ 25 h 119"/>
                  <a:gd name="T56" fmla="*/ 170 w 174"/>
                  <a:gd name="T57" fmla="*/ 19 h 119"/>
                  <a:gd name="T58" fmla="*/ 173 w 174"/>
                  <a:gd name="T59" fmla="*/ 12 h 119"/>
                  <a:gd name="T60" fmla="*/ 172 w 174"/>
                  <a:gd name="T61" fmla="*/ 0 h 119"/>
                  <a:gd name="T62" fmla="*/ 0 w 174"/>
                  <a:gd name="T63" fmla="*/ 0 h 1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74"/>
                  <a:gd name="T97" fmla="*/ 0 h 119"/>
                  <a:gd name="T98" fmla="*/ 174 w 174"/>
                  <a:gd name="T99" fmla="*/ 119 h 1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74" h="119">
                    <a:moveTo>
                      <a:pt x="0" y="0"/>
                    </a:moveTo>
                    <a:lnTo>
                      <a:pt x="0" y="6"/>
                    </a:lnTo>
                    <a:lnTo>
                      <a:pt x="0" y="16"/>
                    </a:lnTo>
                    <a:lnTo>
                      <a:pt x="4" y="22"/>
                    </a:lnTo>
                    <a:lnTo>
                      <a:pt x="10" y="26"/>
                    </a:lnTo>
                    <a:lnTo>
                      <a:pt x="18" y="29"/>
                    </a:lnTo>
                    <a:lnTo>
                      <a:pt x="32" y="31"/>
                    </a:lnTo>
                    <a:lnTo>
                      <a:pt x="32" y="34"/>
                    </a:lnTo>
                    <a:lnTo>
                      <a:pt x="47" y="36"/>
                    </a:lnTo>
                    <a:lnTo>
                      <a:pt x="47" y="94"/>
                    </a:lnTo>
                    <a:lnTo>
                      <a:pt x="58" y="99"/>
                    </a:lnTo>
                    <a:lnTo>
                      <a:pt x="83" y="108"/>
                    </a:lnTo>
                    <a:lnTo>
                      <a:pt x="114" y="117"/>
                    </a:lnTo>
                    <a:lnTo>
                      <a:pt x="127" y="118"/>
                    </a:lnTo>
                    <a:lnTo>
                      <a:pt x="133" y="116"/>
                    </a:lnTo>
                    <a:lnTo>
                      <a:pt x="139" y="114"/>
                    </a:lnTo>
                    <a:lnTo>
                      <a:pt x="136" y="114"/>
                    </a:lnTo>
                    <a:lnTo>
                      <a:pt x="133" y="112"/>
                    </a:lnTo>
                    <a:lnTo>
                      <a:pt x="132" y="104"/>
                    </a:lnTo>
                    <a:lnTo>
                      <a:pt x="129" y="102"/>
                    </a:lnTo>
                    <a:lnTo>
                      <a:pt x="124" y="101"/>
                    </a:lnTo>
                    <a:lnTo>
                      <a:pt x="123" y="94"/>
                    </a:lnTo>
                    <a:lnTo>
                      <a:pt x="123" y="36"/>
                    </a:lnTo>
                    <a:lnTo>
                      <a:pt x="140" y="34"/>
                    </a:lnTo>
                    <a:lnTo>
                      <a:pt x="140" y="31"/>
                    </a:lnTo>
                    <a:lnTo>
                      <a:pt x="152" y="30"/>
                    </a:lnTo>
                    <a:lnTo>
                      <a:pt x="159" y="27"/>
                    </a:lnTo>
                    <a:lnTo>
                      <a:pt x="164" y="25"/>
                    </a:lnTo>
                    <a:lnTo>
                      <a:pt x="170" y="19"/>
                    </a:lnTo>
                    <a:lnTo>
                      <a:pt x="173" y="12"/>
                    </a:lnTo>
                    <a:lnTo>
                      <a:pt x="172" y="0"/>
                    </a:lnTo>
                    <a:lnTo>
                      <a:pt x="0" y="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65" name="Freeform 289"/>
              <p:cNvSpPr>
                <a:spLocks noChangeAspect="1"/>
              </p:cNvSpPr>
              <p:nvPr/>
            </p:nvSpPr>
            <p:spPr bwMode="auto">
              <a:xfrm>
                <a:off x="766" y="3426"/>
                <a:ext cx="60" cy="90"/>
              </a:xfrm>
              <a:custGeom>
                <a:avLst/>
                <a:gdLst>
                  <a:gd name="T0" fmla="*/ 48 w 60"/>
                  <a:gd name="T1" fmla="*/ 89 h 90"/>
                  <a:gd name="T2" fmla="*/ 38 w 60"/>
                  <a:gd name="T3" fmla="*/ 88 h 90"/>
                  <a:gd name="T4" fmla="*/ 30 w 60"/>
                  <a:gd name="T5" fmla="*/ 86 h 90"/>
                  <a:gd name="T6" fmla="*/ 22 w 60"/>
                  <a:gd name="T7" fmla="*/ 82 h 90"/>
                  <a:gd name="T8" fmla="*/ 15 w 60"/>
                  <a:gd name="T9" fmla="*/ 77 h 90"/>
                  <a:gd name="T10" fmla="*/ 9 w 60"/>
                  <a:gd name="T11" fmla="*/ 71 h 90"/>
                  <a:gd name="T12" fmla="*/ 4 w 60"/>
                  <a:gd name="T13" fmla="*/ 64 h 90"/>
                  <a:gd name="T14" fmla="*/ 2 w 60"/>
                  <a:gd name="T15" fmla="*/ 56 h 90"/>
                  <a:gd name="T16" fmla="*/ 0 w 60"/>
                  <a:gd name="T17" fmla="*/ 48 h 90"/>
                  <a:gd name="T18" fmla="*/ 2 w 60"/>
                  <a:gd name="T19" fmla="*/ 34 h 90"/>
                  <a:gd name="T20" fmla="*/ 7 w 60"/>
                  <a:gd name="T21" fmla="*/ 21 h 90"/>
                  <a:gd name="T22" fmla="*/ 11 w 60"/>
                  <a:gd name="T23" fmla="*/ 16 h 90"/>
                  <a:gd name="T24" fmla="*/ 16 w 60"/>
                  <a:gd name="T25" fmla="*/ 12 h 90"/>
                  <a:gd name="T26" fmla="*/ 17 w 60"/>
                  <a:gd name="T27" fmla="*/ 5 h 90"/>
                  <a:gd name="T28" fmla="*/ 20 w 60"/>
                  <a:gd name="T29" fmla="*/ 1 h 90"/>
                  <a:gd name="T30" fmla="*/ 34 w 60"/>
                  <a:gd name="T31" fmla="*/ 1 h 90"/>
                  <a:gd name="T32" fmla="*/ 52 w 60"/>
                  <a:gd name="T33" fmla="*/ 0 h 90"/>
                  <a:gd name="T34" fmla="*/ 59 w 60"/>
                  <a:gd name="T35" fmla="*/ 0 h 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90"/>
                  <a:gd name="T56" fmla="*/ 60 w 60"/>
                  <a:gd name="T57" fmla="*/ 90 h 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90">
                    <a:moveTo>
                      <a:pt x="48" y="89"/>
                    </a:moveTo>
                    <a:lnTo>
                      <a:pt x="38" y="88"/>
                    </a:lnTo>
                    <a:lnTo>
                      <a:pt x="30" y="86"/>
                    </a:lnTo>
                    <a:lnTo>
                      <a:pt x="22" y="82"/>
                    </a:lnTo>
                    <a:lnTo>
                      <a:pt x="15" y="77"/>
                    </a:lnTo>
                    <a:lnTo>
                      <a:pt x="9" y="71"/>
                    </a:lnTo>
                    <a:lnTo>
                      <a:pt x="4" y="64"/>
                    </a:lnTo>
                    <a:lnTo>
                      <a:pt x="2" y="56"/>
                    </a:lnTo>
                    <a:lnTo>
                      <a:pt x="0" y="48"/>
                    </a:lnTo>
                    <a:lnTo>
                      <a:pt x="2" y="34"/>
                    </a:lnTo>
                    <a:lnTo>
                      <a:pt x="7" y="21"/>
                    </a:lnTo>
                    <a:lnTo>
                      <a:pt x="11" y="16"/>
                    </a:lnTo>
                    <a:lnTo>
                      <a:pt x="16" y="12"/>
                    </a:lnTo>
                    <a:lnTo>
                      <a:pt x="17" y="5"/>
                    </a:lnTo>
                    <a:lnTo>
                      <a:pt x="20" y="1"/>
                    </a:lnTo>
                    <a:lnTo>
                      <a:pt x="34" y="1"/>
                    </a:lnTo>
                    <a:lnTo>
                      <a:pt x="52" y="0"/>
                    </a:lnTo>
                    <a:lnTo>
                      <a:pt x="59"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66" name="Freeform 290"/>
              <p:cNvSpPr>
                <a:spLocks noChangeAspect="1"/>
              </p:cNvSpPr>
              <p:nvPr/>
            </p:nvSpPr>
            <p:spPr bwMode="auto">
              <a:xfrm>
                <a:off x="887" y="3500"/>
                <a:ext cx="17" cy="17"/>
              </a:xfrm>
              <a:custGeom>
                <a:avLst/>
                <a:gdLst>
                  <a:gd name="T0" fmla="*/ 16 w 17"/>
                  <a:gd name="T1" fmla="*/ 0 h 17"/>
                  <a:gd name="T2" fmla="*/ 8 w 17"/>
                  <a:gd name="T3" fmla="*/ 2 h 17"/>
                  <a:gd name="T4" fmla="*/ 0 w 17"/>
                  <a:gd name="T5" fmla="*/ 0 h 17"/>
                  <a:gd name="T6" fmla="*/ 0 w 17"/>
                  <a:gd name="T7" fmla="*/ 16 h 17"/>
                  <a:gd name="T8" fmla="*/ 16 w 17"/>
                  <a:gd name="T9" fmla="*/ 16 h 17"/>
                  <a:gd name="T10" fmla="*/ 16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0"/>
                    </a:moveTo>
                    <a:lnTo>
                      <a:pt x="8" y="2"/>
                    </a:lnTo>
                    <a:lnTo>
                      <a:pt x="0" y="0"/>
                    </a:lnTo>
                    <a:lnTo>
                      <a:pt x="0" y="16"/>
                    </a:lnTo>
                    <a:lnTo>
                      <a:pt x="16" y="16"/>
                    </a:lnTo>
                    <a:lnTo>
                      <a:pt x="16" y="0"/>
                    </a:lnTo>
                  </a:path>
                </a:pathLst>
              </a:custGeom>
              <a:solidFill>
                <a:srgbClr val="999999"/>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67" name="Freeform 291"/>
              <p:cNvSpPr>
                <a:spLocks noChangeAspect="1"/>
              </p:cNvSpPr>
              <p:nvPr/>
            </p:nvSpPr>
            <p:spPr bwMode="auto">
              <a:xfrm>
                <a:off x="824" y="3421"/>
                <a:ext cx="70" cy="95"/>
              </a:xfrm>
              <a:custGeom>
                <a:avLst/>
                <a:gdLst>
                  <a:gd name="T0" fmla="*/ 0 w 70"/>
                  <a:gd name="T1" fmla="*/ 94 h 95"/>
                  <a:gd name="T2" fmla="*/ 26 w 70"/>
                  <a:gd name="T3" fmla="*/ 91 h 95"/>
                  <a:gd name="T4" fmla="*/ 38 w 70"/>
                  <a:gd name="T5" fmla="*/ 89 h 95"/>
                  <a:gd name="T6" fmla="*/ 47 w 70"/>
                  <a:gd name="T7" fmla="*/ 85 h 95"/>
                  <a:gd name="T8" fmla="*/ 54 w 70"/>
                  <a:gd name="T9" fmla="*/ 80 h 95"/>
                  <a:gd name="T10" fmla="*/ 60 w 70"/>
                  <a:gd name="T11" fmla="*/ 75 h 95"/>
                  <a:gd name="T12" fmla="*/ 62 w 70"/>
                  <a:gd name="T13" fmla="*/ 70 h 95"/>
                  <a:gd name="T14" fmla="*/ 64 w 70"/>
                  <a:gd name="T15" fmla="*/ 65 h 95"/>
                  <a:gd name="T16" fmla="*/ 64 w 70"/>
                  <a:gd name="T17" fmla="*/ 55 h 95"/>
                  <a:gd name="T18" fmla="*/ 66 w 70"/>
                  <a:gd name="T19" fmla="*/ 24 h 95"/>
                  <a:gd name="T20" fmla="*/ 69 w 70"/>
                  <a:gd name="T21" fmla="*/ 12 h 95"/>
                  <a:gd name="T22" fmla="*/ 60 w 70"/>
                  <a:gd name="T23" fmla="*/ 7 h 95"/>
                  <a:gd name="T24" fmla="*/ 49 w 70"/>
                  <a:gd name="T25" fmla="*/ 2 h 95"/>
                  <a:gd name="T26" fmla="*/ 41 w 70"/>
                  <a:gd name="T27" fmla="*/ 0 h 95"/>
                  <a:gd name="T28" fmla="*/ 33 w 70"/>
                  <a:gd name="T29" fmla="*/ 0 h 95"/>
                  <a:gd name="T30" fmla="*/ 17 w 70"/>
                  <a:gd name="T31" fmla="*/ 0 h 95"/>
                  <a:gd name="T32" fmla="*/ 9 w 70"/>
                  <a:gd name="T33" fmla="*/ 0 h 95"/>
                  <a:gd name="T34" fmla="*/ 2 w 70"/>
                  <a:gd name="T35" fmla="*/ 1 h 95"/>
                  <a:gd name="T36" fmla="*/ 0 w 70"/>
                  <a:gd name="T37" fmla="*/ 5 h 95"/>
                  <a:gd name="T38" fmla="*/ 0 w 70"/>
                  <a:gd name="T39" fmla="*/ 14 h 95"/>
                  <a:gd name="T40" fmla="*/ 0 w 70"/>
                  <a:gd name="T41" fmla="*/ 47 h 95"/>
                  <a:gd name="T42" fmla="*/ 0 w 70"/>
                  <a:gd name="T43" fmla="*/ 94 h 9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0"/>
                  <a:gd name="T67" fmla="*/ 0 h 95"/>
                  <a:gd name="T68" fmla="*/ 70 w 70"/>
                  <a:gd name="T69" fmla="*/ 95 h 9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0" h="95">
                    <a:moveTo>
                      <a:pt x="0" y="94"/>
                    </a:moveTo>
                    <a:lnTo>
                      <a:pt x="26" y="91"/>
                    </a:lnTo>
                    <a:lnTo>
                      <a:pt x="38" y="89"/>
                    </a:lnTo>
                    <a:lnTo>
                      <a:pt x="47" y="85"/>
                    </a:lnTo>
                    <a:lnTo>
                      <a:pt x="54" y="80"/>
                    </a:lnTo>
                    <a:lnTo>
                      <a:pt x="60" y="75"/>
                    </a:lnTo>
                    <a:lnTo>
                      <a:pt x="62" y="70"/>
                    </a:lnTo>
                    <a:lnTo>
                      <a:pt x="64" y="65"/>
                    </a:lnTo>
                    <a:lnTo>
                      <a:pt x="64" y="55"/>
                    </a:lnTo>
                    <a:lnTo>
                      <a:pt x="66" y="24"/>
                    </a:lnTo>
                    <a:lnTo>
                      <a:pt x="69" y="12"/>
                    </a:lnTo>
                    <a:lnTo>
                      <a:pt x="60" y="7"/>
                    </a:lnTo>
                    <a:lnTo>
                      <a:pt x="49" y="2"/>
                    </a:lnTo>
                    <a:lnTo>
                      <a:pt x="41" y="0"/>
                    </a:lnTo>
                    <a:lnTo>
                      <a:pt x="33" y="0"/>
                    </a:lnTo>
                    <a:lnTo>
                      <a:pt x="17" y="0"/>
                    </a:lnTo>
                    <a:lnTo>
                      <a:pt x="9" y="0"/>
                    </a:lnTo>
                    <a:lnTo>
                      <a:pt x="2" y="1"/>
                    </a:lnTo>
                    <a:lnTo>
                      <a:pt x="0" y="5"/>
                    </a:lnTo>
                    <a:lnTo>
                      <a:pt x="0" y="14"/>
                    </a:lnTo>
                    <a:lnTo>
                      <a:pt x="0" y="47"/>
                    </a:lnTo>
                    <a:lnTo>
                      <a:pt x="0" y="94"/>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68" name="Freeform 292"/>
              <p:cNvSpPr>
                <a:spLocks noChangeAspect="1"/>
              </p:cNvSpPr>
              <p:nvPr/>
            </p:nvSpPr>
            <p:spPr bwMode="auto">
              <a:xfrm>
                <a:off x="872" y="3433"/>
                <a:ext cx="40" cy="19"/>
              </a:xfrm>
              <a:custGeom>
                <a:avLst/>
                <a:gdLst>
                  <a:gd name="T0" fmla="*/ 39 w 40"/>
                  <a:gd name="T1" fmla="*/ 12 h 19"/>
                  <a:gd name="T2" fmla="*/ 36 w 40"/>
                  <a:gd name="T3" fmla="*/ 1 h 19"/>
                  <a:gd name="T4" fmla="*/ 0 w 40"/>
                  <a:gd name="T5" fmla="*/ 0 h 19"/>
                  <a:gd name="T6" fmla="*/ 5 w 40"/>
                  <a:gd name="T7" fmla="*/ 6 h 19"/>
                  <a:gd name="T8" fmla="*/ 9 w 40"/>
                  <a:gd name="T9" fmla="*/ 11 h 19"/>
                  <a:gd name="T10" fmla="*/ 11 w 40"/>
                  <a:gd name="T11" fmla="*/ 15 h 19"/>
                  <a:gd name="T12" fmla="*/ 13 w 40"/>
                  <a:gd name="T13" fmla="*/ 17 h 19"/>
                  <a:gd name="T14" fmla="*/ 16 w 40"/>
                  <a:gd name="T15" fmla="*/ 18 h 19"/>
                  <a:gd name="T16" fmla="*/ 25 w 40"/>
                  <a:gd name="T17" fmla="*/ 16 h 19"/>
                  <a:gd name="T18" fmla="*/ 39 w 40"/>
                  <a:gd name="T19" fmla="*/ 12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19"/>
                  <a:gd name="T32" fmla="*/ 40 w 40"/>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19">
                    <a:moveTo>
                      <a:pt x="39" y="12"/>
                    </a:moveTo>
                    <a:lnTo>
                      <a:pt x="36" y="1"/>
                    </a:lnTo>
                    <a:lnTo>
                      <a:pt x="0" y="0"/>
                    </a:lnTo>
                    <a:lnTo>
                      <a:pt x="5" y="6"/>
                    </a:lnTo>
                    <a:lnTo>
                      <a:pt x="9" y="11"/>
                    </a:lnTo>
                    <a:lnTo>
                      <a:pt x="11" y="15"/>
                    </a:lnTo>
                    <a:lnTo>
                      <a:pt x="13" y="17"/>
                    </a:lnTo>
                    <a:lnTo>
                      <a:pt x="16" y="18"/>
                    </a:lnTo>
                    <a:lnTo>
                      <a:pt x="25" y="16"/>
                    </a:lnTo>
                    <a:lnTo>
                      <a:pt x="39" y="12"/>
                    </a:lnTo>
                  </a:path>
                </a:pathLst>
              </a:custGeom>
              <a:solidFill>
                <a:srgbClr val="999999"/>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69" name="Freeform 293"/>
              <p:cNvSpPr>
                <a:spLocks noChangeAspect="1"/>
              </p:cNvSpPr>
              <p:nvPr/>
            </p:nvSpPr>
            <p:spPr bwMode="auto">
              <a:xfrm>
                <a:off x="872" y="3433"/>
                <a:ext cx="38" cy="17"/>
              </a:xfrm>
              <a:custGeom>
                <a:avLst/>
                <a:gdLst>
                  <a:gd name="T0" fmla="*/ 0 w 38"/>
                  <a:gd name="T1" fmla="*/ 7 h 17"/>
                  <a:gd name="T2" fmla="*/ 19 w 38"/>
                  <a:gd name="T3" fmla="*/ 0 h 17"/>
                  <a:gd name="T4" fmla="*/ 32 w 38"/>
                  <a:gd name="T5" fmla="*/ 3 h 17"/>
                  <a:gd name="T6" fmla="*/ 37 w 38"/>
                  <a:gd name="T7" fmla="*/ 8 h 17"/>
                  <a:gd name="T8" fmla="*/ 19 w 38"/>
                  <a:gd name="T9" fmla="*/ 16 h 17"/>
                  <a:gd name="T10" fmla="*/ 4 w 38"/>
                  <a:gd name="T11" fmla="*/ 8 h 17"/>
                  <a:gd name="T12" fmla="*/ 0 w 38"/>
                  <a:gd name="T13" fmla="*/ 7 h 17"/>
                  <a:gd name="T14" fmla="*/ 0 60000 65536"/>
                  <a:gd name="T15" fmla="*/ 0 60000 65536"/>
                  <a:gd name="T16" fmla="*/ 0 60000 65536"/>
                  <a:gd name="T17" fmla="*/ 0 60000 65536"/>
                  <a:gd name="T18" fmla="*/ 0 60000 65536"/>
                  <a:gd name="T19" fmla="*/ 0 60000 65536"/>
                  <a:gd name="T20" fmla="*/ 0 60000 65536"/>
                  <a:gd name="T21" fmla="*/ 0 w 38"/>
                  <a:gd name="T22" fmla="*/ 0 h 17"/>
                  <a:gd name="T23" fmla="*/ 38 w 38"/>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7">
                    <a:moveTo>
                      <a:pt x="0" y="7"/>
                    </a:moveTo>
                    <a:lnTo>
                      <a:pt x="19" y="0"/>
                    </a:lnTo>
                    <a:lnTo>
                      <a:pt x="32" y="3"/>
                    </a:lnTo>
                    <a:lnTo>
                      <a:pt x="37" y="8"/>
                    </a:lnTo>
                    <a:lnTo>
                      <a:pt x="19" y="16"/>
                    </a:lnTo>
                    <a:lnTo>
                      <a:pt x="4" y="8"/>
                    </a:lnTo>
                    <a:lnTo>
                      <a:pt x="0"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70" name="Freeform 294"/>
              <p:cNvSpPr>
                <a:spLocks noChangeAspect="1"/>
              </p:cNvSpPr>
              <p:nvPr/>
            </p:nvSpPr>
            <p:spPr bwMode="auto">
              <a:xfrm>
                <a:off x="783" y="3426"/>
                <a:ext cx="92" cy="91"/>
              </a:xfrm>
              <a:custGeom>
                <a:avLst/>
                <a:gdLst>
                  <a:gd name="T0" fmla="*/ 37 w 92"/>
                  <a:gd name="T1" fmla="*/ 0 h 91"/>
                  <a:gd name="T2" fmla="*/ 48 w 92"/>
                  <a:gd name="T3" fmla="*/ 0 h 91"/>
                  <a:gd name="T4" fmla="*/ 58 w 92"/>
                  <a:gd name="T5" fmla="*/ 3 h 91"/>
                  <a:gd name="T6" fmla="*/ 67 w 92"/>
                  <a:gd name="T7" fmla="*/ 7 h 91"/>
                  <a:gd name="T8" fmla="*/ 75 w 92"/>
                  <a:gd name="T9" fmla="*/ 13 h 91"/>
                  <a:gd name="T10" fmla="*/ 82 w 92"/>
                  <a:gd name="T11" fmla="*/ 19 h 91"/>
                  <a:gd name="T12" fmla="*/ 86 w 92"/>
                  <a:gd name="T13" fmla="*/ 27 h 91"/>
                  <a:gd name="T14" fmla="*/ 90 w 92"/>
                  <a:gd name="T15" fmla="*/ 36 h 91"/>
                  <a:gd name="T16" fmla="*/ 91 w 92"/>
                  <a:gd name="T17" fmla="*/ 45 h 91"/>
                  <a:gd name="T18" fmla="*/ 90 w 92"/>
                  <a:gd name="T19" fmla="*/ 54 h 91"/>
                  <a:gd name="T20" fmla="*/ 86 w 92"/>
                  <a:gd name="T21" fmla="*/ 62 h 91"/>
                  <a:gd name="T22" fmla="*/ 82 w 92"/>
                  <a:gd name="T23" fmla="*/ 70 h 91"/>
                  <a:gd name="T24" fmla="*/ 75 w 92"/>
                  <a:gd name="T25" fmla="*/ 76 h 91"/>
                  <a:gd name="T26" fmla="*/ 67 w 92"/>
                  <a:gd name="T27" fmla="*/ 82 h 91"/>
                  <a:gd name="T28" fmla="*/ 58 w 92"/>
                  <a:gd name="T29" fmla="*/ 86 h 91"/>
                  <a:gd name="T30" fmla="*/ 48 w 92"/>
                  <a:gd name="T31" fmla="*/ 89 h 91"/>
                  <a:gd name="T32" fmla="*/ 38 w 92"/>
                  <a:gd name="T33" fmla="*/ 90 h 91"/>
                  <a:gd name="T34" fmla="*/ 31 w 92"/>
                  <a:gd name="T35" fmla="*/ 88 h 91"/>
                  <a:gd name="T36" fmla="*/ 24 w 92"/>
                  <a:gd name="T37" fmla="*/ 82 h 91"/>
                  <a:gd name="T38" fmla="*/ 17 w 92"/>
                  <a:gd name="T39" fmla="*/ 74 h 91"/>
                  <a:gd name="T40" fmla="*/ 11 w 92"/>
                  <a:gd name="T41" fmla="*/ 63 h 91"/>
                  <a:gd name="T42" fmla="*/ 6 w 92"/>
                  <a:gd name="T43" fmla="*/ 51 h 91"/>
                  <a:gd name="T44" fmla="*/ 3 w 92"/>
                  <a:gd name="T45" fmla="*/ 38 h 91"/>
                  <a:gd name="T46" fmla="*/ 0 w 92"/>
                  <a:gd name="T47" fmla="*/ 26 h 91"/>
                  <a:gd name="T48" fmla="*/ 0 w 92"/>
                  <a:gd name="T49" fmla="*/ 14 h 91"/>
                  <a:gd name="T50" fmla="*/ 0 w 92"/>
                  <a:gd name="T51" fmla="*/ 4 h 91"/>
                  <a:gd name="T52" fmla="*/ 4 w 92"/>
                  <a:gd name="T53" fmla="*/ 1 h 91"/>
                  <a:gd name="T54" fmla="*/ 19 w 92"/>
                  <a:gd name="T55" fmla="*/ 1 h 91"/>
                  <a:gd name="T56" fmla="*/ 37 w 92"/>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2"/>
                  <a:gd name="T88" fmla="*/ 0 h 91"/>
                  <a:gd name="T89" fmla="*/ 92 w 92"/>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2" h="91">
                    <a:moveTo>
                      <a:pt x="37" y="0"/>
                    </a:moveTo>
                    <a:lnTo>
                      <a:pt x="48" y="0"/>
                    </a:lnTo>
                    <a:lnTo>
                      <a:pt x="58" y="3"/>
                    </a:lnTo>
                    <a:lnTo>
                      <a:pt x="67" y="7"/>
                    </a:lnTo>
                    <a:lnTo>
                      <a:pt x="75" y="13"/>
                    </a:lnTo>
                    <a:lnTo>
                      <a:pt x="82" y="19"/>
                    </a:lnTo>
                    <a:lnTo>
                      <a:pt x="86" y="27"/>
                    </a:lnTo>
                    <a:lnTo>
                      <a:pt x="90" y="36"/>
                    </a:lnTo>
                    <a:lnTo>
                      <a:pt x="91" y="45"/>
                    </a:lnTo>
                    <a:lnTo>
                      <a:pt x="90" y="54"/>
                    </a:lnTo>
                    <a:lnTo>
                      <a:pt x="86" y="62"/>
                    </a:lnTo>
                    <a:lnTo>
                      <a:pt x="82" y="70"/>
                    </a:lnTo>
                    <a:lnTo>
                      <a:pt x="75" y="76"/>
                    </a:lnTo>
                    <a:lnTo>
                      <a:pt x="67" y="82"/>
                    </a:lnTo>
                    <a:lnTo>
                      <a:pt x="58" y="86"/>
                    </a:lnTo>
                    <a:lnTo>
                      <a:pt x="48" y="89"/>
                    </a:lnTo>
                    <a:lnTo>
                      <a:pt x="38" y="90"/>
                    </a:lnTo>
                    <a:lnTo>
                      <a:pt x="31" y="88"/>
                    </a:lnTo>
                    <a:lnTo>
                      <a:pt x="24" y="82"/>
                    </a:lnTo>
                    <a:lnTo>
                      <a:pt x="17" y="74"/>
                    </a:lnTo>
                    <a:lnTo>
                      <a:pt x="11" y="63"/>
                    </a:lnTo>
                    <a:lnTo>
                      <a:pt x="6" y="51"/>
                    </a:lnTo>
                    <a:lnTo>
                      <a:pt x="3" y="38"/>
                    </a:lnTo>
                    <a:lnTo>
                      <a:pt x="0" y="26"/>
                    </a:lnTo>
                    <a:lnTo>
                      <a:pt x="0" y="14"/>
                    </a:lnTo>
                    <a:lnTo>
                      <a:pt x="0" y="4"/>
                    </a:lnTo>
                    <a:lnTo>
                      <a:pt x="4" y="1"/>
                    </a:lnTo>
                    <a:lnTo>
                      <a:pt x="19" y="1"/>
                    </a:lnTo>
                    <a:lnTo>
                      <a:pt x="37"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71" name="Freeform 295"/>
              <p:cNvSpPr>
                <a:spLocks noChangeAspect="1"/>
              </p:cNvSpPr>
              <p:nvPr/>
            </p:nvSpPr>
            <p:spPr bwMode="auto">
              <a:xfrm>
                <a:off x="879" y="3444"/>
                <a:ext cx="39" cy="59"/>
              </a:xfrm>
              <a:custGeom>
                <a:avLst/>
                <a:gdLst>
                  <a:gd name="T0" fmla="*/ 38 w 39"/>
                  <a:gd name="T1" fmla="*/ 1 h 59"/>
                  <a:gd name="T2" fmla="*/ 33 w 39"/>
                  <a:gd name="T3" fmla="*/ 0 h 59"/>
                  <a:gd name="T4" fmla="*/ 26 w 39"/>
                  <a:gd name="T5" fmla="*/ 0 h 59"/>
                  <a:gd name="T6" fmla="*/ 23 w 39"/>
                  <a:gd name="T7" fmla="*/ 0 h 59"/>
                  <a:gd name="T8" fmla="*/ 20 w 39"/>
                  <a:gd name="T9" fmla="*/ 2 h 59"/>
                  <a:gd name="T10" fmla="*/ 12 w 39"/>
                  <a:gd name="T11" fmla="*/ 3 h 59"/>
                  <a:gd name="T12" fmla="*/ 4 w 39"/>
                  <a:gd name="T13" fmla="*/ 3 h 59"/>
                  <a:gd name="T14" fmla="*/ 2 w 39"/>
                  <a:gd name="T15" fmla="*/ 12 h 59"/>
                  <a:gd name="T16" fmla="*/ 2 w 39"/>
                  <a:gd name="T17" fmla="*/ 28 h 59"/>
                  <a:gd name="T18" fmla="*/ 3 w 39"/>
                  <a:gd name="T19" fmla="*/ 38 h 59"/>
                  <a:gd name="T20" fmla="*/ 4 w 39"/>
                  <a:gd name="T21" fmla="*/ 43 h 59"/>
                  <a:gd name="T22" fmla="*/ 4 w 39"/>
                  <a:gd name="T23" fmla="*/ 49 h 59"/>
                  <a:gd name="T24" fmla="*/ 3 w 39"/>
                  <a:gd name="T25" fmla="*/ 53 h 59"/>
                  <a:gd name="T26" fmla="*/ 0 w 39"/>
                  <a:gd name="T27" fmla="*/ 58 h 59"/>
                  <a:gd name="T28" fmla="*/ 4 w 39"/>
                  <a:gd name="T29" fmla="*/ 54 h 59"/>
                  <a:gd name="T30" fmla="*/ 34 w 39"/>
                  <a:gd name="T31" fmla="*/ 54 h 59"/>
                  <a:gd name="T32" fmla="*/ 38 w 39"/>
                  <a:gd name="T33" fmla="*/ 1 h 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59"/>
                  <a:gd name="T53" fmla="*/ 39 w 39"/>
                  <a:gd name="T54" fmla="*/ 59 h 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59">
                    <a:moveTo>
                      <a:pt x="38" y="1"/>
                    </a:moveTo>
                    <a:lnTo>
                      <a:pt x="33" y="0"/>
                    </a:lnTo>
                    <a:lnTo>
                      <a:pt x="26" y="0"/>
                    </a:lnTo>
                    <a:lnTo>
                      <a:pt x="23" y="0"/>
                    </a:lnTo>
                    <a:lnTo>
                      <a:pt x="20" y="2"/>
                    </a:lnTo>
                    <a:lnTo>
                      <a:pt x="12" y="3"/>
                    </a:lnTo>
                    <a:lnTo>
                      <a:pt x="4" y="3"/>
                    </a:lnTo>
                    <a:lnTo>
                      <a:pt x="2" y="12"/>
                    </a:lnTo>
                    <a:lnTo>
                      <a:pt x="2" y="28"/>
                    </a:lnTo>
                    <a:lnTo>
                      <a:pt x="3" y="38"/>
                    </a:lnTo>
                    <a:lnTo>
                      <a:pt x="4" y="43"/>
                    </a:lnTo>
                    <a:lnTo>
                      <a:pt x="4" y="49"/>
                    </a:lnTo>
                    <a:lnTo>
                      <a:pt x="3" y="53"/>
                    </a:lnTo>
                    <a:lnTo>
                      <a:pt x="0" y="58"/>
                    </a:lnTo>
                    <a:lnTo>
                      <a:pt x="4" y="54"/>
                    </a:lnTo>
                    <a:lnTo>
                      <a:pt x="34" y="54"/>
                    </a:lnTo>
                    <a:lnTo>
                      <a:pt x="38" y="1"/>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72" name="Freeform 296"/>
              <p:cNvSpPr>
                <a:spLocks noChangeAspect="1"/>
              </p:cNvSpPr>
              <p:nvPr/>
            </p:nvSpPr>
            <p:spPr bwMode="auto">
              <a:xfrm>
                <a:off x="901" y="3445"/>
                <a:ext cx="35" cy="56"/>
              </a:xfrm>
              <a:custGeom>
                <a:avLst/>
                <a:gdLst>
                  <a:gd name="T0" fmla="*/ 0 w 35"/>
                  <a:gd name="T1" fmla="*/ 26 h 56"/>
                  <a:gd name="T2" fmla="*/ 2 w 35"/>
                  <a:gd name="T3" fmla="*/ 16 h 56"/>
                  <a:gd name="T4" fmla="*/ 5 w 35"/>
                  <a:gd name="T5" fmla="*/ 7 h 56"/>
                  <a:gd name="T6" fmla="*/ 11 w 35"/>
                  <a:gd name="T7" fmla="*/ 1 h 56"/>
                  <a:gd name="T8" fmla="*/ 13 w 35"/>
                  <a:gd name="T9" fmla="*/ 0 h 56"/>
                  <a:gd name="T10" fmla="*/ 17 w 35"/>
                  <a:gd name="T11" fmla="*/ 0 h 56"/>
                  <a:gd name="T12" fmla="*/ 25 w 35"/>
                  <a:gd name="T13" fmla="*/ 0 h 56"/>
                  <a:gd name="T14" fmla="*/ 30 w 35"/>
                  <a:gd name="T15" fmla="*/ 2 h 56"/>
                  <a:gd name="T16" fmla="*/ 33 w 35"/>
                  <a:gd name="T17" fmla="*/ 5 h 56"/>
                  <a:gd name="T18" fmla="*/ 34 w 35"/>
                  <a:gd name="T19" fmla="*/ 9 h 56"/>
                  <a:gd name="T20" fmla="*/ 31 w 35"/>
                  <a:gd name="T21" fmla="*/ 15 h 56"/>
                  <a:gd name="T22" fmla="*/ 28 w 35"/>
                  <a:gd name="T23" fmla="*/ 27 h 56"/>
                  <a:gd name="T24" fmla="*/ 29 w 35"/>
                  <a:gd name="T25" fmla="*/ 38 h 56"/>
                  <a:gd name="T26" fmla="*/ 29 w 35"/>
                  <a:gd name="T27" fmla="*/ 49 h 56"/>
                  <a:gd name="T28" fmla="*/ 27 w 35"/>
                  <a:gd name="T29" fmla="*/ 53 h 56"/>
                  <a:gd name="T30" fmla="*/ 22 w 35"/>
                  <a:gd name="T31" fmla="*/ 55 h 56"/>
                  <a:gd name="T32" fmla="*/ 12 w 35"/>
                  <a:gd name="T33" fmla="*/ 54 h 56"/>
                  <a:gd name="T34" fmla="*/ 10 w 35"/>
                  <a:gd name="T35" fmla="*/ 54 h 56"/>
                  <a:gd name="T36" fmla="*/ 7 w 35"/>
                  <a:gd name="T37" fmla="*/ 51 h 56"/>
                  <a:gd name="T38" fmla="*/ 3 w 35"/>
                  <a:gd name="T39" fmla="*/ 45 h 56"/>
                  <a:gd name="T40" fmla="*/ 0 w 35"/>
                  <a:gd name="T41" fmla="*/ 36 h 56"/>
                  <a:gd name="T42" fmla="*/ 0 w 35"/>
                  <a:gd name="T43" fmla="*/ 26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5"/>
                  <a:gd name="T67" fmla="*/ 0 h 56"/>
                  <a:gd name="T68" fmla="*/ 35 w 35"/>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5" h="56">
                    <a:moveTo>
                      <a:pt x="0" y="26"/>
                    </a:moveTo>
                    <a:lnTo>
                      <a:pt x="2" y="16"/>
                    </a:lnTo>
                    <a:lnTo>
                      <a:pt x="5" y="7"/>
                    </a:lnTo>
                    <a:lnTo>
                      <a:pt x="11" y="1"/>
                    </a:lnTo>
                    <a:lnTo>
                      <a:pt x="13" y="0"/>
                    </a:lnTo>
                    <a:lnTo>
                      <a:pt x="17" y="0"/>
                    </a:lnTo>
                    <a:lnTo>
                      <a:pt x="25" y="0"/>
                    </a:lnTo>
                    <a:lnTo>
                      <a:pt x="30" y="2"/>
                    </a:lnTo>
                    <a:lnTo>
                      <a:pt x="33" y="5"/>
                    </a:lnTo>
                    <a:lnTo>
                      <a:pt x="34" y="9"/>
                    </a:lnTo>
                    <a:lnTo>
                      <a:pt x="31" y="15"/>
                    </a:lnTo>
                    <a:lnTo>
                      <a:pt x="28" y="27"/>
                    </a:lnTo>
                    <a:lnTo>
                      <a:pt x="29" y="38"/>
                    </a:lnTo>
                    <a:lnTo>
                      <a:pt x="29" y="49"/>
                    </a:lnTo>
                    <a:lnTo>
                      <a:pt x="27" y="53"/>
                    </a:lnTo>
                    <a:lnTo>
                      <a:pt x="22" y="55"/>
                    </a:lnTo>
                    <a:lnTo>
                      <a:pt x="12" y="54"/>
                    </a:lnTo>
                    <a:lnTo>
                      <a:pt x="10" y="54"/>
                    </a:lnTo>
                    <a:lnTo>
                      <a:pt x="7" y="51"/>
                    </a:lnTo>
                    <a:lnTo>
                      <a:pt x="3" y="45"/>
                    </a:lnTo>
                    <a:lnTo>
                      <a:pt x="0" y="36"/>
                    </a:lnTo>
                    <a:lnTo>
                      <a:pt x="0" y="26"/>
                    </a:lnTo>
                  </a:path>
                </a:pathLst>
              </a:custGeom>
              <a:solidFill>
                <a:srgbClr val="999999"/>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73" name="Freeform 297"/>
              <p:cNvSpPr>
                <a:spLocks noChangeAspect="1"/>
              </p:cNvSpPr>
              <p:nvPr/>
            </p:nvSpPr>
            <p:spPr bwMode="auto">
              <a:xfrm>
                <a:off x="911" y="3447"/>
                <a:ext cx="28" cy="52"/>
              </a:xfrm>
              <a:custGeom>
                <a:avLst/>
                <a:gdLst>
                  <a:gd name="T0" fmla="*/ 0 w 28"/>
                  <a:gd name="T1" fmla="*/ 25 h 52"/>
                  <a:gd name="T2" fmla="*/ 1 w 28"/>
                  <a:gd name="T3" fmla="*/ 15 h 52"/>
                  <a:gd name="T4" fmla="*/ 4 w 28"/>
                  <a:gd name="T5" fmla="*/ 7 h 52"/>
                  <a:gd name="T6" fmla="*/ 8 w 28"/>
                  <a:gd name="T7" fmla="*/ 4 h 52"/>
                  <a:gd name="T8" fmla="*/ 9 w 28"/>
                  <a:gd name="T9" fmla="*/ 1 h 52"/>
                  <a:gd name="T10" fmla="*/ 16 w 28"/>
                  <a:gd name="T11" fmla="*/ 0 h 52"/>
                  <a:gd name="T12" fmla="*/ 18 w 28"/>
                  <a:gd name="T13" fmla="*/ 0 h 52"/>
                  <a:gd name="T14" fmla="*/ 21 w 28"/>
                  <a:gd name="T15" fmla="*/ 2 h 52"/>
                  <a:gd name="T16" fmla="*/ 25 w 28"/>
                  <a:gd name="T17" fmla="*/ 8 h 52"/>
                  <a:gd name="T18" fmla="*/ 27 w 28"/>
                  <a:gd name="T19" fmla="*/ 16 h 52"/>
                  <a:gd name="T20" fmla="*/ 27 w 28"/>
                  <a:gd name="T21" fmla="*/ 26 h 52"/>
                  <a:gd name="T22" fmla="*/ 26 w 28"/>
                  <a:gd name="T23" fmla="*/ 36 h 52"/>
                  <a:gd name="T24" fmla="*/ 22 w 28"/>
                  <a:gd name="T25" fmla="*/ 44 h 52"/>
                  <a:gd name="T26" fmla="*/ 19 w 28"/>
                  <a:gd name="T27" fmla="*/ 47 h 52"/>
                  <a:gd name="T28" fmla="*/ 17 w 28"/>
                  <a:gd name="T29" fmla="*/ 49 h 52"/>
                  <a:gd name="T30" fmla="*/ 10 w 28"/>
                  <a:gd name="T31" fmla="*/ 51 h 52"/>
                  <a:gd name="T32" fmla="*/ 9 w 28"/>
                  <a:gd name="T33" fmla="*/ 51 h 52"/>
                  <a:gd name="T34" fmla="*/ 5 w 28"/>
                  <a:gd name="T35" fmla="*/ 49 h 52"/>
                  <a:gd name="T36" fmla="*/ 1 w 28"/>
                  <a:gd name="T37" fmla="*/ 43 h 52"/>
                  <a:gd name="T38" fmla="*/ 0 w 28"/>
                  <a:gd name="T39" fmla="*/ 35 h 52"/>
                  <a:gd name="T40" fmla="*/ 0 w 28"/>
                  <a:gd name="T41" fmla="*/ 25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52"/>
                  <a:gd name="T65" fmla="*/ 28 w 28"/>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52">
                    <a:moveTo>
                      <a:pt x="0" y="25"/>
                    </a:moveTo>
                    <a:lnTo>
                      <a:pt x="1" y="15"/>
                    </a:lnTo>
                    <a:lnTo>
                      <a:pt x="4" y="7"/>
                    </a:lnTo>
                    <a:lnTo>
                      <a:pt x="8" y="4"/>
                    </a:lnTo>
                    <a:lnTo>
                      <a:pt x="9" y="1"/>
                    </a:lnTo>
                    <a:lnTo>
                      <a:pt x="16" y="0"/>
                    </a:lnTo>
                    <a:lnTo>
                      <a:pt x="18" y="0"/>
                    </a:lnTo>
                    <a:lnTo>
                      <a:pt x="21" y="2"/>
                    </a:lnTo>
                    <a:lnTo>
                      <a:pt x="25" y="8"/>
                    </a:lnTo>
                    <a:lnTo>
                      <a:pt x="27" y="16"/>
                    </a:lnTo>
                    <a:lnTo>
                      <a:pt x="27" y="26"/>
                    </a:lnTo>
                    <a:lnTo>
                      <a:pt x="26" y="36"/>
                    </a:lnTo>
                    <a:lnTo>
                      <a:pt x="22" y="44"/>
                    </a:lnTo>
                    <a:lnTo>
                      <a:pt x="19" y="47"/>
                    </a:lnTo>
                    <a:lnTo>
                      <a:pt x="17" y="49"/>
                    </a:lnTo>
                    <a:lnTo>
                      <a:pt x="10" y="51"/>
                    </a:lnTo>
                    <a:lnTo>
                      <a:pt x="9" y="51"/>
                    </a:lnTo>
                    <a:lnTo>
                      <a:pt x="5" y="49"/>
                    </a:lnTo>
                    <a:lnTo>
                      <a:pt x="1" y="43"/>
                    </a:lnTo>
                    <a:lnTo>
                      <a:pt x="0" y="35"/>
                    </a:lnTo>
                    <a:lnTo>
                      <a:pt x="0" y="25"/>
                    </a:lnTo>
                  </a:path>
                </a:pathLst>
              </a:custGeom>
              <a:solidFill>
                <a:srgbClr val="333333"/>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474" name="Freeform 298"/>
              <p:cNvSpPr>
                <a:spLocks noChangeAspect="1"/>
              </p:cNvSpPr>
              <p:nvPr/>
            </p:nvSpPr>
            <p:spPr bwMode="auto">
              <a:xfrm>
                <a:off x="911" y="3447"/>
                <a:ext cx="30" cy="52"/>
              </a:xfrm>
              <a:custGeom>
                <a:avLst/>
                <a:gdLst>
                  <a:gd name="T0" fmla="*/ 0 w 30"/>
                  <a:gd name="T1" fmla="*/ 25 h 52"/>
                  <a:gd name="T2" fmla="*/ 2 w 30"/>
                  <a:gd name="T3" fmla="*/ 15 h 52"/>
                  <a:gd name="T4" fmla="*/ 5 w 30"/>
                  <a:gd name="T5" fmla="*/ 7 h 52"/>
                  <a:gd name="T6" fmla="*/ 8 w 30"/>
                  <a:gd name="T7" fmla="*/ 4 h 52"/>
                  <a:gd name="T8" fmla="*/ 10 w 30"/>
                  <a:gd name="T9" fmla="*/ 1 h 52"/>
                  <a:gd name="T10" fmla="*/ 17 w 30"/>
                  <a:gd name="T11" fmla="*/ 0 h 52"/>
                  <a:gd name="T12" fmla="*/ 19 w 30"/>
                  <a:gd name="T13" fmla="*/ 0 h 52"/>
                  <a:gd name="T14" fmla="*/ 22 w 30"/>
                  <a:gd name="T15" fmla="*/ 2 h 52"/>
                  <a:gd name="T16" fmla="*/ 26 w 30"/>
                  <a:gd name="T17" fmla="*/ 8 h 52"/>
                  <a:gd name="T18" fmla="*/ 29 w 30"/>
                  <a:gd name="T19" fmla="*/ 16 h 52"/>
                  <a:gd name="T20" fmla="*/ 29 w 30"/>
                  <a:gd name="T21" fmla="*/ 26 h 52"/>
                  <a:gd name="T22" fmla="*/ 28 w 30"/>
                  <a:gd name="T23" fmla="*/ 36 h 52"/>
                  <a:gd name="T24" fmla="*/ 23 w 30"/>
                  <a:gd name="T25" fmla="*/ 44 h 52"/>
                  <a:gd name="T26" fmla="*/ 21 w 30"/>
                  <a:gd name="T27" fmla="*/ 47 h 52"/>
                  <a:gd name="T28" fmla="*/ 18 w 30"/>
                  <a:gd name="T29" fmla="*/ 49 h 52"/>
                  <a:gd name="T30" fmla="*/ 11 w 30"/>
                  <a:gd name="T31" fmla="*/ 51 h 52"/>
                  <a:gd name="T32" fmla="*/ 9 w 30"/>
                  <a:gd name="T33" fmla="*/ 51 h 52"/>
                  <a:gd name="T34" fmla="*/ 6 w 30"/>
                  <a:gd name="T35" fmla="*/ 49 h 52"/>
                  <a:gd name="T36" fmla="*/ 2 w 30"/>
                  <a:gd name="T37" fmla="*/ 43 h 52"/>
                  <a:gd name="T38" fmla="*/ 0 w 30"/>
                  <a:gd name="T39" fmla="*/ 35 h 52"/>
                  <a:gd name="T40" fmla="*/ 0 w 30"/>
                  <a:gd name="T41" fmla="*/ 25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52"/>
                  <a:gd name="T65" fmla="*/ 30 w 30"/>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52">
                    <a:moveTo>
                      <a:pt x="0" y="25"/>
                    </a:moveTo>
                    <a:lnTo>
                      <a:pt x="2" y="15"/>
                    </a:lnTo>
                    <a:lnTo>
                      <a:pt x="5" y="7"/>
                    </a:lnTo>
                    <a:lnTo>
                      <a:pt x="8" y="4"/>
                    </a:lnTo>
                    <a:lnTo>
                      <a:pt x="10" y="1"/>
                    </a:lnTo>
                    <a:lnTo>
                      <a:pt x="17" y="0"/>
                    </a:lnTo>
                    <a:lnTo>
                      <a:pt x="19" y="0"/>
                    </a:lnTo>
                    <a:lnTo>
                      <a:pt x="22" y="2"/>
                    </a:lnTo>
                    <a:lnTo>
                      <a:pt x="26" y="8"/>
                    </a:lnTo>
                    <a:lnTo>
                      <a:pt x="29" y="16"/>
                    </a:lnTo>
                    <a:lnTo>
                      <a:pt x="29" y="26"/>
                    </a:lnTo>
                    <a:lnTo>
                      <a:pt x="28" y="36"/>
                    </a:lnTo>
                    <a:lnTo>
                      <a:pt x="23" y="44"/>
                    </a:lnTo>
                    <a:lnTo>
                      <a:pt x="21" y="47"/>
                    </a:lnTo>
                    <a:lnTo>
                      <a:pt x="18" y="49"/>
                    </a:lnTo>
                    <a:lnTo>
                      <a:pt x="11" y="51"/>
                    </a:lnTo>
                    <a:lnTo>
                      <a:pt x="9" y="51"/>
                    </a:lnTo>
                    <a:lnTo>
                      <a:pt x="6" y="49"/>
                    </a:lnTo>
                    <a:lnTo>
                      <a:pt x="2" y="43"/>
                    </a:lnTo>
                    <a:lnTo>
                      <a:pt x="0" y="35"/>
                    </a:lnTo>
                    <a:lnTo>
                      <a:pt x="0" y="25"/>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75" name="Freeform 299"/>
              <p:cNvSpPr>
                <a:spLocks noChangeAspect="1"/>
              </p:cNvSpPr>
              <p:nvPr/>
            </p:nvSpPr>
            <p:spPr bwMode="auto">
              <a:xfrm>
                <a:off x="913" y="3448"/>
                <a:ext cx="24" cy="53"/>
              </a:xfrm>
              <a:custGeom>
                <a:avLst/>
                <a:gdLst>
                  <a:gd name="T0" fmla="*/ 0 w 24"/>
                  <a:gd name="T1" fmla="*/ 25 h 53"/>
                  <a:gd name="T2" fmla="*/ 5 w 24"/>
                  <a:gd name="T3" fmla="*/ 7 h 53"/>
                  <a:gd name="T4" fmla="*/ 7 w 24"/>
                  <a:gd name="T5" fmla="*/ 4 h 53"/>
                  <a:gd name="T6" fmla="*/ 11 w 24"/>
                  <a:gd name="T7" fmla="*/ 1 h 53"/>
                  <a:gd name="T8" fmla="*/ 16 w 24"/>
                  <a:gd name="T9" fmla="*/ 0 h 53"/>
                  <a:gd name="T10" fmla="*/ 23 w 24"/>
                  <a:gd name="T11" fmla="*/ 3 h 53"/>
                  <a:gd name="T12" fmla="*/ 15 w 24"/>
                  <a:gd name="T13" fmla="*/ 3 h 53"/>
                  <a:gd name="T14" fmla="*/ 18 w 24"/>
                  <a:gd name="T15" fmla="*/ 14 h 53"/>
                  <a:gd name="T16" fmla="*/ 20 w 24"/>
                  <a:gd name="T17" fmla="*/ 26 h 53"/>
                  <a:gd name="T18" fmla="*/ 18 w 24"/>
                  <a:gd name="T19" fmla="*/ 46 h 53"/>
                  <a:gd name="T20" fmla="*/ 18 w 24"/>
                  <a:gd name="T21" fmla="*/ 47 h 53"/>
                  <a:gd name="T22" fmla="*/ 19 w 24"/>
                  <a:gd name="T23" fmla="*/ 49 h 53"/>
                  <a:gd name="T24" fmla="*/ 11 w 24"/>
                  <a:gd name="T25" fmla="*/ 52 h 53"/>
                  <a:gd name="T26" fmla="*/ 9 w 24"/>
                  <a:gd name="T27" fmla="*/ 52 h 53"/>
                  <a:gd name="T28" fmla="*/ 6 w 24"/>
                  <a:gd name="T29" fmla="*/ 50 h 53"/>
                  <a:gd name="T30" fmla="*/ 2 w 24"/>
                  <a:gd name="T31" fmla="*/ 44 h 53"/>
                  <a:gd name="T32" fmla="*/ 0 w 24"/>
                  <a:gd name="T33" fmla="*/ 35 h 53"/>
                  <a:gd name="T34" fmla="*/ 0 w 24"/>
                  <a:gd name="T35" fmla="*/ 25 h 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53"/>
                  <a:gd name="T56" fmla="*/ 24 w 24"/>
                  <a:gd name="T57" fmla="*/ 53 h 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53">
                    <a:moveTo>
                      <a:pt x="0" y="25"/>
                    </a:moveTo>
                    <a:lnTo>
                      <a:pt x="5" y="7"/>
                    </a:lnTo>
                    <a:lnTo>
                      <a:pt x="7" y="4"/>
                    </a:lnTo>
                    <a:lnTo>
                      <a:pt x="11" y="1"/>
                    </a:lnTo>
                    <a:lnTo>
                      <a:pt x="16" y="0"/>
                    </a:lnTo>
                    <a:lnTo>
                      <a:pt x="23" y="3"/>
                    </a:lnTo>
                    <a:lnTo>
                      <a:pt x="15" y="3"/>
                    </a:lnTo>
                    <a:lnTo>
                      <a:pt x="18" y="14"/>
                    </a:lnTo>
                    <a:lnTo>
                      <a:pt x="20" y="26"/>
                    </a:lnTo>
                    <a:lnTo>
                      <a:pt x="18" y="46"/>
                    </a:lnTo>
                    <a:lnTo>
                      <a:pt x="18" y="47"/>
                    </a:lnTo>
                    <a:lnTo>
                      <a:pt x="19" y="49"/>
                    </a:lnTo>
                    <a:lnTo>
                      <a:pt x="11" y="52"/>
                    </a:lnTo>
                    <a:lnTo>
                      <a:pt x="9" y="52"/>
                    </a:lnTo>
                    <a:lnTo>
                      <a:pt x="6" y="50"/>
                    </a:lnTo>
                    <a:lnTo>
                      <a:pt x="2" y="44"/>
                    </a:lnTo>
                    <a:lnTo>
                      <a:pt x="0" y="35"/>
                    </a:lnTo>
                    <a:lnTo>
                      <a:pt x="0" y="25"/>
                    </a:lnTo>
                  </a:path>
                </a:pathLst>
              </a:custGeom>
              <a:solidFill>
                <a:srgbClr val="CCCCCC"/>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76" name="Freeform 300"/>
              <p:cNvSpPr>
                <a:spLocks noChangeAspect="1"/>
              </p:cNvSpPr>
              <p:nvPr/>
            </p:nvSpPr>
            <p:spPr bwMode="auto">
              <a:xfrm>
                <a:off x="914" y="3452"/>
                <a:ext cx="24" cy="43"/>
              </a:xfrm>
              <a:custGeom>
                <a:avLst/>
                <a:gdLst>
                  <a:gd name="T0" fmla="*/ 0 w 24"/>
                  <a:gd name="T1" fmla="*/ 20 h 43"/>
                  <a:gd name="T2" fmla="*/ 0 w 24"/>
                  <a:gd name="T3" fmla="*/ 12 h 43"/>
                  <a:gd name="T4" fmla="*/ 4 w 24"/>
                  <a:gd name="T5" fmla="*/ 6 h 43"/>
                  <a:gd name="T6" fmla="*/ 8 w 24"/>
                  <a:gd name="T7" fmla="*/ 1 h 43"/>
                  <a:gd name="T8" fmla="*/ 12 w 24"/>
                  <a:gd name="T9" fmla="*/ 0 h 43"/>
                  <a:gd name="T10" fmla="*/ 14 w 24"/>
                  <a:gd name="T11" fmla="*/ 0 h 43"/>
                  <a:gd name="T12" fmla="*/ 16 w 24"/>
                  <a:gd name="T13" fmla="*/ 2 h 43"/>
                  <a:gd name="T14" fmla="*/ 19 w 24"/>
                  <a:gd name="T15" fmla="*/ 7 h 43"/>
                  <a:gd name="T16" fmla="*/ 22 w 24"/>
                  <a:gd name="T17" fmla="*/ 14 h 43"/>
                  <a:gd name="T18" fmla="*/ 23 w 24"/>
                  <a:gd name="T19" fmla="*/ 22 h 43"/>
                  <a:gd name="T20" fmla="*/ 20 w 24"/>
                  <a:gd name="T21" fmla="*/ 29 h 43"/>
                  <a:gd name="T22" fmla="*/ 17 w 24"/>
                  <a:gd name="T23" fmla="*/ 35 h 43"/>
                  <a:gd name="T24" fmla="*/ 13 w 24"/>
                  <a:gd name="T25" fmla="*/ 40 h 43"/>
                  <a:gd name="T26" fmla="*/ 9 w 24"/>
                  <a:gd name="T27" fmla="*/ 42 h 43"/>
                  <a:gd name="T28" fmla="*/ 5 w 24"/>
                  <a:gd name="T29" fmla="*/ 39 h 43"/>
                  <a:gd name="T30" fmla="*/ 2 w 24"/>
                  <a:gd name="T31" fmla="*/ 34 h 43"/>
                  <a:gd name="T32" fmla="*/ 0 w 24"/>
                  <a:gd name="T33" fmla="*/ 28 h 43"/>
                  <a:gd name="T34" fmla="*/ 0 w 24"/>
                  <a:gd name="T35" fmla="*/ 20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43"/>
                  <a:gd name="T56" fmla="*/ 24 w 24"/>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43">
                    <a:moveTo>
                      <a:pt x="0" y="20"/>
                    </a:moveTo>
                    <a:lnTo>
                      <a:pt x="0" y="12"/>
                    </a:lnTo>
                    <a:lnTo>
                      <a:pt x="4" y="6"/>
                    </a:lnTo>
                    <a:lnTo>
                      <a:pt x="8" y="1"/>
                    </a:lnTo>
                    <a:lnTo>
                      <a:pt x="12" y="0"/>
                    </a:lnTo>
                    <a:lnTo>
                      <a:pt x="14" y="0"/>
                    </a:lnTo>
                    <a:lnTo>
                      <a:pt x="16" y="2"/>
                    </a:lnTo>
                    <a:lnTo>
                      <a:pt x="19" y="7"/>
                    </a:lnTo>
                    <a:lnTo>
                      <a:pt x="22" y="14"/>
                    </a:lnTo>
                    <a:lnTo>
                      <a:pt x="23" y="22"/>
                    </a:lnTo>
                    <a:lnTo>
                      <a:pt x="20" y="29"/>
                    </a:lnTo>
                    <a:lnTo>
                      <a:pt x="17" y="35"/>
                    </a:lnTo>
                    <a:lnTo>
                      <a:pt x="13" y="40"/>
                    </a:lnTo>
                    <a:lnTo>
                      <a:pt x="9" y="42"/>
                    </a:lnTo>
                    <a:lnTo>
                      <a:pt x="5" y="39"/>
                    </a:lnTo>
                    <a:lnTo>
                      <a:pt x="2" y="34"/>
                    </a:lnTo>
                    <a:lnTo>
                      <a:pt x="0" y="28"/>
                    </a:lnTo>
                    <a:lnTo>
                      <a:pt x="0" y="2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77" name="Oval 301"/>
              <p:cNvSpPr>
                <a:spLocks noChangeAspect="1" noChangeArrowheads="1"/>
              </p:cNvSpPr>
              <p:nvPr/>
            </p:nvSpPr>
            <p:spPr bwMode="auto">
              <a:xfrm>
                <a:off x="889" y="3438"/>
                <a:ext cx="8" cy="8"/>
              </a:xfrm>
              <a:prstGeom prst="ellipse">
                <a:avLst/>
              </a:prstGeom>
              <a:solidFill>
                <a:srgbClr val="0000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78" name="Freeform 302"/>
              <p:cNvSpPr>
                <a:spLocks noChangeAspect="1"/>
              </p:cNvSpPr>
              <p:nvPr/>
            </p:nvSpPr>
            <p:spPr bwMode="auto">
              <a:xfrm>
                <a:off x="885" y="3501"/>
                <a:ext cx="17" cy="17"/>
              </a:xfrm>
              <a:custGeom>
                <a:avLst/>
                <a:gdLst>
                  <a:gd name="T0" fmla="*/ 16 w 17"/>
                  <a:gd name="T1" fmla="*/ 0 h 17"/>
                  <a:gd name="T2" fmla="*/ 8 w 17"/>
                  <a:gd name="T3" fmla="*/ 16 h 17"/>
                  <a:gd name="T4" fmla="*/ 0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16" y="0"/>
                    </a:moveTo>
                    <a:lnTo>
                      <a:pt x="8" y="16"/>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grpSp>
            <p:nvGrpSpPr>
              <p:cNvPr id="479" name="Group 303"/>
              <p:cNvGrpSpPr>
                <a:grpSpLocks noChangeAspect="1"/>
              </p:cNvGrpSpPr>
              <p:nvPr/>
            </p:nvGrpSpPr>
            <p:grpSpPr bwMode="auto">
              <a:xfrm>
                <a:off x="753" y="3303"/>
                <a:ext cx="222" cy="81"/>
                <a:chOff x="753" y="3303"/>
                <a:chExt cx="222" cy="81"/>
              </a:xfrm>
            </p:grpSpPr>
            <p:sp>
              <p:nvSpPr>
                <p:cNvPr id="530" name="Freeform 304"/>
                <p:cNvSpPr>
                  <a:spLocks noChangeAspect="1"/>
                </p:cNvSpPr>
                <p:nvPr/>
              </p:nvSpPr>
              <p:spPr bwMode="auto">
                <a:xfrm>
                  <a:off x="753" y="3303"/>
                  <a:ext cx="220" cy="29"/>
                </a:xfrm>
                <a:custGeom>
                  <a:avLst/>
                  <a:gdLst>
                    <a:gd name="T0" fmla="*/ 109 w 220"/>
                    <a:gd name="T1" fmla="*/ 28 h 29"/>
                    <a:gd name="T2" fmla="*/ 0 w 220"/>
                    <a:gd name="T3" fmla="*/ 24 h 29"/>
                    <a:gd name="T4" fmla="*/ 0 w 220"/>
                    <a:gd name="T5" fmla="*/ 20 h 29"/>
                    <a:gd name="T6" fmla="*/ 22 w 220"/>
                    <a:gd name="T7" fmla="*/ 17 h 29"/>
                    <a:gd name="T8" fmla="*/ 27 w 220"/>
                    <a:gd name="T9" fmla="*/ 13 h 29"/>
                    <a:gd name="T10" fmla="*/ 33 w 220"/>
                    <a:gd name="T11" fmla="*/ 9 h 29"/>
                    <a:gd name="T12" fmla="*/ 43 w 220"/>
                    <a:gd name="T13" fmla="*/ 5 h 29"/>
                    <a:gd name="T14" fmla="*/ 97 w 220"/>
                    <a:gd name="T15" fmla="*/ 5 h 29"/>
                    <a:gd name="T16" fmla="*/ 98 w 220"/>
                    <a:gd name="T17" fmla="*/ 4 h 29"/>
                    <a:gd name="T18" fmla="*/ 99 w 220"/>
                    <a:gd name="T19" fmla="*/ 0 h 29"/>
                    <a:gd name="T20" fmla="*/ 109 w 220"/>
                    <a:gd name="T21" fmla="*/ 0 h 29"/>
                    <a:gd name="T22" fmla="*/ 120 w 220"/>
                    <a:gd name="T23" fmla="*/ 0 h 29"/>
                    <a:gd name="T24" fmla="*/ 121 w 220"/>
                    <a:gd name="T25" fmla="*/ 4 h 29"/>
                    <a:gd name="T26" fmla="*/ 122 w 220"/>
                    <a:gd name="T27" fmla="*/ 5 h 29"/>
                    <a:gd name="T28" fmla="*/ 175 w 220"/>
                    <a:gd name="T29" fmla="*/ 6 h 29"/>
                    <a:gd name="T30" fmla="*/ 187 w 220"/>
                    <a:gd name="T31" fmla="*/ 10 h 29"/>
                    <a:gd name="T32" fmla="*/ 193 w 220"/>
                    <a:gd name="T33" fmla="*/ 14 h 29"/>
                    <a:gd name="T34" fmla="*/ 197 w 220"/>
                    <a:gd name="T35" fmla="*/ 20 h 29"/>
                    <a:gd name="T36" fmla="*/ 219 w 220"/>
                    <a:gd name="T37" fmla="*/ 21 h 29"/>
                    <a:gd name="T38" fmla="*/ 219 w 220"/>
                    <a:gd name="T39" fmla="*/ 28 h 29"/>
                    <a:gd name="T40" fmla="*/ 109 w 220"/>
                    <a:gd name="T41" fmla="*/ 28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0"/>
                    <a:gd name="T64" fmla="*/ 0 h 29"/>
                    <a:gd name="T65" fmla="*/ 220 w 220"/>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0" h="29">
                      <a:moveTo>
                        <a:pt x="109" y="28"/>
                      </a:moveTo>
                      <a:lnTo>
                        <a:pt x="0" y="24"/>
                      </a:lnTo>
                      <a:lnTo>
                        <a:pt x="0" y="20"/>
                      </a:lnTo>
                      <a:lnTo>
                        <a:pt x="22" y="17"/>
                      </a:lnTo>
                      <a:lnTo>
                        <a:pt x="27" y="13"/>
                      </a:lnTo>
                      <a:lnTo>
                        <a:pt x="33" y="9"/>
                      </a:lnTo>
                      <a:lnTo>
                        <a:pt x="43" y="5"/>
                      </a:lnTo>
                      <a:lnTo>
                        <a:pt x="97" y="5"/>
                      </a:lnTo>
                      <a:lnTo>
                        <a:pt x="98" y="4"/>
                      </a:lnTo>
                      <a:lnTo>
                        <a:pt x="99" y="0"/>
                      </a:lnTo>
                      <a:lnTo>
                        <a:pt x="109" y="0"/>
                      </a:lnTo>
                      <a:lnTo>
                        <a:pt x="120" y="0"/>
                      </a:lnTo>
                      <a:lnTo>
                        <a:pt x="121" y="4"/>
                      </a:lnTo>
                      <a:lnTo>
                        <a:pt x="122" y="5"/>
                      </a:lnTo>
                      <a:lnTo>
                        <a:pt x="175" y="6"/>
                      </a:lnTo>
                      <a:lnTo>
                        <a:pt x="187" y="10"/>
                      </a:lnTo>
                      <a:lnTo>
                        <a:pt x="193" y="14"/>
                      </a:lnTo>
                      <a:lnTo>
                        <a:pt x="197" y="20"/>
                      </a:lnTo>
                      <a:lnTo>
                        <a:pt x="219" y="21"/>
                      </a:lnTo>
                      <a:lnTo>
                        <a:pt x="219" y="28"/>
                      </a:lnTo>
                      <a:lnTo>
                        <a:pt x="109" y="28"/>
                      </a:lnTo>
                    </a:path>
                  </a:pathLst>
                </a:custGeom>
                <a:solidFill>
                  <a:srgbClr val="00AE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31" name="Freeform 305"/>
                <p:cNvSpPr>
                  <a:spLocks noChangeAspect="1"/>
                </p:cNvSpPr>
                <p:nvPr/>
              </p:nvSpPr>
              <p:spPr bwMode="auto">
                <a:xfrm>
                  <a:off x="754" y="3303"/>
                  <a:ext cx="221" cy="29"/>
                </a:xfrm>
                <a:custGeom>
                  <a:avLst/>
                  <a:gdLst>
                    <a:gd name="T0" fmla="*/ 110 w 221"/>
                    <a:gd name="T1" fmla="*/ 28 h 29"/>
                    <a:gd name="T2" fmla="*/ 0 w 221"/>
                    <a:gd name="T3" fmla="*/ 24 h 29"/>
                    <a:gd name="T4" fmla="*/ 0 w 221"/>
                    <a:gd name="T5" fmla="*/ 20 h 29"/>
                    <a:gd name="T6" fmla="*/ 22 w 221"/>
                    <a:gd name="T7" fmla="*/ 18 h 29"/>
                    <a:gd name="T8" fmla="*/ 27 w 221"/>
                    <a:gd name="T9" fmla="*/ 13 h 29"/>
                    <a:gd name="T10" fmla="*/ 33 w 221"/>
                    <a:gd name="T11" fmla="*/ 9 h 29"/>
                    <a:gd name="T12" fmla="*/ 42 w 221"/>
                    <a:gd name="T13" fmla="*/ 5 h 29"/>
                    <a:gd name="T14" fmla="*/ 94 w 221"/>
                    <a:gd name="T15" fmla="*/ 5 h 29"/>
                    <a:gd name="T16" fmla="*/ 98 w 221"/>
                    <a:gd name="T17" fmla="*/ 4 h 29"/>
                    <a:gd name="T18" fmla="*/ 99 w 221"/>
                    <a:gd name="T19" fmla="*/ 0 h 29"/>
                    <a:gd name="T20" fmla="*/ 110 w 221"/>
                    <a:gd name="T21" fmla="*/ 0 h 29"/>
                    <a:gd name="T22" fmla="*/ 121 w 221"/>
                    <a:gd name="T23" fmla="*/ 0 h 29"/>
                    <a:gd name="T24" fmla="*/ 121 w 221"/>
                    <a:gd name="T25" fmla="*/ 4 h 29"/>
                    <a:gd name="T26" fmla="*/ 125 w 221"/>
                    <a:gd name="T27" fmla="*/ 5 h 29"/>
                    <a:gd name="T28" fmla="*/ 176 w 221"/>
                    <a:gd name="T29" fmla="*/ 6 h 29"/>
                    <a:gd name="T30" fmla="*/ 188 w 221"/>
                    <a:gd name="T31" fmla="*/ 9 h 29"/>
                    <a:gd name="T32" fmla="*/ 194 w 221"/>
                    <a:gd name="T33" fmla="*/ 14 h 29"/>
                    <a:gd name="T34" fmla="*/ 198 w 221"/>
                    <a:gd name="T35" fmla="*/ 20 h 29"/>
                    <a:gd name="T36" fmla="*/ 220 w 221"/>
                    <a:gd name="T37" fmla="*/ 21 h 29"/>
                    <a:gd name="T38" fmla="*/ 220 w 221"/>
                    <a:gd name="T39" fmla="*/ 28 h 29"/>
                    <a:gd name="T40" fmla="*/ 110 w 221"/>
                    <a:gd name="T41" fmla="*/ 28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1"/>
                    <a:gd name="T64" fmla="*/ 0 h 29"/>
                    <a:gd name="T65" fmla="*/ 221 w 221"/>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1" h="29">
                      <a:moveTo>
                        <a:pt x="110" y="28"/>
                      </a:moveTo>
                      <a:lnTo>
                        <a:pt x="0" y="24"/>
                      </a:lnTo>
                      <a:lnTo>
                        <a:pt x="0" y="20"/>
                      </a:lnTo>
                      <a:lnTo>
                        <a:pt x="22" y="18"/>
                      </a:lnTo>
                      <a:lnTo>
                        <a:pt x="27" y="13"/>
                      </a:lnTo>
                      <a:lnTo>
                        <a:pt x="33" y="9"/>
                      </a:lnTo>
                      <a:lnTo>
                        <a:pt x="42" y="5"/>
                      </a:lnTo>
                      <a:lnTo>
                        <a:pt x="94" y="5"/>
                      </a:lnTo>
                      <a:lnTo>
                        <a:pt x="98" y="4"/>
                      </a:lnTo>
                      <a:lnTo>
                        <a:pt x="99" y="0"/>
                      </a:lnTo>
                      <a:lnTo>
                        <a:pt x="110" y="0"/>
                      </a:lnTo>
                      <a:lnTo>
                        <a:pt x="121" y="0"/>
                      </a:lnTo>
                      <a:lnTo>
                        <a:pt x="121" y="4"/>
                      </a:lnTo>
                      <a:lnTo>
                        <a:pt x="125" y="5"/>
                      </a:lnTo>
                      <a:lnTo>
                        <a:pt x="176" y="6"/>
                      </a:lnTo>
                      <a:lnTo>
                        <a:pt x="188" y="9"/>
                      </a:lnTo>
                      <a:lnTo>
                        <a:pt x="194" y="14"/>
                      </a:lnTo>
                      <a:lnTo>
                        <a:pt x="198" y="20"/>
                      </a:lnTo>
                      <a:lnTo>
                        <a:pt x="220" y="21"/>
                      </a:lnTo>
                      <a:lnTo>
                        <a:pt x="220" y="28"/>
                      </a:lnTo>
                      <a:lnTo>
                        <a:pt x="110" y="28"/>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32" name="Freeform 306"/>
                <p:cNvSpPr>
                  <a:spLocks noChangeAspect="1"/>
                </p:cNvSpPr>
                <p:nvPr/>
              </p:nvSpPr>
              <p:spPr bwMode="auto">
                <a:xfrm>
                  <a:off x="885" y="3324"/>
                  <a:ext cx="17" cy="17"/>
                </a:xfrm>
                <a:custGeom>
                  <a:avLst/>
                  <a:gdLst>
                    <a:gd name="T0" fmla="*/ 0 w 17"/>
                    <a:gd name="T1" fmla="*/ 0 h 17"/>
                    <a:gd name="T2" fmla="*/ 8 w 17"/>
                    <a:gd name="T3" fmla="*/ 0 h 17"/>
                    <a:gd name="T4" fmla="*/ 16 w 17"/>
                    <a:gd name="T5" fmla="*/ 0 h 17"/>
                    <a:gd name="T6" fmla="*/ 8 w 17"/>
                    <a:gd name="T7" fmla="*/ 16 h 17"/>
                    <a:gd name="T8" fmla="*/ 2 w 17"/>
                    <a:gd name="T9" fmla="*/ 16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8" y="0"/>
                      </a:lnTo>
                      <a:lnTo>
                        <a:pt x="16" y="0"/>
                      </a:lnTo>
                      <a:lnTo>
                        <a:pt x="8" y="16"/>
                      </a:lnTo>
                      <a:lnTo>
                        <a:pt x="2"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33" name="Freeform 307"/>
                <p:cNvSpPr>
                  <a:spLocks noChangeAspect="1"/>
                </p:cNvSpPr>
                <p:nvPr/>
              </p:nvSpPr>
              <p:spPr bwMode="auto">
                <a:xfrm>
                  <a:off x="885" y="3325"/>
                  <a:ext cx="17" cy="17"/>
                </a:xfrm>
                <a:custGeom>
                  <a:avLst/>
                  <a:gdLst>
                    <a:gd name="T0" fmla="*/ 16 w 17"/>
                    <a:gd name="T1" fmla="*/ 11 h 17"/>
                    <a:gd name="T2" fmla="*/ 8 w 17"/>
                    <a:gd name="T3" fmla="*/ 16 h 17"/>
                    <a:gd name="T4" fmla="*/ 0 w 17"/>
                    <a:gd name="T5" fmla="*/ 11 h 17"/>
                    <a:gd name="T6" fmla="*/ 0 w 17"/>
                    <a:gd name="T7" fmla="*/ 0 h 17"/>
                    <a:gd name="T8" fmla="*/ 5 w 17"/>
                    <a:gd name="T9" fmla="*/ 4 h 17"/>
                    <a:gd name="T10" fmla="*/ 8 w 17"/>
                    <a:gd name="T11" fmla="*/ 4 h 17"/>
                    <a:gd name="T12" fmla="*/ 13 w 17"/>
                    <a:gd name="T13" fmla="*/ 4 h 17"/>
                    <a:gd name="T14" fmla="*/ 16 w 17"/>
                    <a:gd name="T15" fmla="*/ 0 h 17"/>
                    <a:gd name="T16" fmla="*/ 16 w 17"/>
                    <a:gd name="T17" fmla="*/ 1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1"/>
                      </a:moveTo>
                      <a:lnTo>
                        <a:pt x="8" y="16"/>
                      </a:lnTo>
                      <a:lnTo>
                        <a:pt x="0" y="11"/>
                      </a:lnTo>
                      <a:lnTo>
                        <a:pt x="0" y="0"/>
                      </a:lnTo>
                      <a:lnTo>
                        <a:pt x="5" y="4"/>
                      </a:lnTo>
                      <a:lnTo>
                        <a:pt x="8" y="4"/>
                      </a:lnTo>
                      <a:lnTo>
                        <a:pt x="13" y="4"/>
                      </a:lnTo>
                      <a:lnTo>
                        <a:pt x="16" y="0"/>
                      </a:lnTo>
                      <a:lnTo>
                        <a:pt x="16" y="11"/>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34" name="Line 308"/>
                <p:cNvSpPr>
                  <a:spLocks noChangeAspect="1" noChangeShapeType="1"/>
                </p:cNvSpPr>
                <p:nvPr/>
              </p:nvSpPr>
              <p:spPr bwMode="auto">
                <a:xfrm>
                  <a:off x="889" y="3327"/>
                  <a:ext cx="1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35" name="Line 309"/>
                <p:cNvSpPr>
                  <a:spLocks noChangeAspect="1" noChangeShapeType="1"/>
                </p:cNvSpPr>
                <p:nvPr/>
              </p:nvSpPr>
              <p:spPr bwMode="auto">
                <a:xfrm>
                  <a:off x="899" y="3327"/>
                  <a:ext cx="1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36" name="Freeform 310"/>
                <p:cNvSpPr>
                  <a:spLocks noChangeAspect="1"/>
                </p:cNvSpPr>
                <p:nvPr/>
              </p:nvSpPr>
              <p:spPr bwMode="auto">
                <a:xfrm>
                  <a:off x="885" y="3336"/>
                  <a:ext cx="17" cy="17"/>
                </a:xfrm>
                <a:custGeom>
                  <a:avLst/>
                  <a:gdLst>
                    <a:gd name="T0" fmla="*/ 0 w 17"/>
                    <a:gd name="T1" fmla="*/ 0 h 17"/>
                    <a:gd name="T2" fmla="*/ 8 w 17"/>
                    <a:gd name="T3" fmla="*/ 0 h 17"/>
                    <a:gd name="T4" fmla="*/ 16 w 17"/>
                    <a:gd name="T5" fmla="*/ 0 h 17"/>
                    <a:gd name="T6" fmla="*/ 8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8" y="0"/>
                      </a:lnTo>
                      <a:lnTo>
                        <a:pt x="16" y="0"/>
                      </a:lnTo>
                      <a:lnTo>
                        <a:pt x="8"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37" name="Freeform 311"/>
                <p:cNvSpPr>
                  <a:spLocks noChangeAspect="1"/>
                </p:cNvSpPr>
                <p:nvPr/>
              </p:nvSpPr>
              <p:spPr bwMode="auto">
                <a:xfrm>
                  <a:off x="885" y="3336"/>
                  <a:ext cx="17" cy="17"/>
                </a:xfrm>
                <a:custGeom>
                  <a:avLst/>
                  <a:gdLst>
                    <a:gd name="T0" fmla="*/ 16 w 17"/>
                    <a:gd name="T1" fmla="*/ 12 h 17"/>
                    <a:gd name="T2" fmla="*/ 8 w 17"/>
                    <a:gd name="T3" fmla="*/ 16 h 17"/>
                    <a:gd name="T4" fmla="*/ 0 w 17"/>
                    <a:gd name="T5" fmla="*/ 12 h 17"/>
                    <a:gd name="T6" fmla="*/ 0 w 17"/>
                    <a:gd name="T7" fmla="*/ 0 h 17"/>
                    <a:gd name="T8" fmla="*/ 5 w 17"/>
                    <a:gd name="T9" fmla="*/ 3 h 17"/>
                    <a:gd name="T10" fmla="*/ 8 w 17"/>
                    <a:gd name="T11" fmla="*/ 3 h 17"/>
                    <a:gd name="T12" fmla="*/ 13 w 17"/>
                    <a:gd name="T13" fmla="*/ 3 h 17"/>
                    <a:gd name="T14" fmla="*/ 16 w 17"/>
                    <a:gd name="T15" fmla="*/ 0 h 17"/>
                    <a:gd name="T16" fmla="*/ 16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2"/>
                      </a:moveTo>
                      <a:lnTo>
                        <a:pt x="8" y="16"/>
                      </a:lnTo>
                      <a:lnTo>
                        <a:pt x="0" y="12"/>
                      </a:lnTo>
                      <a:lnTo>
                        <a:pt x="0" y="0"/>
                      </a:lnTo>
                      <a:lnTo>
                        <a:pt x="5" y="3"/>
                      </a:lnTo>
                      <a:lnTo>
                        <a:pt x="8" y="3"/>
                      </a:lnTo>
                      <a:lnTo>
                        <a:pt x="13" y="3"/>
                      </a:lnTo>
                      <a:lnTo>
                        <a:pt x="16" y="0"/>
                      </a:lnTo>
                      <a:lnTo>
                        <a:pt x="16" y="12"/>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38" name="Line 312"/>
                <p:cNvSpPr>
                  <a:spLocks noChangeAspect="1" noChangeShapeType="1"/>
                </p:cNvSpPr>
                <p:nvPr/>
              </p:nvSpPr>
              <p:spPr bwMode="auto">
                <a:xfrm>
                  <a:off x="889" y="3336"/>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39" name="Line 313"/>
                <p:cNvSpPr>
                  <a:spLocks noChangeAspect="1" noChangeShapeType="1"/>
                </p:cNvSpPr>
                <p:nvPr/>
              </p:nvSpPr>
              <p:spPr bwMode="auto">
                <a:xfrm>
                  <a:off x="899" y="3336"/>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40" name="Freeform 314"/>
                <p:cNvSpPr>
                  <a:spLocks noChangeAspect="1"/>
                </p:cNvSpPr>
                <p:nvPr/>
              </p:nvSpPr>
              <p:spPr bwMode="auto">
                <a:xfrm>
                  <a:off x="933" y="3323"/>
                  <a:ext cx="17" cy="17"/>
                </a:xfrm>
                <a:custGeom>
                  <a:avLst/>
                  <a:gdLst>
                    <a:gd name="T0" fmla="*/ 0 w 17"/>
                    <a:gd name="T1" fmla="*/ 0 h 17"/>
                    <a:gd name="T2" fmla="*/ 7 w 17"/>
                    <a:gd name="T3" fmla="*/ 0 h 17"/>
                    <a:gd name="T4" fmla="*/ 16 w 17"/>
                    <a:gd name="T5" fmla="*/ 0 h 17"/>
                    <a:gd name="T6" fmla="*/ 7 w 17"/>
                    <a:gd name="T7" fmla="*/ 16 h 17"/>
                    <a:gd name="T8" fmla="*/ 2 w 17"/>
                    <a:gd name="T9" fmla="*/ 16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7" y="0"/>
                      </a:lnTo>
                      <a:lnTo>
                        <a:pt x="16" y="0"/>
                      </a:lnTo>
                      <a:lnTo>
                        <a:pt x="7" y="16"/>
                      </a:lnTo>
                      <a:lnTo>
                        <a:pt x="2"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41" name="Freeform 315"/>
                <p:cNvSpPr>
                  <a:spLocks noChangeAspect="1"/>
                </p:cNvSpPr>
                <p:nvPr/>
              </p:nvSpPr>
              <p:spPr bwMode="auto">
                <a:xfrm>
                  <a:off x="933" y="3324"/>
                  <a:ext cx="17" cy="17"/>
                </a:xfrm>
                <a:custGeom>
                  <a:avLst/>
                  <a:gdLst>
                    <a:gd name="T0" fmla="*/ 16 w 17"/>
                    <a:gd name="T1" fmla="*/ 12 h 17"/>
                    <a:gd name="T2" fmla="*/ 7 w 17"/>
                    <a:gd name="T3" fmla="*/ 16 h 17"/>
                    <a:gd name="T4" fmla="*/ 0 w 17"/>
                    <a:gd name="T5" fmla="*/ 12 h 17"/>
                    <a:gd name="T6" fmla="*/ 0 w 17"/>
                    <a:gd name="T7" fmla="*/ 0 h 17"/>
                    <a:gd name="T8" fmla="*/ 3 w 17"/>
                    <a:gd name="T9" fmla="*/ 4 h 17"/>
                    <a:gd name="T10" fmla="*/ 7 w 17"/>
                    <a:gd name="T11" fmla="*/ 4 h 17"/>
                    <a:gd name="T12" fmla="*/ 12 w 17"/>
                    <a:gd name="T13" fmla="*/ 4 h 17"/>
                    <a:gd name="T14" fmla="*/ 16 w 17"/>
                    <a:gd name="T15" fmla="*/ 0 h 17"/>
                    <a:gd name="T16" fmla="*/ 16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2"/>
                      </a:moveTo>
                      <a:lnTo>
                        <a:pt x="7" y="16"/>
                      </a:lnTo>
                      <a:lnTo>
                        <a:pt x="0" y="12"/>
                      </a:lnTo>
                      <a:lnTo>
                        <a:pt x="0" y="0"/>
                      </a:lnTo>
                      <a:lnTo>
                        <a:pt x="3" y="4"/>
                      </a:lnTo>
                      <a:lnTo>
                        <a:pt x="7" y="4"/>
                      </a:lnTo>
                      <a:lnTo>
                        <a:pt x="12" y="4"/>
                      </a:lnTo>
                      <a:lnTo>
                        <a:pt x="16" y="0"/>
                      </a:lnTo>
                      <a:lnTo>
                        <a:pt x="16" y="12"/>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42" name="Line 316"/>
                <p:cNvSpPr>
                  <a:spLocks noChangeAspect="1" noChangeShapeType="1"/>
                </p:cNvSpPr>
                <p:nvPr/>
              </p:nvSpPr>
              <p:spPr bwMode="auto">
                <a:xfrm>
                  <a:off x="937" y="3325"/>
                  <a:ext cx="0"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43" name="Line 317"/>
                <p:cNvSpPr>
                  <a:spLocks noChangeAspect="1" noChangeShapeType="1"/>
                </p:cNvSpPr>
                <p:nvPr/>
              </p:nvSpPr>
              <p:spPr bwMode="auto">
                <a:xfrm>
                  <a:off x="943" y="3325"/>
                  <a:ext cx="0"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44" name="Freeform 318"/>
                <p:cNvSpPr>
                  <a:spLocks noChangeAspect="1"/>
                </p:cNvSpPr>
                <p:nvPr/>
              </p:nvSpPr>
              <p:spPr bwMode="auto">
                <a:xfrm>
                  <a:off x="933" y="3335"/>
                  <a:ext cx="17" cy="17"/>
                </a:xfrm>
                <a:custGeom>
                  <a:avLst/>
                  <a:gdLst>
                    <a:gd name="T0" fmla="*/ 0 w 17"/>
                    <a:gd name="T1" fmla="*/ 0 h 17"/>
                    <a:gd name="T2" fmla="*/ 7 w 17"/>
                    <a:gd name="T3" fmla="*/ 0 h 17"/>
                    <a:gd name="T4" fmla="*/ 16 w 17"/>
                    <a:gd name="T5" fmla="*/ 0 h 17"/>
                    <a:gd name="T6" fmla="*/ 7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7" y="0"/>
                      </a:lnTo>
                      <a:lnTo>
                        <a:pt x="16" y="0"/>
                      </a:lnTo>
                      <a:lnTo>
                        <a:pt x="7"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45" name="Freeform 319"/>
                <p:cNvSpPr>
                  <a:spLocks noChangeAspect="1"/>
                </p:cNvSpPr>
                <p:nvPr/>
              </p:nvSpPr>
              <p:spPr bwMode="auto">
                <a:xfrm>
                  <a:off x="933" y="3336"/>
                  <a:ext cx="17" cy="17"/>
                </a:xfrm>
                <a:custGeom>
                  <a:avLst/>
                  <a:gdLst>
                    <a:gd name="T0" fmla="*/ 16 w 17"/>
                    <a:gd name="T1" fmla="*/ 11 h 17"/>
                    <a:gd name="T2" fmla="*/ 7 w 17"/>
                    <a:gd name="T3" fmla="*/ 16 h 17"/>
                    <a:gd name="T4" fmla="*/ 0 w 17"/>
                    <a:gd name="T5" fmla="*/ 11 h 17"/>
                    <a:gd name="T6" fmla="*/ 0 w 17"/>
                    <a:gd name="T7" fmla="*/ 0 h 17"/>
                    <a:gd name="T8" fmla="*/ 3 w 17"/>
                    <a:gd name="T9" fmla="*/ 4 h 17"/>
                    <a:gd name="T10" fmla="*/ 7 w 17"/>
                    <a:gd name="T11" fmla="*/ 4 h 17"/>
                    <a:gd name="T12" fmla="*/ 12 w 17"/>
                    <a:gd name="T13" fmla="*/ 4 h 17"/>
                    <a:gd name="T14" fmla="*/ 16 w 17"/>
                    <a:gd name="T15" fmla="*/ 0 h 17"/>
                    <a:gd name="T16" fmla="*/ 16 w 17"/>
                    <a:gd name="T17" fmla="*/ 1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1"/>
                      </a:moveTo>
                      <a:lnTo>
                        <a:pt x="7" y="16"/>
                      </a:lnTo>
                      <a:lnTo>
                        <a:pt x="0" y="11"/>
                      </a:lnTo>
                      <a:lnTo>
                        <a:pt x="0" y="0"/>
                      </a:lnTo>
                      <a:lnTo>
                        <a:pt x="3" y="4"/>
                      </a:lnTo>
                      <a:lnTo>
                        <a:pt x="7" y="4"/>
                      </a:lnTo>
                      <a:lnTo>
                        <a:pt x="12" y="4"/>
                      </a:lnTo>
                      <a:lnTo>
                        <a:pt x="16" y="0"/>
                      </a:lnTo>
                      <a:lnTo>
                        <a:pt x="16" y="11"/>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46" name="Line 320"/>
                <p:cNvSpPr>
                  <a:spLocks noChangeAspect="1" noChangeShapeType="1"/>
                </p:cNvSpPr>
                <p:nvPr/>
              </p:nvSpPr>
              <p:spPr bwMode="auto">
                <a:xfrm>
                  <a:off x="937" y="3336"/>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47" name="Line 321"/>
                <p:cNvSpPr>
                  <a:spLocks noChangeAspect="1" noChangeShapeType="1"/>
                </p:cNvSpPr>
                <p:nvPr/>
              </p:nvSpPr>
              <p:spPr bwMode="auto">
                <a:xfrm>
                  <a:off x="943" y="3336"/>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48" name="Freeform 322"/>
                <p:cNvSpPr>
                  <a:spLocks noChangeAspect="1"/>
                </p:cNvSpPr>
                <p:nvPr/>
              </p:nvSpPr>
              <p:spPr bwMode="auto">
                <a:xfrm>
                  <a:off x="955" y="3322"/>
                  <a:ext cx="17" cy="17"/>
                </a:xfrm>
                <a:custGeom>
                  <a:avLst/>
                  <a:gdLst>
                    <a:gd name="T0" fmla="*/ 0 w 17"/>
                    <a:gd name="T1" fmla="*/ 0 h 17"/>
                    <a:gd name="T2" fmla="*/ 7 w 17"/>
                    <a:gd name="T3" fmla="*/ 0 h 17"/>
                    <a:gd name="T4" fmla="*/ 16 w 17"/>
                    <a:gd name="T5" fmla="*/ 0 h 17"/>
                    <a:gd name="T6" fmla="*/ 7 w 17"/>
                    <a:gd name="T7" fmla="*/ 16 h 17"/>
                    <a:gd name="T8" fmla="*/ 2 w 17"/>
                    <a:gd name="T9" fmla="*/ 16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7" y="0"/>
                      </a:lnTo>
                      <a:lnTo>
                        <a:pt x="16" y="0"/>
                      </a:lnTo>
                      <a:lnTo>
                        <a:pt x="7" y="16"/>
                      </a:lnTo>
                      <a:lnTo>
                        <a:pt x="2"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49" name="Freeform 323"/>
                <p:cNvSpPr>
                  <a:spLocks noChangeAspect="1"/>
                </p:cNvSpPr>
                <p:nvPr/>
              </p:nvSpPr>
              <p:spPr bwMode="auto">
                <a:xfrm>
                  <a:off x="955" y="3323"/>
                  <a:ext cx="17" cy="17"/>
                </a:xfrm>
                <a:custGeom>
                  <a:avLst/>
                  <a:gdLst>
                    <a:gd name="T0" fmla="*/ 16 w 17"/>
                    <a:gd name="T1" fmla="*/ 12 h 17"/>
                    <a:gd name="T2" fmla="*/ 7 w 17"/>
                    <a:gd name="T3" fmla="*/ 16 h 17"/>
                    <a:gd name="T4" fmla="*/ 0 w 17"/>
                    <a:gd name="T5" fmla="*/ 12 h 17"/>
                    <a:gd name="T6" fmla="*/ 0 w 17"/>
                    <a:gd name="T7" fmla="*/ 0 h 17"/>
                    <a:gd name="T8" fmla="*/ 3 w 17"/>
                    <a:gd name="T9" fmla="*/ 3 h 17"/>
                    <a:gd name="T10" fmla="*/ 7 w 17"/>
                    <a:gd name="T11" fmla="*/ 3 h 17"/>
                    <a:gd name="T12" fmla="*/ 12 w 17"/>
                    <a:gd name="T13" fmla="*/ 3 h 17"/>
                    <a:gd name="T14" fmla="*/ 16 w 17"/>
                    <a:gd name="T15" fmla="*/ 0 h 17"/>
                    <a:gd name="T16" fmla="*/ 16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2"/>
                      </a:moveTo>
                      <a:lnTo>
                        <a:pt x="7" y="16"/>
                      </a:lnTo>
                      <a:lnTo>
                        <a:pt x="0" y="12"/>
                      </a:lnTo>
                      <a:lnTo>
                        <a:pt x="0" y="0"/>
                      </a:lnTo>
                      <a:lnTo>
                        <a:pt x="3" y="3"/>
                      </a:lnTo>
                      <a:lnTo>
                        <a:pt x="7" y="3"/>
                      </a:lnTo>
                      <a:lnTo>
                        <a:pt x="12" y="3"/>
                      </a:lnTo>
                      <a:lnTo>
                        <a:pt x="16" y="0"/>
                      </a:lnTo>
                      <a:lnTo>
                        <a:pt x="16" y="12"/>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50" name="Line 324"/>
                <p:cNvSpPr>
                  <a:spLocks noChangeAspect="1" noChangeShapeType="1"/>
                </p:cNvSpPr>
                <p:nvPr/>
              </p:nvSpPr>
              <p:spPr bwMode="auto">
                <a:xfrm>
                  <a:off x="959" y="3324"/>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51" name="Line 325"/>
                <p:cNvSpPr>
                  <a:spLocks noChangeAspect="1" noChangeShapeType="1"/>
                </p:cNvSpPr>
                <p:nvPr/>
              </p:nvSpPr>
              <p:spPr bwMode="auto">
                <a:xfrm>
                  <a:off x="966" y="3324"/>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52" name="Freeform 326"/>
                <p:cNvSpPr>
                  <a:spLocks noChangeAspect="1"/>
                </p:cNvSpPr>
                <p:nvPr/>
              </p:nvSpPr>
              <p:spPr bwMode="auto">
                <a:xfrm>
                  <a:off x="955" y="3335"/>
                  <a:ext cx="17" cy="17"/>
                </a:xfrm>
                <a:custGeom>
                  <a:avLst/>
                  <a:gdLst>
                    <a:gd name="T0" fmla="*/ 0 w 17"/>
                    <a:gd name="T1" fmla="*/ 0 h 17"/>
                    <a:gd name="T2" fmla="*/ 7 w 17"/>
                    <a:gd name="T3" fmla="*/ 0 h 17"/>
                    <a:gd name="T4" fmla="*/ 16 w 17"/>
                    <a:gd name="T5" fmla="*/ 0 h 17"/>
                    <a:gd name="T6" fmla="*/ 7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7" y="0"/>
                      </a:lnTo>
                      <a:lnTo>
                        <a:pt x="16" y="0"/>
                      </a:lnTo>
                      <a:lnTo>
                        <a:pt x="7"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53" name="Freeform 327"/>
                <p:cNvSpPr>
                  <a:spLocks noChangeAspect="1"/>
                </p:cNvSpPr>
                <p:nvPr/>
              </p:nvSpPr>
              <p:spPr bwMode="auto">
                <a:xfrm>
                  <a:off x="955" y="3335"/>
                  <a:ext cx="17" cy="17"/>
                </a:xfrm>
                <a:custGeom>
                  <a:avLst/>
                  <a:gdLst>
                    <a:gd name="T0" fmla="*/ 16 w 17"/>
                    <a:gd name="T1" fmla="*/ 13 h 17"/>
                    <a:gd name="T2" fmla="*/ 7 w 17"/>
                    <a:gd name="T3" fmla="*/ 16 h 17"/>
                    <a:gd name="T4" fmla="*/ 0 w 17"/>
                    <a:gd name="T5" fmla="*/ 13 h 17"/>
                    <a:gd name="T6" fmla="*/ 0 w 17"/>
                    <a:gd name="T7" fmla="*/ 0 h 17"/>
                    <a:gd name="T8" fmla="*/ 3 w 17"/>
                    <a:gd name="T9" fmla="*/ 5 h 17"/>
                    <a:gd name="T10" fmla="*/ 7 w 17"/>
                    <a:gd name="T11" fmla="*/ 5 h 17"/>
                    <a:gd name="T12" fmla="*/ 12 w 17"/>
                    <a:gd name="T13" fmla="*/ 5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7" y="16"/>
                      </a:lnTo>
                      <a:lnTo>
                        <a:pt x="0" y="13"/>
                      </a:lnTo>
                      <a:lnTo>
                        <a:pt x="0" y="0"/>
                      </a:lnTo>
                      <a:lnTo>
                        <a:pt x="3" y="5"/>
                      </a:lnTo>
                      <a:lnTo>
                        <a:pt x="7" y="5"/>
                      </a:lnTo>
                      <a:lnTo>
                        <a:pt x="12" y="5"/>
                      </a:lnTo>
                      <a:lnTo>
                        <a:pt x="16" y="0"/>
                      </a:lnTo>
                      <a:lnTo>
                        <a:pt x="16" y="13"/>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54" name="Line 328"/>
                <p:cNvSpPr>
                  <a:spLocks noChangeAspect="1" noChangeShapeType="1"/>
                </p:cNvSpPr>
                <p:nvPr/>
              </p:nvSpPr>
              <p:spPr bwMode="auto">
                <a:xfrm>
                  <a:off x="959" y="3336"/>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55" name="Line 329"/>
                <p:cNvSpPr>
                  <a:spLocks noChangeAspect="1" noChangeShapeType="1"/>
                </p:cNvSpPr>
                <p:nvPr/>
              </p:nvSpPr>
              <p:spPr bwMode="auto">
                <a:xfrm>
                  <a:off x="966" y="3336"/>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56" name="Freeform 330"/>
                <p:cNvSpPr>
                  <a:spLocks noChangeAspect="1"/>
                </p:cNvSpPr>
                <p:nvPr/>
              </p:nvSpPr>
              <p:spPr bwMode="auto">
                <a:xfrm>
                  <a:off x="829" y="3323"/>
                  <a:ext cx="17" cy="17"/>
                </a:xfrm>
                <a:custGeom>
                  <a:avLst/>
                  <a:gdLst>
                    <a:gd name="T0" fmla="*/ 0 w 17"/>
                    <a:gd name="T1" fmla="*/ 4 h 17"/>
                    <a:gd name="T2" fmla="*/ 8 w 17"/>
                    <a:gd name="T3" fmla="*/ 0 h 17"/>
                    <a:gd name="T4" fmla="*/ 16 w 17"/>
                    <a:gd name="T5" fmla="*/ 4 h 17"/>
                    <a:gd name="T6" fmla="*/ 8 w 17"/>
                    <a:gd name="T7" fmla="*/ 16 h 17"/>
                    <a:gd name="T8" fmla="*/ 2 w 17"/>
                    <a:gd name="T9" fmla="*/ 11 h 17"/>
                    <a:gd name="T10" fmla="*/ 0 w 17"/>
                    <a:gd name="T11" fmla="*/ 4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4"/>
                      </a:moveTo>
                      <a:lnTo>
                        <a:pt x="8" y="0"/>
                      </a:lnTo>
                      <a:lnTo>
                        <a:pt x="16" y="4"/>
                      </a:lnTo>
                      <a:lnTo>
                        <a:pt x="8" y="16"/>
                      </a:lnTo>
                      <a:lnTo>
                        <a:pt x="2" y="11"/>
                      </a:lnTo>
                      <a:lnTo>
                        <a:pt x="0" y="4"/>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57" name="Freeform 331"/>
                <p:cNvSpPr>
                  <a:spLocks noChangeAspect="1"/>
                </p:cNvSpPr>
                <p:nvPr/>
              </p:nvSpPr>
              <p:spPr bwMode="auto">
                <a:xfrm>
                  <a:off x="829" y="3324"/>
                  <a:ext cx="17" cy="17"/>
                </a:xfrm>
                <a:custGeom>
                  <a:avLst/>
                  <a:gdLst>
                    <a:gd name="T0" fmla="*/ 16 w 17"/>
                    <a:gd name="T1" fmla="*/ 12 h 17"/>
                    <a:gd name="T2" fmla="*/ 8 w 17"/>
                    <a:gd name="T3" fmla="*/ 16 h 17"/>
                    <a:gd name="T4" fmla="*/ 0 w 17"/>
                    <a:gd name="T5" fmla="*/ 12 h 17"/>
                    <a:gd name="T6" fmla="*/ 0 w 17"/>
                    <a:gd name="T7" fmla="*/ 0 h 17"/>
                    <a:gd name="T8" fmla="*/ 5 w 17"/>
                    <a:gd name="T9" fmla="*/ 3 h 17"/>
                    <a:gd name="T10" fmla="*/ 8 w 17"/>
                    <a:gd name="T11" fmla="*/ 3 h 17"/>
                    <a:gd name="T12" fmla="*/ 13 w 17"/>
                    <a:gd name="T13" fmla="*/ 3 h 17"/>
                    <a:gd name="T14" fmla="*/ 16 w 17"/>
                    <a:gd name="T15" fmla="*/ 0 h 17"/>
                    <a:gd name="T16" fmla="*/ 16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2"/>
                      </a:moveTo>
                      <a:lnTo>
                        <a:pt x="8" y="16"/>
                      </a:lnTo>
                      <a:lnTo>
                        <a:pt x="0" y="12"/>
                      </a:lnTo>
                      <a:lnTo>
                        <a:pt x="0" y="0"/>
                      </a:lnTo>
                      <a:lnTo>
                        <a:pt x="5" y="3"/>
                      </a:lnTo>
                      <a:lnTo>
                        <a:pt x="8" y="3"/>
                      </a:lnTo>
                      <a:lnTo>
                        <a:pt x="13" y="3"/>
                      </a:lnTo>
                      <a:lnTo>
                        <a:pt x="16" y="0"/>
                      </a:lnTo>
                      <a:lnTo>
                        <a:pt x="16" y="12"/>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58" name="Line 332"/>
                <p:cNvSpPr>
                  <a:spLocks noChangeAspect="1" noChangeShapeType="1"/>
                </p:cNvSpPr>
                <p:nvPr/>
              </p:nvSpPr>
              <p:spPr bwMode="auto">
                <a:xfrm>
                  <a:off x="832" y="3325"/>
                  <a:ext cx="0"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59" name="Line 333"/>
                <p:cNvSpPr>
                  <a:spLocks noChangeAspect="1" noChangeShapeType="1"/>
                </p:cNvSpPr>
                <p:nvPr/>
              </p:nvSpPr>
              <p:spPr bwMode="auto">
                <a:xfrm>
                  <a:off x="841" y="3325"/>
                  <a:ext cx="0"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60" name="Freeform 334"/>
                <p:cNvSpPr>
                  <a:spLocks noChangeAspect="1"/>
                </p:cNvSpPr>
                <p:nvPr/>
              </p:nvSpPr>
              <p:spPr bwMode="auto">
                <a:xfrm>
                  <a:off x="829" y="3336"/>
                  <a:ext cx="17" cy="17"/>
                </a:xfrm>
                <a:custGeom>
                  <a:avLst/>
                  <a:gdLst>
                    <a:gd name="T0" fmla="*/ 0 w 17"/>
                    <a:gd name="T1" fmla="*/ 0 h 17"/>
                    <a:gd name="T2" fmla="*/ 8 w 17"/>
                    <a:gd name="T3" fmla="*/ 0 h 17"/>
                    <a:gd name="T4" fmla="*/ 16 w 17"/>
                    <a:gd name="T5" fmla="*/ 0 h 17"/>
                    <a:gd name="T6" fmla="*/ 8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8" y="0"/>
                      </a:lnTo>
                      <a:lnTo>
                        <a:pt x="16" y="0"/>
                      </a:lnTo>
                      <a:lnTo>
                        <a:pt x="8"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61" name="Freeform 335"/>
                <p:cNvSpPr>
                  <a:spLocks noChangeAspect="1"/>
                </p:cNvSpPr>
                <p:nvPr/>
              </p:nvSpPr>
              <p:spPr bwMode="auto">
                <a:xfrm>
                  <a:off x="829" y="3336"/>
                  <a:ext cx="17" cy="17"/>
                </a:xfrm>
                <a:custGeom>
                  <a:avLst/>
                  <a:gdLst>
                    <a:gd name="T0" fmla="*/ 16 w 17"/>
                    <a:gd name="T1" fmla="*/ 12 h 17"/>
                    <a:gd name="T2" fmla="*/ 8 w 17"/>
                    <a:gd name="T3" fmla="*/ 16 h 17"/>
                    <a:gd name="T4" fmla="*/ 0 w 17"/>
                    <a:gd name="T5" fmla="*/ 12 h 17"/>
                    <a:gd name="T6" fmla="*/ 0 w 17"/>
                    <a:gd name="T7" fmla="*/ 0 h 17"/>
                    <a:gd name="T8" fmla="*/ 5 w 17"/>
                    <a:gd name="T9" fmla="*/ 3 h 17"/>
                    <a:gd name="T10" fmla="*/ 8 w 17"/>
                    <a:gd name="T11" fmla="*/ 3 h 17"/>
                    <a:gd name="T12" fmla="*/ 13 w 17"/>
                    <a:gd name="T13" fmla="*/ 3 h 17"/>
                    <a:gd name="T14" fmla="*/ 16 w 17"/>
                    <a:gd name="T15" fmla="*/ 0 h 17"/>
                    <a:gd name="T16" fmla="*/ 16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2"/>
                      </a:moveTo>
                      <a:lnTo>
                        <a:pt x="8" y="16"/>
                      </a:lnTo>
                      <a:lnTo>
                        <a:pt x="0" y="12"/>
                      </a:lnTo>
                      <a:lnTo>
                        <a:pt x="0" y="0"/>
                      </a:lnTo>
                      <a:lnTo>
                        <a:pt x="5" y="3"/>
                      </a:lnTo>
                      <a:lnTo>
                        <a:pt x="8" y="3"/>
                      </a:lnTo>
                      <a:lnTo>
                        <a:pt x="13" y="3"/>
                      </a:lnTo>
                      <a:lnTo>
                        <a:pt x="16" y="0"/>
                      </a:lnTo>
                      <a:lnTo>
                        <a:pt x="16" y="12"/>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62" name="Line 336"/>
                <p:cNvSpPr>
                  <a:spLocks noChangeAspect="1" noChangeShapeType="1"/>
                </p:cNvSpPr>
                <p:nvPr/>
              </p:nvSpPr>
              <p:spPr bwMode="auto">
                <a:xfrm>
                  <a:off x="832" y="3336"/>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63" name="Line 337"/>
                <p:cNvSpPr>
                  <a:spLocks noChangeAspect="1" noChangeShapeType="1"/>
                </p:cNvSpPr>
                <p:nvPr/>
              </p:nvSpPr>
              <p:spPr bwMode="auto">
                <a:xfrm>
                  <a:off x="841" y="3336"/>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64" name="Freeform 338"/>
                <p:cNvSpPr>
                  <a:spLocks noChangeAspect="1"/>
                </p:cNvSpPr>
                <p:nvPr/>
              </p:nvSpPr>
              <p:spPr bwMode="auto">
                <a:xfrm>
                  <a:off x="781" y="3322"/>
                  <a:ext cx="17" cy="17"/>
                </a:xfrm>
                <a:custGeom>
                  <a:avLst/>
                  <a:gdLst>
                    <a:gd name="T0" fmla="*/ 0 w 17"/>
                    <a:gd name="T1" fmla="*/ 6 h 17"/>
                    <a:gd name="T2" fmla="*/ 8 w 17"/>
                    <a:gd name="T3" fmla="*/ 0 h 17"/>
                    <a:gd name="T4" fmla="*/ 16 w 17"/>
                    <a:gd name="T5" fmla="*/ 6 h 17"/>
                    <a:gd name="T6" fmla="*/ 8 w 17"/>
                    <a:gd name="T7" fmla="*/ 16 h 17"/>
                    <a:gd name="T8" fmla="*/ 2 w 17"/>
                    <a:gd name="T9" fmla="*/ 9 h 17"/>
                    <a:gd name="T10" fmla="*/ 0 w 17"/>
                    <a:gd name="T11" fmla="*/ 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6"/>
                      </a:moveTo>
                      <a:lnTo>
                        <a:pt x="8" y="0"/>
                      </a:lnTo>
                      <a:lnTo>
                        <a:pt x="16" y="6"/>
                      </a:lnTo>
                      <a:lnTo>
                        <a:pt x="8" y="16"/>
                      </a:lnTo>
                      <a:lnTo>
                        <a:pt x="2" y="9"/>
                      </a:lnTo>
                      <a:lnTo>
                        <a:pt x="0" y="6"/>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65" name="Freeform 339"/>
                <p:cNvSpPr>
                  <a:spLocks noChangeAspect="1"/>
                </p:cNvSpPr>
                <p:nvPr/>
              </p:nvSpPr>
              <p:spPr bwMode="auto">
                <a:xfrm>
                  <a:off x="781" y="3323"/>
                  <a:ext cx="17" cy="17"/>
                </a:xfrm>
                <a:custGeom>
                  <a:avLst/>
                  <a:gdLst>
                    <a:gd name="T0" fmla="*/ 16 w 17"/>
                    <a:gd name="T1" fmla="*/ 12 h 17"/>
                    <a:gd name="T2" fmla="*/ 8 w 17"/>
                    <a:gd name="T3" fmla="*/ 16 h 17"/>
                    <a:gd name="T4" fmla="*/ 0 w 17"/>
                    <a:gd name="T5" fmla="*/ 12 h 17"/>
                    <a:gd name="T6" fmla="*/ 0 w 17"/>
                    <a:gd name="T7" fmla="*/ 0 h 17"/>
                    <a:gd name="T8" fmla="*/ 5 w 17"/>
                    <a:gd name="T9" fmla="*/ 3 h 17"/>
                    <a:gd name="T10" fmla="*/ 8 w 17"/>
                    <a:gd name="T11" fmla="*/ 3 h 17"/>
                    <a:gd name="T12" fmla="*/ 13 w 17"/>
                    <a:gd name="T13" fmla="*/ 3 h 17"/>
                    <a:gd name="T14" fmla="*/ 16 w 17"/>
                    <a:gd name="T15" fmla="*/ 0 h 17"/>
                    <a:gd name="T16" fmla="*/ 16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2"/>
                      </a:moveTo>
                      <a:lnTo>
                        <a:pt x="8" y="16"/>
                      </a:lnTo>
                      <a:lnTo>
                        <a:pt x="0" y="12"/>
                      </a:lnTo>
                      <a:lnTo>
                        <a:pt x="0" y="0"/>
                      </a:lnTo>
                      <a:lnTo>
                        <a:pt x="5" y="3"/>
                      </a:lnTo>
                      <a:lnTo>
                        <a:pt x="8" y="3"/>
                      </a:lnTo>
                      <a:lnTo>
                        <a:pt x="13" y="3"/>
                      </a:lnTo>
                      <a:lnTo>
                        <a:pt x="16" y="0"/>
                      </a:lnTo>
                      <a:lnTo>
                        <a:pt x="16" y="12"/>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66" name="Line 340"/>
                <p:cNvSpPr>
                  <a:spLocks noChangeAspect="1" noChangeShapeType="1"/>
                </p:cNvSpPr>
                <p:nvPr/>
              </p:nvSpPr>
              <p:spPr bwMode="auto">
                <a:xfrm>
                  <a:off x="785" y="3324"/>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67" name="Line 341"/>
                <p:cNvSpPr>
                  <a:spLocks noChangeAspect="1" noChangeShapeType="1"/>
                </p:cNvSpPr>
                <p:nvPr/>
              </p:nvSpPr>
              <p:spPr bwMode="auto">
                <a:xfrm>
                  <a:off x="793" y="3324"/>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68" name="Freeform 342"/>
                <p:cNvSpPr>
                  <a:spLocks noChangeAspect="1"/>
                </p:cNvSpPr>
                <p:nvPr/>
              </p:nvSpPr>
              <p:spPr bwMode="auto">
                <a:xfrm>
                  <a:off x="781" y="3335"/>
                  <a:ext cx="17" cy="17"/>
                </a:xfrm>
                <a:custGeom>
                  <a:avLst/>
                  <a:gdLst>
                    <a:gd name="T0" fmla="*/ 0 w 17"/>
                    <a:gd name="T1" fmla="*/ 0 h 17"/>
                    <a:gd name="T2" fmla="*/ 8 w 17"/>
                    <a:gd name="T3" fmla="*/ 0 h 17"/>
                    <a:gd name="T4" fmla="*/ 16 w 17"/>
                    <a:gd name="T5" fmla="*/ 0 h 17"/>
                    <a:gd name="T6" fmla="*/ 8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8" y="0"/>
                      </a:lnTo>
                      <a:lnTo>
                        <a:pt x="16" y="0"/>
                      </a:lnTo>
                      <a:lnTo>
                        <a:pt x="8" y="16"/>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69" name="Freeform 343"/>
                <p:cNvSpPr>
                  <a:spLocks noChangeAspect="1"/>
                </p:cNvSpPr>
                <p:nvPr/>
              </p:nvSpPr>
              <p:spPr bwMode="auto">
                <a:xfrm>
                  <a:off x="781" y="3336"/>
                  <a:ext cx="17" cy="17"/>
                </a:xfrm>
                <a:custGeom>
                  <a:avLst/>
                  <a:gdLst>
                    <a:gd name="T0" fmla="*/ 16 w 17"/>
                    <a:gd name="T1" fmla="*/ 11 h 17"/>
                    <a:gd name="T2" fmla="*/ 8 w 17"/>
                    <a:gd name="T3" fmla="*/ 16 h 17"/>
                    <a:gd name="T4" fmla="*/ 0 w 17"/>
                    <a:gd name="T5" fmla="*/ 11 h 17"/>
                    <a:gd name="T6" fmla="*/ 0 w 17"/>
                    <a:gd name="T7" fmla="*/ 0 h 17"/>
                    <a:gd name="T8" fmla="*/ 5 w 17"/>
                    <a:gd name="T9" fmla="*/ 4 h 17"/>
                    <a:gd name="T10" fmla="*/ 8 w 17"/>
                    <a:gd name="T11" fmla="*/ 4 h 17"/>
                    <a:gd name="T12" fmla="*/ 13 w 17"/>
                    <a:gd name="T13" fmla="*/ 4 h 17"/>
                    <a:gd name="T14" fmla="*/ 16 w 17"/>
                    <a:gd name="T15" fmla="*/ 0 h 17"/>
                    <a:gd name="T16" fmla="*/ 16 w 17"/>
                    <a:gd name="T17" fmla="*/ 1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1"/>
                      </a:moveTo>
                      <a:lnTo>
                        <a:pt x="8" y="16"/>
                      </a:lnTo>
                      <a:lnTo>
                        <a:pt x="0" y="11"/>
                      </a:lnTo>
                      <a:lnTo>
                        <a:pt x="0" y="0"/>
                      </a:lnTo>
                      <a:lnTo>
                        <a:pt x="5" y="4"/>
                      </a:lnTo>
                      <a:lnTo>
                        <a:pt x="8" y="4"/>
                      </a:lnTo>
                      <a:lnTo>
                        <a:pt x="13" y="4"/>
                      </a:lnTo>
                      <a:lnTo>
                        <a:pt x="16" y="0"/>
                      </a:lnTo>
                      <a:lnTo>
                        <a:pt x="16" y="11"/>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70" name="Line 344"/>
                <p:cNvSpPr>
                  <a:spLocks noChangeAspect="1" noChangeShapeType="1"/>
                </p:cNvSpPr>
                <p:nvPr/>
              </p:nvSpPr>
              <p:spPr bwMode="auto">
                <a:xfrm>
                  <a:off x="785" y="3336"/>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71" name="Line 345"/>
                <p:cNvSpPr>
                  <a:spLocks noChangeAspect="1" noChangeShapeType="1"/>
                </p:cNvSpPr>
                <p:nvPr/>
              </p:nvSpPr>
              <p:spPr bwMode="auto">
                <a:xfrm>
                  <a:off x="793" y="3336"/>
                  <a:ext cx="0"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72" name="Freeform 346"/>
                <p:cNvSpPr>
                  <a:spLocks noChangeAspect="1"/>
                </p:cNvSpPr>
                <p:nvPr/>
              </p:nvSpPr>
              <p:spPr bwMode="auto">
                <a:xfrm>
                  <a:off x="758" y="3319"/>
                  <a:ext cx="17" cy="17"/>
                </a:xfrm>
                <a:custGeom>
                  <a:avLst/>
                  <a:gdLst>
                    <a:gd name="T0" fmla="*/ 0 w 17"/>
                    <a:gd name="T1" fmla="*/ 6 h 17"/>
                    <a:gd name="T2" fmla="*/ 8 w 17"/>
                    <a:gd name="T3" fmla="*/ 0 h 17"/>
                    <a:gd name="T4" fmla="*/ 16 w 17"/>
                    <a:gd name="T5" fmla="*/ 6 h 17"/>
                    <a:gd name="T6" fmla="*/ 8 w 17"/>
                    <a:gd name="T7" fmla="*/ 16 h 17"/>
                    <a:gd name="T8" fmla="*/ 2 w 17"/>
                    <a:gd name="T9" fmla="*/ 10 h 17"/>
                    <a:gd name="T10" fmla="*/ 0 w 17"/>
                    <a:gd name="T11" fmla="*/ 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6"/>
                      </a:moveTo>
                      <a:lnTo>
                        <a:pt x="8" y="0"/>
                      </a:lnTo>
                      <a:lnTo>
                        <a:pt x="16" y="6"/>
                      </a:lnTo>
                      <a:lnTo>
                        <a:pt x="8" y="16"/>
                      </a:lnTo>
                      <a:lnTo>
                        <a:pt x="2" y="10"/>
                      </a:lnTo>
                      <a:lnTo>
                        <a:pt x="0" y="6"/>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73" name="Freeform 347"/>
                <p:cNvSpPr>
                  <a:spLocks noChangeAspect="1"/>
                </p:cNvSpPr>
                <p:nvPr/>
              </p:nvSpPr>
              <p:spPr bwMode="auto">
                <a:xfrm>
                  <a:off x="758" y="3321"/>
                  <a:ext cx="17" cy="17"/>
                </a:xfrm>
                <a:custGeom>
                  <a:avLst/>
                  <a:gdLst>
                    <a:gd name="T0" fmla="*/ 16 w 17"/>
                    <a:gd name="T1" fmla="*/ 13 h 17"/>
                    <a:gd name="T2" fmla="*/ 8 w 17"/>
                    <a:gd name="T3" fmla="*/ 16 h 17"/>
                    <a:gd name="T4" fmla="*/ 0 w 17"/>
                    <a:gd name="T5" fmla="*/ 13 h 17"/>
                    <a:gd name="T6" fmla="*/ 0 w 17"/>
                    <a:gd name="T7" fmla="*/ 0 h 17"/>
                    <a:gd name="T8" fmla="*/ 4 w 17"/>
                    <a:gd name="T9" fmla="*/ 5 h 17"/>
                    <a:gd name="T10" fmla="*/ 8 w 17"/>
                    <a:gd name="T11" fmla="*/ 5 h 17"/>
                    <a:gd name="T12" fmla="*/ 13 w 17"/>
                    <a:gd name="T13" fmla="*/ 2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4" y="5"/>
                      </a:lnTo>
                      <a:lnTo>
                        <a:pt x="8" y="5"/>
                      </a:lnTo>
                      <a:lnTo>
                        <a:pt x="13" y="2"/>
                      </a:lnTo>
                      <a:lnTo>
                        <a:pt x="16" y="0"/>
                      </a:lnTo>
                      <a:lnTo>
                        <a:pt x="16" y="13"/>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74" name="Line 348"/>
                <p:cNvSpPr>
                  <a:spLocks noChangeAspect="1" noChangeShapeType="1"/>
                </p:cNvSpPr>
                <p:nvPr/>
              </p:nvSpPr>
              <p:spPr bwMode="auto">
                <a:xfrm>
                  <a:off x="764" y="3322"/>
                  <a:ext cx="0"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75" name="Line 349"/>
                <p:cNvSpPr>
                  <a:spLocks noChangeAspect="1" noChangeShapeType="1"/>
                </p:cNvSpPr>
                <p:nvPr/>
              </p:nvSpPr>
              <p:spPr bwMode="auto">
                <a:xfrm>
                  <a:off x="772" y="3323"/>
                  <a:ext cx="0"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76" name="Freeform 350"/>
                <p:cNvSpPr>
                  <a:spLocks noChangeAspect="1"/>
                </p:cNvSpPr>
                <p:nvPr/>
              </p:nvSpPr>
              <p:spPr bwMode="auto">
                <a:xfrm>
                  <a:off x="758" y="3334"/>
                  <a:ext cx="17" cy="17"/>
                </a:xfrm>
                <a:custGeom>
                  <a:avLst/>
                  <a:gdLst>
                    <a:gd name="T0" fmla="*/ 0 w 17"/>
                    <a:gd name="T1" fmla="*/ 10 h 17"/>
                    <a:gd name="T2" fmla="*/ 8 w 17"/>
                    <a:gd name="T3" fmla="*/ 0 h 17"/>
                    <a:gd name="T4" fmla="*/ 16 w 17"/>
                    <a:gd name="T5" fmla="*/ 10 h 17"/>
                    <a:gd name="T6" fmla="*/ 8 w 17"/>
                    <a:gd name="T7" fmla="*/ 16 h 17"/>
                    <a:gd name="T8" fmla="*/ 0 w 17"/>
                    <a:gd name="T9" fmla="*/ 1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0"/>
                      </a:moveTo>
                      <a:lnTo>
                        <a:pt x="8" y="0"/>
                      </a:lnTo>
                      <a:lnTo>
                        <a:pt x="16" y="10"/>
                      </a:lnTo>
                      <a:lnTo>
                        <a:pt x="8" y="16"/>
                      </a:lnTo>
                      <a:lnTo>
                        <a:pt x="0" y="1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77" name="Freeform 351"/>
                <p:cNvSpPr>
                  <a:spLocks noChangeAspect="1"/>
                </p:cNvSpPr>
                <p:nvPr/>
              </p:nvSpPr>
              <p:spPr bwMode="auto">
                <a:xfrm>
                  <a:off x="758" y="3335"/>
                  <a:ext cx="17" cy="17"/>
                </a:xfrm>
                <a:custGeom>
                  <a:avLst/>
                  <a:gdLst>
                    <a:gd name="T0" fmla="*/ 16 w 17"/>
                    <a:gd name="T1" fmla="*/ 13 h 17"/>
                    <a:gd name="T2" fmla="*/ 8 w 17"/>
                    <a:gd name="T3" fmla="*/ 16 h 17"/>
                    <a:gd name="T4" fmla="*/ 0 w 17"/>
                    <a:gd name="T5" fmla="*/ 13 h 17"/>
                    <a:gd name="T6" fmla="*/ 0 w 17"/>
                    <a:gd name="T7" fmla="*/ 0 h 17"/>
                    <a:gd name="T8" fmla="*/ 4 w 17"/>
                    <a:gd name="T9" fmla="*/ 2 h 17"/>
                    <a:gd name="T10" fmla="*/ 8 w 17"/>
                    <a:gd name="T11" fmla="*/ 2 h 17"/>
                    <a:gd name="T12" fmla="*/ 13 w 17"/>
                    <a:gd name="T13" fmla="*/ 2 h 17"/>
                    <a:gd name="T14" fmla="*/ 16 w 17"/>
                    <a:gd name="T15" fmla="*/ 0 h 17"/>
                    <a:gd name="T16" fmla="*/ 16 w 17"/>
                    <a:gd name="T17" fmla="*/ 13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3"/>
                      </a:moveTo>
                      <a:lnTo>
                        <a:pt x="8" y="16"/>
                      </a:lnTo>
                      <a:lnTo>
                        <a:pt x="0" y="13"/>
                      </a:lnTo>
                      <a:lnTo>
                        <a:pt x="0" y="0"/>
                      </a:lnTo>
                      <a:lnTo>
                        <a:pt x="4" y="2"/>
                      </a:lnTo>
                      <a:lnTo>
                        <a:pt x="8" y="2"/>
                      </a:lnTo>
                      <a:lnTo>
                        <a:pt x="13" y="2"/>
                      </a:lnTo>
                      <a:lnTo>
                        <a:pt x="16" y="0"/>
                      </a:lnTo>
                      <a:lnTo>
                        <a:pt x="16" y="13"/>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78" name="Line 352"/>
                <p:cNvSpPr>
                  <a:spLocks noChangeAspect="1" noChangeShapeType="1"/>
                </p:cNvSpPr>
                <p:nvPr/>
              </p:nvSpPr>
              <p:spPr bwMode="auto">
                <a:xfrm>
                  <a:off x="764" y="3335"/>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79" name="Line 353"/>
                <p:cNvSpPr>
                  <a:spLocks noChangeAspect="1" noChangeShapeType="1"/>
                </p:cNvSpPr>
                <p:nvPr/>
              </p:nvSpPr>
              <p:spPr bwMode="auto">
                <a:xfrm>
                  <a:off x="772" y="3335"/>
                  <a:ext cx="0"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80" name="Oval 354"/>
                <p:cNvSpPr>
                  <a:spLocks noChangeAspect="1" noChangeArrowheads="1"/>
                </p:cNvSpPr>
                <p:nvPr/>
              </p:nvSpPr>
              <p:spPr bwMode="auto">
                <a:xfrm>
                  <a:off x="858" y="3307"/>
                  <a:ext cx="13" cy="8"/>
                </a:xfrm>
                <a:prstGeom prst="ellipse">
                  <a:avLst/>
                </a:prstGeom>
                <a:solidFill>
                  <a:srgbClr val="00AE00"/>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581" name="Freeform 355"/>
                <p:cNvSpPr>
                  <a:spLocks noChangeAspect="1"/>
                </p:cNvSpPr>
                <p:nvPr/>
              </p:nvSpPr>
              <p:spPr bwMode="auto">
                <a:xfrm>
                  <a:off x="848" y="3309"/>
                  <a:ext cx="32" cy="17"/>
                </a:xfrm>
                <a:custGeom>
                  <a:avLst/>
                  <a:gdLst>
                    <a:gd name="T0" fmla="*/ 30 w 32"/>
                    <a:gd name="T1" fmla="*/ 0 h 17"/>
                    <a:gd name="T2" fmla="*/ 31 w 32"/>
                    <a:gd name="T3" fmla="*/ 8 h 17"/>
                    <a:gd name="T4" fmla="*/ 26 w 32"/>
                    <a:gd name="T5" fmla="*/ 10 h 17"/>
                    <a:gd name="T6" fmla="*/ 15 w 32"/>
                    <a:gd name="T7" fmla="*/ 16 h 17"/>
                    <a:gd name="T8" fmla="*/ 5 w 32"/>
                    <a:gd name="T9" fmla="*/ 10 h 17"/>
                    <a:gd name="T10" fmla="*/ 0 w 32"/>
                    <a:gd name="T11" fmla="*/ 8 h 17"/>
                    <a:gd name="T12" fmla="*/ 1 w 32"/>
                    <a:gd name="T13" fmla="*/ 0 h 17"/>
                    <a:gd name="T14" fmla="*/ 0 60000 65536"/>
                    <a:gd name="T15" fmla="*/ 0 60000 65536"/>
                    <a:gd name="T16" fmla="*/ 0 60000 65536"/>
                    <a:gd name="T17" fmla="*/ 0 60000 65536"/>
                    <a:gd name="T18" fmla="*/ 0 60000 65536"/>
                    <a:gd name="T19" fmla="*/ 0 60000 65536"/>
                    <a:gd name="T20" fmla="*/ 0 60000 65536"/>
                    <a:gd name="T21" fmla="*/ 0 w 32"/>
                    <a:gd name="T22" fmla="*/ 0 h 17"/>
                    <a:gd name="T23" fmla="*/ 32 w 3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7">
                      <a:moveTo>
                        <a:pt x="30" y="0"/>
                      </a:moveTo>
                      <a:lnTo>
                        <a:pt x="31" y="8"/>
                      </a:lnTo>
                      <a:lnTo>
                        <a:pt x="26" y="10"/>
                      </a:lnTo>
                      <a:lnTo>
                        <a:pt x="15" y="16"/>
                      </a:lnTo>
                      <a:lnTo>
                        <a:pt x="5" y="10"/>
                      </a:lnTo>
                      <a:lnTo>
                        <a:pt x="0" y="8"/>
                      </a:lnTo>
                      <a:lnTo>
                        <a:pt x="1" y="0"/>
                      </a:lnTo>
                    </a:path>
                  </a:pathLst>
                </a:custGeom>
                <a:solidFill>
                  <a:srgbClr val="00AE00"/>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582" name="Freeform 356"/>
                <p:cNvSpPr>
                  <a:spLocks noChangeAspect="1"/>
                </p:cNvSpPr>
                <p:nvPr/>
              </p:nvSpPr>
              <p:spPr bwMode="auto">
                <a:xfrm>
                  <a:off x="809" y="3362"/>
                  <a:ext cx="110" cy="17"/>
                </a:xfrm>
                <a:custGeom>
                  <a:avLst/>
                  <a:gdLst>
                    <a:gd name="T0" fmla="*/ 109 w 110"/>
                    <a:gd name="T1" fmla="*/ 4 h 17"/>
                    <a:gd name="T2" fmla="*/ 88 w 110"/>
                    <a:gd name="T3" fmla="*/ 16 h 17"/>
                    <a:gd name="T4" fmla="*/ 55 w 110"/>
                    <a:gd name="T5" fmla="*/ 16 h 17"/>
                    <a:gd name="T6" fmla="*/ 21 w 110"/>
                    <a:gd name="T7" fmla="*/ 16 h 17"/>
                    <a:gd name="T8" fmla="*/ 0 w 110"/>
                    <a:gd name="T9" fmla="*/ 0 h 17"/>
                    <a:gd name="T10" fmla="*/ 0 60000 65536"/>
                    <a:gd name="T11" fmla="*/ 0 60000 65536"/>
                    <a:gd name="T12" fmla="*/ 0 60000 65536"/>
                    <a:gd name="T13" fmla="*/ 0 60000 65536"/>
                    <a:gd name="T14" fmla="*/ 0 60000 65536"/>
                    <a:gd name="T15" fmla="*/ 0 w 110"/>
                    <a:gd name="T16" fmla="*/ 0 h 17"/>
                    <a:gd name="T17" fmla="*/ 110 w 110"/>
                    <a:gd name="T18" fmla="*/ 17 h 17"/>
                  </a:gdLst>
                  <a:ahLst/>
                  <a:cxnLst>
                    <a:cxn ang="T10">
                      <a:pos x="T0" y="T1"/>
                    </a:cxn>
                    <a:cxn ang="T11">
                      <a:pos x="T2" y="T3"/>
                    </a:cxn>
                    <a:cxn ang="T12">
                      <a:pos x="T4" y="T5"/>
                    </a:cxn>
                    <a:cxn ang="T13">
                      <a:pos x="T6" y="T7"/>
                    </a:cxn>
                    <a:cxn ang="T14">
                      <a:pos x="T8" y="T9"/>
                    </a:cxn>
                  </a:cxnLst>
                  <a:rect l="T15" t="T16" r="T17" b="T18"/>
                  <a:pathLst>
                    <a:path w="110" h="17">
                      <a:moveTo>
                        <a:pt x="109" y="4"/>
                      </a:moveTo>
                      <a:lnTo>
                        <a:pt x="88" y="16"/>
                      </a:lnTo>
                      <a:lnTo>
                        <a:pt x="55" y="16"/>
                      </a:lnTo>
                      <a:lnTo>
                        <a:pt x="21" y="16"/>
                      </a:lnTo>
                      <a:lnTo>
                        <a:pt x="0" y="0"/>
                      </a:lnTo>
                    </a:path>
                  </a:pathLst>
                </a:custGeom>
                <a:solidFill>
                  <a:srgbClr val="00AE00"/>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583" name="Freeform 357"/>
                <p:cNvSpPr>
                  <a:spLocks noChangeAspect="1"/>
                </p:cNvSpPr>
                <p:nvPr/>
              </p:nvSpPr>
              <p:spPr bwMode="auto">
                <a:xfrm>
                  <a:off x="825" y="3367"/>
                  <a:ext cx="78" cy="17"/>
                </a:xfrm>
                <a:custGeom>
                  <a:avLst/>
                  <a:gdLst>
                    <a:gd name="T0" fmla="*/ 77 w 78"/>
                    <a:gd name="T1" fmla="*/ 0 h 17"/>
                    <a:gd name="T2" fmla="*/ 40 w 78"/>
                    <a:gd name="T3" fmla="*/ 16 h 17"/>
                    <a:gd name="T4" fmla="*/ 0 w 78"/>
                    <a:gd name="T5" fmla="*/ 0 h 17"/>
                    <a:gd name="T6" fmla="*/ 0 60000 65536"/>
                    <a:gd name="T7" fmla="*/ 0 60000 65536"/>
                    <a:gd name="T8" fmla="*/ 0 60000 65536"/>
                    <a:gd name="T9" fmla="*/ 0 w 78"/>
                    <a:gd name="T10" fmla="*/ 0 h 17"/>
                    <a:gd name="T11" fmla="*/ 78 w 78"/>
                    <a:gd name="T12" fmla="*/ 17 h 17"/>
                  </a:gdLst>
                  <a:ahLst/>
                  <a:cxnLst>
                    <a:cxn ang="T6">
                      <a:pos x="T0" y="T1"/>
                    </a:cxn>
                    <a:cxn ang="T7">
                      <a:pos x="T2" y="T3"/>
                    </a:cxn>
                    <a:cxn ang="T8">
                      <a:pos x="T4" y="T5"/>
                    </a:cxn>
                  </a:cxnLst>
                  <a:rect l="T9" t="T10" r="T11" b="T12"/>
                  <a:pathLst>
                    <a:path w="78" h="17">
                      <a:moveTo>
                        <a:pt x="77" y="0"/>
                      </a:moveTo>
                      <a:lnTo>
                        <a:pt x="40" y="16"/>
                      </a:lnTo>
                      <a:lnTo>
                        <a:pt x="0" y="0"/>
                      </a:lnTo>
                    </a:path>
                  </a:pathLst>
                </a:custGeom>
                <a:solidFill>
                  <a:srgbClr val="00AE00"/>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584" name="Freeform 358"/>
                <p:cNvSpPr>
                  <a:spLocks noChangeAspect="1"/>
                </p:cNvSpPr>
                <p:nvPr/>
              </p:nvSpPr>
              <p:spPr bwMode="auto">
                <a:xfrm>
                  <a:off x="754" y="3325"/>
                  <a:ext cx="221" cy="17"/>
                </a:xfrm>
                <a:custGeom>
                  <a:avLst/>
                  <a:gdLst>
                    <a:gd name="T0" fmla="*/ 0 w 221"/>
                    <a:gd name="T1" fmla="*/ 0 h 17"/>
                    <a:gd name="T2" fmla="*/ 32 w 221"/>
                    <a:gd name="T3" fmla="*/ 3 h 17"/>
                    <a:gd name="T4" fmla="*/ 109 w 221"/>
                    <a:gd name="T5" fmla="*/ 5 h 17"/>
                    <a:gd name="T6" fmla="*/ 188 w 221"/>
                    <a:gd name="T7" fmla="*/ 3 h 17"/>
                    <a:gd name="T8" fmla="*/ 220 w 221"/>
                    <a:gd name="T9" fmla="*/ 0 h 17"/>
                    <a:gd name="T10" fmla="*/ 220 w 221"/>
                    <a:gd name="T11" fmla="*/ 10 h 17"/>
                    <a:gd name="T12" fmla="*/ 188 w 221"/>
                    <a:gd name="T13" fmla="*/ 14 h 17"/>
                    <a:gd name="T14" fmla="*/ 109 w 221"/>
                    <a:gd name="T15" fmla="*/ 16 h 17"/>
                    <a:gd name="T16" fmla="*/ 32 w 221"/>
                    <a:gd name="T17" fmla="*/ 14 h 17"/>
                    <a:gd name="T18" fmla="*/ 0 w 221"/>
                    <a:gd name="T19" fmla="*/ 10 h 17"/>
                    <a:gd name="T20" fmla="*/ 0 w 221"/>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1"/>
                    <a:gd name="T34" fmla="*/ 0 h 17"/>
                    <a:gd name="T35" fmla="*/ 221 w 221"/>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1" h="17">
                      <a:moveTo>
                        <a:pt x="0" y="0"/>
                      </a:moveTo>
                      <a:lnTo>
                        <a:pt x="32" y="3"/>
                      </a:lnTo>
                      <a:lnTo>
                        <a:pt x="109" y="5"/>
                      </a:lnTo>
                      <a:lnTo>
                        <a:pt x="188" y="3"/>
                      </a:lnTo>
                      <a:lnTo>
                        <a:pt x="220" y="0"/>
                      </a:lnTo>
                      <a:lnTo>
                        <a:pt x="220" y="10"/>
                      </a:lnTo>
                      <a:lnTo>
                        <a:pt x="188" y="14"/>
                      </a:lnTo>
                      <a:lnTo>
                        <a:pt x="109" y="16"/>
                      </a:lnTo>
                      <a:lnTo>
                        <a:pt x="32" y="14"/>
                      </a:lnTo>
                      <a:lnTo>
                        <a:pt x="0" y="10"/>
                      </a:lnTo>
                      <a:lnTo>
                        <a:pt x="0" y="0"/>
                      </a:lnTo>
                    </a:path>
                  </a:pathLst>
                </a:custGeom>
                <a:solidFill>
                  <a:srgbClr val="00AE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85" name="Freeform 359"/>
                <p:cNvSpPr>
                  <a:spLocks noChangeAspect="1"/>
                </p:cNvSpPr>
                <p:nvPr/>
              </p:nvSpPr>
              <p:spPr bwMode="auto">
                <a:xfrm>
                  <a:off x="754" y="3327"/>
                  <a:ext cx="221" cy="17"/>
                </a:xfrm>
                <a:custGeom>
                  <a:avLst/>
                  <a:gdLst>
                    <a:gd name="T0" fmla="*/ 220 w 221"/>
                    <a:gd name="T1" fmla="*/ 0 h 17"/>
                    <a:gd name="T2" fmla="*/ 188 w 221"/>
                    <a:gd name="T3" fmla="*/ 11 h 17"/>
                    <a:gd name="T4" fmla="*/ 109 w 221"/>
                    <a:gd name="T5" fmla="*/ 16 h 17"/>
                    <a:gd name="T6" fmla="*/ 32 w 221"/>
                    <a:gd name="T7" fmla="*/ 11 h 17"/>
                    <a:gd name="T8" fmla="*/ 0 w 221"/>
                    <a:gd name="T9" fmla="*/ 0 h 17"/>
                    <a:gd name="T10" fmla="*/ 0 60000 65536"/>
                    <a:gd name="T11" fmla="*/ 0 60000 65536"/>
                    <a:gd name="T12" fmla="*/ 0 60000 65536"/>
                    <a:gd name="T13" fmla="*/ 0 60000 65536"/>
                    <a:gd name="T14" fmla="*/ 0 60000 65536"/>
                    <a:gd name="T15" fmla="*/ 0 w 221"/>
                    <a:gd name="T16" fmla="*/ 0 h 17"/>
                    <a:gd name="T17" fmla="*/ 221 w 221"/>
                    <a:gd name="T18" fmla="*/ 17 h 17"/>
                  </a:gdLst>
                  <a:ahLst/>
                  <a:cxnLst>
                    <a:cxn ang="T10">
                      <a:pos x="T0" y="T1"/>
                    </a:cxn>
                    <a:cxn ang="T11">
                      <a:pos x="T2" y="T3"/>
                    </a:cxn>
                    <a:cxn ang="T12">
                      <a:pos x="T4" y="T5"/>
                    </a:cxn>
                    <a:cxn ang="T13">
                      <a:pos x="T6" y="T7"/>
                    </a:cxn>
                    <a:cxn ang="T14">
                      <a:pos x="T8" y="T9"/>
                    </a:cxn>
                  </a:cxnLst>
                  <a:rect l="T15" t="T16" r="T17" b="T18"/>
                  <a:pathLst>
                    <a:path w="221" h="17">
                      <a:moveTo>
                        <a:pt x="220" y="0"/>
                      </a:moveTo>
                      <a:lnTo>
                        <a:pt x="188" y="11"/>
                      </a:lnTo>
                      <a:lnTo>
                        <a:pt x="109" y="16"/>
                      </a:lnTo>
                      <a:lnTo>
                        <a:pt x="32" y="11"/>
                      </a:lnTo>
                      <a:lnTo>
                        <a:pt x="0" y="0"/>
                      </a:lnTo>
                    </a:path>
                  </a:pathLst>
                </a:custGeom>
                <a:solidFill>
                  <a:srgbClr val="00AE00"/>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grpSp>
          <p:sp>
            <p:nvSpPr>
              <p:cNvPr id="480" name="Freeform 360"/>
              <p:cNvSpPr>
                <a:spLocks noChangeAspect="1"/>
              </p:cNvSpPr>
              <p:nvPr/>
            </p:nvSpPr>
            <p:spPr bwMode="auto">
              <a:xfrm>
                <a:off x="928" y="3447"/>
                <a:ext cx="17" cy="17"/>
              </a:xfrm>
              <a:custGeom>
                <a:avLst/>
                <a:gdLst>
                  <a:gd name="T0" fmla="*/ 0 w 17"/>
                  <a:gd name="T1" fmla="*/ 0 h 17"/>
                  <a:gd name="T2" fmla="*/ 16 w 17"/>
                  <a:gd name="T3" fmla="*/ 10 h 17"/>
                  <a:gd name="T4" fmla="*/ 16 w 17"/>
                  <a:gd name="T5" fmla="*/ 13 h 17"/>
                  <a:gd name="T6" fmla="*/ 16 w 17"/>
                  <a:gd name="T7" fmla="*/ 16 h 17"/>
                  <a:gd name="T8" fmla="*/ 0 w 17"/>
                  <a:gd name="T9" fmla="*/ 10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16" y="10"/>
                    </a:lnTo>
                    <a:lnTo>
                      <a:pt x="16" y="13"/>
                    </a:lnTo>
                    <a:lnTo>
                      <a:pt x="16" y="16"/>
                    </a:lnTo>
                    <a:lnTo>
                      <a:pt x="0" y="10"/>
                    </a:lnTo>
                    <a:lnTo>
                      <a:pt x="0" y="0"/>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81" name="Freeform 361"/>
              <p:cNvSpPr>
                <a:spLocks noChangeAspect="1"/>
              </p:cNvSpPr>
              <p:nvPr/>
            </p:nvSpPr>
            <p:spPr bwMode="auto">
              <a:xfrm>
                <a:off x="928" y="3491"/>
                <a:ext cx="17" cy="17"/>
              </a:xfrm>
              <a:custGeom>
                <a:avLst/>
                <a:gdLst>
                  <a:gd name="T0" fmla="*/ 4 w 17"/>
                  <a:gd name="T1" fmla="*/ 16 h 17"/>
                  <a:gd name="T2" fmla="*/ 0 w 17"/>
                  <a:gd name="T3" fmla="*/ 2 h 17"/>
                  <a:gd name="T4" fmla="*/ 4 w 17"/>
                  <a:gd name="T5" fmla="*/ 0 h 17"/>
                  <a:gd name="T6" fmla="*/ 16 w 17"/>
                  <a:gd name="T7" fmla="*/ 6 h 17"/>
                  <a:gd name="T8" fmla="*/ 4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4" y="16"/>
                    </a:moveTo>
                    <a:lnTo>
                      <a:pt x="0" y="2"/>
                    </a:lnTo>
                    <a:lnTo>
                      <a:pt x="4" y="0"/>
                    </a:lnTo>
                    <a:lnTo>
                      <a:pt x="16" y="6"/>
                    </a:lnTo>
                    <a:lnTo>
                      <a:pt x="4" y="16"/>
                    </a:lnTo>
                  </a:path>
                </a:pathLst>
              </a:custGeom>
              <a:solidFill>
                <a:srgbClr val="000000"/>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82" name="Freeform 362"/>
              <p:cNvSpPr>
                <a:spLocks noChangeAspect="1"/>
              </p:cNvSpPr>
              <p:nvPr/>
            </p:nvSpPr>
            <p:spPr bwMode="auto">
              <a:xfrm>
                <a:off x="839" y="3716"/>
                <a:ext cx="50" cy="21"/>
              </a:xfrm>
              <a:custGeom>
                <a:avLst/>
                <a:gdLst>
                  <a:gd name="T0" fmla="*/ 0 w 50"/>
                  <a:gd name="T1" fmla="*/ 20 h 21"/>
                  <a:gd name="T2" fmla="*/ 12 w 50"/>
                  <a:gd name="T3" fmla="*/ 14 h 21"/>
                  <a:gd name="T4" fmla="*/ 23 w 50"/>
                  <a:gd name="T5" fmla="*/ 14 h 21"/>
                  <a:gd name="T6" fmla="*/ 31 w 50"/>
                  <a:gd name="T7" fmla="*/ 13 h 21"/>
                  <a:gd name="T8" fmla="*/ 38 w 50"/>
                  <a:gd name="T9" fmla="*/ 11 h 21"/>
                  <a:gd name="T10" fmla="*/ 42 w 50"/>
                  <a:gd name="T11" fmla="*/ 9 h 21"/>
                  <a:gd name="T12" fmla="*/ 44 w 50"/>
                  <a:gd name="T13" fmla="*/ 5 h 21"/>
                  <a:gd name="T14" fmla="*/ 44 w 50"/>
                  <a:gd name="T15" fmla="*/ 0 h 21"/>
                  <a:gd name="T16" fmla="*/ 49 w 50"/>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
                  <a:gd name="T28" fmla="*/ 0 h 21"/>
                  <a:gd name="T29" fmla="*/ 50 w 50"/>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 h="21">
                    <a:moveTo>
                      <a:pt x="0" y="20"/>
                    </a:moveTo>
                    <a:lnTo>
                      <a:pt x="12" y="14"/>
                    </a:lnTo>
                    <a:lnTo>
                      <a:pt x="23" y="14"/>
                    </a:lnTo>
                    <a:lnTo>
                      <a:pt x="31" y="13"/>
                    </a:lnTo>
                    <a:lnTo>
                      <a:pt x="38" y="11"/>
                    </a:lnTo>
                    <a:lnTo>
                      <a:pt x="42" y="9"/>
                    </a:lnTo>
                    <a:lnTo>
                      <a:pt x="44" y="5"/>
                    </a:lnTo>
                    <a:lnTo>
                      <a:pt x="44" y="0"/>
                    </a:lnTo>
                    <a:lnTo>
                      <a:pt x="49"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83" name="Freeform 363"/>
              <p:cNvSpPr>
                <a:spLocks noChangeAspect="1"/>
              </p:cNvSpPr>
              <p:nvPr/>
            </p:nvSpPr>
            <p:spPr bwMode="auto">
              <a:xfrm>
                <a:off x="829" y="3717"/>
                <a:ext cx="17" cy="20"/>
              </a:xfrm>
              <a:custGeom>
                <a:avLst/>
                <a:gdLst>
                  <a:gd name="T0" fmla="*/ 16 w 17"/>
                  <a:gd name="T1" fmla="*/ 0 h 20"/>
                  <a:gd name="T2" fmla="*/ 14 w 17"/>
                  <a:gd name="T3" fmla="*/ 4 h 20"/>
                  <a:gd name="T4" fmla="*/ 14 w 17"/>
                  <a:gd name="T5" fmla="*/ 17 h 20"/>
                  <a:gd name="T6" fmla="*/ 11 w 17"/>
                  <a:gd name="T7" fmla="*/ 19 h 20"/>
                  <a:gd name="T8" fmla="*/ 8 w 17"/>
                  <a:gd name="T9" fmla="*/ 19 h 20"/>
                  <a:gd name="T10" fmla="*/ 4 w 17"/>
                  <a:gd name="T11" fmla="*/ 18 h 20"/>
                  <a:gd name="T12" fmla="*/ 2 w 17"/>
                  <a:gd name="T13" fmla="*/ 15 h 20"/>
                  <a:gd name="T14" fmla="*/ 0 w 17"/>
                  <a:gd name="T15" fmla="*/ 6 h 20"/>
                  <a:gd name="T16" fmla="*/ 0 w 17"/>
                  <a:gd name="T17" fmla="*/ 4 h 20"/>
                  <a:gd name="T18" fmla="*/ 1 w 17"/>
                  <a:gd name="T19" fmla="*/ 1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0"/>
                  <a:gd name="T32" fmla="*/ 17 w 17"/>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0">
                    <a:moveTo>
                      <a:pt x="16" y="0"/>
                    </a:moveTo>
                    <a:lnTo>
                      <a:pt x="14" y="4"/>
                    </a:lnTo>
                    <a:lnTo>
                      <a:pt x="14" y="17"/>
                    </a:lnTo>
                    <a:lnTo>
                      <a:pt x="11" y="19"/>
                    </a:lnTo>
                    <a:lnTo>
                      <a:pt x="8" y="19"/>
                    </a:lnTo>
                    <a:lnTo>
                      <a:pt x="4" y="18"/>
                    </a:lnTo>
                    <a:lnTo>
                      <a:pt x="2" y="15"/>
                    </a:lnTo>
                    <a:lnTo>
                      <a:pt x="0" y="6"/>
                    </a:lnTo>
                    <a:lnTo>
                      <a:pt x="0" y="4"/>
                    </a:lnTo>
                    <a:lnTo>
                      <a:pt x="1" y="1"/>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84" name="Freeform 364"/>
              <p:cNvSpPr>
                <a:spLocks noChangeAspect="1"/>
              </p:cNvSpPr>
              <p:nvPr/>
            </p:nvSpPr>
            <p:spPr bwMode="auto">
              <a:xfrm>
                <a:off x="844" y="3717"/>
                <a:ext cx="17" cy="17"/>
              </a:xfrm>
              <a:custGeom>
                <a:avLst/>
                <a:gdLst>
                  <a:gd name="T0" fmla="*/ 16 w 17"/>
                  <a:gd name="T1" fmla="*/ 16 h 17"/>
                  <a:gd name="T2" fmla="*/ 10 w 17"/>
                  <a:gd name="T3" fmla="*/ 8 h 17"/>
                  <a:gd name="T4" fmla="*/ 5 w 17"/>
                  <a:gd name="T5" fmla="*/ 2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16"/>
                    </a:moveTo>
                    <a:lnTo>
                      <a:pt x="10" y="8"/>
                    </a:lnTo>
                    <a:lnTo>
                      <a:pt x="5" y="2"/>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85" name="Line 365"/>
              <p:cNvSpPr>
                <a:spLocks noChangeAspect="1" noChangeShapeType="1"/>
              </p:cNvSpPr>
              <p:nvPr/>
            </p:nvSpPr>
            <p:spPr bwMode="auto">
              <a:xfrm flipV="1">
                <a:off x="878" y="3731"/>
                <a:ext cx="9"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86" name="Oval 366"/>
              <p:cNvSpPr>
                <a:spLocks noChangeAspect="1" noChangeArrowheads="1"/>
              </p:cNvSpPr>
              <p:nvPr/>
            </p:nvSpPr>
            <p:spPr bwMode="auto">
              <a:xfrm>
                <a:off x="767" y="3426"/>
                <a:ext cx="98" cy="89"/>
              </a:xfrm>
              <a:prstGeom prst="ellipse">
                <a:avLst/>
              </a:pr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87" name="Oval 367"/>
              <p:cNvSpPr>
                <a:spLocks noChangeAspect="1" noChangeArrowheads="1"/>
              </p:cNvSpPr>
              <p:nvPr/>
            </p:nvSpPr>
            <p:spPr bwMode="auto">
              <a:xfrm>
                <a:off x="770" y="3430"/>
                <a:ext cx="92" cy="82"/>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88" name="Oval 368"/>
              <p:cNvSpPr>
                <a:spLocks noChangeAspect="1" noChangeArrowheads="1"/>
              </p:cNvSpPr>
              <p:nvPr/>
            </p:nvSpPr>
            <p:spPr bwMode="auto">
              <a:xfrm>
                <a:off x="771" y="3429"/>
                <a:ext cx="88" cy="80"/>
              </a:xfrm>
              <a:prstGeom prst="ellipse">
                <a:avLst/>
              </a:pr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89" name="Oval 369"/>
              <p:cNvSpPr>
                <a:spLocks noChangeAspect="1" noChangeArrowheads="1"/>
              </p:cNvSpPr>
              <p:nvPr/>
            </p:nvSpPr>
            <p:spPr bwMode="auto">
              <a:xfrm>
                <a:off x="772" y="3432"/>
                <a:ext cx="83" cy="7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90" name="Freeform 370"/>
              <p:cNvSpPr>
                <a:spLocks noChangeAspect="1"/>
              </p:cNvSpPr>
              <p:nvPr/>
            </p:nvSpPr>
            <p:spPr bwMode="auto">
              <a:xfrm>
                <a:off x="766" y="3439"/>
                <a:ext cx="20" cy="21"/>
              </a:xfrm>
              <a:custGeom>
                <a:avLst/>
                <a:gdLst>
                  <a:gd name="T0" fmla="*/ 12 w 20"/>
                  <a:gd name="T1" fmla="*/ 0 h 21"/>
                  <a:gd name="T2" fmla="*/ 5 w 20"/>
                  <a:gd name="T3" fmla="*/ 10 h 21"/>
                  <a:gd name="T4" fmla="*/ 0 w 20"/>
                  <a:gd name="T5" fmla="*/ 19 h 21"/>
                  <a:gd name="T6" fmla="*/ 6 w 20"/>
                  <a:gd name="T7" fmla="*/ 20 h 21"/>
                  <a:gd name="T8" fmla="*/ 10 w 20"/>
                  <a:gd name="T9" fmla="*/ 9 h 21"/>
                  <a:gd name="T10" fmla="*/ 19 w 20"/>
                  <a:gd name="T11" fmla="*/ 0 h 21"/>
                  <a:gd name="T12" fmla="*/ 16 w 20"/>
                  <a:gd name="T13" fmla="*/ 0 h 21"/>
                  <a:gd name="T14" fmla="*/ 12 w 20"/>
                  <a:gd name="T15" fmla="*/ 0 h 21"/>
                  <a:gd name="T16" fmla="*/ 0 60000 65536"/>
                  <a:gd name="T17" fmla="*/ 0 60000 65536"/>
                  <a:gd name="T18" fmla="*/ 0 60000 65536"/>
                  <a:gd name="T19" fmla="*/ 0 60000 65536"/>
                  <a:gd name="T20" fmla="*/ 0 60000 65536"/>
                  <a:gd name="T21" fmla="*/ 0 60000 65536"/>
                  <a:gd name="T22" fmla="*/ 0 60000 65536"/>
                  <a:gd name="T23" fmla="*/ 0 60000 65536"/>
                  <a:gd name="T24" fmla="*/ 0 w 20"/>
                  <a:gd name="T25" fmla="*/ 0 h 21"/>
                  <a:gd name="T26" fmla="*/ 20 w 20"/>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 h="21">
                    <a:moveTo>
                      <a:pt x="12" y="0"/>
                    </a:moveTo>
                    <a:lnTo>
                      <a:pt x="5" y="10"/>
                    </a:lnTo>
                    <a:lnTo>
                      <a:pt x="0" y="19"/>
                    </a:lnTo>
                    <a:lnTo>
                      <a:pt x="6" y="20"/>
                    </a:lnTo>
                    <a:lnTo>
                      <a:pt x="10" y="9"/>
                    </a:lnTo>
                    <a:lnTo>
                      <a:pt x="19" y="0"/>
                    </a:lnTo>
                    <a:lnTo>
                      <a:pt x="16" y="0"/>
                    </a:lnTo>
                    <a:lnTo>
                      <a:pt x="12" y="0"/>
                    </a:lnTo>
                  </a:path>
                </a:pathLst>
              </a:custGeom>
              <a:solidFill>
                <a:srgbClr val="33333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91" name="Freeform 371"/>
              <p:cNvSpPr>
                <a:spLocks noChangeAspect="1"/>
              </p:cNvSpPr>
              <p:nvPr/>
            </p:nvSpPr>
            <p:spPr bwMode="auto">
              <a:xfrm>
                <a:off x="765" y="3436"/>
                <a:ext cx="20" cy="21"/>
              </a:xfrm>
              <a:custGeom>
                <a:avLst/>
                <a:gdLst>
                  <a:gd name="T0" fmla="*/ 19 w 20"/>
                  <a:gd name="T1" fmla="*/ 3 h 21"/>
                  <a:gd name="T2" fmla="*/ 18 w 20"/>
                  <a:gd name="T3" fmla="*/ 0 h 21"/>
                  <a:gd name="T4" fmla="*/ 12 w 20"/>
                  <a:gd name="T5" fmla="*/ 1 h 21"/>
                  <a:gd name="T6" fmla="*/ 5 w 20"/>
                  <a:gd name="T7" fmla="*/ 9 h 21"/>
                  <a:gd name="T8" fmla="*/ 0 w 20"/>
                  <a:gd name="T9" fmla="*/ 20 h 21"/>
                  <a:gd name="T10" fmla="*/ 0 w 20"/>
                  <a:gd name="T11" fmla="*/ 20 h 21"/>
                  <a:gd name="T12" fmla="*/ 6 w 20"/>
                  <a:gd name="T13" fmla="*/ 10 h 21"/>
                  <a:gd name="T14" fmla="*/ 13 w 20"/>
                  <a:gd name="T15" fmla="*/ 3 h 21"/>
                  <a:gd name="T16" fmla="*/ 19 w 20"/>
                  <a:gd name="T17" fmla="*/ 3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21"/>
                  <a:gd name="T29" fmla="*/ 20 w 20"/>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21">
                    <a:moveTo>
                      <a:pt x="19" y="3"/>
                    </a:moveTo>
                    <a:lnTo>
                      <a:pt x="18" y="0"/>
                    </a:lnTo>
                    <a:lnTo>
                      <a:pt x="12" y="1"/>
                    </a:lnTo>
                    <a:lnTo>
                      <a:pt x="5" y="9"/>
                    </a:lnTo>
                    <a:lnTo>
                      <a:pt x="0" y="20"/>
                    </a:lnTo>
                    <a:lnTo>
                      <a:pt x="6" y="10"/>
                    </a:lnTo>
                    <a:lnTo>
                      <a:pt x="13" y="3"/>
                    </a:lnTo>
                    <a:lnTo>
                      <a:pt x="19" y="3"/>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492" name="Oval 372"/>
              <p:cNvSpPr>
                <a:spLocks noChangeAspect="1" noChangeArrowheads="1"/>
              </p:cNvSpPr>
              <p:nvPr/>
            </p:nvSpPr>
            <p:spPr bwMode="auto">
              <a:xfrm>
                <a:off x="793" y="3443"/>
                <a:ext cx="21" cy="17"/>
              </a:xfrm>
              <a:prstGeom prst="ellipse">
                <a:avLst/>
              </a:prstGeom>
              <a:solidFill>
                <a:schemeClr val="folHlink"/>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93" name="Oval 373"/>
              <p:cNvSpPr>
                <a:spLocks noChangeAspect="1" noChangeArrowheads="1"/>
              </p:cNvSpPr>
              <p:nvPr/>
            </p:nvSpPr>
            <p:spPr bwMode="auto">
              <a:xfrm>
                <a:off x="793" y="3477"/>
                <a:ext cx="21" cy="19"/>
              </a:xfrm>
              <a:prstGeom prst="ellipse">
                <a:avLst/>
              </a:prstGeom>
              <a:solidFill>
                <a:schemeClr val="folHlink"/>
              </a:solidFill>
              <a:ln w="12700">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94" name="Line 374"/>
              <p:cNvSpPr>
                <a:spLocks noChangeAspect="1" noChangeShapeType="1"/>
              </p:cNvSpPr>
              <p:nvPr/>
            </p:nvSpPr>
            <p:spPr bwMode="auto">
              <a:xfrm>
                <a:off x="823" y="3458"/>
                <a:ext cx="3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95" name="Freeform 375"/>
              <p:cNvSpPr>
                <a:spLocks noChangeAspect="1"/>
              </p:cNvSpPr>
              <p:nvPr/>
            </p:nvSpPr>
            <p:spPr bwMode="auto">
              <a:xfrm>
                <a:off x="810" y="3483"/>
                <a:ext cx="47" cy="29"/>
              </a:xfrm>
              <a:custGeom>
                <a:avLst/>
                <a:gdLst>
                  <a:gd name="T0" fmla="*/ 46 w 47"/>
                  <a:gd name="T1" fmla="*/ 1 h 29"/>
                  <a:gd name="T2" fmla="*/ 14 w 47"/>
                  <a:gd name="T3" fmla="*/ 0 h 29"/>
                  <a:gd name="T4" fmla="*/ 6 w 47"/>
                  <a:gd name="T5" fmla="*/ 22 h 29"/>
                  <a:gd name="T6" fmla="*/ 4 w 47"/>
                  <a:gd name="T7" fmla="*/ 25 h 29"/>
                  <a:gd name="T8" fmla="*/ 0 w 47"/>
                  <a:gd name="T9" fmla="*/ 26 h 29"/>
                  <a:gd name="T10" fmla="*/ 0 w 47"/>
                  <a:gd name="T11" fmla="*/ 27 h 29"/>
                  <a:gd name="T12" fmla="*/ 0 w 47"/>
                  <a:gd name="T13" fmla="*/ 28 h 29"/>
                  <a:gd name="T14" fmla="*/ 0 60000 65536"/>
                  <a:gd name="T15" fmla="*/ 0 60000 65536"/>
                  <a:gd name="T16" fmla="*/ 0 60000 65536"/>
                  <a:gd name="T17" fmla="*/ 0 60000 65536"/>
                  <a:gd name="T18" fmla="*/ 0 60000 65536"/>
                  <a:gd name="T19" fmla="*/ 0 60000 65536"/>
                  <a:gd name="T20" fmla="*/ 0 60000 65536"/>
                  <a:gd name="T21" fmla="*/ 0 w 47"/>
                  <a:gd name="T22" fmla="*/ 0 h 29"/>
                  <a:gd name="T23" fmla="*/ 47 w 47"/>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9">
                    <a:moveTo>
                      <a:pt x="46" y="1"/>
                    </a:moveTo>
                    <a:lnTo>
                      <a:pt x="14" y="0"/>
                    </a:lnTo>
                    <a:lnTo>
                      <a:pt x="6" y="22"/>
                    </a:lnTo>
                    <a:lnTo>
                      <a:pt x="4" y="25"/>
                    </a:lnTo>
                    <a:lnTo>
                      <a:pt x="0" y="26"/>
                    </a:lnTo>
                    <a:lnTo>
                      <a:pt x="0" y="27"/>
                    </a:lnTo>
                    <a:lnTo>
                      <a:pt x="0" y="28"/>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496" name="Line 376"/>
              <p:cNvSpPr>
                <a:spLocks noChangeAspect="1" noChangeShapeType="1"/>
              </p:cNvSpPr>
              <p:nvPr/>
            </p:nvSpPr>
            <p:spPr bwMode="auto">
              <a:xfrm>
                <a:off x="821" y="3490"/>
                <a:ext cx="29"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97" name="Oval 377"/>
              <p:cNvSpPr>
                <a:spLocks noChangeAspect="1" noChangeArrowheads="1"/>
              </p:cNvSpPr>
              <p:nvPr/>
            </p:nvSpPr>
            <p:spPr bwMode="auto">
              <a:xfrm>
                <a:off x="818" y="3438"/>
                <a:ext cx="8" cy="8"/>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98" name="Oval 378"/>
              <p:cNvSpPr>
                <a:spLocks noChangeAspect="1" noChangeArrowheads="1"/>
              </p:cNvSpPr>
              <p:nvPr/>
            </p:nvSpPr>
            <p:spPr bwMode="auto">
              <a:xfrm>
                <a:off x="814" y="3507"/>
                <a:ext cx="8" cy="8"/>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499" name="AutoShape 379"/>
              <p:cNvSpPr>
                <a:spLocks noChangeAspect="1" noChangeArrowheads="1"/>
              </p:cNvSpPr>
              <p:nvPr/>
            </p:nvSpPr>
            <p:spPr bwMode="auto">
              <a:xfrm>
                <a:off x="838" y="3468"/>
                <a:ext cx="16" cy="16"/>
              </a:xfrm>
              <a:prstGeom prst="roundRect">
                <a:avLst>
                  <a:gd name="adj" fmla="val 28458"/>
                </a:avLst>
              </a:pr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500" name="AutoShape 380"/>
              <p:cNvSpPr>
                <a:spLocks noChangeAspect="1" noChangeArrowheads="1"/>
              </p:cNvSpPr>
              <p:nvPr/>
            </p:nvSpPr>
            <p:spPr bwMode="auto">
              <a:xfrm>
                <a:off x="842" y="3472"/>
                <a:ext cx="8" cy="8"/>
              </a:xfrm>
              <a:prstGeom prst="roundRect">
                <a:avLst>
                  <a:gd name="adj" fmla="val 24833"/>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501" name="Line 381"/>
              <p:cNvSpPr>
                <a:spLocks noChangeAspect="1" noChangeShapeType="1"/>
              </p:cNvSpPr>
              <p:nvPr/>
            </p:nvSpPr>
            <p:spPr bwMode="auto">
              <a:xfrm>
                <a:off x="822" y="3448"/>
                <a:ext cx="2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2" name="Line 382"/>
              <p:cNvSpPr>
                <a:spLocks noChangeAspect="1" noChangeShapeType="1"/>
              </p:cNvSpPr>
              <p:nvPr/>
            </p:nvSpPr>
            <p:spPr bwMode="auto">
              <a:xfrm>
                <a:off x="822" y="3446"/>
                <a:ext cx="2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3" name="Line 383"/>
              <p:cNvSpPr>
                <a:spLocks noChangeAspect="1" noChangeShapeType="1"/>
              </p:cNvSpPr>
              <p:nvPr/>
            </p:nvSpPr>
            <p:spPr bwMode="auto">
              <a:xfrm>
                <a:off x="821" y="3445"/>
                <a:ext cx="2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4" name="Line 384"/>
              <p:cNvSpPr>
                <a:spLocks noChangeAspect="1" noChangeShapeType="1"/>
              </p:cNvSpPr>
              <p:nvPr/>
            </p:nvSpPr>
            <p:spPr bwMode="auto">
              <a:xfrm>
                <a:off x="821" y="3441"/>
                <a:ext cx="2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5" name="Line 385"/>
              <p:cNvSpPr>
                <a:spLocks noChangeAspect="1" noChangeShapeType="1"/>
              </p:cNvSpPr>
              <p:nvPr/>
            </p:nvSpPr>
            <p:spPr bwMode="auto">
              <a:xfrm>
                <a:off x="821" y="3438"/>
                <a:ext cx="2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6" name="Line 386"/>
              <p:cNvSpPr>
                <a:spLocks noChangeAspect="1" noChangeShapeType="1"/>
              </p:cNvSpPr>
              <p:nvPr/>
            </p:nvSpPr>
            <p:spPr bwMode="auto">
              <a:xfrm>
                <a:off x="819" y="3436"/>
                <a:ext cx="2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7" name="Line 387"/>
              <p:cNvSpPr>
                <a:spLocks noChangeAspect="1" noChangeShapeType="1"/>
              </p:cNvSpPr>
              <p:nvPr/>
            </p:nvSpPr>
            <p:spPr bwMode="auto">
              <a:xfrm>
                <a:off x="821" y="3434"/>
                <a:ext cx="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8" name="Line 388"/>
              <p:cNvSpPr>
                <a:spLocks noChangeAspect="1" noChangeShapeType="1"/>
              </p:cNvSpPr>
              <p:nvPr/>
            </p:nvSpPr>
            <p:spPr bwMode="auto">
              <a:xfrm>
                <a:off x="818" y="3433"/>
                <a:ext cx="1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09" name="Line 389"/>
              <p:cNvSpPr>
                <a:spLocks noChangeAspect="1" noChangeShapeType="1"/>
              </p:cNvSpPr>
              <p:nvPr/>
            </p:nvSpPr>
            <p:spPr bwMode="auto">
              <a:xfrm>
                <a:off x="822" y="3443"/>
                <a:ext cx="2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0" name="Line 390"/>
              <p:cNvSpPr>
                <a:spLocks noChangeAspect="1" noChangeShapeType="1"/>
              </p:cNvSpPr>
              <p:nvPr/>
            </p:nvSpPr>
            <p:spPr bwMode="auto">
              <a:xfrm>
                <a:off x="821" y="3491"/>
                <a:ext cx="28"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1" name="Line 391"/>
              <p:cNvSpPr>
                <a:spLocks noChangeAspect="1" noChangeShapeType="1"/>
              </p:cNvSpPr>
              <p:nvPr/>
            </p:nvSpPr>
            <p:spPr bwMode="auto">
              <a:xfrm>
                <a:off x="821" y="3494"/>
                <a:ext cx="27"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2" name="Line 392"/>
              <p:cNvSpPr>
                <a:spLocks noChangeAspect="1" noChangeShapeType="1"/>
              </p:cNvSpPr>
              <p:nvPr/>
            </p:nvSpPr>
            <p:spPr bwMode="auto">
              <a:xfrm>
                <a:off x="820" y="3497"/>
                <a:ext cx="27"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3" name="Line 393"/>
              <p:cNvSpPr>
                <a:spLocks noChangeAspect="1" noChangeShapeType="1"/>
              </p:cNvSpPr>
              <p:nvPr/>
            </p:nvSpPr>
            <p:spPr bwMode="auto">
              <a:xfrm>
                <a:off x="818" y="3500"/>
                <a:ext cx="24"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4" name="Line 394"/>
              <p:cNvSpPr>
                <a:spLocks noChangeAspect="1" noChangeShapeType="1"/>
              </p:cNvSpPr>
              <p:nvPr/>
            </p:nvSpPr>
            <p:spPr bwMode="auto">
              <a:xfrm>
                <a:off x="819" y="3502"/>
                <a:ext cx="19"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5" name="Line 395"/>
              <p:cNvSpPr>
                <a:spLocks noChangeAspect="1" noChangeShapeType="1"/>
              </p:cNvSpPr>
              <p:nvPr/>
            </p:nvSpPr>
            <p:spPr bwMode="auto">
              <a:xfrm>
                <a:off x="819" y="3505"/>
                <a:ext cx="1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6" name="Line 396"/>
              <p:cNvSpPr>
                <a:spLocks noChangeAspect="1" noChangeShapeType="1"/>
              </p:cNvSpPr>
              <p:nvPr/>
            </p:nvSpPr>
            <p:spPr bwMode="auto">
              <a:xfrm>
                <a:off x="818" y="3507"/>
                <a:ext cx="1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7" name="Line 397"/>
              <p:cNvSpPr>
                <a:spLocks noChangeAspect="1" noChangeShapeType="1"/>
              </p:cNvSpPr>
              <p:nvPr/>
            </p:nvSpPr>
            <p:spPr bwMode="auto">
              <a:xfrm>
                <a:off x="815" y="3509"/>
                <a:ext cx="1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8" name="Line 398"/>
              <p:cNvSpPr>
                <a:spLocks noChangeAspect="1" noChangeShapeType="1"/>
              </p:cNvSpPr>
              <p:nvPr/>
            </p:nvSpPr>
            <p:spPr bwMode="auto">
              <a:xfrm>
                <a:off x="820" y="3500"/>
                <a:ext cx="1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19" name="Freeform 399"/>
              <p:cNvSpPr>
                <a:spLocks noChangeAspect="1"/>
              </p:cNvSpPr>
              <p:nvPr/>
            </p:nvSpPr>
            <p:spPr bwMode="auto">
              <a:xfrm>
                <a:off x="839" y="3482"/>
                <a:ext cx="25" cy="22"/>
              </a:xfrm>
              <a:custGeom>
                <a:avLst/>
                <a:gdLst>
                  <a:gd name="T0" fmla="*/ 0 w 25"/>
                  <a:gd name="T1" fmla="*/ 19 h 22"/>
                  <a:gd name="T2" fmla="*/ 7 w 25"/>
                  <a:gd name="T3" fmla="*/ 13 h 22"/>
                  <a:gd name="T4" fmla="*/ 11 w 25"/>
                  <a:gd name="T5" fmla="*/ 6 h 22"/>
                  <a:gd name="T6" fmla="*/ 14 w 25"/>
                  <a:gd name="T7" fmla="*/ 0 h 22"/>
                  <a:gd name="T8" fmla="*/ 24 w 25"/>
                  <a:gd name="T9" fmla="*/ 0 h 22"/>
                  <a:gd name="T10" fmla="*/ 20 w 25"/>
                  <a:gd name="T11" fmla="*/ 6 h 22"/>
                  <a:gd name="T12" fmla="*/ 16 w 25"/>
                  <a:gd name="T13" fmla="*/ 11 h 22"/>
                  <a:gd name="T14" fmla="*/ 6 w 25"/>
                  <a:gd name="T15" fmla="*/ 21 h 22"/>
                  <a:gd name="T16" fmla="*/ 0 w 25"/>
                  <a:gd name="T17" fmla="*/ 19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2"/>
                  <a:gd name="T29" fmla="*/ 25 w 25"/>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2">
                    <a:moveTo>
                      <a:pt x="0" y="19"/>
                    </a:moveTo>
                    <a:lnTo>
                      <a:pt x="7" y="13"/>
                    </a:lnTo>
                    <a:lnTo>
                      <a:pt x="11" y="6"/>
                    </a:lnTo>
                    <a:lnTo>
                      <a:pt x="14" y="0"/>
                    </a:lnTo>
                    <a:lnTo>
                      <a:pt x="24" y="0"/>
                    </a:lnTo>
                    <a:lnTo>
                      <a:pt x="20" y="6"/>
                    </a:lnTo>
                    <a:lnTo>
                      <a:pt x="16" y="11"/>
                    </a:lnTo>
                    <a:lnTo>
                      <a:pt x="6" y="21"/>
                    </a:lnTo>
                    <a:lnTo>
                      <a:pt x="0" y="19"/>
                    </a:lnTo>
                  </a:path>
                </a:pathLst>
              </a:custGeom>
              <a:solidFill>
                <a:srgbClr val="B3B3B3"/>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20" name="Freeform 400"/>
              <p:cNvSpPr>
                <a:spLocks noChangeAspect="1"/>
              </p:cNvSpPr>
              <p:nvPr/>
            </p:nvSpPr>
            <p:spPr bwMode="auto">
              <a:xfrm>
                <a:off x="843" y="3484"/>
                <a:ext cx="21" cy="21"/>
              </a:xfrm>
              <a:custGeom>
                <a:avLst/>
                <a:gdLst>
                  <a:gd name="T0" fmla="*/ 0 w 21"/>
                  <a:gd name="T1" fmla="*/ 18 h 21"/>
                  <a:gd name="T2" fmla="*/ 7 w 21"/>
                  <a:gd name="T3" fmla="*/ 12 h 21"/>
                  <a:gd name="T4" fmla="*/ 11 w 21"/>
                  <a:gd name="T5" fmla="*/ 5 h 21"/>
                  <a:gd name="T6" fmla="*/ 14 w 21"/>
                  <a:gd name="T7" fmla="*/ 0 h 21"/>
                  <a:gd name="T8" fmla="*/ 20 w 21"/>
                  <a:gd name="T9" fmla="*/ 0 h 21"/>
                  <a:gd name="T10" fmla="*/ 14 w 21"/>
                  <a:gd name="T11" fmla="*/ 10 h 21"/>
                  <a:gd name="T12" fmla="*/ 10 w 21"/>
                  <a:gd name="T13" fmla="*/ 16 h 21"/>
                  <a:gd name="T14" fmla="*/ 5 w 21"/>
                  <a:gd name="T15" fmla="*/ 20 h 21"/>
                  <a:gd name="T16" fmla="*/ 0 w 21"/>
                  <a:gd name="T17" fmla="*/ 18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21"/>
                  <a:gd name="T29" fmla="*/ 21 w 21"/>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21">
                    <a:moveTo>
                      <a:pt x="0" y="18"/>
                    </a:moveTo>
                    <a:lnTo>
                      <a:pt x="7" y="12"/>
                    </a:lnTo>
                    <a:lnTo>
                      <a:pt x="11" y="5"/>
                    </a:lnTo>
                    <a:lnTo>
                      <a:pt x="14" y="0"/>
                    </a:lnTo>
                    <a:lnTo>
                      <a:pt x="20" y="0"/>
                    </a:lnTo>
                    <a:lnTo>
                      <a:pt x="14" y="10"/>
                    </a:lnTo>
                    <a:lnTo>
                      <a:pt x="10" y="16"/>
                    </a:lnTo>
                    <a:lnTo>
                      <a:pt x="5" y="20"/>
                    </a:lnTo>
                    <a:lnTo>
                      <a:pt x="0" y="18"/>
                    </a:lnTo>
                  </a:path>
                </a:pathLst>
              </a:custGeom>
              <a:solidFill>
                <a:srgbClr val="666666"/>
              </a:solidFill>
              <a:ln w="12700" cap="rnd" cmpd="sng">
                <a:solidFill>
                  <a:srgbClr val="000000"/>
                </a:solidFill>
                <a:prstDash val="solid"/>
                <a:round/>
                <a:headEnd/>
                <a:tailEnd/>
              </a:ln>
            </p:spPr>
            <p:txBody>
              <a:bodyPr/>
              <a:lstStyle/>
              <a:p>
                <a:endParaRPr lang="ru-RU" dirty="0">
                  <a:solidFill>
                    <a:srgbClr val="475B79"/>
                  </a:solidFill>
                </a:endParaRPr>
              </a:p>
            </p:txBody>
          </p:sp>
          <p:sp>
            <p:nvSpPr>
              <p:cNvPr id="521" name="Line 401"/>
              <p:cNvSpPr>
                <a:spLocks noChangeAspect="1" noChangeShapeType="1"/>
              </p:cNvSpPr>
              <p:nvPr/>
            </p:nvSpPr>
            <p:spPr bwMode="auto">
              <a:xfrm>
                <a:off x="818" y="3430"/>
                <a:ext cx="8" cy="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2" name="Line 402"/>
              <p:cNvSpPr>
                <a:spLocks noChangeAspect="1" noChangeShapeType="1"/>
              </p:cNvSpPr>
              <p:nvPr/>
            </p:nvSpPr>
            <p:spPr bwMode="auto">
              <a:xfrm flipV="1">
                <a:off x="800" y="3444"/>
                <a:ext cx="9" cy="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3" name="Line 403"/>
              <p:cNvSpPr>
                <a:spLocks noChangeAspect="1" noChangeShapeType="1"/>
              </p:cNvSpPr>
              <p:nvPr/>
            </p:nvSpPr>
            <p:spPr bwMode="auto">
              <a:xfrm flipV="1">
                <a:off x="800" y="3480"/>
                <a:ext cx="9" cy="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4" name="Line 404"/>
              <p:cNvSpPr>
                <a:spLocks noChangeAspect="1" noChangeShapeType="1"/>
              </p:cNvSpPr>
              <p:nvPr/>
            </p:nvSpPr>
            <p:spPr bwMode="auto">
              <a:xfrm>
                <a:off x="823" y="3487"/>
                <a:ext cx="26" cy="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5" name="Line 405"/>
              <p:cNvSpPr>
                <a:spLocks noChangeAspect="1" noChangeShapeType="1"/>
              </p:cNvSpPr>
              <p:nvPr/>
            </p:nvSpPr>
            <p:spPr bwMode="auto">
              <a:xfrm>
                <a:off x="824" y="3451"/>
                <a:ext cx="2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6" name="Line 406"/>
              <p:cNvSpPr>
                <a:spLocks noChangeAspect="1" noChangeShapeType="1"/>
              </p:cNvSpPr>
              <p:nvPr/>
            </p:nvSpPr>
            <p:spPr bwMode="auto">
              <a:xfrm>
                <a:off x="826" y="3455"/>
                <a:ext cx="2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7" name="Line 407"/>
              <p:cNvSpPr>
                <a:spLocks noChangeAspect="1" noChangeShapeType="1"/>
              </p:cNvSpPr>
              <p:nvPr/>
            </p:nvSpPr>
            <p:spPr bwMode="auto">
              <a:xfrm>
                <a:off x="826" y="3455"/>
                <a:ext cx="29"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528" name="Oval 408"/>
              <p:cNvSpPr>
                <a:spLocks noChangeAspect="1" noChangeArrowheads="1"/>
              </p:cNvSpPr>
              <p:nvPr/>
            </p:nvSpPr>
            <p:spPr bwMode="auto">
              <a:xfrm>
                <a:off x="789" y="3440"/>
                <a:ext cx="26" cy="24"/>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sp>
            <p:nvSpPr>
              <p:cNvPr id="529" name="Oval 409"/>
              <p:cNvSpPr>
                <a:spLocks noChangeAspect="1" noChangeArrowheads="1"/>
              </p:cNvSpPr>
              <p:nvPr/>
            </p:nvSpPr>
            <p:spPr bwMode="auto">
              <a:xfrm>
                <a:off x="789" y="3477"/>
                <a:ext cx="26" cy="2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solidFill>
                    <a:srgbClr val="475B79"/>
                  </a:solidFill>
                </a:endParaRPr>
              </a:p>
            </p:txBody>
          </p:sp>
        </p:grpSp>
        <p:grpSp>
          <p:nvGrpSpPr>
            <p:cNvPr id="18" name="Group 410"/>
            <p:cNvGrpSpPr>
              <a:grpSpLocks noChangeAspect="1"/>
            </p:cNvGrpSpPr>
            <p:nvPr/>
          </p:nvGrpSpPr>
          <p:grpSpPr bwMode="auto">
            <a:xfrm>
              <a:off x="2256" y="3661"/>
              <a:ext cx="261" cy="233"/>
              <a:chOff x="517" y="3306"/>
              <a:chExt cx="182" cy="281"/>
            </a:xfrm>
          </p:grpSpPr>
          <p:sp>
            <p:nvSpPr>
              <p:cNvPr id="58" name="Freeform 411"/>
              <p:cNvSpPr>
                <a:spLocks noChangeAspect="1"/>
              </p:cNvSpPr>
              <p:nvPr/>
            </p:nvSpPr>
            <p:spPr bwMode="auto">
              <a:xfrm>
                <a:off x="519" y="3491"/>
                <a:ext cx="17" cy="17"/>
              </a:xfrm>
              <a:custGeom>
                <a:avLst/>
                <a:gdLst>
                  <a:gd name="T0" fmla="*/ 13 w 17"/>
                  <a:gd name="T1" fmla="*/ 0 h 17"/>
                  <a:gd name="T2" fmla="*/ 7 w 17"/>
                  <a:gd name="T3" fmla="*/ 0 h 17"/>
                  <a:gd name="T4" fmla="*/ 1 w 17"/>
                  <a:gd name="T5" fmla="*/ 2 h 17"/>
                  <a:gd name="T6" fmla="*/ 0 w 17"/>
                  <a:gd name="T7" fmla="*/ 10 h 17"/>
                  <a:gd name="T8" fmla="*/ 2 w 17"/>
                  <a:gd name="T9" fmla="*/ 15 h 17"/>
                  <a:gd name="T10" fmla="*/ 7 w 17"/>
                  <a:gd name="T11" fmla="*/ 16 h 17"/>
                  <a:gd name="T12" fmla="*/ 16 w 17"/>
                  <a:gd name="T13" fmla="*/ 2 h 17"/>
                  <a:gd name="T14" fmla="*/ 13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3" y="0"/>
                    </a:moveTo>
                    <a:lnTo>
                      <a:pt x="7" y="0"/>
                    </a:lnTo>
                    <a:lnTo>
                      <a:pt x="1" y="2"/>
                    </a:lnTo>
                    <a:lnTo>
                      <a:pt x="0" y="10"/>
                    </a:lnTo>
                    <a:lnTo>
                      <a:pt x="2" y="15"/>
                    </a:lnTo>
                    <a:lnTo>
                      <a:pt x="7" y="16"/>
                    </a:lnTo>
                    <a:lnTo>
                      <a:pt x="16" y="2"/>
                    </a:lnTo>
                    <a:lnTo>
                      <a:pt x="13" y="0"/>
                    </a:lnTo>
                  </a:path>
                </a:pathLst>
              </a:custGeom>
              <a:solidFill>
                <a:srgbClr val="B5B5B5"/>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59" name="Freeform 412"/>
              <p:cNvSpPr>
                <a:spLocks noChangeAspect="1"/>
              </p:cNvSpPr>
              <p:nvPr/>
            </p:nvSpPr>
            <p:spPr bwMode="auto">
              <a:xfrm>
                <a:off x="518" y="3491"/>
                <a:ext cx="17" cy="17"/>
              </a:xfrm>
              <a:custGeom>
                <a:avLst/>
                <a:gdLst>
                  <a:gd name="T0" fmla="*/ 13 w 17"/>
                  <a:gd name="T1" fmla="*/ 1 h 17"/>
                  <a:gd name="T2" fmla="*/ 7 w 17"/>
                  <a:gd name="T3" fmla="*/ 0 h 17"/>
                  <a:gd name="T4" fmla="*/ 1 w 17"/>
                  <a:gd name="T5" fmla="*/ 2 h 17"/>
                  <a:gd name="T6" fmla="*/ 0 w 17"/>
                  <a:gd name="T7" fmla="*/ 10 h 17"/>
                  <a:gd name="T8" fmla="*/ 2 w 17"/>
                  <a:gd name="T9" fmla="*/ 15 h 17"/>
                  <a:gd name="T10" fmla="*/ 7 w 17"/>
                  <a:gd name="T11" fmla="*/ 16 h 17"/>
                  <a:gd name="T12" fmla="*/ 16 w 17"/>
                  <a:gd name="T13" fmla="*/ 2 h 17"/>
                  <a:gd name="T14" fmla="*/ 13 w 17"/>
                  <a:gd name="T15" fmla="*/ 1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3" y="1"/>
                    </a:moveTo>
                    <a:lnTo>
                      <a:pt x="7" y="0"/>
                    </a:lnTo>
                    <a:lnTo>
                      <a:pt x="1" y="2"/>
                    </a:lnTo>
                    <a:lnTo>
                      <a:pt x="0" y="10"/>
                    </a:lnTo>
                    <a:lnTo>
                      <a:pt x="2" y="15"/>
                    </a:lnTo>
                    <a:lnTo>
                      <a:pt x="7" y="16"/>
                    </a:lnTo>
                    <a:lnTo>
                      <a:pt x="16" y="2"/>
                    </a:lnTo>
                    <a:lnTo>
                      <a:pt x="13" y="1"/>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0" name="Freeform 413"/>
              <p:cNvSpPr>
                <a:spLocks noChangeAspect="1"/>
              </p:cNvSpPr>
              <p:nvPr/>
            </p:nvSpPr>
            <p:spPr bwMode="auto">
              <a:xfrm>
                <a:off x="520" y="3493"/>
                <a:ext cx="17" cy="17"/>
              </a:xfrm>
              <a:custGeom>
                <a:avLst/>
                <a:gdLst>
                  <a:gd name="T0" fmla="*/ 11 w 17"/>
                  <a:gd name="T1" fmla="*/ 0 h 17"/>
                  <a:gd name="T2" fmla="*/ 8 w 17"/>
                  <a:gd name="T3" fmla="*/ 0 h 17"/>
                  <a:gd name="T4" fmla="*/ 2 w 17"/>
                  <a:gd name="T5" fmla="*/ 1 h 17"/>
                  <a:gd name="T6" fmla="*/ 0 w 17"/>
                  <a:gd name="T7" fmla="*/ 10 h 17"/>
                  <a:gd name="T8" fmla="*/ 3 w 17"/>
                  <a:gd name="T9" fmla="*/ 15 h 17"/>
                  <a:gd name="T10" fmla="*/ 8 w 17"/>
                  <a:gd name="T11" fmla="*/ 16 h 17"/>
                  <a:gd name="T12" fmla="*/ 16 w 17"/>
                  <a:gd name="T13" fmla="*/ 2 h 17"/>
                  <a:gd name="T14" fmla="*/ 11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1" y="0"/>
                    </a:moveTo>
                    <a:lnTo>
                      <a:pt x="8" y="0"/>
                    </a:lnTo>
                    <a:lnTo>
                      <a:pt x="2" y="1"/>
                    </a:lnTo>
                    <a:lnTo>
                      <a:pt x="0" y="10"/>
                    </a:lnTo>
                    <a:lnTo>
                      <a:pt x="3" y="15"/>
                    </a:lnTo>
                    <a:lnTo>
                      <a:pt x="8" y="16"/>
                    </a:lnTo>
                    <a:lnTo>
                      <a:pt x="16" y="2"/>
                    </a:lnTo>
                    <a:lnTo>
                      <a:pt x="11" y="0"/>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1" name="Freeform 414"/>
              <p:cNvSpPr>
                <a:spLocks noChangeAspect="1"/>
              </p:cNvSpPr>
              <p:nvPr/>
            </p:nvSpPr>
            <p:spPr bwMode="auto">
              <a:xfrm>
                <a:off x="520" y="3493"/>
                <a:ext cx="17" cy="17"/>
              </a:xfrm>
              <a:custGeom>
                <a:avLst/>
                <a:gdLst>
                  <a:gd name="T0" fmla="*/ 11 w 17"/>
                  <a:gd name="T1" fmla="*/ 1 h 17"/>
                  <a:gd name="T2" fmla="*/ 8 w 17"/>
                  <a:gd name="T3" fmla="*/ 0 h 17"/>
                  <a:gd name="T4" fmla="*/ 2 w 17"/>
                  <a:gd name="T5" fmla="*/ 1 h 17"/>
                  <a:gd name="T6" fmla="*/ 0 w 17"/>
                  <a:gd name="T7" fmla="*/ 10 h 17"/>
                  <a:gd name="T8" fmla="*/ 3 w 17"/>
                  <a:gd name="T9" fmla="*/ 14 h 17"/>
                  <a:gd name="T10" fmla="*/ 8 w 17"/>
                  <a:gd name="T11" fmla="*/ 16 h 17"/>
                  <a:gd name="T12" fmla="*/ 16 w 17"/>
                  <a:gd name="T13" fmla="*/ 2 h 17"/>
                  <a:gd name="T14" fmla="*/ 11 w 17"/>
                  <a:gd name="T15" fmla="*/ 1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1" y="1"/>
                    </a:moveTo>
                    <a:lnTo>
                      <a:pt x="8" y="0"/>
                    </a:lnTo>
                    <a:lnTo>
                      <a:pt x="2" y="1"/>
                    </a:lnTo>
                    <a:lnTo>
                      <a:pt x="0" y="10"/>
                    </a:lnTo>
                    <a:lnTo>
                      <a:pt x="3" y="14"/>
                    </a:lnTo>
                    <a:lnTo>
                      <a:pt x="8" y="16"/>
                    </a:lnTo>
                    <a:lnTo>
                      <a:pt x="16" y="2"/>
                    </a:lnTo>
                    <a:lnTo>
                      <a:pt x="11" y="1"/>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2" name="Freeform 415"/>
              <p:cNvSpPr>
                <a:spLocks noChangeAspect="1"/>
              </p:cNvSpPr>
              <p:nvPr/>
            </p:nvSpPr>
            <p:spPr bwMode="auto">
              <a:xfrm>
                <a:off x="520" y="3491"/>
                <a:ext cx="17" cy="22"/>
              </a:xfrm>
              <a:custGeom>
                <a:avLst/>
                <a:gdLst>
                  <a:gd name="T0" fmla="*/ 16 w 17"/>
                  <a:gd name="T1" fmla="*/ 3 h 22"/>
                  <a:gd name="T2" fmla="*/ 5 w 17"/>
                  <a:gd name="T3" fmla="*/ 0 h 22"/>
                  <a:gd name="T4" fmla="*/ 1 w 17"/>
                  <a:gd name="T5" fmla="*/ 3 h 22"/>
                  <a:gd name="T6" fmla="*/ 0 w 17"/>
                  <a:gd name="T7" fmla="*/ 14 h 22"/>
                  <a:gd name="T8" fmla="*/ 4 w 17"/>
                  <a:gd name="T9" fmla="*/ 17 h 22"/>
                  <a:gd name="T10" fmla="*/ 12 w 17"/>
                  <a:gd name="T11" fmla="*/ 21 h 22"/>
                  <a:gd name="T12" fmla="*/ 16 w 17"/>
                  <a:gd name="T13" fmla="*/ 3 h 22"/>
                  <a:gd name="T14" fmla="*/ 0 60000 65536"/>
                  <a:gd name="T15" fmla="*/ 0 60000 65536"/>
                  <a:gd name="T16" fmla="*/ 0 60000 65536"/>
                  <a:gd name="T17" fmla="*/ 0 60000 65536"/>
                  <a:gd name="T18" fmla="*/ 0 60000 65536"/>
                  <a:gd name="T19" fmla="*/ 0 60000 65536"/>
                  <a:gd name="T20" fmla="*/ 0 60000 65536"/>
                  <a:gd name="T21" fmla="*/ 0 w 17"/>
                  <a:gd name="T22" fmla="*/ 0 h 22"/>
                  <a:gd name="T23" fmla="*/ 17 w 17"/>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2">
                    <a:moveTo>
                      <a:pt x="16" y="3"/>
                    </a:moveTo>
                    <a:lnTo>
                      <a:pt x="5" y="0"/>
                    </a:lnTo>
                    <a:lnTo>
                      <a:pt x="1" y="3"/>
                    </a:lnTo>
                    <a:lnTo>
                      <a:pt x="0" y="14"/>
                    </a:lnTo>
                    <a:lnTo>
                      <a:pt x="4" y="17"/>
                    </a:lnTo>
                    <a:lnTo>
                      <a:pt x="12" y="21"/>
                    </a:lnTo>
                    <a:lnTo>
                      <a:pt x="16" y="3"/>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3" name="Freeform 416"/>
              <p:cNvSpPr>
                <a:spLocks noChangeAspect="1"/>
              </p:cNvSpPr>
              <p:nvPr/>
            </p:nvSpPr>
            <p:spPr bwMode="auto">
              <a:xfrm>
                <a:off x="521" y="3491"/>
                <a:ext cx="19" cy="28"/>
              </a:xfrm>
              <a:custGeom>
                <a:avLst/>
                <a:gdLst>
                  <a:gd name="T0" fmla="*/ 18 w 19"/>
                  <a:gd name="T1" fmla="*/ 4 h 28"/>
                  <a:gd name="T2" fmla="*/ 6 w 19"/>
                  <a:gd name="T3" fmla="*/ 0 h 28"/>
                  <a:gd name="T4" fmla="*/ 1 w 19"/>
                  <a:gd name="T5" fmla="*/ 4 h 28"/>
                  <a:gd name="T6" fmla="*/ 0 w 19"/>
                  <a:gd name="T7" fmla="*/ 18 h 28"/>
                  <a:gd name="T8" fmla="*/ 5 w 19"/>
                  <a:gd name="T9" fmla="*/ 22 h 28"/>
                  <a:gd name="T10" fmla="*/ 14 w 19"/>
                  <a:gd name="T11" fmla="*/ 27 h 28"/>
                  <a:gd name="T12" fmla="*/ 18 w 19"/>
                  <a:gd name="T13" fmla="*/ 4 h 28"/>
                  <a:gd name="T14" fmla="*/ 0 60000 65536"/>
                  <a:gd name="T15" fmla="*/ 0 60000 65536"/>
                  <a:gd name="T16" fmla="*/ 0 60000 65536"/>
                  <a:gd name="T17" fmla="*/ 0 60000 65536"/>
                  <a:gd name="T18" fmla="*/ 0 60000 65536"/>
                  <a:gd name="T19" fmla="*/ 0 60000 65536"/>
                  <a:gd name="T20" fmla="*/ 0 60000 65536"/>
                  <a:gd name="T21" fmla="*/ 0 w 19"/>
                  <a:gd name="T22" fmla="*/ 0 h 28"/>
                  <a:gd name="T23" fmla="*/ 19 w 19"/>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28">
                    <a:moveTo>
                      <a:pt x="18" y="4"/>
                    </a:moveTo>
                    <a:lnTo>
                      <a:pt x="6" y="0"/>
                    </a:lnTo>
                    <a:lnTo>
                      <a:pt x="1" y="4"/>
                    </a:lnTo>
                    <a:lnTo>
                      <a:pt x="0" y="18"/>
                    </a:lnTo>
                    <a:lnTo>
                      <a:pt x="5" y="22"/>
                    </a:lnTo>
                    <a:lnTo>
                      <a:pt x="14" y="27"/>
                    </a:lnTo>
                    <a:lnTo>
                      <a:pt x="18" y="4"/>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4" name="Freeform 417"/>
              <p:cNvSpPr>
                <a:spLocks noChangeAspect="1"/>
              </p:cNvSpPr>
              <p:nvPr/>
            </p:nvSpPr>
            <p:spPr bwMode="auto">
              <a:xfrm>
                <a:off x="530" y="3495"/>
                <a:ext cx="17" cy="18"/>
              </a:xfrm>
              <a:custGeom>
                <a:avLst/>
                <a:gdLst>
                  <a:gd name="T0" fmla="*/ 16 w 17"/>
                  <a:gd name="T1" fmla="*/ 3 h 18"/>
                  <a:gd name="T2" fmla="*/ 10 w 17"/>
                  <a:gd name="T3" fmla="*/ 0 h 18"/>
                  <a:gd name="T4" fmla="*/ 0 w 17"/>
                  <a:gd name="T5" fmla="*/ 5 h 18"/>
                  <a:gd name="T6" fmla="*/ 0 w 17"/>
                  <a:gd name="T7" fmla="*/ 13 h 18"/>
                  <a:gd name="T8" fmla="*/ 5 w 17"/>
                  <a:gd name="T9" fmla="*/ 17 h 18"/>
                  <a:gd name="T10" fmla="*/ 12 w 17"/>
                  <a:gd name="T11" fmla="*/ 15 h 18"/>
                  <a:gd name="T12" fmla="*/ 16 w 17"/>
                  <a:gd name="T13" fmla="*/ 3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16" y="3"/>
                    </a:moveTo>
                    <a:lnTo>
                      <a:pt x="10" y="0"/>
                    </a:lnTo>
                    <a:lnTo>
                      <a:pt x="0" y="5"/>
                    </a:lnTo>
                    <a:lnTo>
                      <a:pt x="0" y="13"/>
                    </a:lnTo>
                    <a:lnTo>
                      <a:pt x="5" y="17"/>
                    </a:lnTo>
                    <a:lnTo>
                      <a:pt x="12" y="15"/>
                    </a:lnTo>
                    <a:lnTo>
                      <a:pt x="16" y="3"/>
                    </a:lnTo>
                  </a:path>
                </a:pathLst>
              </a:custGeom>
              <a:solidFill>
                <a:srgbClr val="7F7F7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5" name="Freeform 418"/>
              <p:cNvSpPr>
                <a:spLocks noChangeAspect="1"/>
              </p:cNvSpPr>
              <p:nvPr/>
            </p:nvSpPr>
            <p:spPr bwMode="auto">
              <a:xfrm>
                <a:off x="529" y="3495"/>
                <a:ext cx="17" cy="23"/>
              </a:xfrm>
              <a:custGeom>
                <a:avLst/>
                <a:gdLst>
                  <a:gd name="T0" fmla="*/ 16 w 17"/>
                  <a:gd name="T1" fmla="*/ 3 h 23"/>
                  <a:gd name="T2" fmla="*/ 10 w 17"/>
                  <a:gd name="T3" fmla="*/ 0 h 23"/>
                  <a:gd name="T4" fmla="*/ 1 w 17"/>
                  <a:gd name="T5" fmla="*/ 6 h 23"/>
                  <a:gd name="T6" fmla="*/ 0 w 17"/>
                  <a:gd name="T7" fmla="*/ 18 h 23"/>
                  <a:gd name="T8" fmla="*/ 5 w 17"/>
                  <a:gd name="T9" fmla="*/ 22 h 23"/>
                  <a:gd name="T10" fmla="*/ 12 w 17"/>
                  <a:gd name="T11" fmla="*/ 20 h 23"/>
                  <a:gd name="T12" fmla="*/ 16 w 17"/>
                  <a:gd name="T13" fmla="*/ 3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16" y="3"/>
                    </a:moveTo>
                    <a:lnTo>
                      <a:pt x="10" y="0"/>
                    </a:lnTo>
                    <a:lnTo>
                      <a:pt x="1" y="6"/>
                    </a:lnTo>
                    <a:lnTo>
                      <a:pt x="0" y="18"/>
                    </a:lnTo>
                    <a:lnTo>
                      <a:pt x="5" y="22"/>
                    </a:lnTo>
                    <a:lnTo>
                      <a:pt x="12" y="20"/>
                    </a:lnTo>
                    <a:lnTo>
                      <a:pt x="16" y="3"/>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6" name="Freeform 419"/>
              <p:cNvSpPr>
                <a:spLocks noChangeAspect="1"/>
              </p:cNvSpPr>
              <p:nvPr/>
            </p:nvSpPr>
            <p:spPr bwMode="auto">
              <a:xfrm>
                <a:off x="530" y="3498"/>
                <a:ext cx="17" cy="17"/>
              </a:xfrm>
              <a:custGeom>
                <a:avLst/>
                <a:gdLst>
                  <a:gd name="T0" fmla="*/ 16 w 17"/>
                  <a:gd name="T1" fmla="*/ 2 h 17"/>
                  <a:gd name="T2" fmla="*/ 9 w 17"/>
                  <a:gd name="T3" fmla="*/ 16 h 17"/>
                  <a:gd name="T4" fmla="*/ 3 w 17"/>
                  <a:gd name="T5" fmla="*/ 13 h 17"/>
                  <a:gd name="T6" fmla="*/ 1 w 17"/>
                  <a:gd name="T7" fmla="*/ 11 h 17"/>
                  <a:gd name="T8" fmla="*/ 0 w 17"/>
                  <a:gd name="T9" fmla="*/ 10 h 17"/>
                  <a:gd name="T10" fmla="*/ 0 w 17"/>
                  <a:gd name="T11" fmla="*/ 7 h 17"/>
                  <a:gd name="T12" fmla="*/ 0 w 17"/>
                  <a:gd name="T13" fmla="*/ 5 h 17"/>
                  <a:gd name="T14" fmla="*/ 3 w 17"/>
                  <a:gd name="T15" fmla="*/ 2 h 17"/>
                  <a:gd name="T16" fmla="*/ 4 w 17"/>
                  <a:gd name="T17" fmla="*/ 1 h 17"/>
                  <a:gd name="T18" fmla="*/ 7 w 17"/>
                  <a:gd name="T19" fmla="*/ 0 h 17"/>
                  <a:gd name="T20" fmla="*/ 8 w 17"/>
                  <a:gd name="T21" fmla="*/ 0 h 17"/>
                  <a:gd name="T22" fmla="*/ 16 w 17"/>
                  <a:gd name="T23" fmla="*/ 2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17"/>
                  <a:gd name="T38" fmla="*/ 17 w 1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17">
                    <a:moveTo>
                      <a:pt x="16" y="2"/>
                    </a:moveTo>
                    <a:lnTo>
                      <a:pt x="9" y="16"/>
                    </a:lnTo>
                    <a:lnTo>
                      <a:pt x="3" y="13"/>
                    </a:lnTo>
                    <a:lnTo>
                      <a:pt x="1" y="11"/>
                    </a:lnTo>
                    <a:lnTo>
                      <a:pt x="0" y="10"/>
                    </a:lnTo>
                    <a:lnTo>
                      <a:pt x="0" y="7"/>
                    </a:lnTo>
                    <a:lnTo>
                      <a:pt x="0" y="5"/>
                    </a:lnTo>
                    <a:lnTo>
                      <a:pt x="3" y="2"/>
                    </a:lnTo>
                    <a:lnTo>
                      <a:pt x="4" y="1"/>
                    </a:lnTo>
                    <a:lnTo>
                      <a:pt x="7" y="0"/>
                    </a:lnTo>
                    <a:lnTo>
                      <a:pt x="8" y="0"/>
                    </a:lnTo>
                    <a:lnTo>
                      <a:pt x="16" y="2"/>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7" name="Freeform 420"/>
              <p:cNvSpPr>
                <a:spLocks noChangeAspect="1"/>
              </p:cNvSpPr>
              <p:nvPr/>
            </p:nvSpPr>
            <p:spPr bwMode="auto">
              <a:xfrm>
                <a:off x="532" y="3498"/>
                <a:ext cx="17" cy="21"/>
              </a:xfrm>
              <a:custGeom>
                <a:avLst/>
                <a:gdLst>
                  <a:gd name="T0" fmla="*/ 16 w 17"/>
                  <a:gd name="T1" fmla="*/ 3 h 21"/>
                  <a:gd name="T2" fmla="*/ 9 w 17"/>
                  <a:gd name="T3" fmla="*/ 20 h 21"/>
                  <a:gd name="T4" fmla="*/ 3 w 17"/>
                  <a:gd name="T5" fmla="*/ 16 h 21"/>
                  <a:gd name="T6" fmla="*/ 1 w 17"/>
                  <a:gd name="T7" fmla="*/ 14 h 21"/>
                  <a:gd name="T8" fmla="*/ 0 w 17"/>
                  <a:gd name="T9" fmla="*/ 12 h 21"/>
                  <a:gd name="T10" fmla="*/ 0 w 17"/>
                  <a:gd name="T11" fmla="*/ 8 h 21"/>
                  <a:gd name="T12" fmla="*/ 0 w 17"/>
                  <a:gd name="T13" fmla="*/ 6 h 21"/>
                  <a:gd name="T14" fmla="*/ 3 w 17"/>
                  <a:gd name="T15" fmla="*/ 3 h 21"/>
                  <a:gd name="T16" fmla="*/ 4 w 17"/>
                  <a:gd name="T17" fmla="*/ 1 h 21"/>
                  <a:gd name="T18" fmla="*/ 7 w 17"/>
                  <a:gd name="T19" fmla="*/ 0 h 21"/>
                  <a:gd name="T20" fmla="*/ 8 w 17"/>
                  <a:gd name="T21" fmla="*/ 0 h 21"/>
                  <a:gd name="T22" fmla="*/ 16 w 17"/>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21"/>
                  <a:gd name="T38" fmla="*/ 17 w 17"/>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21">
                    <a:moveTo>
                      <a:pt x="16" y="3"/>
                    </a:moveTo>
                    <a:lnTo>
                      <a:pt x="9" y="20"/>
                    </a:lnTo>
                    <a:lnTo>
                      <a:pt x="3" y="16"/>
                    </a:lnTo>
                    <a:lnTo>
                      <a:pt x="1" y="14"/>
                    </a:lnTo>
                    <a:lnTo>
                      <a:pt x="0" y="12"/>
                    </a:lnTo>
                    <a:lnTo>
                      <a:pt x="0" y="8"/>
                    </a:lnTo>
                    <a:lnTo>
                      <a:pt x="0" y="6"/>
                    </a:lnTo>
                    <a:lnTo>
                      <a:pt x="3" y="3"/>
                    </a:lnTo>
                    <a:lnTo>
                      <a:pt x="4" y="1"/>
                    </a:lnTo>
                    <a:lnTo>
                      <a:pt x="7" y="0"/>
                    </a:lnTo>
                    <a:lnTo>
                      <a:pt x="8" y="0"/>
                    </a:lnTo>
                    <a:lnTo>
                      <a:pt x="16" y="3"/>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68" name="Freeform 421"/>
              <p:cNvSpPr>
                <a:spLocks noChangeAspect="1"/>
              </p:cNvSpPr>
              <p:nvPr/>
            </p:nvSpPr>
            <p:spPr bwMode="auto">
              <a:xfrm>
                <a:off x="544" y="3521"/>
                <a:ext cx="65" cy="49"/>
              </a:xfrm>
              <a:custGeom>
                <a:avLst/>
                <a:gdLst>
                  <a:gd name="T0" fmla="*/ 63 w 65"/>
                  <a:gd name="T1" fmla="*/ 27 h 49"/>
                  <a:gd name="T2" fmla="*/ 64 w 65"/>
                  <a:gd name="T3" fmla="*/ 45 h 49"/>
                  <a:gd name="T4" fmla="*/ 56 w 65"/>
                  <a:gd name="T5" fmla="*/ 48 h 49"/>
                  <a:gd name="T6" fmla="*/ 47 w 65"/>
                  <a:gd name="T7" fmla="*/ 45 h 49"/>
                  <a:gd name="T8" fmla="*/ 47 w 65"/>
                  <a:gd name="T9" fmla="*/ 21 h 49"/>
                  <a:gd name="T10" fmla="*/ 34 w 65"/>
                  <a:gd name="T11" fmla="*/ 19 h 49"/>
                  <a:gd name="T12" fmla="*/ 33 w 65"/>
                  <a:gd name="T13" fmla="*/ 19 h 49"/>
                  <a:gd name="T14" fmla="*/ 33 w 65"/>
                  <a:gd name="T15" fmla="*/ 17 h 49"/>
                  <a:gd name="T16" fmla="*/ 33 w 65"/>
                  <a:gd name="T17" fmla="*/ 14 h 49"/>
                  <a:gd name="T18" fmla="*/ 33 w 65"/>
                  <a:gd name="T19" fmla="*/ 11 h 49"/>
                  <a:gd name="T20" fmla="*/ 25 w 65"/>
                  <a:gd name="T21" fmla="*/ 18 h 49"/>
                  <a:gd name="T22" fmla="*/ 16 w 65"/>
                  <a:gd name="T23" fmla="*/ 19 h 49"/>
                  <a:gd name="T24" fmla="*/ 16 w 65"/>
                  <a:gd name="T25" fmla="*/ 25 h 49"/>
                  <a:gd name="T26" fmla="*/ 8 w 65"/>
                  <a:gd name="T27" fmla="*/ 27 h 49"/>
                  <a:gd name="T28" fmla="*/ 0 w 65"/>
                  <a:gd name="T29" fmla="*/ 25 h 49"/>
                  <a:gd name="T30" fmla="*/ 0 w 65"/>
                  <a:gd name="T31" fmla="*/ 0 h 49"/>
                  <a:gd name="T32" fmla="*/ 60 w 65"/>
                  <a:gd name="T33" fmla="*/ 10 h 49"/>
                  <a:gd name="T34" fmla="*/ 63 w 65"/>
                  <a:gd name="T35" fmla="*/ 27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5"/>
                  <a:gd name="T55" fmla="*/ 0 h 49"/>
                  <a:gd name="T56" fmla="*/ 65 w 65"/>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5" h="49">
                    <a:moveTo>
                      <a:pt x="63" y="27"/>
                    </a:moveTo>
                    <a:lnTo>
                      <a:pt x="64" y="45"/>
                    </a:lnTo>
                    <a:lnTo>
                      <a:pt x="56" y="48"/>
                    </a:lnTo>
                    <a:lnTo>
                      <a:pt x="47" y="45"/>
                    </a:lnTo>
                    <a:lnTo>
                      <a:pt x="47" y="21"/>
                    </a:lnTo>
                    <a:lnTo>
                      <a:pt x="34" y="19"/>
                    </a:lnTo>
                    <a:lnTo>
                      <a:pt x="33" y="19"/>
                    </a:lnTo>
                    <a:lnTo>
                      <a:pt x="33" y="17"/>
                    </a:lnTo>
                    <a:lnTo>
                      <a:pt x="33" y="14"/>
                    </a:lnTo>
                    <a:lnTo>
                      <a:pt x="33" y="11"/>
                    </a:lnTo>
                    <a:lnTo>
                      <a:pt x="25" y="18"/>
                    </a:lnTo>
                    <a:lnTo>
                      <a:pt x="16" y="19"/>
                    </a:lnTo>
                    <a:lnTo>
                      <a:pt x="16" y="25"/>
                    </a:lnTo>
                    <a:lnTo>
                      <a:pt x="8" y="27"/>
                    </a:lnTo>
                    <a:lnTo>
                      <a:pt x="0" y="25"/>
                    </a:lnTo>
                    <a:lnTo>
                      <a:pt x="0" y="0"/>
                    </a:lnTo>
                    <a:lnTo>
                      <a:pt x="60" y="10"/>
                    </a:lnTo>
                    <a:lnTo>
                      <a:pt x="63" y="27"/>
                    </a:lnTo>
                  </a:path>
                </a:pathLst>
              </a:custGeom>
              <a:solidFill>
                <a:srgbClr val="333333"/>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69" name="Freeform 422"/>
              <p:cNvSpPr>
                <a:spLocks noChangeAspect="1"/>
              </p:cNvSpPr>
              <p:nvPr/>
            </p:nvSpPr>
            <p:spPr bwMode="auto">
              <a:xfrm>
                <a:off x="610" y="3552"/>
                <a:ext cx="17" cy="17"/>
              </a:xfrm>
              <a:custGeom>
                <a:avLst/>
                <a:gdLst>
                  <a:gd name="T0" fmla="*/ 8 w 17"/>
                  <a:gd name="T1" fmla="*/ 16 h 17"/>
                  <a:gd name="T2" fmla="*/ 0 w 17"/>
                  <a:gd name="T3" fmla="*/ 15 h 17"/>
                  <a:gd name="T4" fmla="*/ 8 w 17"/>
                  <a:gd name="T5" fmla="*/ 0 h 17"/>
                  <a:gd name="T6" fmla="*/ 16 w 17"/>
                  <a:gd name="T7" fmla="*/ 0 h 17"/>
                  <a:gd name="T8" fmla="*/ 8 w 17"/>
                  <a:gd name="T9" fmla="*/ 15 h 17"/>
                  <a:gd name="T10" fmla="*/ 8 w 17"/>
                  <a:gd name="T11" fmla="*/ 14 h 17"/>
                  <a:gd name="T12" fmla="*/ 8 w 17"/>
                  <a:gd name="T13" fmla="*/ 16 h 17"/>
                  <a:gd name="T14" fmla="*/ 0 w 17"/>
                  <a:gd name="T15" fmla="*/ 16 h 17"/>
                  <a:gd name="T16" fmla="*/ 0 w 17"/>
                  <a:gd name="T17" fmla="*/ 15 h 17"/>
                  <a:gd name="T18" fmla="*/ 8 w 17"/>
                  <a:gd name="T19" fmla="*/ 1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8" y="16"/>
                    </a:moveTo>
                    <a:lnTo>
                      <a:pt x="0" y="15"/>
                    </a:lnTo>
                    <a:lnTo>
                      <a:pt x="8" y="0"/>
                    </a:lnTo>
                    <a:lnTo>
                      <a:pt x="16" y="0"/>
                    </a:lnTo>
                    <a:lnTo>
                      <a:pt x="8" y="15"/>
                    </a:lnTo>
                    <a:lnTo>
                      <a:pt x="8" y="14"/>
                    </a:lnTo>
                    <a:lnTo>
                      <a:pt x="8" y="16"/>
                    </a:lnTo>
                    <a:lnTo>
                      <a:pt x="0" y="16"/>
                    </a:lnTo>
                    <a:lnTo>
                      <a:pt x="0" y="15"/>
                    </a:lnTo>
                    <a:lnTo>
                      <a:pt x="8"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0" name="Freeform 423"/>
              <p:cNvSpPr>
                <a:spLocks noChangeAspect="1"/>
              </p:cNvSpPr>
              <p:nvPr/>
            </p:nvSpPr>
            <p:spPr bwMode="auto">
              <a:xfrm>
                <a:off x="604" y="3570"/>
                <a:ext cx="17" cy="17"/>
              </a:xfrm>
              <a:custGeom>
                <a:avLst/>
                <a:gdLst>
                  <a:gd name="T0" fmla="*/ 0 w 17"/>
                  <a:gd name="T1" fmla="*/ 0 h 17"/>
                  <a:gd name="T2" fmla="*/ 16 w 17"/>
                  <a:gd name="T3" fmla="*/ 8 h 17"/>
                  <a:gd name="T4" fmla="*/ 16 w 17"/>
                  <a:gd name="T5" fmla="*/ 16 h 17"/>
                  <a:gd name="T6" fmla="*/ 0 w 17"/>
                  <a:gd name="T7" fmla="*/ 8 h 17"/>
                  <a:gd name="T8" fmla="*/ 1 w 17"/>
                  <a:gd name="T9" fmla="*/ 8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16" y="8"/>
                    </a:lnTo>
                    <a:lnTo>
                      <a:pt x="16" y="16"/>
                    </a:lnTo>
                    <a:lnTo>
                      <a:pt x="0" y="8"/>
                    </a:lnTo>
                    <a:lnTo>
                      <a:pt x="1" y="8"/>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1" name="Freeform 424"/>
              <p:cNvSpPr>
                <a:spLocks noChangeAspect="1"/>
              </p:cNvSpPr>
              <p:nvPr/>
            </p:nvSpPr>
            <p:spPr bwMode="auto">
              <a:xfrm>
                <a:off x="594" y="3570"/>
                <a:ext cx="17" cy="1"/>
              </a:xfrm>
              <a:custGeom>
                <a:avLst/>
                <a:gdLst>
                  <a:gd name="T0" fmla="*/ 0 w 17"/>
                  <a:gd name="T1" fmla="*/ 0 h 1"/>
                  <a:gd name="T2" fmla="*/ 1 w 17"/>
                  <a:gd name="T3" fmla="*/ 0 h 1"/>
                  <a:gd name="T4" fmla="*/ 14 w 17"/>
                  <a:gd name="T5" fmla="*/ 0 h 1"/>
                  <a:gd name="T6" fmla="*/ 16 w 17"/>
                  <a:gd name="T7" fmla="*/ 0 h 1"/>
                  <a:gd name="T8" fmla="*/ 1 w 17"/>
                  <a:gd name="T9" fmla="*/ 0 h 1"/>
                  <a:gd name="T10" fmla="*/ 0 w 17"/>
                  <a:gd name="T11" fmla="*/ 0 h 1"/>
                  <a:gd name="T12" fmla="*/ 1 w 17"/>
                  <a:gd name="T13" fmla="*/ 0 h 1"/>
                  <a:gd name="T14" fmla="*/ 0 w 17"/>
                  <a:gd name="T15" fmla="*/ 0 h 1"/>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
                  <a:gd name="T26" fmla="*/ 17 w 17"/>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
                    <a:moveTo>
                      <a:pt x="0" y="0"/>
                    </a:moveTo>
                    <a:lnTo>
                      <a:pt x="1" y="0"/>
                    </a:lnTo>
                    <a:lnTo>
                      <a:pt x="14" y="0"/>
                    </a:lnTo>
                    <a:lnTo>
                      <a:pt x="16" y="0"/>
                    </a:lnTo>
                    <a:lnTo>
                      <a:pt x="1" y="0"/>
                    </a:lnTo>
                    <a:lnTo>
                      <a:pt x="0" y="0"/>
                    </a:lnTo>
                    <a:lnTo>
                      <a:pt x="1"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2" name="Freeform 425"/>
              <p:cNvSpPr>
                <a:spLocks noChangeAspect="1"/>
              </p:cNvSpPr>
              <p:nvPr/>
            </p:nvSpPr>
            <p:spPr bwMode="auto">
              <a:xfrm>
                <a:off x="593" y="3543"/>
                <a:ext cx="17" cy="24"/>
              </a:xfrm>
              <a:custGeom>
                <a:avLst/>
                <a:gdLst>
                  <a:gd name="T0" fmla="*/ 8 w 17"/>
                  <a:gd name="T1" fmla="*/ 1 h 24"/>
                  <a:gd name="T2" fmla="*/ 8 w 17"/>
                  <a:gd name="T3" fmla="*/ 0 h 24"/>
                  <a:gd name="T4" fmla="*/ 16 w 17"/>
                  <a:gd name="T5" fmla="*/ 23 h 24"/>
                  <a:gd name="T6" fmla="*/ 8 w 17"/>
                  <a:gd name="T7" fmla="*/ 23 h 24"/>
                  <a:gd name="T8" fmla="*/ 0 w 17"/>
                  <a:gd name="T9" fmla="*/ 0 h 24"/>
                  <a:gd name="T10" fmla="*/ 8 w 17"/>
                  <a:gd name="T11" fmla="*/ 0 h 24"/>
                  <a:gd name="T12" fmla="*/ 0 w 17"/>
                  <a:gd name="T13" fmla="*/ 0 h 24"/>
                  <a:gd name="T14" fmla="*/ 0 w 17"/>
                  <a:gd name="T15" fmla="*/ 0 h 24"/>
                  <a:gd name="T16" fmla="*/ 8 w 17"/>
                  <a:gd name="T17" fmla="*/ 0 h 24"/>
                  <a:gd name="T18" fmla="*/ 8 w 17"/>
                  <a:gd name="T19" fmla="*/ 1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8" y="1"/>
                    </a:moveTo>
                    <a:lnTo>
                      <a:pt x="8" y="0"/>
                    </a:lnTo>
                    <a:lnTo>
                      <a:pt x="16" y="23"/>
                    </a:lnTo>
                    <a:lnTo>
                      <a:pt x="8" y="23"/>
                    </a:lnTo>
                    <a:lnTo>
                      <a:pt x="0" y="0"/>
                    </a:lnTo>
                    <a:lnTo>
                      <a:pt x="8" y="0"/>
                    </a:lnTo>
                    <a:lnTo>
                      <a:pt x="0" y="0"/>
                    </a:lnTo>
                    <a:lnTo>
                      <a:pt x="8" y="0"/>
                    </a:lnTo>
                    <a:lnTo>
                      <a:pt x="8"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3" name="Freeform 426"/>
              <p:cNvSpPr>
                <a:spLocks noChangeAspect="1"/>
              </p:cNvSpPr>
              <p:nvPr/>
            </p:nvSpPr>
            <p:spPr bwMode="auto">
              <a:xfrm>
                <a:off x="583" y="3540"/>
                <a:ext cx="17" cy="17"/>
              </a:xfrm>
              <a:custGeom>
                <a:avLst/>
                <a:gdLst>
                  <a:gd name="T0" fmla="*/ 0 w 17"/>
                  <a:gd name="T1" fmla="*/ 5 h 17"/>
                  <a:gd name="T2" fmla="*/ 16 w 17"/>
                  <a:gd name="T3" fmla="*/ 0 h 17"/>
                  <a:gd name="T4" fmla="*/ 16 w 17"/>
                  <a:gd name="T5" fmla="*/ 5 h 17"/>
                  <a:gd name="T6" fmla="*/ 0 w 17"/>
                  <a:gd name="T7" fmla="*/ 16 h 17"/>
                  <a:gd name="T8" fmla="*/ 0 w 17"/>
                  <a:gd name="T9" fmla="*/ 5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5"/>
                    </a:moveTo>
                    <a:lnTo>
                      <a:pt x="16" y="0"/>
                    </a:lnTo>
                    <a:lnTo>
                      <a:pt x="16" y="5"/>
                    </a:lnTo>
                    <a:lnTo>
                      <a:pt x="0" y="16"/>
                    </a:lnTo>
                    <a:lnTo>
                      <a:pt x="0" y="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4" name="Freeform 427"/>
              <p:cNvSpPr>
                <a:spLocks noChangeAspect="1"/>
              </p:cNvSpPr>
              <p:nvPr/>
            </p:nvSpPr>
            <p:spPr bwMode="auto">
              <a:xfrm>
                <a:off x="577" y="3538"/>
                <a:ext cx="17" cy="17"/>
              </a:xfrm>
              <a:custGeom>
                <a:avLst/>
                <a:gdLst>
                  <a:gd name="T0" fmla="*/ 16 w 17"/>
                  <a:gd name="T1" fmla="*/ 6 h 17"/>
                  <a:gd name="T2" fmla="*/ 16 w 17"/>
                  <a:gd name="T3" fmla="*/ 0 h 17"/>
                  <a:gd name="T4" fmla="*/ 0 w 17"/>
                  <a:gd name="T5" fmla="*/ 0 h 17"/>
                  <a:gd name="T6" fmla="*/ 0 w 17"/>
                  <a:gd name="T7" fmla="*/ 16 h 17"/>
                  <a:gd name="T8" fmla="*/ 16 w 17"/>
                  <a:gd name="T9" fmla="*/ 16 h 17"/>
                  <a:gd name="T10" fmla="*/ 8 w 17"/>
                  <a:gd name="T11" fmla="*/ 6 h 17"/>
                  <a:gd name="T12" fmla="*/ 16 w 17"/>
                  <a:gd name="T13" fmla="*/ 6 h 17"/>
                  <a:gd name="T14" fmla="*/ 16 w 17"/>
                  <a:gd name="T15" fmla="*/ 0 h 17"/>
                  <a:gd name="T16" fmla="*/ 16 w 17"/>
                  <a:gd name="T17" fmla="*/ 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6"/>
                    </a:moveTo>
                    <a:lnTo>
                      <a:pt x="16" y="0"/>
                    </a:lnTo>
                    <a:lnTo>
                      <a:pt x="0" y="0"/>
                    </a:lnTo>
                    <a:lnTo>
                      <a:pt x="0" y="16"/>
                    </a:lnTo>
                    <a:lnTo>
                      <a:pt x="16" y="16"/>
                    </a:lnTo>
                    <a:lnTo>
                      <a:pt x="8" y="6"/>
                    </a:lnTo>
                    <a:lnTo>
                      <a:pt x="16" y="6"/>
                    </a:lnTo>
                    <a:lnTo>
                      <a:pt x="16" y="0"/>
                    </a:lnTo>
                    <a:lnTo>
                      <a:pt x="16"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5" name="Freeform 428"/>
              <p:cNvSpPr>
                <a:spLocks noChangeAspect="1"/>
              </p:cNvSpPr>
              <p:nvPr/>
            </p:nvSpPr>
            <p:spPr bwMode="auto">
              <a:xfrm>
                <a:off x="576" y="3538"/>
                <a:ext cx="17" cy="17"/>
              </a:xfrm>
              <a:custGeom>
                <a:avLst/>
                <a:gdLst>
                  <a:gd name="T0" fmla="*/ 16 w 17"/>
                  <a:gd name="T1" fmla="*/ 16 h 17"/>
                  <a:gd name="T2" fmla="*/ 8 w 17"/>
                  <a:gd name="T3" fmla="*/ 0 h 17"/>
                  <a:gd name="T4" fmla="*/ 0 w 17"/>
                  <a:gd name="T5" fmla="*/ 0 h 17"/>
                  <a:gd name="T6" fmla="*/ 8 w 17"/>
                  <a:gd name="T7" fmla="*/ 1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8" y="0"/>
                    </a:lnTo>
                    <a:lnTo>
                      <a:pt x="0" y="0"/>
                    </a:lnTo>
                    <a:lnTo>
                      <a:pt x="8" y="16"/>
                    </a:lnTo>
                    <a:lnTo>
                      <a:pt x="1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6" name="Freeform 429"/>
              <p:cNvSpPr>
                <a:spLocks noChangeAspect="1"/>
              </p:cNvSpPr>
              <p:nvPr/>
            </p:nvSpPr>
            <p:spPr bwMode="auto">
              <a:xfrm>
                <a:off x="575" y="3537"/>
                <a:ext cx="17" cy="17"/>
              </a:xfrm>
              <a:custGeom>
                <a:avLst/>
                <a:gdLst>
                  <a:gd name="T0" fmla="*/ 16 w 17"/>
                  <a:gd name="T1" fmla="*/ 16 h 17"/>
                  <a:gd name="T2" fmla="*/ 16 w 17"/>
                  <a:gd name="T3" fmla="*/ 0 h 17"/>
                  <a:gd name="T4" fmla="*/ 0 w 17"/>
                  <a:gd name="T5" fmla="*/ 0 h 17"/>
                  <a:gd name="T6" fmla="*/ 0 w 17"/>
                  <a:gd name="T7" fmla="*/ 1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16" y="0"/>
                    </a:lnTo>
                    <a:lnTo>
                      <a:pt x="0" y="0"/>
                    </a:lnTo>
                    <a:lnTo>
                      <a:pt x="0" y="16"/>
                    </a:lnTo>
                    <a:lnTo>
                      <a:pt x="1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7" name="Freeform 430"/>
              <p:cNvSpPr>
                <a:spLocks noChangeAspect="1"/>
              </p:cNvSpPr>
              <p:nvPr/>
            </p:nvSpPr>
            <p:spPr bwMode="auto">
              <a:xfrm>
                <a:off x="576" y="3532"/>
                <a:ext cx="17" cy="1"/>
              </a:xfrm>
              <a:custGeom>
                <a:avLst/>
                <a:gdLst>
                  <a:gd name="T0" fmla="*/ 0 w 17"/>
                  <a:gd name="T1" fmla="*/ 0 h 1"/>
                  <a:gd name="T2" fmla="*/ 8 w 17"/>
                  <a:gd name="T3" fmla="*/ 0 h 1"/>
                  <a:gd name="T4" fmla="*/ 16 w 17"/>
                  <a:gd name="T5" fmla="*/ 0 h 1"/>
                  <a:gd name="T6" fmla="*/ 8 w 17"/>
                  <a:gd name="T7" fmla="*/ 0 h 1"/>
                  <a:gd name="T8" fmla="*/ 0 w 17"/>
                  <a:gd name="T9" fmla="*/ 0 h 1"/>
                  <a:gd name="T10" fmla="*/ 8 w 17"/>
                  <a:gd name="T11" fmla="*/ 0 h 1"/>
                  <a:gd name="T12" fmla="*/ 0 w 17"/>
                  <a:gd name="T13" fmla="*/ 0 h 1"/>
                  <a:gd name="T14" fmla="*/ 8 w 17"/>
                  <a:gd name="T15" fmla="*/ 0 h 1"/>
                  <a:gd name="T16" fmla="*/ 0 w 17"/>
                  <a:gd name="T17" fmla="*/ 0 h 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
                  <a:gd name="T29" fmla="*/ 17 w 17"/>
                  <a:gd name="T30" fmla="*/ 1 h 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
                    <a:moveTo>
                      <a:pt x="0" y="0"/>
                    </a:moveTo>
                    <a:lnTo>
                      <a:pt x="8" y="0"/>
                    </a:lnTo>
                    <a:lnTo>
                      <a:pt x="16" y="0"/>
                    </a:lnTo>
                    <a:lnTo>
                      <a:pt x="8" y="0"/>
                    </a:lnTo>
                    <a:lnTo>
                      <a:pt x="0" y="0"/>
                    </a:lnTo>
                    <a:lnTo>
                      <a:pt x="8" y="0"/>
                    </a:lnTo>
                    <a:lnTo>
                      <a:pt x="0" y="0"/>
                    </a:lnTo>
                    <a:lnTo>
                      <a:pt x="8"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8" name="Freeform 431"/>
              <p:cNvSpPr>
                <a:spLocks noChangeAspect="1"/>
              </p:cNvSpPr>
              <p:nvPr/>
            </p:nvSpPr>
            <p:spPr bwMode="auto">
              <a:xfrm>
                <a:off x="572" y="3533"/>
                <a:ext cx="17" cy="17"/>
              </a:xfrm>
              <a:custGeom>
                <a:avLst/>
                <a:gdLst>
                  <a:gd name="T0" fmla="*/ 1 w 17"/>
                  <a:gd name="T1" fmla="*/ 16 h 17"/>
                  <a:gd name="T2" fmla="*/ 16 w 17"/>
                  <a:gd name="T3" fmla="*/ 2 h 17"/>
                  <a:gd name="T4" fmla="*/ 14 w 17"/>
                  <a:gd name="T5" fmla="*/ 0 h 17"/>
                  <a:gd name="T6" fmla="*/ 0 w 17"/>
                  <a:gd name="T7" fmla="*/ 13 h 17"/>
                  <a:gd name="T8" fmla="*/ 1 w 17"/>
                  <a:gd name="T9" fmla="*/ 13 h 17"/>
                  <a:gd name="T10" fmla="*/ 1 w 17"/>
                  <a:gd name="T11" fmla="*/ 1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 y="16"/>
                    </a:moveTo>
                    <a:lnTo>
                      <a:pt x="16" y="2"/>
                    </a:lnTo>
                    <a:lnTo>
                      <a:pt x="14" y="0"/>
                    </a:lnTo>
                    <a:lnTo>
                      <a:pt x="0" y="13"/>
                    </a:lnTo>
                    <a:lnTo>
                      <a:pt x="1" y="13"/>
                    </a:lnTo>
                    <a:lnTo>
                      <a:pt x="1"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79" name="Freeform 432"/>
              <p:cNvSpPr>
                <a:spLocks noChangeAspect="1"/>
              </p:cNvSpPr>
              <p:nvPr/>
            </p:nvSpPr>
            <p:spPr bwMode="auto">
              <a:xfrm>
                <a:off x="562" y="3538"/>
                <a:ext cx="17" cy="17"/>
              </a:xfrm>
              <a:custGeom>
                <a:avLst/>
                <a:gdLst>
                  <a:gd name="T0" fmla="*/ 1 w 17"/>
                  <a:gd name="T1" fmla="*/ 6 h 17"/>
                  <a:gd name="T2" fmla="*/ 1 w 17"/>
                  <a:gd name="T3" fmla="*/ 0 h 17"/>
                  <a:gd name="T4" fmla="*/ 16 w 17"/>
                  <a:gd name="T5" fmla="*/ 6 h 17"/>
                  <a:gd name="T6" fmla="*/ 16 w 17"/>
                  <a:gd name="T7" fmla="*/ 16 h 17"/>
                  <a:gd name="T8" fmla="*/ 1 w 17"/>
                  <a:gd name="T9" fmla="*/ 9 h 17"/>
                  <a:gd name="T10" fmla="*/ 0 w 17"/>
                  <a:gd name="T11" fmla="*/ 6 h 17"/>
                  <a:gd name="T12" fmla="*/ 1 w 17"/>
                  <a:gd name="T13" fmla="*/ 9 h 17"/>
                  <a:gd name="T14" fmla="*/ 0 w 17"/>
                  <a:gd name="T15" fmla="*/ 9 h 17"/>
                  <a:gd name="T16" fmla="*/ 0 w 17"/>
                  <a:gd name="T17" fmla="*/ 6 h 17"/>
                  <a:gd name="T18" fmla="*/ 1 w 17"/>
                  <a:gd name="T19" fmla="*/ 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 y="6"/>
                    </a:moveTo>
                    <a:lnTo>
                      <a:pt x="1" y="0"/>
                    </a:lnTo>
                    <a:lnTo>
                      <a:pt x="16" y="6"/>
                    </a:lnTo>
                    <a:lnTo>
                      <a:pt x="16" y="16"/>
                    </a:lnTo>
                    <a:lnTo>
                      <a:pt x="1" y="9"/>
                    </a:lnTo>
                    <a:lnTo>
                      <a:pt x="0" y="6"/>
                    </a:lnTo>
                    <a:lnTo>
                      <a:pt x="1" y="9"/>
                    </a:lnTo>
                    <a:lnTo>
                      <a:pt x="0" y="9"/>
                    </a:lnTo>
                    <a:lnTo>
                      <a:pt x="0" y="6"/>
                    </a:lnTo>
                    <a:lnTo>
                      <a:pt x="1"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0" name="Freeform 433"/>
              <p:cNvSpPr>
                <a:spLocks noChangeAspect="1"/>
              </p:cNvSpPr>
              <p:nvPr/>
            </p:nvSpPr>
            <p:spPr bwMode="auto">
              <a:xfrm>
                <a:off x="557" y="3543"/>
                <a:ext cx="17" cy="17"/>
              </a:xfrm>
              <a:custGeom>
                <a:avLst/>
                <a:gdLst>
                  <a:gd name="T0" fmla="*/ 0 w 17"/>
                  <a:gd name="T1" fmla="*/ 16 h 17"/>
                  <a:gd name="T2" fmla="*/ 0 w 17"/>
                  <a:gd name="T3" fmla="*/ 0 h 17"/>
                  <a:gd name="T4" fmla="*/ 16 w 17"/>
                  <a:gd name="T5" fmla="*/ 0 h 17"/>
                  <a:gd name="T6" fmla="*/ 16 w 17"/>
                  <a:gd name="T7" fmla="*/ 16 h 17"/>
                  <a:gd name="T8" fmla="*/ 0 w 17"/>
                  <a:gd name="T9" fmla="*/ 12 h 17"/>
                  <a:gd name="T10" fmla="*/ 0 w 17"/>
                  <a:gd name="T11" fmla="*/ 16 h 17"/>
                  <a:gd name="T12" fmla="*/ 0 w 17"/>
                  <a:gd name="T13" fmla="*/ 1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6"/>
                    </a:moveTo>
                    <a:lnTo>
                      <a:pt x="0" y="0"/>
                    </a:lnTo>
                    <a:lnTo>
                      <a:pt x="16" y="0"/>
                    </a:lnTo>
                    <a:lnTo>
                      <a:pt x="16" y="16"/>
                    </a:lnTo>
                    <a:lnTo>
                      <a:pt x="0" y="12"/>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1" name="Freeform 434"/>
              <p:cNvSpPr>
                <a:spLocks noChangeAspect="1"/>
              </p:cNvSpPr>
              <p:nvPr/>
            </p:nvSpPr>
            <p:spPr bwMode="auto">
              <a:xfrm>
                <a:off x="555" y="3547"/>
                <a:ext cx="17" cy="1"/>
              </a:xfrm>
              <a:custGeom>
                <a:avLst/>
                <a:gdLst>
                  <a:gd name="T0" fmla="*/ 0 w 17"/>
                  <a:gd name="T1" fmla="*/ 0 h 1"/>
                  <a:gd name="T2" fmla="*/ 16 w 17"/>
                  <a:gd name="T3" fmla="*/ 0 h 1"/>
                  <a:gd name="T4" fmla="*/ 0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16"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2" name="Freeform 435"/>
              <p:cNvSpPr>
                <a:spLocks noChangeAspect="1"/>
              </p:cNvSpPr>
              <p:nvPr/>
            </p:nvSpPr>
            <p:spPr bwMode="auto">
              <a:xfrm>
                <a:off x="545" y="3547"/>
                <a:ext cx="17" cy="1"/>
              </a:xfrm>
              <a:custGeom>
                <a:avLst/>
                <a:gdLst>
                  <a:gd name="T0" fmla="*/ 0 w 17"/>
                  <a:gd name="T1" fmla="*/ 0 h 1"/>
                  <a:gd name="T2" fmla="*/ 1 w 17"/>
                  <a:gd name="T3" fmla="*/ 0 h 1"/>
                  <a:gd name="T4" fmla="*/ 16 w 17"/>
                  <a:gd name="T5" fmla="*/ 0 h 1"/>
                  <a:gd name="T6" fmla="*/ 1 w 17"/>
                  <a:gd name="T7" fmla="*/ 0 h 1"/>
                  <a:gd name="T8" fmla="*/ 2 w 17"/>
                  <a:gd name="T9" fmla="*/ 0 h 1"/>
                  <a:gd name="T10" fmla="*/ 0 w 17"/>
                  <a:gd name="T11" fmla="*/ 0 h 1"/>
                  <a:gd name="T12" fmla="*/ 1 w 17"/>
                  <a:gd name="T13" fmla="*/ 0 h 1"/>
                  <a:gd name="T14" fmla="*/ 0 w 17"/>
                  <a:gd name="T15" fmla="*/ 0 h 1"/>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
                  <a:gd name="T26" fmla="*/ 17 w 17"/>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
                    <a:moveTo>
                      <a:pt x="0" y="0"/>
                    </a:moveTo>
                    <a:lnTo>
                      <a:pt x="1" y="0"/>
                    </a:lnTo>
                    <a:lnTo>
                      <a:pt x="16" y="0"/>
                    </a:lnTo>
                    <a:lnTo>
                      <a:pt x="1" y="0"/>
                    </a:lnTo>
                    <a:lnTo>
                      <a:pt x="2" y="0"/>
                    </a:lnTo>
                    <a:lnTo>
                      <a:pt x="0" y="0"/>
                    </a:lnTo>
                    <a:lnTo>
                      <a:pt x="1"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3" name="Freeform 436"/>
              <p:cNvSpPr>
                <a:spLocks noChangeAspect="1"/>
              </p:cNvSpPr>
              <p:nvPr/>
            </p:nvSpPr>
            <p:spPr bwMode="auto">
              <a:xfrm>
                <a:off x="540" y="3520"/>
                <a:ext cx="17" cy="25"/>
              </a:xfrm>
              <a:custGeom>
                <a:avLst/>
                <a:gdLst>
                  <a:gd name="T0" fmla="*/ 6 w 17"/>
                  <a:gd name="T1" fmla="*/ 0 h 25"/>
                  <a:gd name="T2" fmla="*/ 16 w 17"/>
                  <a:gd name="T3" fmla="*/ 0 h 25"/>
                  <a:gd name="T4" fmla="*/ 16 w 17"/>
                  <a:gd name="T5" fmla="*/ 24 h 25"/>
                  <a:gd name="T6" fmla="*/ 0 w 17"/>
                  <a:gd name="T7" fmla="*/ 24 h 25"/>
                  <a:gd name="T8" fmla="*/ 0 w 17"/>
                  <a:gd name="T9" fmla="*/ 0 h 25"/>
                  <a:gd name="T10" fmla="*/ 6 w 17"/>
                  <a:gd name="T11" fmla="*/ 1 h 25"/>
                  <a:gd name="T12" fmla="*/ 6 w 17"/>
                  <a:gd name="T13" fmla="*/ 0 h 25"/>
                  <a:gd name="T14" fmla="*/ 16 w 17"/>
                  <a:gd name="T15" fmla="*/ 0 h 25"/>
                  <a:gd name="T16" fmla="*/ 16 w 17"/>
                  <a:gd name="T17" fmla="*/ 0 h 25"/>
                  <a:gd name="T18" fmla="*/ 6 w 17"/>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5"/>
                  <a:gd name="T32" fmla="*/ 17 w 17"/>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5">
                    <a:moveTo>
                      <a:pt x="6" y="0"/>
                    </a:moveTo>
                    <a:lnTo>
                      <a:pt x="16" y="0"/>
                    </a:lnTo>
                    <a:lnTo>
                      <a:pt x="16" y="24"/>
                    </a:lnTo>
                    <a:lnTo>
                      <a:pt x="0" y="24"/>
                    </a:lnTo>
                    <a:lnTo>
                      <a:pt x="0" y="0"/>
                    </a:lnTo>
                    <a:lnTo>
                      <a:pt x="6" y="1"/>
                    </a:lnTo>
                    <a:lnTo>
                      <a:pt x="6" y="0"/>
                    </a:lnTo>
                    <a:lnTo>
                      <a:pt x="16" y="0"/>
                    </a:lnTo>
                    <a:lnTo>
                      <a:pt x="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4" name="Freeform 437"/>
              <p:cNvSpPr>
                <a:spLocks noChangeAspect="1"/>
              </p:cNvSpPr>
              <p:nvPr/>
            </p:nvSpPr>
            <p:spPr bwMode="auto">
              <a:xfrm>
                <a:off x="544" y="3520"/>
                <a:ext cx="62" cy="17"/>
              </a:xfrm>
              <a:custGeom>
                <a:avLst/>
                <a:gdLst>
                  <a:gd name="T0" fmla="*/ 61 w 62"/>
                  <a:gd name="T1" fmla="*/ 15 h 17"/>
                  <a:gd name="T2" fmla="*/ 60 w 62"/>
                  <a:gd name="T3" fmla="*/ 14 h 17"/>
                  <a:gd name="T4" fmla="*/ 0 w 62"/>
                  <a:gd name="T5" fmla="*/ 0 h 17"/>
                  <a:gd name="T6" fmla="*/ 0 w 62"/>
                  <a:gd name="T7" fmla="*/ 1 h 17"/>
                  <a:gd name="T8" fmla="*/ 60 w 62"/>
                  <a:gd name="T9" fmla="*/ 16 h 17"/>
                  <a:gd name="T10" fmla="*/ 60 w 62"/>
                  <a:gd name="T11" fmla="*/ 15 h 17"/>
                  <a:gd name="T12" fmla="*/ 61 w 62"/>
                  <a:gd name="T13" fmla="*/ 15 h 17"/>
                  <a:gd name="T14" fmla="*/ 60 w 62"/>
                  <a:gd name="T15" fmla="*/ 14 h 17"/>
                  <a:gd name="T16" fmla="*/ 61 w 62"/>
                  <a:gd name="T17" fmla="*/ 1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2"/>
                  <a:gd name="T28" fmla="*/ 0 h 17"/>
                  <a:gd name="T29" fmla="*/ 62 w 62"/>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2" h="17">
                    <a:moveTo>
                      <a:pt x="61" y="15"/>
                    </a:moveTo>
                    <a:lnTo>
                      <a:pt x="60" y="14"/>
                    </a:lnTo>
                    <a:lnTo>
                      <a:pt x="0" y="0"/>
                    </a:lnTo>
                    <a:lnTo>
                      <a:pt x="0" y="1"/>
                    </a:lnTo>
                    <a:lnTo>
                      <a:pt x="60" y="16"/>
                    </a:lnTo>
                    <a:lnTo>
                      <a:pt x="60" y="15"/>
                    </a:lnTo>
                    <a:lnTo>
                      <a:pt x="61" y="15"/>
                    </a:lnTo>
                    <a:lnTo>
                      <a:pt x="60" y="14"/>
                    </a:lnTo>
                    <a:lnTo>
                      <a:pt x="61" y="1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5" name="Freeform 438"/>
              <p:cNvSpPr>
                <a:spLocks noChangeAspect="1"/>
              </p:cNvSpPr>
              <p:nvPr/>
            </p:nvSpPr>
            <p:spPr bwMode="auto">
              <a:xfrm>
                <a:off x="609" y="3532"/>
                <a:ext cx="17" cy="17"/>
              </a:xfrm>
              <a:custGeom>
                <a:avLst/>
                <a:gdLst>
                  <a:gd name="T0" fmla="*/ 0 w 17"/>
                  <a:gd name="T1" fmla="*/ 16 h 17"/>
                  <a:gd name="T2" fmla="*/ 16 w 17"/>
                  <a:gd name="T3" fmla="*/ 0 h 17"/>
                  <a:gd name="T4" fmla="*/ 0 w 17"/>
                  <a:gd name="T5" fmla="*/ 16 h 17"/>
                  <a:gd name="T6" fmla="*/ 0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16"/>
                    </a:moveTo>
                    <a:lnTo>
                      <a:pt x="16" y="0"/>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6" name="Freeform 439"/>
              <p:cNvSpPr>
                <a:spLocks noChangeAspect="1"/>
              </p:cNvSpPr>
              <p:nvPr/>
            </p:nvSpPr>
            <p:spPr bwMode="auto">
              <a:xfrm>
                <a:off x="538" y="3501"/>
                <a:ext cx="124" cy="61"/>
              </a:xfrm>
              <a:custGeom>
                <a:avLst/>
                <a:gdLst>
                  <a:gd name="T0" fmla="*/ 98 w 124"/>
                  <a:gd name="T1" fmla="*/ 10 h 61"/>
                  <a:gd name="T2" fmla="*/ 116 w 124"/>
                  <a:gd name="T3" fmla="*/ 18 h 61"/>
                  <a:gd name="T4" fmla="*/ 119 w 124"/>
                  <a:gd name="T5" fmla="*/ 20 h 61"/>
                  <a:gd name="T6" fmla="*/ 121 w 124"/>
                  <a:gd name="T7" fmla="*/ 22 h 61"/>
                  <a:gd name="T8" fmla="*/ 123 w 124"/>
                  <a:gd name="T9" fmla="*/ 26 h 61"/>
                  <a:gd name="T10" fmla="*/ 123 w 124"/>
                  <a:gd name="T11" fmla="*/ 32 h 61"/>
                  <a:gd name="T12" fmla="*/ 121 w 124"/>
                  <a:gd name="T13" fmla="*/ 34 h 61"/>
                  <a:gd name="T14" fmla="*/ 113 w 124"/>
                  <a:gd name="T15" fmla="*/ 40 h 61"/>
                  <a:gd name="T16" fmla="*/ 96 w 124"/>
                  <a:gd name="T17" fmla="*/ 55 h 61"/>
                  <a:gd name="T18" fmla="*/ 93 w 124"/>
                  <a:gd name="T19" fmla="*/ 57 h 61"/>
                  <a:gd name="T20" fmla="*/ 90 w 124"/>
                  <a:gd name="T21" fmla="*/ 59 h 61"/>
                  <a:gd name="T22" fmla="*/ 88 w 124"/>
                  <a:gd name="T23" fmla="*/ 60 h 61"/>
                  <a:gd name="T24" fmla="*/ 84 w 124"/>
                  <a:gd name="T25" fmla="*/ 57 h 61"/>
                  <a:gd name="T26" fmla="*/ 60 w 124"/>
                  <a:gd name="T27" fmla="*/ 60 h 61"/>
                  <a:gd name="T28" fmla="*/ 57 w 124"/>
                  <a:gd name="T29" fmla="*/ 59 h 61"/>
                  <a:gd name="T30" fmla="*/ 56 w 124"/>
                  <a:gd name="T31" fmla="*/ 58 h 61"/>
                  <a:gd name="T32" fmla="*/ 53 w 124"/>
                  <a:gd name="T33" fmla="*/ 57 h 61"/>
                  <a:gd name="T34" fmla="*/ 43 w 124"/>
                  <a:gd name="T35" fmla="*/ 33 h 61"/>
                  <a:gd name="T36" fmla="*/ 36 w 124"/>
                  <a:gd name="T37" fmla="*/ 31 h 61"/>
                  <a:gd name="T38" fmla="*/ 17 w 124"/>
                  <a:gd name="T39" fmla="*/ 38 h 61"/>
                  <a:gd name="T40" fmla="*/ 14 w 124"/>
                  <a:gd name="T41" fmla="*/ 39 h 61"/>
                  <a:gd name="T42" fmla="*/ 9 w 124"/>
                  <a:gd name="T43" fmla="*/ 38 h 61"/>
                  <a:gd name="T44" fmla="*/ 4 w 124"/>
                  <a:gd name="T45" fmla="*/ 35 h 61"/>
                  <a:gd name="T46" fmla="*/ 4 w 124"/>
                  <a:gd name="T47" fmla="*/ 25 h 61"/>
                  <a:gd name="T48" fmla="*/ 3 w 124"/>
                  <a:gd name="T49" fmla="*/ 25 h 61"/>
                  <a:gd name="T50" fmla="*/ 2 w 124"/>
                  <a:gd name="T51" fmla="*/ 23 h 61"/>
                  <a:gd name="T52" fmla="*/ 2 w 124"/>
                  <a:gd name="T53" fmla="*/ 18 h 61"/>
                  <a:gd name="T54" fmla="*/ 0 w 124"/>
                  <a:gd name="T55" fmla="*/ 16 h 61"/>
                  <a:gd name="T56" fmla="*/ 0 w 124"/>
                  <a:gd name="T57" fmla="*/ 12 h 61"/>
                  <a:gd name="T58" fmla="*/ 0 w 124"/>
                  <a:gd name="T59" fmla="*/ 7 h 61"/>
                  <a:gd name="T60" fmla="*/ 2 w 124"/>
                  <a:gd name="T61" fmla="*/ 2 h 61"/>
                  <a:gd name="T62" fmla="*/ 4 w 124"/>
                  <a:gd name="T63" fmla="*/ 0 h 61"/>
                  <a:gd name="T64" fmla="*/ 98 w 124"/>
                  <a:gd name="T65" fmla="*/ 10 h 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4"/>
                  <a:gd name="T100" fmla="*/ 0 h 61"/>
                  <a:gd name="T101" fmla="*/ 124 w 124"/>
                  <a:gd name="T102" fmla="*/ 61 h 6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4" h="61">
                    <a:moveTo>
                      <a:pt x="98" y="10"/>
                    </a:moveTo>
                    <a:lnTo>
                      <a:pt x="116" y="18"/>
                    </a:lnTo>
                    <a:lnTo>
                      <a:pt x="119" y="20"/>
                    </a:lnTo>
                    <a:lnTo>
                      <a:pt x="121" y="22"/>
                    </a:lnTo>
                    <a:lnTo>
                      <a:pt x="123" y="26"/>
                    </a:lnTo>
                    <a:lnTo>
                      <a:pt x="123" y="32"/>
                    </a:lnTo>
                    <a:lnTo>
                      <a:pt x="121" y="34"/>
                    </a:lnTo>
                    <a:lnTo>
                      <a:pt x="113" y="40"/>
                    </a:lnTo>
                    <a:lnTo>
                      <a:pt x="96" y="55"/>
                    </a:lnTo>
                    <a:lnTo>
                      <a:pt x="93" y="57"/>
                    </a:lnTo>
                    <a:lnTo>
                      <a:pt x="90" y="59"/>
                    </a:lnTo>
                    <a:lnTo>
                      <a:pt x="88" y="60"/>
                    </a:lnTo>
                    <a:lnTo>
                      <a:pt x="84" y="57"/>
                    </a:lnTo>
                    <a:lnTo>
                      <a:pt x="60" y="60"/>
                    </a:lnTo>
                    <a:lnTo>
                      <a:pt x="57" y="59"/>
                    </a:lnTo>
                    <a:lnTo>
                      <a:pt x="56" y="58"/>
                    </a:lnTo>
                    <a:lnTo>
                      <a:pt x="53" y="57"/>
                    </a:lnTo>
                    <a:lnTo>
                      <a:pt x="43" y="33"/>
                    </a:lnTo>
                    <a:lnTo>
                      <a:pt x="36" y="31"/>
                    </a:lnTo>
                    <a:lnTo>
                      <a:pt x="17" y="38"/>
                    </a:lnTo>
                    <a:lnTo>
                      <a:pt x="14" y="39"/>
                    </a:lnTo>
                    <a:lnTo>
                      <a:pt x="9" y="38"/>
                    </a:lnTo>
                    <a:lnTo>
                      <a:pt x="4" y="35"/>
                    </a:lnTo>
                    <a:lnTo>
                      <a:pt x="4" y="25"/>
                    </a:lnTo>
                    <a:lnTo>
                      <a:pt x="3" y="25"/>
                    </a:lnTo>
                    <a:lnTo>
                      <a:pt x="2" y="23"/>
                    </a:lnTo>
                    <a:lnTo>
                      <a:pt x="2" y="18"/>
                    </a:lnTo>
                    <a:lnTo>
                      <a:pt x="0" y="16"/>
                    </a:lnTo>
                    <a:lnTo>
                      <a:pt x="0" y="12"/>
                    </a:lnTo>
                    <a:lnTo>
                      <a:pt x="0" y="7"/>
                    </a:lnTo>
                    <a:lnTo>
                      <a:pt x="2" y="2"/>
                    </a:lnTo>
                    <a:lnTo>
                      <a:pt x="4" y="0"/>
                    </a:lnTo>
                    <a:lnTo>
                      <a:pt x="98" y="10"/>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7" name="Freeform 440"/>
              <p:cNvSpPr>
                <a:spLocks noChangeAspect="1"/>
              </p:cNvSpPr>
              <p:nvPr/>
            </p:nvSpPr>
            <p:spPr bwMode="auto">
              <a:xfrm>
                <a:off x="640" y="3512"/>
                <a:ext cx="17" cy="17"/>
              </a:xfrm>
              <a:custGeom>
                <a:avLst/>
                <a:gdLst>
                  <a:gd name="T0" fmla="*/ 16 w 17"/>
                  <a:gd name="T1" fmla="*/ 13 h 17"/>
                  <a:gd name="T2" fmla="*/ 15 w 17"/>
                  <a:gd name="T3" fmla="*/ 13 h 17"/>
                  <a:gd name="T4" fmla="*/ 0 w 17"/>
                  <a:gd name="T5" fmla="*/ 0 h 17"/>
                  <a:gd name="T6" fmla="*/ 0 w 17"/>
                  <a:gd name="T7" fmla="*/ 1 h 17"/>
                  <a:gd name="T8" fmla="*/ 15 w 17"/>
                  <a:gd name="T9" fmla="*/ 16 h 17"/>
                  <a:gd name="T10" fmla="*/ 15 w 17"/>
                  <a:gd name="T11" fmla="*/ 14 h 17"/>
                  <a:gd name="T12" fmla="*/ 16 w 17"/>
                  <a:gd name="T13" fmla="*/ 13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13"/>
                    </a:moveTo>
                    <a:lnTo>
                      <a:pt x="15" y="13"/>
                    </a:lnTo>
                    <a:lnTo>
                      <a:pt x="0" y="0"/>
                    </a:lnTo>
                    <a:lnTo>
                      <a:pt x="0" y="1"/>
                    </a:lnTo>
                    <a:lnTo>
                      <a:pt x="15" y="16"/>
                    </a:lnTo>
                    <a:lnTo>
                      <a:pt x="15" y="14"/>
                    </a:lnTo>
                    <a:lnTo>
                      <a:pt x="16" y="1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8" name="Freeform 441"/>
              <p:cNvSpPr>
                <a:spLocks noChangeAspect="1"/>
              </p:cNvSpPr>
              <p:nvPr/>
            </p:nvSpPr>
            <p:spPr bwMode="auto">
              <a:xfrm>
                <a:off x="658" y="3519"/>
                <a:ext cx="17" cy="17"/>
              </a:xfrm>
              <a:custGeom>
                <a:avLst/>
                <a:gdLst>
                  <a:gd name="T0" fmla="*/ 0 w 17"/>
                  <a:gd name="T1" fmla="*/ 8 h 17"/>
                  <a:gd name="T2" fmla="*/ 16 w 17"/>
                  <a:gd name="T3" fmla="*/ 16 h 17"/>
                  <a:gd name="T4" fmla="*/ 0 w 17"/>
                  <a:gd name="T5" fmla="*/ 0 h 17"/>
                  <a:gd name="T6" fmla="*/ 0 w 17"/>
                  <a:gd name="T7" fmla="*/ 8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8"/>
                    </a:moveTo>
                    <a:lnTo>
                      <a:pt x="16" y="16"/>
                    </a:lnTo>
                    <a:lnTo>
                      <a:pt x="0" y="0"/>
                    </a:lnTo>
                    <a:lnTo>
                      <a:pt x="0"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89" name="Freeform 442"/>
              <p:cNvSpPr>
                <a:spLocks noChangeAspect="1"/>
              </p:cNvSpPr>
              <p:nvPr/>
            </p:nvSpPr>
            <p:spPr bwMode="auto">
              <a:xfrm>
                <a:off x="661" y="3521"/>
                <a:ext cx="17" cy="17"/>
              </a:xfrm>
              <a:custGeom>
                <a:avLst/>
                <a:gdLst>
                  <a:gd name="T0" fmla="*/ 0 w 17"/>
                  <a:gd name="T1" fmla="*/ 5 h 17"/>
                  <a:gd name="T2" fmla="*/ 9 w 17"/>
                  <a:gd name="T3" fmla="*/ 16 h 17"/>
                  <a:gd name="T4" fmla="*/ 16 w 17"/>
                  <a:gd name="T5" fmla="*/ 10 h 17"/>
                  <a:gd name="T6" fmla="*/ 6 w 17"/>
                  <a:gd name="T7" fmla="*/ 0 h 17"/>
                  <a:gd name="T8" fmla="*/ 0 w 17"/>
                  <a:gd name="T9" fmla="*/ 5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5"/>
                    </a:moveTo>
                    <a:lnTo>
                      <a:pt x="9" y="16"/>
                    </a:lnTo>
                    <a:lnTo>
                      <a:pt x="16" y="10"/>
                    </a:lnTo>
                    <a:lnTo>
                      <a:pt x="6" y="0"/>
                    </a:lnTo>
                    <a:lnTo>
                      <a:pt x="0" y="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0" name="Freeform 443"/>
              <p:cNvSpPr>
                <a:spLocks noChangeAspect="1"/>
              </p:cNvSpPr>
              <p:nvPr/>
            </p:nvSpPr>
            <p:spPr bwMode="auto">
              <a:xfrm>
                <a:off x="663" y="3526"/>
                <a:ext cx="17" cy="1"/>
              </a:xfrm>
              <a:custGeom>
                <a:avLst/>
                <a:gdLst>
                  <a:gd name="T0" fmla="*/ 0 w 17"/>
                  <a:gd name="T1" fmla="*/ 0 h 1"/>
                  <a:gd name="T2" fmla="*/ 10 w 17"/>
                  <a:gd name="T3" fmla="*/ 0 h 1"/>
                  <a:gd name="T4" fmla="*/ 16 w 17"/>
                  <a:gd name="T5" fmla="*/ 0 h 1"/>
                  <a:gd name="T6" fmla="*/ 5 w 17"/>
                  <a:gd name="T7" fmla="*/ 0 h 1"/>
                  <a:gd name="T8" fmla="*/ 0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0" y="0"/>
                    </a:moveTo>
                    <a:lnTo>
                      <a:pt x="10" y="0"/>
                    </a:lnTo>
                    <a:lnTo>
                      <a:pt x="16" y="0"/>
                    </a:lnTo>
                    <a:lnTo>
                      <a:pt x="5"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1" name="Freeform 444"/>
              <p:cNvSpPr>
                <a:spLocks noChangeAspect="1"/>
              </p:cNvSpPr>
              <p:nvPr/>
            </p:nvSpPr>
            <p:spPr bwMode="auto">
              <a:xfrm>
                <a:off x="663" y="3529"/>
                <a:ext cx="17" cy="17"/>
              </a:xfrm>
              <a:custGeom>
                <a:avLst/>
                <a:gdLst>
                  <a:gd name="T0" fmla="*/ 0 w 17"/>
                  <a:gd name="T1" fmla="*/ 16 h 17"/>
                  <a:gd name="T2" fmla="*/ 0 w 17"/>
                  <a:gd name="T3" fmla="*/ 12 h 17"/>
                  <a:gd name="T4" fmla="*/ 0 w 17"/>
                  <a:gd name="T5" fmla="*/ 0 h 17"/>
                  <a:gd name="T6" fmla="*/ 16 w 17"/>
                  <a:gd name="T7" fmla="*/ 0 h 17"/>
                  <a:gd name="T8" fmla="*/ 16 w 17"/>
                  <a:gd name="T9" fmla="*/ 12 h 17"/>
                  <a:gd name="T10" fmla="*/ 0 w 17"/>
                  <a:gd name="T11" fmla="*/ 16 h 17"/>
                  <a:gd name="T12" fmla="*/ 0 w 17"/>
                  <a:gd name="T13" fmla="*/ 12 h 17"/>
                  <a:gd name="T14" fmla="*/ 0 w 17"/>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16"/>
                    </a:moveTo>
                    <a:lnTo>
                      <a:pt x="0" y="12"/>
                    </a:lnTo>
                    <a:lnTo>
                      <a:pt x="0" y="0"/>
                    </a:lnTo>
                    <a:lnTo>
                      <a:pt x="16" y="0"/>
                    </a:lnTo>
                    <a:lnTo>
                      <a:pt x="16" y="12"/>
                    </a:lnTo>
                    <a:lnTo>
                      <a:pt x="0" y="16"/>
                    </a:lnTo>
                    <a:lnTo>
                      <a:pt x="0" y="12"/>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2" name="Freeform 445"/>
              <p:cNvSpPr>
                <a:spLocks noChangeAspect="1"/>
              </p:cNvSpPr>
              <p:nvPr/>
            </p:nvSpPr>
            <p:spPr bwMode="auto">
              <a:xfrm>
                <a:off x="663" y="3534"/>
                <a:ext cx="17" cy="17"/>
              </a:xfrm>
              <a:custGeom>
                <a:avLst/>
                <a:gdLst>
                  <a:gd name="T0" fmla="*/ 10 w 17"/>
                  <a:gd name="T1" fmla="*/ 0 h 17"/>
                  <a:gd name="T2" fmla="*/ 0 w 17"/>
                  <a:gd name="T3" fmla="*/ 16 h 17"/>
                  <a:gd name="T4" fmla="*/ 5 w 17"/>
                  <a:gd name="T5" fmla="*/ 16 h 17"/>
                  <a:gd name="T6" fmla="*/ 16 w 17"/>
                  <a:gd name="T7" fmla="*/ 0 h 17"/>
                  <a:gd name="T8" fmla="*/ 1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0" y="0"/>
                    </a:moveTo>
                    <a:lnTo>
                      <a:pt x="0" y="16"/>
                    </a:lnTo>
                    <a:lnTo>
                      <a:pt x="5" y="16"/>
                    </a:lnTo>
                    <a:lnTo>
                      <a:pt x="16" y="0"/>
                    </a:lnTo>
                    <a:lnTo>
                      <a:pt x="1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3" name="Freeform 446"/>
              <p:cNvSpPr>
                <a:spLocks noChangeAspect="1"/>
              </p:cNvSpPr>
              <p:nvPr/>
            </p:nvSpPr>
            <p:spPr bwMode="auto">
              <a:xfrm>
                <a:off x="655" y="3537"/>
                <a:ext cx="17" cy="17"/>
              </a:xfrm>
              <a:custGeom>
                <a:avLst/>
                <a:gdLst>
                  <a:gd name="T0" fmla="*/ 1 w 17"/>
                  <a:gd name="T1" fmla="*/ 16 h 17"/>
                  <a:gd name="T2" fmla="*/ 16 w 17"/>
                  <a:gd name="T3" fmla="*/ 2 h 17"/>
                  <a:gd name="T4" fmla="*/ 14 w 17"/>
                  <a:gd name="T5" fmla="*/ 0 h 17"/>
                  <a:gd name="T6" fmla="*/ 0 w 17"/>
                  <a:gd name="T7" fmla="*/ 13 h 17"/>
                  <a:gd name="T8" fmla="*/ 1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 y="16"/>
                    </a:moveTo>
                    <a:lnTo>
                      <a:pt x="16" y="2"/>
                    </a:lnTo>
                    <a:lnTo>
                      <a:pt x="14" y="0"/>
                    </a:lnTo>
                    <a:lnTo>
                      <a:pt x="0" y="13"/>
                    </a:lnTo>
                    <a:lnTo>
                      <a:pt x="1"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4" name="Freeform 447"/>
              <p:cNvSpPr>
                <a:spLocks noChangeAspect="1"/>
              </p:cNvSpPr>
              <p:nvPr/>
            </p:nvSpPr>
            <p:spPr bwMode="auto">
              <a:xfrm>
                <a:off x="638" y="3544"/>
                <a:ext cx="17" cy="17"/>
              </a:xfrm>
              <a:custGeom>
                <a:avLst/>
                <a:gdLst>
                  <a:gd name="T0" fmla="*/ 0 w 17"/>
                  <a:gd name="T1" fmla="*/ 16 h 17"/>
                  <a:gd name="T2" fmla="*/ 16 w 17"/>
                  <a:gd name="T3" fmla="*/ 0 h 17"/>
                  <a:gd name="T4" fmla="*/ 15 w 17"/>
                  <a:gd name="T5" fmla="*/ 0 h 17"/>
                  <a:gd name="T6" fmla="*/ 0 w 17"/>
                  <a:gd name="T7" fmla="*/ 15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16" y="0"/>
                    </a:lnTo>
                    <a:lnTo>
                      <a:pt x="15" y="0"/>
                    </a:lnTo>
                    <a:lnTo>
                      <a:pt x="0" y="15"/>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5" name="Freeform 448"/>
              <p:cNvSpPr>
                <a:spLocks noChangeAspect="1"/>
              </p:cNvSpPr>
              <p:nvPr/>
            </p:nvSpPr>
            <p:spPr bwMode="auto">
              <a:xfrm>
                <a:off x="635" y="3559"/>
                <a:ext cx="1" cy="17"/>
              </a:xfrm>
              <a:custGeom>
                <a:avLst/>
                <a:gdLst>
                  <a:gd name="T0" fmla="*/ 0 w 1"/>
                  <a:gd name="T1" fmla="*/ 0 h 17"/>
                  <a:gd name="T2" fmla="*/ 0 w 1"/>
                  <a:gd name="T3" fmla="*/ 16 h 17"/>
                  <a:gd name="T4" fmla="*/ 0 w 1"/>
                  <a:gd name="T5" fmla="*/ 0 h 17"/>
                  <a:gd name="T6" fmla="*/ 0 w 1"/>
                  <a:gd name="T7" fmla="*/ 0 h 17"/>
                  <a:gd name="T8" fmla="*/ 0 60000 65536"/>
                  <a:gd name="T9" fmla="*/ 0 60000 65536"/>
                  <a:gd name="T10" fmla="*/ 0 60000 65536"/>
                  <a:gd name="T11" fmla="*/ 0 60000 65536"/>
                  <a:gd name="T12" fmla="*/ 0 w 1"/>
                  <a:gd name="T13" fmla="*/ 0 h 17"/>
                  <a:gd name="T14" fmla="*/ 1 w 1"/>
                  <a:gd name="T15" fmla="*/ 17 h 17"/>
                </a:gdLst>
                <a:ahLst/>
                <a:cxnLst>
                  <a:cxn ang="T8">
                    <a:pos x="T0" y="T1"/>
                  </a:cxn>
                  <a:cxn ang="T9">
                    <a:pos x="T2" y="T3"/>
                  </a:cxn>
                  <a:cxn ang="T10">
                    <a:pos x="T4" y="T5"/>
                  </a:cxn>
                  <a:cxn ang="T11">
                    <a:pos x="T6" y="T7"/>
                  </a:cxn>
                </a:cxnLst>
                <a:rect l="T12" t="T13" r="T14" b="T15"/>
                <a:pathLst>
                  <a:path w="1" h="17">
                    <a:moveTo>
                      <a:pt x="0" y="0"/>
                    </a:moveTo>
                    <a:lnTo>
                      <a:pt x="0" y="16"/>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6" name="Freeform 449"/>
              <p:cNvSpPr>
                <a:spLocks noChangeAspect="1"/>
              </p:cNvSpPr>
              <p:nvPr/>
            </p:nvSpPr>
            <p:spPr bwMode="auto">
              <a:xfrm>
                <a:off x="631" y="3561"/>
                <a:ext cx="17" cy="17"/>
              </a:xfrm>
              <a:custGeom>
                <a:avLst/>
                <a:gdLst>
                  <a:gd name="T0" fmla="*/ 10 w 17"/>
                  <a:gd name="T1" fmla="*/ 0 h 17"/>
                  <a:gd name="T2" fmla="*/ 0 w 17"/>
                  <a:gd name="T3" fmla="*/ 9 h 17"/>
                  <a:gd name="T4" fmla="*/ 0 w 17"/>
                  <a:gd name="T5" fmla="*/ 16 h 17"/>
                  <a:gd name="T6" fmla="*/ 16 w 17"/>
                  <a:gd name="T7" fmla="*/ 9 h 17"/>
                  <a:gd name="T8" fmla="*/ 16 w 17"/>
                  <a:gd name="T9" fmla="*/ 0 h 17"/>
                  <a:gd name="T10" fmla="*/ 1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0" y="0"/>
                    </a:moveTo>
                    <a:lnTo>
                      <a:pt x="0" y="9"/>
                    </a:lnTo>
                    <a:lnTo>
                      <a:pt x="0" y="16"/>
                    </a:lnTo>
                    <a:lnTo>
                      <a:pt x="16" y="9"/>
                    </a:lnTo>
                    <a:lnTo>
                      <a:pt x="16" y="0"/>
                    </a:lnTo>
                    <a:lnTo>
                      <a:pt x="1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7" name="Freeform 450"/>
              <p:cNvSpPr>
                <a:spLocks noChangeAspect="1"/>
              </p:cNvSpPr>
              <p:nvPr/>
            </p:nvSpPr>
            <p:spPr bwMode="auto">
              <a:xfrm>
                <a:off x="628" y="3561"/>
                <a:ext cx="17" cy="17"/>
              </a:xfrm>
              <a:custGeom>
                <a:avLst/>
                <a:gdLst>
                  <a:gd name="T0" fmla="*/ 16 w 17"/>
                  <a:gd name="T1" fmla="*/ 0 h 17"/>
                  <a:gd name="T2" fmla="*/ 0 w 17"/>
                  <a:gd name="T3" fmla="*/ 5 h 17"/>
                  <a:gd name="T4" fmla="*/ 5 w 17"/>
                  <a:gd name="T5" fmla="*/ 16 h 17"/>
                  <a:gd name="T6" fmla="*/ 16 w 17"/>
                  <a:gd name="T7" fmla="*/ 5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0" y="5"/>
                    </a:lnTo>
                    <a:lnTo>
                      <a:pt x="5" y="16"/>
                    </a:lnTo>
                    <a:lnTo>
                      <a:pt x="16" y="5"/>
                    </a:lnTo>
                    <a:lnTo>
                      <a:pt x="1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8" name="Freeform 451"/>
              <p:cNvSpPr>
                <a:spLocks noChangeAspect="1"/>
              </p:cNvSpPr>
              <p:nvPr/>
            </p:nvSpPr>
            <p:spPr bwMode="auto">
              <a:xfrm>
                <a:off x="627" y="3561"/>
                <a:ext cx="1" cy="17"/>
              </a:xfrm>
              <a:custGeom>
                <a:avLst/>
                <a:gdLst>
                  <a:gd name="T0" fmla="*/ 0 w 1"/>
                  <a:gd name="T1" fmla="*/ 12 h 17"/>
                  <a:gd name="T2" fmla="*/ 0 w 1"/>
                  <a:gd name="T3" fmla="*/ 0 h 17"/>
                  <a:gd name="T4" fmla="*/ 0 w 1"/>
                  <a:gd name="T5" fmla="*/ 4 h 17"/>
                  <a:gd name="T6" fmla="*/ 0 w 1"/>
                  <a:gd name="T7" fmla="*/ 16 h 17"/>
                  <a:gd name="T8" fmla="*/ 0 w 1"/>
                  <a:gd name="T9" fmla="*/ 12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12"/>
                    </a:moveTo>
                    <a:lnTo>
                      <a:pt x="0" y="0"/>
                    </a:lnTo>
                    <a:lnTo>
                      <a:pt x="0" y="4"/>
                    </a:lnTo>
                    <a:lnTo>
                      <a:pt x="0" y="16"/>
                    </a:lnTo>
                    <a:lnTo>
                      <a:pt x="0" y="1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99" name="Freeform 452"/>
              <p:cNvSpPr>
                <a:spLocks noChangeAspect="1"/>
              </p:cNvSpPr>
              <p:nvPr/>
            </p:nvSpPr>
            <p:spPr bwMode="auto">
              <a:xfrm>
                <a:off x="602" y="3561"/>
                <a:ext cx="20" cy="17"/>
              </a:xfrm>
              <a:custGeom>
                <a:avLst/>
                <a:gdLst>
                  <a:gd name="T0" fmla="*/ 0 w 20"/>
                  <a:gd name="T1" fmla="*/ 0 h 17"/>
                  <a:gd name="T2" fmla="*/ 19 w 20"/>
                  <a:gd name="T3" fmla="*/ 12 h 17"/>
                  <a:gd name="T4" fmla="*/ 19 w 20"/>
                  <a:gd name="T5" fmla="*/ 16 h 17"/>
                  <a:gd name="T6" fmla="*/ 0 w 20"/>
                  <a:gd name="T7" fmla="*/ 4 h 17"/>
                  <a:gd name="T8" fmla="*/ 0 w 20"/>
                  <a:gd name="T9" fmla="*/ 0 h 17"/>
                  <a:gd name="T10" fmla="*/ 0 60000 65536"/>
                  <a:gd name="T11" fmla="*/ 0 60000 65536"/>
                  <a:gd name="T12" fmla="*/ 0 60000 65536"/>
                  <a:gd name="T13" fmla="*/ 0 60000 65536"/>
                  <a:gd name="T14" fmla="*/ 0 60000 65536"/>
                  <a:gd name="T15" fmla="*/ 0 w 20"/>
                  <a:gd name="T16" fmla="*/ 0 h 17"/>
                  <a:gd name="T17" fmla="*/ 20 w 20"/>
                  <a:gd name="T18" fmla="*/ 17 h 17"/>
                </a:gdLst>
                <a:ahLst/>
                <a:cxnLst>
                  <a:cxn ang="T10">
                    <a:pos x="T0" y="T1"/>
                  </a:cxn>
                  <a:cxn ang="T11">
                    <a:pos x="T2" y="T3"/>
                  </a:cxn>
                  <a:cxn ang="T12">
                    <a:pos x="T4" y="T5"/>
                  </a:cxn>
                  <a:cxn ang="T13">
                    <a:pos x="T6" y="T7"/>
                  </a:cxn>
                  <a:cxn ang="T14">
                    <a:pos x="T8" y="T9"/>
                  </a:cxn>
                </a:cxnLst>
                <a:rect l="T15" t="T16" r="T17" b="T18"/>
                <a:pathLst>
                  <a:path w="20" h="17">
                    <a:moveTo>
                      <a:pt x="0" y="0"/>
                    </a:moveTo>
                    <a:lnTo>
                      <a:pt x="19" y="12"/>
                    </a:lnTo>
                    <a:lnTo>
                      <a:pt x="19" y="16"/>
                    </a:lnTo>
                    <a:lnTo>
                      <a:pt x="0" y="4"/>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0" name="Freeform 453"/>
              <p:cNvSpPr>
                <a:spLocks noChangeAspect="1"/>
              </p:cNvSpPr>
              <p:nvPr/>
            </p:nvSpPr>
            <p:spPr bwMode="auto">
              <a:xfrm>
                <a:off x="598" y="3561"/>
                <a:ext cx="17" cy="17"/>
              </a:xfrm>
              <a:custGeom>
                <a:avLst/>
                <a:gdLst>
                  <a:gd name="T0" fmla="*/ 16 w 17"/>
                  <a:gd name="T1" fmla="*/ 5 h 17"/>
                  <a:gd name="T2" fmla="*/ 0 w 17"/>
                  <a:gd name="T3" fmla="*/ 0 h 17"/>
                  <a:gd name="T4" fmla="*/ 0 w 17"/>
                  <a:gd name="T5" fmla="*/ 5 h 17"/>
                  <a:gd name="T6" fmla="*/ 16 w 17"/>
                  <a:gd name="T7" fmla="*/ 16 h 17"/>
                  <a:gd name="T8" fmla="*/ 16 w 17"/>
                  <a:gd name="T9" fmla="*/ 5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5"/>
                    </a:moveTo>
                    <a:lnTo>
                      <a:pt x="0" y="0"/>
                    </a:lnTo>
                    <a:lnTo>
                      <a:pt x="0" y="5"/>
                    </a:lnTo>
                    <a:lnTo>
                      <a:pt x="16" y="16"/>
                    </a:lnTo>
                    <a:lnTo>
                      <a:pt x="16" y="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1" name="Freeform 454"/>
              <p:cNvSpPr>
                <a:spLocks noChangeAspect="1"/>
              </p:cNvSpPr>
              <p:nvPr/>
            </p:nvSpPr>
            <p:spPr bwMode="auto">
              <a:xfrm>
                <a:off x="593" y="3561"/>
                <a:ext cx="17" cy="17"/>
              </a:xfrm>
              <a:custGeom>
                <a:avLst/>
                <a:gdLst>
                  <a:gd name="T0" fmla="*/ 16 w 17"/>
                  <a:gd name="T1" fmla="*/ 6 h 17"/>
                  <a:gd name="T2" fmla="*/ 0 w 17"/>
                  <a:gd name="T3" fmla="*/ 0 h 17"/>
                  <a:gd name="T4" fmla="*/ 0 w 17"/>
                  <a:gd name="T5" fmla="*/ 16 h 17"/>
                  <a:gd name="T6" fmla="*/ 9 w 17"/>
                  <a:gd name="T7" fmla="*/ 16 h 17"/>
                  <a:gd name="T8" fmla="*/ 16 w 17"/>
                  <a:gd name="T9" fmla="*/ 6 h 17"/>
                  <a:gd name="T10" fmla="*/ 9 w 17"/>
                  <a:gd name="T11" fmla="*/ 6 h 17"/>
                  <a:gd name="T12" fmla="*/ 16 w 17"/>
                  <a:gd name="T13" fmla="*/ 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6"/>
                    </a:moveTo>
                    <a:lnTo>
                      <a:pt x="0" y="0"/>
                    </a:lnTo>
                    <a:lnTo>
                      <a:pt x="0" y="16"/>
                    </a:lnTo>
                    <a:lnTo>
                      <a:pt x="9" y="16"/>
                    </a:lnTo>
                    <a:lnTo>
                      <a:pt x="16" y="6"/>
                    </a:lnTo>
                    <a:lnTo>
                      <a:pt x="9" y="6"/>
                    </a:lnTo>
                    <a:lnTo>
                      <a:pt x="16"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2" name="Freeform 455"/>
              <p:cNvSpPr>
                <a:spLocks noChangeAspect="1"/>
              </p:cNvSpPr>
              <p:nvPr/>
            </p:nvSpPr>
            <p:spPr bwMode="auto">
              <a:xfrm>
                <a:off x="592" y="3560"/>
                <a:ext cx="17" cy="17"/>
              </a:xfrm>
              <a:custGeom>
                <a:avLst/>
                <a:gdLst>
                  <a:gd name="T0" fmla="*/ 16 w 17"/>
                  <a:gd name="T1" fmla="*/ 9 h 17"/>
                  <a:gd name="T2" fmla="*/ 5 w 17"/>
                  <a:gd name="T3" fmla="*/ 0 h 17"/>
                  <a:gd name="T4" fmla="*/ 0 w 17"/>
                  <a:gd name="T5" fmla="*/ 6 h 17"/>
                  <a:gd name="T6" fmla="*/ 10 w 17"/>
                  <a:gd name="T7" fmla="*/ 16 h 17"/>
                  <a:gd name="T8" fmla="*/ 16 w 17"/>
                  <a:gd name="T9" fmla="*/ 9 h 17"/>
                  <a:gd name="T10" fmla="*/ 10 w 17"/>
                  <a:gd name="T11" fmla="*/ 9 h 17"/>
                  <a:gd name="T12" fmla="*/ 16 w 17"/>
                  <a:gd name="T13" fmla="*/ 9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9"/>
                    </a:moveTo>
                    <a:lnTo>
                      <a:pt x="5" y="0"/>
                    </a:lnTo>
                    <a:lnTo>
                      <a:pt x="0" y="6"/>
                    </a:lnTo>
                    <a:lnTo>
                      <a:pt x="10" y="16"/>
                    </a:lnTo>
                    <a:lnTo>
                      <a:pt x="16" y="9"/>
                    </a:lnTo>
                    <a:lnTo>
                      <a:pt x="10" y="9"/>
                    </a:lnTo>
                    <a:lnTo>
                      <a:pt x="16" y="9"/>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3" name="Freeform 456"/>
              <p:cNvSpPr>
                <a:spLocks noChangeAspect="1"/>
              </p:cNvSpPr>
              <p:nvPr/>
            </p:nvSpPr>
            <p:spPr bwMode="auto">
              <a:xfrm>
                <a:off x="583" y="3537"/>
                <a:ext cx="17" cy="22"/>
              </a:xfrm>
              <a:custGeom>
                <a:avLst/>
                <a:gdLst>
                  <a:gd name="T0" fmla="*/ 0 w 17"/>
                  <a:gd name="T1" fmla="*/ 1 h 22"/>
                  <a:gd name="T2" fmla="*/ 0 w 17"/>
                  <a:gd name="T3" fmla="*/ 0 h 22"/>
                  <a:gd name="T4" fmla="*/ 14 w 17"/>
                  <a:gd name="T5" fmla="*/ 21 h 22"/>
                  <a:gd name="T6" fmla="*/ 16 w 17"/>
                  <a:gd name="T7" fmla="*/ 20 h 22"/>
                  <a:gd name="T8" fmla="*/ 1 w 17"/>
                  <a:gd name="T9" fmla="*/ 0 h 22"/>
                  <a:gd name="T10" fmla="*/ 1 w 17"/>
                  <a:gd name="T11" fmla="*/ 0 h 22"/>
                  <a:gd name="T12" fmla="*/ 1 w 17"/>
                  <a:gd name="T13" fmla="*/ 0 h 22"/>
                  <a:gd name="T14" fmla="*/ 1 w 17"/>
                  <a:gd name="T15" fmla="*/ 0 h 22"/>
                  <a:gd name="T16" fmla="*/ 0 w 17"/>
                  <a:gd name="T17" fmla="*/ 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22"/>
                  <a:gd name="T29" fmla="*/ 17 w 1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22">
                    <a:moveTo>
                      <a:pt x="0" y="1"/>
                    </a:moveTo>
                    <a:lnTo>
                      <a:pt x="0" y="0"/>
                    </a:lnTo>
                    <a:lnTo>
                      <a:pt x="14" y="21"/>
                    </a:lnTo>
                    <a:lnTo>
                      <a:pt x="16" y="20"/>
                    </a:lnTo>
                    <a:lnTo>
                      <a:pt x="1" y="0"/>
                    </a:lnTo>
                    <a:lnTo>
                      <a:pt x="0"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4" name="Freeform 457"/>
              <p:cNvSpPr>
                <a:spLocks noChangeAspect="1"/>
              </p:cNvSpPr>
              <p:nvPr/>
            </p:nvSpPr>
            <p:spPr bwMode="auto">
              <a:xfrm>
                <a:off x="576" y="3533"/>
                <a:ext cx="17" cy="17"/>
              </a:xfrm>
              <a:custGeom>
                <a:avLst/>
                <a:gdLst>
                  <a:gd name="T0" fmla="*/ 0 w 17"/>
                  <a:gd name="T1" fmla="*/ 8 h 17"/>
                  <a:gd name="T2" fmla="*/ 13 w 17"/>
                  <a:gd name="T3" fmla="*/ 0 h 17"/>
                  <a:gd name="T4" fmla="*/ 16 w 17"/>
                  <a:gd name="T5" fmla="*/ 8 h 17"/>
                  <a:gd name="T6" fmla="*/ 0 w 17"/>
                  <a:gd name="T7" fmla="*/ 16 h 17"/>
                  <a:gd name="T8" fmla="*/ 0 w 17"/>
                  <a:gd name="T9" fmla="*/ 8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8"/>
                    </a:moveTo>
                    <a:lnTo>
                      <a:pt x="13" y="0"/>
                    </a:lnTo>
                    <a:lnTo>
                      <a:pt x="16" y="8"/>
                    </a:lnTo>
                    <a:lnTo>
                      <a:pt x="0" y="16"/>
                    </a:lnTo>
                    <a:lnTo>
                      <a:pt x="0"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5" name="Freeform 458"/>
              <p:cNvSpPr>
                <a:spLocks noChangeAspect="1"/>
              </p:cNvSpPr>
              <p:nvPr/>
            </p:nvSpPr>
            <p:spPr bwMode="auto">
              <a:xfrm>
                <a:off x="557" y="3534"/>
                <a:ext cx="17" cy="17"/>
              </a:xfrm>
              <a:custGeom>
                <a:avLst/>
                <a:gdLst>
                  <a:gd name="T0" fmla="*/ 0 w 17"/>
                  <a:gd name="T1" fmla="*/ 16 h 17"/>
                  <a:gd name="T2" fmla="*/ 16 w 17"/>
                  <a:gd name="T3" fmla="*/ 3 h 17"/>
                  <a:gd name="T4" fmla="*/ 16 w 17"/>
                  <a:gd name="T5" fmla="*/ 0 h 17"/>
                  <a:gd name="T6" fmla="*/ 0 w 17"/>
                  <a:gd name="T7" fmla="*/ 12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16" y="3"/>
                    </a:lnTo>
                    <a:lnTo>
                      <a:pt x="16" y="0"/>
                    </a:lnTo>
                    <a:lnTo>
                      <a:pt x="0" y="12"/>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6" name="Freeform 459"/>
              <p:cNvSpPr>
                <a:spLocks noChangeAspect="1"/>
              </p:cNvSpPr>
              <p:nvPr/>
            </p:nvSpPr>
            <p:spPr bwMode="auto">
              <a:xfrm>
                <a:off x="554" y="3538"/>
                <a:ext cx="17" cy="17"/>
              </a:xfrm>
              <a:custGeom>
                <a:avLst/>
                <a:gdLst>
                  <a:gd name="T0" fmla="*/ 16 w 17"/>
                  <a:gd name="T1" fmla="*/ 0 h 17"/>
                  <a:gd name="T2" fmla="*/ 0 w 17"/>
                  <a:gd name="T3" fmla="*/ 0 h 17"/>
                  <a:gd name="T4" fmla="*/ 0 w 17"/>
                  <a:gd name="T5" fmla="*/ 16 h 17"/>
                  <a:gd name="T6" fmla="*/ 16 w 17"/>
                  <a:gd name="T7" fmla="*/ 6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0" y="0"/>
                    </a:lnTo>
                    <a:lnTo>
                      <a:pt x="0" y="16"/>
                    </a:lnTo>
                    <a:lnTo>
                      <a:pt x="16" y="6"/>
                    </a:lnTo>
                    <a:lnTo>
                      <a:pt x="1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7" name="Freeform 460"/>
              <p:cNvSpPr>
                <a:spLocks noChangeAspect="1"/>
              </p:cNvSpPr>
              <p:nvPr/>
            </p:nvSpPr>
            <p:spPr bwMode="auto">
              <a:xfrm>
                <a:off x="548" y="3538"/>
                <a:ext cx="17" cy="17"/>
              </a:xfrm>
              <a:custGeom>
                <a:avLst/>
                <a:gdLst>
                  <a:gd name="T0" fmla="*/ 0 w 17"/>
                  <a:gd name="T1" fmla="*/ 6 h 17"/>
                  <a:gd name="T2" fmla="*/ 0 w 17"/>
                  <a:gd name="T3" fmla="*/ 0 h 17"/>
                  <a:gd name="T4" fmla="*/ 16 w 17"/>
                  <a:gd name="T5" fmla="*/ 0 h 17"/>
                  <a:gd name="T6" fmla="*/ 16 w 17"/>
                  <a:gd name="T7" fmla="*/ 6 h 17"/>
                  <a:gd name="T8" fmla="*/ 0 w 17"/>
                  <a:gd name="T9" fmla="*/ 16 h 17"/>
                  <a:gd name="T10" fmla="*/ 0 w 17"/>
                  <a:gd name="T11" fmla="*/ 6 h 17"/>
                  <a:gd name="T12" fmla="*/ 0 w 17"/>
                  <a:gd name="T13" fmla="*/ 0 h 17"/>
                  <a:gd name="T14" fmla="*/ 0 w 17"/>
                  <a:gd name="T15" fmla="*/ 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6"/>
                    </a:moveTo>
                    <a:lnTo>
                      <a:pt x="0" y="0"/>
                    </a:lnTo>
                    <a:lnTo>
                      <a:pt x="16" y="0"/>
                    </a:lnTo>
                    <a:lnTo>
                      <a:pt x="16" y="6"/>
                    </a:lnTo>
                    <a:lnTo>
                      <a:pt x="0" y="16"/>
                    </a:lnTo>
                    <a:lnTo>
                      <a:pt x="0" y="6"/>
                    </a:lnTo>
                    <a:lnTo>
                      <a:pt x="0" y="0"/>
                    </a:lnTo>
                    <a:lnTo>
                      <a:pt x="0"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8" name="Freeform 461"/>
              <p:cNvSpPr>
                <a:spLocks noChangeAspect="1"/>
              </p:cNvSpPr>
              <p:nvPr/>
            </p:nvSpPr>
            <p:spPr bwMode="auto">
              <a:xfrm>
                <a:off x="544" y="3538"/>
                <a:ext cx="17" cy="1"/>
              </a:xfrm>
              <a:custGeom>
                <a:avLst/>
                <a:gdLst>
                  <a:gd name="T0" fmla="*/ 0 w 17"/>
                  <a:gd name="T1" fmla="*/ 0 h 1"/>
                  <a:gd name="T2" fmla="*/ 16 w 17"/>
                  <a:gd name="T3" fmla="*/ 0 h 1"/>
                  <a:gd name="T4" fmla="*/ 5 w 17"/>
                  <a:gd name="T5" fmla="*/ 0 h 1"/>
                  <a:gd name="T6" fmla="*/ 0 w 17"/>
                  <a:gd name="T7" fmla="*/ 0 h 1"/>
                  <a:gd name="T8" fmla="*/ 0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0" y="0"/>
                    </a:moveTo>
                    <a:lnTo>
                      <a:pt x="16" y="0"/>
                    </a:lnTo>
                    <a:lnTo>
                      <a:pt x="5"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09" name="Freeform 462"/>
              <p:cNvSpPr>
                <a:spLocks noChangeAspect="1"/>
              </p:cNvSpPr>
              <p:nvPr/>
            </p:nvSpPr>
            <p:spPr bwMode="auto">
              <a:xfrm>
                <a:off x="540" y="3528"/>
                <a:ext cx="17" cy="17"/>
              </a:xfrm>
              <a:custGeom>
                <a:avLst/>
                <a:gdLst>
                  <a:gd name="T0" fmla="*/ 6 w 17"/>
                  <a:gd name="T1" fmla="*/ 1 h 17"/>
                  <a:gd name="T2" fmla="*/ 16 w 17"/>
                  <a:gd name="T3" fmla="*/ 0 h 17"/>
                  <a:gd name="T4" fmla="*/ 16 w 17"/>
                  <a:gd name="T5" fmla="*/ 16 h 17"/>
                  <a:gd name="T6" fmla="*/ 6 w 17"/>
                  <a:gd name="T7" fmla="*/ 16 h 17"/>
                  <a:gd name="T8" fmla="*/ 0 w 17"/>
                  <a:gd name="T9" fmla="*/ 0 h 17"/>
                  <a:gd name="T10" fmla="*/ 6 w 17"/>
                  <a:gd name="T11" fmla="*/ 0 h 17"/>
                  <a:gd name="T12" fmla="*/ 0 w 17"/>
                  <a:gd name="T13" fmla="*/ 0 h 17"/>
                  <a:gd name="T14" fmla="*/ 6 w 17"/>
                  <a:gd name="T15" fmla="*/ 0 h 17"/>
                  <a:gd name="T16" fmla="*/ 6 w 17"/>
                  <a:gd name="T17" fmla="*/ 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6" y="1"/>
                    </a:moveTo>
                    <a:lnTo>
                      <a:pt x="16" y="0"/>
                    </a:lnTo>
                    <a:lnTo>
                      <a:pt x="16" y="16"/>
                    </a:lnTo>
                    <a:lnTo>
                      <a:pt x="6" y="16"/>
                    </a:lnTo>
                    <a:lnTo>
                      <a:pt x="0" y="0"/>
                    </a:lnTo>
                    <a:lnTo>
                      <a:pt x="6" y="0"/>
                    </a:lnTo>
                    <a:lnTo>
                      <a:pt x="0" y="0"/>
                    </a:lnTo>
                    <a:lnTo>
                      <a:pt x="6" y="0"/>
                    </a:lnTo>
                    <a:lnTo>
                      <a:pt x="6"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0" name="Freeform 463"/>
              <p:cNvSpPr>
                <a:spLocks noChangeAspect="1"/>
              </p:cNvSpPr>
              <p:nvPr/>
            </p:nvSpPr>
            <p:spPr bwMode="auto">
              <a:xfrm>
                <a:off x="539" y="3525"/>
                <a:ext cx="17" cy="17"/>
              </a:xfrm>
              <a:custGeom>
                <a:avLst/>
                <a:gdLst>
                  <a:gd name="T0" fmla="*/ 16 w 17"/>
                  <a:gd name="T1" fmla="*/ 8 h 17"/>
                  <a:gd name="T2" fmla="*/ 0 w 17"/>
                  <a:gd name="T3" fmla="*/ 0 h 17"/>
                  <a:gd name="T4" fmla="*/ 0 w 17"/>
                  <a:gd name="T5" fmla="*/ 8 h 17"/>
                  <a:gd name="T6" fmla="*/ 9 w 17"/>
                  <a:gd name="T7" fmla="*/ 16 h 17"/>
                  <a:gd name="T8" fmla="*/ 16 w 17"/>
                  <a:gd name="T9" fmla="*/ 8 h 17"/>
                  <a:gd name="T10" fmla="*/ 9 w 17"/>
                  <a:gd name="T11" fmla="*/ 8 h 17"/>
                  <a:gd name="T12" fmla="*/ 16 w 17"/>
                  <a:gd name="T13" fmla="*/ 8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8"/>
                    </a:moveTo>
                    <a:lnTo>
                      <a:pt x="0" y="0"/>
                    </a:lnTo>
                    <a:lnTo>
                      <a:pt x="0" y="8"/>
                    </a:lnTo>
                    <a:lnTo>
                      <a:pt x="9" y="16"/>
                    </a:lnTo>
                    <a:lnTo>
                      <a:pt x="16" y="8"/>
                    </a:lnTo>
                    <a:lnTo>
                      <a:pt x="9" y="8"/>
                    </a:lnTo>
                    <a:lnTo>
                      <a:pt x="16"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1" name="Freeform 464"/>
              <p:cNvSpPr>
                <a:spLocks noChangeAspect="1"/>
              </p:cNvSpPr>
              <p:nvPr/>
            </p:nvSpPr>
            <p:spPr bwMode="auto">
              <a:xfrm>
                <a:off x="539" y="3524"/>
                <a:ext cx="17" cy="17"/>
              </a:xfrm>
              <a:custGeom>
                <a:avLst/>
                <a:gdLst>
                  <a:gd name="T0" fmla="*/ 16 w 17"/>
                  <a:gd name="T1" fmla="*/ 12 h 17"/>
                  <a:gd name="T2" fmla="*/ 5 w 17"/>
                  <a:gd name="T3" fmla="*/ 0 h 17"/>
                  <a:gd name="T4" fmla="*/ 0 w 17"/>
                  <a:gd name="T5" fmla="*/ 4 h 17"/>
                  <a:gd name="T6" fmla="*/ 5 w 17"/>
                  <a:gd name="T7" fmla="*/ 16 h 17"/>
                  <a:gd name="T8" fmla="*/ 5 w 17"/>
                  <a:gd name="T9" fmla="*/ 12 h 17"/>
                  <a:gd name="T10" fmla="*/ 16 w 17"/>
                  <a:gd name="T11" fmla="*/ 12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12"/>
                    </a:moveTo>
                    <a:lnTo>
                      <a:pt x="5" y="0"/>
                    </a:lnTo>
                    <a:lnTo>
                      <a:pt x="0" y="4"/>
                    </a:lnTo>
                    <a:lnTo>
                      <a:pt x="5" y="16"/>
                    </a:lnTo>
                    <a:lnTo>
                      <a:pt x="5" y="12"/>
                    </a:lnTo>
                    <a:lnTo>
                      <a:pt x="16" y="1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2" name="Freeform 465"/>
              <p:cNvSpPr>
                <a:spLocks noChangeAspect="1"/>
              </p:cNvSpPr>
              <p:nvPr/>
            </p:nvSpPr>
            <p:spPr bwMode="auto">
              <a:xfrm>
                <a:off x="539" y="3520"/>
                <a:ext cx="17" cy="17"/>
              </a:xfrm>
              <a:custGeom>
                <a:avLst/>
                <a:gdLst>
                  <a:gd name="T0" fmla="*/ 16 w 17"/>
                  <a:gd name="T1" fmla="*/ 0 h 17"/>
                  <a:gd name="T2" fmla="*/ 16 w 17"/>
                  <a:gd name="T3" fmla="*/ 16 h 17"/>
                  <a:gd name="T4" fmla="*/ 0 w 17"/>
                  <a:gd name="T5" fmla="*/ 16 h 17"/>
                  <a:gd name="T6" fmla="*/ 0 w 17"/>
                  <a:gd name="T7" fmla="*/ 0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16" y="16"/>
                    </a:lnTo>
                    <a:lnTo>
                      <a:pt x="0" y="16"/>
                    </a:lnTo>
                    <a:lnTo>
                      <a:pt x="0" y="0"/>
                    </a:lnTo>
                    <a:lnTo>
                      <a:pt x="1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3" name="Freeform 466"/>
              <p:cNvSpPr>
                <a:spLocks noChangeAspect="1"/>
              </p:cNvSpPr>
              <p:nvPr/>
            </p:nvSpPr>
            <p:spPr bwMode="auto">
              <a:xfrm>
                <a:off x="539" y="3517"/>
                <a:ext cx="17" cy="17"/>
              </a:xfrm>
              <a:custGeom>
                <a:avLst/>
                <a:gdLst>
                  <a:gd name="T0" fmla="*/ 16 w 17"/>
                  <a:gd name="T1" fmla="*/ 16 h 17"/>
                  <a:gd name="T2" fmla="*/ 5 w 17"/>
                  <a:gd name="T3" fmla="*/ 0 h 17"/>
                  <a:gd name="T4" fmla="*/ 0 w 17"/>
                  <a:gd name="T5" fmla="*/ 6 h 17"/>
                  <a:gd name="T6" fmla="*/ 5 w 17"/>
                  <a:gd name="T7" fmla="*/ 1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5" y="0"/>
                    </a:lnTo>
                    <a:lnTo>
                      <a:pt x="0" y="6"/>
                    </a:lnTo>
                    <a:lnTo>
                      <a:pt x="5" y="16"/>
                    </a:lnTo>
                    <a:lnTo>
                      <a:pt x="1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4" name="Freeform 467"/>
              <p:cNvSpPr>
                <a:spLocks noChangeAspect="1"/>
              </p:cNvSpPr>
              <p:nvPr/>
            </p:nvSpPr>
            <p:spPr bwMode="auto">
              <a:xfrm>
                <a:off x="537" y="3514"/>
                <a:ext cx="17" cy="1"/>
              </a:xfrm>
              <a:custGeom>
                <a:avLst/>
                <a:gdLst>
                  <a:gd name="T0" fmla="*/ 16 w 17"/>
                  <a:gd name="T1" fmla="*/ 0 h 1"/>
                  <a:gd name="T2" fmla="*/ 12 w 17"/>
                  <a:gd name="T3" fmla="*/ 0 h 1"/>
                  <a:gd name="T4" fmla="*/ 0 w 17"/>
                  <a:gd name="T5" fmla="*/ 0 h 1"/>
                  <a:gd name="T6" fmla="*/ 12 w 17"/>
                  <a:gd name="T7" fmla="*/ 0 h 1"/>
                  <a:gd name="T8" fmla="*/ 16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16" y="0"/>
                    </a:moveTo>
                    <a:lnTo>
                      <a:pt x="12" y="0"/>
                    </a:lnTo>
                    <a:lnTo>
                      <a:pt x="0" y="0"/>
                    </a:lnTo>
                    <a:lnTo>
                      <a:pt x="12" y="0"/>
                    </a:lnTo>
                    <a:lnTo>
                      <a:pt x="1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5" name="Freeform 468"/>
              <p:cNvSpPr>
                <a:spLocks noChangeAspect="1"/>
              </p:cNvSpPr>
              <p:nvPr/>
            </p:nvSpPr>
            <p:spPr bwMode="auto">
              <a:xfrm>
                <a:off x="537" y="3508"/>
                <a:ext cx="17" cy="17"/>
              </a:xfrm>
              <a:custGeom>
                <a:avLst/>
                <a:gdLst>
                  <a:gd name="T0" fmla="*/ 12 w 17"/>
                  <a:gd name="T1" fmla="*/ 0 h 17"/>
                  <a:gd name="T2" fmla="*/ 12 w 17"/>
                  <a:gd name="T3" fmla="*/ 4 h 17"/>
                  <a:gd name="T4" fmla="*/ 16 w 17"/>
                  <a:gd name="T5" fmla="*/ 16 h 17"/>
                  <a:gd name="T6" fmla="*/ 12 w 17"/>
                  <a:gd name="T7" fmla="*/ 16 h 17"/>
                  <a:gd name="T8" fmla="*/ 0 w 17"/>
                  <a:gd name="T9" fmla="*/ 4 h 17"/>
                  <a:gd name="T10" fmla="*/ 12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2" y="0"/>
                    </a:moveTo>
                    <a:lnTo>
                      <a:pt x="12" y="4"/>
                    </a:lnTo>
                    <a:lnTo>
                      <a:pt x="16" y="16"/>
                    </a:lnTo>
                    <a:lnTo>
                      <a:pt x="12" y="16"/>
                    </a:lnTo>
                    <a:lnTo>
                      <a:pt x="0" y="4"/>
                    </a:lnTo>
                    <a:lnTo>
                      <a:pt x="12"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6" name="Freeform 469"/>
              <p:cNvSpPr>
                <a:spLocks noChangeAspect="1"/>
              </p:cNvSpPr>
              <p:nvPr/>
            </p:nvSpPr>
            <p:spPr bwMode="auto">
              <a:xfrm>
                <a:off x="539" y="3503"/>
                <a:ext cx="17" cy="17"/>
              </a:xfrm>
              <a:custGeom>
                <a:avLst/>
                <a:gdLst>
                  <a:gd name="T0" fmla="*/ 5 w 17"/>
                  <a:gd name="T1" fmla="*/ 0 h 17"/>
                  <a:gd name="T2" fmla="*/ 16 w 17"/>
                  <a:gd name="T3" fmla="*/ 16 h 17"/>
                  <a:gd name="T4" fmla="*/ 5 w 17"/>
                  <a:gd name="T5" fmla="*/ 16 h 17"/>
                  <a:gd name="T6" fmla="*/ 0 w 17"/>
                  <a:gd name="T7" fmla="*/ 0 h 17"/>
                  <a:gd name="T8" fmla="*/ 5 w 17"/>
                  <a:gd name="T9" fmla="*/ 0 h 17"/>
                  <a:gd name="T10" fmla="*/ 5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5" y="0"/>
                    </a:moveTo>
                    <a:lnTo>
                      <a:pt x="16" y="16"/>
                    </a:lnTo>
                    <a:lnTo>
                      <a:pt x="5" y="16"/>
                    </a:lnTo>
                    <a:lnTo>
                      <a:pt x="0" y="0"/>
                    </a:lnTo>
                    <a:lnTo>
                      <a:pt x="5"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7" name="Freeform 470"/>
              <p:cNvSpPr>
                <a:spLocks noChangeAspect="1"/>
              </p:cNvSpPr>
              <p:nvPr/>
            </p:nvSpPr>
            <p:spPr bwMode="auto">
              <a:xfrm>
                <a:off x="539" y="3500"/>
                <a:ext cx="17" cy="17"/>
              </a:xfrm>
              <a:custGeom>
                <a:avLst/>
                <a:gdLst>
                  <a:gd name="T0" fmla="*/ 0 w 17"/>
                  <a:gd name="T1" fmla="*/ 16 h 17"/>
                  <a:gd name="T2" fmla="*/ 16 w 17"/>
                  <a:gd name="T3" fmla="*/ 0 h 17"/>
                  <a:gd name="T4" fmla="*/ 0 w 17"/>
                  <a:gd name="T5" fmla="*/ 8 h 17"/>
                  <a:gd name="T6" fmla="*/ 0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16"/>
                    </a:moveTo>
                    <a:lnTo>
                      <a:pt x="16" y="0"/>
                    </a:lnTo>
                    <a:lnTo>
                      <a:pt x="0" y="8"/>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8" name="Freeform 471"/>
              <p:cNvSpPr>
                <a:spLocks noChangeAspect="1"/>
              </p:cNvSpPr>
              <p:nvPr/>
            </p:nvSpPr>
            <p:spPr bwMode="auto">
              <a:xfrm>
                <a:off x="545" y="3500"/>
                <a:ext cx="92" cy="17"/>
              </a:xfrm>
              <a:custGeom>
                <a:avLst/>
                <a:gdLst>
                  <a:gd name="T0" fmla="*/ 91 w 92"/>
                  <a:gd name="T1" fmla="*/ 15 h 17"/>
                  <a:gd name="T2" fmla="*/ 0 w 92"/>
                  <a:gd name="T3" fmla="*/ 0 h 17"/>
                  <a:gd name="T4" fmla="*/ 0 w 92"/>
                  <a:gd name="T5" fmla="*/ 2 h 17"/>
                  <a:gd name="T6" fmla="*/ 91 w 92"/>
                  <a:gd name="T7" fmla="*/ 16 h 17"/>
                  <a:gd name="T8" fmla="*/ 91 w 92"/>
                  <a:gd name="T9" fmla="*/ 15 h 17"/>
                  <a:gd name="T10" fmla="*/ 0 60000 65536"/>
                  <a:gd name="T11" fmla="*/ 0 60000 65536"/>
                  <a:gd name="T12" fmla="*/ 0 60000 65536"/>
                  <a:gd name="T13" fmla="*/ 0 60000 65536"/>
                  <a:gd name="T14" fmla="*/ 0 60000 65536"/>
                  <a:gd name="T15" fmla="*/ 0 w 92"/>
                  <a:gd name="T16" fmla="*/ 0 h 17"/>
                  <a:gd name="T17" fmla="*/ 92 w 92"/>
                  <a:gd name="T18" fmla="*/ 17 h 17"/>
                </a:gdLst>
                <a:ahLst/>
                <a:cxnLst>
                  <a:cxn ang="T10">
                    <a:pos x="T0" y="T1"/>
                  </a:cxn>
                  <a:cxn ang="T11">
                    <a:pos x="T2" y="T3"/>
                  </a:cxn>
                  <a:cxn ang="T12">
                    <a:pos x="T4" y="T5"/>
                  </a:cxn>
                  <a:cxn ang="T13">
                    <a:pos x="T6" y="T7"/>
                  </a:cxn>
                  <a:cxn ang="T14">
                    <a:pos x="T8" y="T9"/>
                  </a:cxn>
                </a:cxnLst>
                <a:rect l="T15" t="T16" r="T17" b="T18"/>
                <a:pathLst>
                  <a:path w="92" h="17">
                    <a:moveTo>
                      <a:pt x="91" y="15"/>
                    </a:moveTo>
                    <a:lnTo>
                      <a:pt x="0" y="0"/>
                    </a:lnTo>
                    <a:lnTo>
                      <a:pt x="0" y="2"/>
                    </a:lnTo>
                    <a:lnTo>
                      <a:pt x="91" y="16"/>
                    </a:lnTo>
                    <a:lnTo>
                      <a:pt x="91" y="1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19" name="Freeform 472"/>
              <p:cNvSpPr>
                <a:spLocks noChangeAspect="1"/>
              </p:cNvSpPr>
              <p:nvPr/>
            </p:nvSpPr>
            <p:spPr bwMode="auto">
              <a:xfrm>
                <a:off x="634" y="3540"/>
                <a:ext cx="17" cy="22"/>
              </a:xfrm>
              <a:custGeom>
                <a:avLst/>
                <a:gdLst>
                  <a:gd name="T0" fmla="*/ 0 w 17"/>
                  <a:gd name="T1" fmla="*/ 9 h 22"/>
                  <a:gd name="T2" fmla="*/ 1 w 17"/>
                  <a:gd name="T3" fmla="*/ 5 h 22"/>
                  <a:gd name="T4" fmla="*/ 4 w 17"/>
                  <a:gd name="T5" fmla="*/ 2 h 22"/>
                  <a:gd name="T6" fmla="*/ 6 w 17"/>
                  <a:gd name="T7" fmla="*/ 0 h 22"/>
                  <a:gd name="T8" fmla="*/ 10 w 17"/>
                  <a:gd name="T9" fmla="*/ 0 h 22"/>
                  <a:gd name="T10" fmla="*/ 13 w 17"/>
                  <a:gd name="T11" fmla="*/ 1 h 22"/>
                  <a:gd name="T12" fmla="*/ 15 w 17"/>
                  <a:gd name="T13" fmla="*/ 4 h 22"/>
                  <a:gd name="T14" fmla="*/ 16 w 17"/>
                  <a:gd name="T15" fmla="*/ 7 h 22"/>
                  <a:gd name="T16" fmla="*/ 16 w 17"/>
                  <a:gd name="T17" fmla="*/ 11 h 22"/>
                  <a:gd name="T18" fmla="*/ 15 w 17"/>
                  <a:gd name="T19" fmla="*/ 15 h 22"/>
                  <a:gd name="T20" fmla="*/ 13 w 17"/>
                  <a:gd name="T21" fmla="*/ 18 h 22"/>
                  <a:gd name="T22" fmla="*/ 10 w 17"/>
                  <a:gd name="T23" fmla="*/ 21 h 22"/>
                  <a:gd name="T24" fmla="*/ 6 w 17"/>
                  <a:gd name="T25" fmla="*/ 21 h 22"/>
                  <a:gd name="T26" fmla="*/ 4 w 17"/>
                  <a:gd name="T27" fmla="*/ 19 h 22"/>
                  <a:gd name="T28" fmla="*/ 1 w 17"/>
                  <a:gd name="T29" fmla="*/ 17 h 22"/>
                  <a:gd name="T30" fmla="*/ 1 w 17"/>
                  <a:gd name="T31" fmla="*/ 14 h 22"/>
                  <a:gd name="T32" fmla="*/ 0 w 17"/>
                  <a:gd name="T33" fmla="*/ 9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22"/>
                  <a:gd name="T53" fmla="*/ 17 w 17"/>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22">
                    <a:moveTo>
                      <a:pt x="0" y="9"/>
                    </a:moveTo>
                    <a:lnTo>
                      <a:pt x="1" y="5"/>
                    </a:lnTo>
                    <a:lnTo>
                      <a:pt x="4" y="2"/>
                    </a:lnTo>
                    <a:lnTo>
                      <a:pt x="6" y="0"/>
                    </a:lnTo>
                    <a:lnTo>
                      <a:pt x="10" y="0"/>
                    </a:lnTo>
                    <a:lnTo>
                      <a:pt x="13" y="1"/>
                    </a:lnTo>
                    <a:lnTo>
                      <a:pt x="15" y="4"/>
                    </a:lnTo>
                    <a:lnTo>
                      <a:pt x="16" y="7"/>
                    </a:lnTo>
                    <a:lnTo>
                      <a:pt x="16" y="11"/>
                    </a:lnTo>
                    <a:lnTo>
                      <a:pt x="15" y="15"/>
                    </a:lnTo>
                    <a:lnTo>
                      <a:pt x="13" y="18"/>
                    </a:lnTo>
                    <a:lnTo>
                      <a:pt x="10" y="21"/>
                    </a:lnTo>
                    <a:lnTo>
                      <a:pt x="6" y="21"/>
                    </a:lnTo>
                    <a:lnTo>
                      <a:pt x="4" y="19"/>
                    </a:lnTo>
                    <a:lnTo>
                      <a:pt x="1" y="17"/>
                    </a:lnTo>
                    <a:lnTo>
                      <a:pt x="1" y="14"/>
                    </a:lnTo>
                    <a:lnTo>
                      <a:pt x="0" y="9"/>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20" name="Freeform 473"/>
              <p:cNvSpPr>
                <a:spLocks noChangeAspect="1"/>
              </p:cNvSpPr>
              <p:nvPr/>
            </p:nvSpPr>
            <p:spPr bwMode="auto">
              <a:xfrm>
                <a:off x="637" y="3543"/>
                <a:ext cx="17" cy="17"/>
              </a:xfrm>
              <a:custGeom>
                <a:avLst/>
                <a:gdLst>
                  <a:gd name="T0" fmla="*/ 16 w 17"/>
                  <a:gd name="T1" fmla="*/ 4 h 17"/>
                  <a:gd name="T2" fmla="*/ 9 w 17"/>
                  <a:gd name="T3" fmla="*/ 16 h 17"/>
                  <a:gd name="T4" fmla="*/ 2 w 17"/>
                  <a:gd name="T5" fmla="*/ 12 h 17"/>
                  <a:gd name="T6" fmla="*/ 0 w 17"/>
                  <a:gd name="T7" fmla="*/ 12 h 17"/>
                  <a:gd name="T8" fmla="*/ 0 w 17"/>
                  <a:gd name="T9" fmla="*/ 10 h 17"/>
                  <a:gd name="T10" fmla="*/ 0 w 17"/>
                  <a:gd name="T11" fmla="*/ 6 h 17"/>
                  <a:gd name="T12" fmla="*/ 0 w 17"/>
                  <a:gd name="T13" fmla="*/ 3 h 17"/>
                  <a:gd name="T14" fmla="*/ 2 w 17"/>
                  <a:gd name="T15" fmla="*/ 1 h 17"/>
                  <a:gd name="T16" fmla="*/ 6 w 17"/>
                  <a:gd name="T17" fmla="*/ 0 h 17"/>
                  <a:gd name="T18" fmla="*/ 16 w 17"/>
                  <a:gd name="T19" fmla="*/ 4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6" y="4"/>
                    </a:moveTo>
                    <a:lnTo>
                      <a:pt x="9" y="16"/>
                    </a:lnTo>
                    <a:lnTo>
                      <a:pt x="2" y="12"/>
                    </a:lnTo>
                    <a:lnTo>
                      <a:pt x="0" y="12"/>
                    </a:lnTo>
                    <a:lnTo>
                      <a:pt x="0" y="10"/>
                    </a:lnTo>
                    <a:lnTo>
                      <a:pt x="0" y="6"/>
                    </a:lnTo>
                    <a:lnTo>
                      <a:pt x="0" y="3"/>
                    </a:lnTo>
                    <a:lnTo>
                      <a:pt x="2" y="1"/>
                    </a:lnTo>
                    <a:lnTo>
                      <a:pt x="6" y="0"/>
                    </a:lnTo>
                    <a:lnTo>
                      <a:pt x="16" y="4"/>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21" name="Freeform 474"/>
              <p:cNvSpPr>
                <a:spLocks noChangeAspect="1"/>
              </p:cNvSpPr>
              <p:nvPr/>
            </p:nvSpPr>
            <p:spPr bwMode="auto">
              <a:xfrm>
                <a:off x="638" y="3543"/>
                <a:ext cx="19" cy="21"/>
              </a:xfrm>
              <a:custGeom>
                <a:avLst/>
                <a:gdLst>
                  <a:gd name="T0" fmla="*/ 18 w 19"/>
                  <a:gd name="T1" fmla="*/ 5 h 21"/>
                  <a:gd name="T2" fmla="*/ 11 w 19"/>
                  <a:gd name="T3" fmla="*/ 20 h 21"/>
                  <a:gd name="T4" fmla="*/ 2 w 19"/>
                  <a:gd name="T5" fmla="*/ 16 h 21"/>
                  <a:gd name="T6" fmla="*/ 0 w 19"/>
                  <a:gd name="T7" fmla="*/ 15 h 21"/>
                  <a:gd name="T8" fmla="*/ 0 w 19"/>
                  <a:gd name="T9" fmla="*/ 13 h 21"/>
                  <a:gd name="T10" fmla="*/ 0 w 19"/>
                  <a:gd name="T11" fmla="*/ 7 h 21"/>
                  <a:gd name="T12" fmla="*/ 0 w 19"/>
                  <a:gd name="T13" fmla="*/ 3 h 21"/>
                  <a:gd name="T14" fmla="*/ 3 w 19"/>
                  <a:gd name="T15" fmla="*/ 2 h 21"/>
                  <a:gd name="T16" fmla="*/ 7 w 19"/>
                  <a:gd name="T17" fmla="*/ 0 h 21"/>
                  <a:gd name="T18" fmla="*/ 18 w 19"/>
                  <a:gd name="T19" fmla="*/ 5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1"/>
                  <a:gd name="T32" fmla="*/ 19 w 19"/>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1">
                    <a:moveTo>
                      <a:pt x="18" y="5"/>
                    </a:moveTo>
                    <a:lnTo>
                      <a:pt x="11" y="20"/>
                    </a:lnTo>
                    <a:lnTo>
                      <a:pt x="2" y="16"/>
                    </a:lnTo>
                    <a:lnTo>
                      <a:pt x="0" y="15"/>
                    </a:lnTo>
                    <a:lnTo>
                      <a:pt x="0" y="13"/>
                    </a:lnTo>
                    <a:lnTo>
                      <a:pt x="0" y="7"/>
                    </a:lnTo>
                    <a:lnTo>
                      <a:pt x="0" y="3"/>
                    </a:lnTo>
                    <a:lnTo>
                      <a:pt x="3" y="2"/>
                    </a:lnTo>
                    <a:lnTo>
                      <a:pt x="7" y="0"/>
                    </a:lnTo>
                    <a:lnTo>
                      <a:pt x="18" y="5"/>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22" name="Freeform 475"/>
              <p:cNvSpPr>
                <a:spLocks noChangeAspect="1"/>
              </p:cNvSpPr>
              <p:nvPr/>
            </p:nvSpPr>
            <p:spPr bwMode="auto">
              <a:xfrm>
                <a:off x="644" y="3543"/>
                <a:ext cx="17" cy="24"/>
              </a:xfrm>
              <a:custGeom>
                <a:avLst/>
                <a:gdLst>
                  <a:gd name="T0" fmla="*/ 16 w 17"/>
                  <a:gd name="T1" fmla="*/ 4 h 24"/>
                  <a:gd name="T2" fmla="*/ 6 w 17"/>
                  <a:gd name="T3" fmla="*/ 0 h 24"/>
                  <a:gd name="T4" fmla="*/ 1 w 17"/>
                  <a:gd name="T5" fmla="*/ 5 h 24"/>
                  <a:gd name="T6" fmla="*/ 0 w 17"/>
                  <a:gd name="T7" fmla="*/ 14 h 24"/>
                  <a:gd name="T8" fmla="*/ 2 w 17"/>
                  <a:gd name="T9" fmla="*/ 17 h 24"/>
                  <a:gd name="T10" fmla="*/ 12 w 17"/>
                  <a:gd name="T11" fmla="*/ 23 h 24"/>
                  <a:gd name="T12" fmla="*/ 16 w 17"/>
                  <a:gd name="T13" fmla="*/ 4 h 24"/>
                  <a:gd name="T14" fmla="*/ 0 60000 65536"/>
                  <a:gd name="T15" fmla="*/ 0 60000 65536"/>
                  <a:gd name="T16" fmla="*/ 0 60000 65536"/>
                  <a:gd name="T17" fmla="*/ 0 60000 65536"/>
                  <a:gd name="T18" fmla="*/ 0 60000 65536"/>
                  <a:gd name="T19" fmla="*/ 0 60000 65536"/>
                  <a:gd name="T20" fmla="*/ 0 60000 65536"/>
                  <a:gd name="T21" fmla="*/ 0 w 17"/>
                  <a:gd name="T22" fmla="*/ 0 h 24"/>
                  <a:gd name="T23" fmla="*/ 17 w 17"/>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4">
                    <a:moveTo>
                      <a:pt x="16" y="4"/>
                    </a:moveTo>
                    <a:lnTo>
                      <a:pt x="6" y="0"/>
                    </a:lnTo>
                    <a:lnTo>
                      <a:pt x="1" y="5"/>
                    </a:lnTo>
                    <a:lnTo>
                      <a:pt x="0" y="14"/>
                    </a:lnTo>
                    <a:lnTo>
                      <a:pt x="2" y="17"/>
                    </a:lnTo>
                    <a:lnTo>
                      <a:pt x="12" y="23"/>
                    </a:lnTo>
                    <a:lnTo>
                      <a:pt x="16" y="4"/>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23" name="Freeform 476"/>
              <p:cNvSpPr>
                <a:spLocks noChangeAspect="1"/>
              </p:cNvSpPr>
              <p:nvPr/>
            </p:nvSpPr>
            <p:spPr bwMode="auto">
              <a:xfrm>
                <a:off x="644" y="3543"/>
                <a:ext cx="21" cy="29"/>
              </a:xfrm>
              <a:custGeom>
                <a:avLst/>
                <a:gdLst>
                  <a:gd name="T0" fmla="*/ 20 w 21"/>
                  <a:gd name="T1" fmla="*/ 5 h 29"/>
                  <a:gd name="T2" fmla="*/ 8 w 21"/>
                  <a:gd name="T3" fmla="*/ 0 h 29"/>
                  <a:gd name="T4" fmla="*/ 2 w 21"/>
                  <a:gd name="T5" fmla="*/ 6 h 29"/>
                  <a:gd name="T6" fmla="*/ 0 w 21"/>
                  <a:gd name="T7" fmla="*/ 17 h 29"/>
                  <a:gd name="T8" fmla="*/ 3 w 21"/>
                  <a:gd name="T9" fmla="*/ 21 h 29"/>
                  <a:gd name="T10" fmla="*/ 15 w 21"/>
                  <a:gd name="T11" fmla="*/ 28 h 29"/>
                  <a:gd name="T12" fmla="*/ 20 w 21"/>
                  <a:gd name="T13" fmla="*/ 5 h 29"/>
                  <a:gd name="T14" fmla="*/ 0 60000 65536"/>
                  <a:gd name="T15" fmla="*/ 0 60000 65536"/>
                  <a:gd name="T16" fmla="*/ 0 60000 65536"/>
                  <a:gd name="T17" fmla="*/ 0 60000 65536"/>
                  <a:gd name="T18" fmla="*/ 0 60000 65536"/>
                  <a:gd name="T19" fmla="*/ 0 60000 65536"/>
                  <a:gd name="T20" fmla="*/ 0 60000 65536"/>
                  <a:gd name="T21" fmla="*/ 0 w 21"/>
                  <a:gd name="T22" fmla="*/ 0 h 29"/>
                  <a:gd name="T23" fmla="*/ 21 w 21"/>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9">
                    <a:moveTo>
                      <a:pt x="20" y="5"/>
                    </a:moveTo>
                    <a:lnTo>
                      <a:pt x="8" y="0"/>
                    </a:lnTo>
                    <a:lnTo>
                      <a:pt x="2" y="6"/>
                    </a:lnTo>
                    <a:lnTo>
                      <a:pt x="0" y="17"/>
                    </a:lnTo>
                    <a:lnTo>
                      <a:pt x="3" y="21"/>
                    </a:lnTo>
                    <a:lnTo>
                      <a:pt x="15" y="28"/>
                    </a:lnTo>
                    <a:lnTo>
                      <a:pt x="20" y="5"/>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24" name="Freeform 477"/>
              <p:cNvSpPr>
                <a:spLocks noChangeAspect="1"/>
              </p:cNvSpPr>
              <p:nvPr/>
            </p:nvSpPr>
            <p:spPr bwMode="auto">
              <a:xfrm>
                <a:off x="655" y="3548"/>
                <a:ext cx="17" cy="19"/>
              </a:xfrm>
              <a:custGeom>
                <a:avLst/>
                <a:gdLst>
                  <a:gd name="T0" fmla="*/ 16 w 17"/>
                  <a:gd name="T1" fmla="*/ 6 h 19"/>
                  <a:gd name="T2" fmla="*/ 16 w 17"/>
                  <a:gd name="T3" fmla="*/ 3 h 19"/>
                  <a:gd name="T4" fmla="*/ 10 w 17"/>
                  <a:gd name="T5" fmla="*/ 0 h 19"/>
                  <a:gd name="T6" fmla="*/ 3 w 17"/>
                  <a:gd name="T7" fmla="*/ 5 h 19"/>
                  <a:gd name="T8" fmla="*/ 0 w 17"/>
                  <a:gd name="T9" fmla="*/ 14 h 19"/>
                  <a:gd name="T10" fmla="*/ 4 w 17"/>
                  <a:gd name="T11" fmla="*/ 18 h 19"/>
                  <a:gd name="T12" fmla="*/ 11 w 17"/>
                  <a:gd name="T13" fmla="*/ 14 h 19"/>
                  <a:gd name="T14" fmla="*/ 16 w 17"/>
                  <a:gd name="T15" fmla="*/ 6 h 19"/>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9"/>
                  <a:gd name="T26" fmla="*/ 17 w 17"/>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9">
                    <a:moveTo>
                      <a:pt x="16" y="6"/>
                    </a:moveTo>
                    <a:lnTo>
                      <a:pt x="16" y="3"/>
                    </a:lnTo>
                    <a:lnTo>
                      <a:pt x="10" y="0"/>
                    </a:lnTo>
                    <a:lnTo>
                      <a:pt x="3" y="5"/>
                    </a:lnTo>
                    <a:lnTo>
                      <a:pt x="0" y="14"/>
                    </a:lnTo>
                    <a:lnTo>
                      <a:pt x="4" y="18"/>
                    </a:lnTo>
                    <a:lnTo>
                      <a:pt x="11" y="14"/>
                    </a:lnTo>
                    <a:lnTo>
                      <a:pt x="16" y="6"/>
                    </a:lnTo>
                  </a:path>
                </a:pathLst>
              </a:custGeom>
              <a:solidFill>
                <a:srgbClr val="B5B5B5"/>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25" name="Freeform 478"/>
              <p:cNvSpPr>
                <a:spLocks noChangeAspect="1"/>
              </p:cNvSpPr>
              <p:nvPr/>
            </p:nvSpPr>
            <p:spPr bwMode="auto">
              <a:xfrm>
                <a:off x="656" y="3548"/>
                <a:ext cx="17" cy="24"/>
              </a:xfrm>
              <a:custGeom>
                <a:avLst/>
                <a:gdLst>
                  <a:gd name="T0" fmla="*/ 16 w 17"/>
                  <a:gd name="T1" fmla="*/ 7 h 24"/>
                  <a:gd name="T2" fmla="*/ 16 w 17"/>
                  <a:gd name="T3" fmla="*/ 3 h 24"/>
                  <a:gd name="T4" fmla="*/ 10 w 17"/>
                  <a:gd name="T5" fmla="*/ 0 h 24"/>
                  <a:gd name="T6" fmla="*/ 3 w 17"/>
                  <a:gd name="T7" fmla="*/ 7 h 24"/>
                  <a:gd name="T8" fmla="*/ 0 w 17"/>
                  <a:gd name="T9" fmla="*/ 18 h 24"/>
                  <a:gd name="T10" fmla="*/ 4 w 17"/>
                  <a:gd name="T11" fmla="*/ 23 h 24"/>
                  <a:gd name="T12" fmla="*/ 11 w 17"/>
                  <a:gd name="T13" fmla="*/ 18 h 24"/>
                  <a:gd name="T14" fmla="*/ 16 w 17"/>
                  <a:gd name="T15" fmla="*/ 7 h 24"/>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24"/>
                  <a:gd name="T26" fmla="*/ 17 w 17"/>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24">
                    <a:moveTo>
                      <a:pt x="16" y="7"/>
                    </a:moveTo>
                    <a:lnTo>
                      <a:pt x="16" y="3"/>
                    </a:lnTo>
                    <a:lnTo>
                      <a:pt x="10" y="0"/>
                    </a:lnTo>
                    <a:lnTo>
                      <a:pt x="3" y="7"/>
                    </a:lnTo>
                    <a:lnTo>
                      <a:pt x="0" y="18"/>
                    </a:lnTo>
                    <a:lnTo>
                      <a:pt x="4" y="23"/>
                    </a:lnTo>
                    <a:lnTo>
                      <a:pt x="11" y="18"/>
                    </a:lnTo>
                    <a:lnTo>
                      <a:pt x="16" y="7"/>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26" name="Freeform 479"/>
              <p:cNvSpPr>
                <a:spLocks noChangeAspect="1"/>
              </p:cNvSpPr>
              <p:nvPr/>
            </p:nvSpPr>
            <p:spPr bwMode="auto">
              <a:xfrm>
                <a:off x="660" y="3556"/>
                <a:ext cx="17" cy="17"/>
              </a:xfrm>
              <a:custGeom>
                <a:avLst/>
                <a:gdLst>
                  <a:gd name="T0" fmla="*/ 3 w 17"/>
                  <a:gd name="T1" fmla="*/ 12 h 17"/>
                  <a:gd name="T2" fmla="*/ 0 w 17"/>
                  <a:gd name="T3" fmla="*/ 9 h 17"/>
                  <a:gd name="T4" fmla="*/ 0 w 17"/>
                  <a:gd name="T5" fmla="*/ 4 h 17"/>
                  <a:gd name="T6" fmla="*/ 3 w 17"/>
                  <a:gd name="T7" fmla="*/ 1 h 17"/>
                  <a:gd name="T8" fmla="*/ 3 w 17"/>
                  <a:gd name="T9" fmla="*/ 0 h 17"/>
                  <a:gd name="T10" fmla="*/ 4 w 17"/>
                  <a:gd name="T11" fmla="*/ 0 h 17"/>
                  <a:gd name="T12" fmla="*/ 16 w 17"/>
                  <a:gd name="T13" fmla="*/ 4 h 17"/>
                  <a:gd name="T14" fmla="*/ 12 w 17"/>
                  <a:gd name="T15" fmla="*/ 16 h 17"/>
                  <a:gd name="T16" fmla="*/ 3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3" y="12"/>
                    </a:moveTo>
                    <a:lnTo>
                      <a:pt x="0" y="9"/>
                    </a:lnTo>
                    <a:lnTo>
                      <a:pt x="0" y="4"/>
                    </a:lnTo>
                    <a:lnTo>
                      <a:pt x="3" y="1"/>
                    </a:lnTo>
                    <a:lnTo>
                      <a:pt x="3" y="0"/>
                    </a:lnTo>
                    <a:lnTo>
                      <a:pt x="4" y="0"/>
                    </a:lnTo>
                    <a:lnTo>
                      <a:pt x="16" y="4"/>
                    </a:lnTo>
                    <a:lnTo>
                      <a:pt x="12" y="16"/>
                    </a:lnTo>
                    <a:lnTo>
                      <a:pt x="3" y="12"/>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27" name="Freeform 480"/>
              <p:cNvSpPr>
                <a:spLocks noChangeAspect="1"/>
              </p:cNvSpPr>
              <p:nvPr/>
            </p:nvSpPr>
            <p:spPr bwMode="auto">
              <a:xfrm>
                <a:off x="660" y="3556"/>
                <a:ext cx="17" cy="17"/>
              </a:xfrm>
              <a:custGeom>
                <a:avLst/>
                <a:gdLst>
                  <a:gd name="T0" fmla="*/ 2 w 17"/>
                  <a:gd name="T1" fmla="*/ 12 h 17"/>
                  <a:gd name="T2" fmla="*/ 0 w 17"/>
                  <a:gd name="T3" fmla="*/ 9 h 17"/>
                  <a:gd name="T4" fmla="*/ 0 w 17"/>
                  <a:gd name="T5" fmla="*/ 5 h 17"/>
                  <a:gd name="T6" fmla="*/ 2 w 17"/>
                  <a:gd name="T7" fmla="*/ 1 h 17"/>
                  <a:gd name="T8" fmla="*/ 2 w 17"/>
                  <a:gd name="T9" fmla="*/ 0 h 17"/>
                  <a:gd name="T10" fmla="*/ 5 w 17"/>
                  <a:gd name="T11" fmla="*/ 0 h 17"/>
                  <a:gd name="T12" fmla="*/ 16 w 17"/>
                  <a:gd name="T13" fmla="*/ 3 h 17"/>
                  <a:gd name="T14" fmla="*/ 12 w 17"/>
                  <a:gd name="T15" fmla="*/ 16 h 17"/>
                  <a:gd name="T16" fmla="*/ 2 w 17"/>
                  <a:gd name="T17" fmla="*/ 1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2" y="12"/>
                    </a:moveTo>
                    <a:lnTo>
                      <a:pt x="0" y="9"/>
                    </a:lnTo>
                    <a:lnTo>
                      <a:pt x="0" y="5"/>
                    </a:lnTo>
                    <a:lnTo>
                      <a:pt x="2" y="1"/>
                    </a:lnTo>
                    <a:lnTo>
                      <a:pt x="2" y="0"/>
                    </a:lnTo>
                    <a:lnTo>
                      <a:pt x="5" y="0"/>
                    </a:lnTo>
                    <a:lnTo>
                      <a:pt x="16" y="3"/>
                    </a:lnTo>
                    <a:lnTo>
                      <a:pt x="12" y="16"/>
                    </a:lnTo>
                    <a:lnTo>
                      <a:pt x="2" y="12"/>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28" name="Freeform 481"/>
              <p:cNvSpPr>
                <a:spLocks noChangeAspect="1"/>
              </p:cNvSpPr>
              <p:nvPr/>
            </p:nvSpPr>
            <p:spPr bwMode="auto">
              <a:xfrm>
                <a:off x="665" y="3556"/>
                <a:ext cx="17" cy="17"/>
              </a:xfrm>
              <a:custGeom>
                <a:avLst/>
                <a:gdLst>
                  <a:gd name="T0" fmla="*/ 16 w 17"/>
                  <a:gd name="T1" fmla="*/ 2 h 17"/>
                  <a:gd name="T2" fmla="*/ 11 w 17"/>
                  <a:gd name="T3" fmla="*/ 0 h 17"/>
                  <a:gd name="T4" fmla="*/ 4 w 17"/>
                  <a:gd name="T5" fmla="*/ 0 h 17"/>
                  <a:gd name="T6" fmla="*/ 0 w 17"/>
                  <a:gd name="T7" fmla="*/ 8 h 17"/>
                  <a:gd name="T8" fmla="*/ 1 w 17"/>
                  <a:gd name="T9" fmla="*/ 14 h 17"/>
                  <a:gd name="T10" fmla="*/ 8 w 17"/>
                  <a:gd name="T11" fmla="*/ 16 h 17"/>
                  <a:gd name="T12" fmla="*/ 16 w 17"/>
                  <a:gd name="T13" fmla="*/ 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2"/>
                    </a:moveTo>
                    <a:lnTo>
                      <a:pt x="11" y="0"/>
                    </a:lnTo>
                    <a:lnTo>
                      <a:pt x="4" y="0"/>
                    </a:lnTo>
                    <a:lnTo>
                      <a:pt x="0" y="8"/>
                    </a:lnTo>
                    <a:lnTo>
                      <a:pt x="1" y="14"/>
                    </a:lnTo>
                    <a:lnTo>
                      <a:pt x="8" y="16"/>
                    </a:lnTo>
                    <a:lnTo>
                      <a:pt x="16" y="2"/>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29" name="Freeform 482"/>
              <p:cNvSpPr>
                <a:spLocks noChangeAspect="1"/>
              </p:cNvSpPr>
              <p:nvPr/>
            </p:nvSpPr>
            <p:spPr bwMode="auto">
              <a:xfrm>
                <a:off x="665" y="3556"/>
                <a:ext cx="17" cy="17"/>
              </a:xfrm>
              <a:custGeom>
                <a:avLst/>
                <a:gdLst>
                  <a:gd name="T0" fmla="*/ 16 w 17"/>
                  <a:gd name="T1" fmla="*/ 2 h 17"/>
                  <a:gd name="T2" fmla="*/ 10 w 17"/>
                  <a:gd name="T3" fmla="*/ 0 h 17"/>
                  <a:gd name="T4" fmla="*/ 5 w 17"/>
                  <a:gd name="T5" fmla="*/ 0 h 17"/>
                  <a:gd name="T6" fmla="*/ 0 w 17"/>
                  <a:gd name="T7" fmla="*/ 8 h 17"/>
                  <a:gd name="T8" fmla="*/ 1 w 17"/>
                  <a:gd name="T9" fmla="*/ 14 h 17"/>
                  <a:gd name="T10" fmla="*/ 8 w 17"/>
                  <a:gd name="T11" fmla="*/ 16 h 17"/>
                  <a:gd name="T12" fmla="*/ 16 w 17"/>
                  <a:gd name="T13" fmla="*/ 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2"/>
                    </a:moveTo>
                    <a:lnTo>
                      <a:pt x="10" y="0"/>
                    </a:lnTo>
                    <a:lnTo>
                      <a:pt x="5" y="0"/>
                    </a:lnTo>
                    <a:lnTo>
                      <a:pt x="0" y="8"/>
                    </a:lnTo>
                    <a:lnTo>
                      <a:pt x="1" y="14"/>
                    </a:lnTo>
                    <a:lnTo>
                      <a:pt x="8" y="16"/>
                    </a:lnTo>
                    <a:lnTo>
                      <a:pt x="16" y="2"/>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30" name="Freeform 483"/>
              <p:cNvSpPr>
                <a:spLocks noChangeAspect="1"/>
              </p:cNvSpPr>
              <p:nvPr/>
            </p:nvSpPr>
            <p:spPr bwMode="auto">
              <a:xfrm>
                <a:off x="542" y="3475"/>
                <a:ext cx="105" cy="46"/>
              </a:xfrm>
              <a:custGeom>
                <a:avLst/>
                <a:gdLst>
                  <a:gd name="T0" fmla="*/ 95 w 105"/>
                  <a:gd name="T1" fmla="*/ 26 h 46"/>
                  <a:gd name="T2" fmla="*/ 63 w 105"/>
                  <a:gd name="T3" fmla="*/ 45 h 46"/>
                  <a:gd name="T4" fmla="*/ 10 w 105"/>
                  <a:gd name="T5" fmla="*/ 28 h 46"/>
                  <a:gd name="T6" fmla="*/ 0 w 105"/>
                  <a:gd name="T7" fmla="*/ 13 h 46"/>
                  <a:gd name="T8" fmla="*/ 0 w 105"/>
                  <a:gd name="T9" fmla="*/ 13 h 46"/>
                  <a:gd name="T10" fmla="*/ 0 w 105"/>
                  <a:gd name="T11" fmla="*/ 11 h 46"/>
                  <a:gd name="T12" fmla="*/ 1 w 105"/>
                  <a:gd name="T13" fmla="*/ 10 h 46"/>
                  <a:gd name="T14" fmla="*/ 13 w 105"/>
                  <a:gd name="T15" fmla="*/ 5 h 46"/>
                  <a:gd name="T16" fmla="*/ 14 w 105"/>
                  <a:gd name="T17" fmla="*/ 0 h 46"/>
                  <a:gd name="T18" fmla="*/ 89 w 105"/>
                  <a:gd name="T19" fmla="*/ 2 h 46"/>
                  <a:gd name="T20" fmla="*/ 88 w 105"/>
                  <a:gd name="T21" fmla="*/ 6 h 46"/>
                  <a:gd name="T22" fmla="*/ 100 w 105"/>
                  <a:gd name="T23" fmla="*/ 11 h 46"/>
                  <a:gd name="T24" fmla="*/ 101 w 105"/>
                  <a:gd name="T25" fmla="*/ 12 h 46"/>
                  <a:gd name="T26" fmla="*/ 103 w 105"/>
                  <a:gd name="T27" fmla="*/ 13 h 46"/>
                  <a:gd name="T28" fmla="*/ 104 w 105"/>
                  <a:gd name="T29" fmla="*/ 14 h 46"/>
                  <a:gd name="T30" fmla="*/ 95 w 105"/>
                  <a:gd name="T31" fmla="*/ 26 h 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5"/>
                  <a:gd name="T49" fmla="*/ 0 h 46"/>
                  <a:gd name="T50" fmla="*/ 105 w 105"/>
                  <a:gd name="T51" fmla="*/ 46 h 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5" h="46">
                    <a:moveTo>
                      <a:pt x="95" y="26"/>
                    </a:moveTo>
                    <a:lnTo>
                      <a:pt x="63" y="45"/>
                    </a:lnTo>
                    <a:lnTo>
                      <a:pt x="10" y="28"/>
                    </a:lnTo>
                    <a:lnTo>
                      <a:pt x="0" y="13"/>
                    </a:lnTo>
                    <a:lnTo>
                      <a:pt x="0" y="11"/>
                    </a:lnTo>
                    <a:lnTo>
                      <a:pt x="1" y="10"/>
                    </a:lnTo>
                    <a:lnTo>
                      <a:pt x="13" y="5"/>
                    </a:lnTo>
                    <a:lnTo>
                      <a:pt x="14" y="0"/>
                    </a:lnTo>
                    <a:lnTo>
                      <a:pt x="89" y="2"/>
                    </a:lnTo>
                    <a:lnTo>
                      <a:pt x="88" y="6"/>
                    </a:lnTo>
                    <a:lnTo>
                      <a:pt x="100" y="11"/>
                    </a:lnTo>
                    <a:lnTo>
                      <a:pt x="101" y="12"/>
                    </a:lnTo>
                    <a:lnTo>
                      <a:pt x="103" y="13"/>
                    </a:lnTo>
                    <a:lnTo>
                      <a:pt x="104" y="14"/>
                    </a:lnTo>
                    <a:lnTo>
                      <a:pt x="95" y="26"/>
                    </a:lnTo>
                  </a:path>
                </a:pathLst>
              </a:custGeom>
              <a:solidFill>
                <a:srgbClr val="E8E8E8"/>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1" name="Freeform 484"/>
              <p:cNvSpPr>
                <a:spLocks noChangeAspect="1"/>
              </p:cNvSpPr>
              <p:nvPr/>
            </p:nvSpPr>
            <p:spPr bwMode="auto">
              <a:xfrm>
                <a:off x="607" y="3504"/>
                <a:ext cx="31" cy="18"/>
              </a:xfrm>
              <a:custGeom>
                <a:avLst/>
                <a:gdLst>
                  <a:gd name="T0" fmla="*/ 0 w 31"/>
                  <a:gd name="T1" fmla="*/ 17 h 18"/>
                  <a:gd name="T2" fmla="*/ 30 w 31"/>
                  <a:gd name="T3" fmla="*/ 1 h 18"/>
                  <a:gd name="T4" fmla="*/ 29 w 31"/>
                  <a:gd name="T5" fmla="*/ 0 h 18"/>
                  <a:gd name="T6" fmla="*/ 0 w 31"/>
                  <a:gd name="T7" fmla="*/ 15 h 18"/>
                  <a:gd name="T8" fmla="*/ 0 w 31"/>
                  <a:gd name="T9" fmla="*/ 17 h 18"/>
                  <a:gd name="T10" fmla="*/ 0 60000 65536"/>
                  <a:gd name="T11" fmla="*/ 0 60000 65536"/>
                  <a:gd name="T12" fmla="*/ 0 60000 65536"/>
                  <a:gd name="T13" fmla="*/ 0 60000 65536"/>
                  <a:gd name="T14" fmla="*/ 0 60000 65536"/>
                  <a:gd name="T15" fmla="*/ 0 w 31"/>
                  <a:gd name="T16" fmla="*/ 0 h 18"/>
                  <a:gd name="T17" fmla="*/ 31 w 31"/>
                  <a:gd name="T18" fmla="*/ 18 h 18"/>
                </a:gdLst>
                <a:ahLst/>
                <a:cxnLst>
                  <a:cxn ang="T10">
                    <a:pos x="T0" y="T1"/>
                  </a:cxn>
                  <a:cxn ang="T11">
                    <a:pos x="T2" y="T3"/>
                  </a:cxn>
                  <a:cxn ang="T12">
                    <a:pos x="T4" y="T5"/>
                  </a:cxn>
                  <a:cxn ang="T13">
                    <a:pos x="T6" y="T7"/>
                  </a:cxn>
                  <a:cxn ang="T14">
                    <a:pos x="T8" y="T9"/>
                  </a:cxn>
                </a:cxnLst>
                <a:rect l="T15" t="T16" r="T17" b="T18"/>
                <a:pathLst>
                  <a:path w="31" h="18">
                    <a:moveTo>
                      <a:pt x="0" y="17"/>
                    </a:moveTo>
                    <a:lnTo>
                      <a:pt x="30" y="1"/>
                    </a:lnTo>
                    <a:lnTo>
                      <a:pt x="29" y="0"/>
                    </a:lnTo>
                    <a:lnTo>
                      <a:pt x="0" y="15"/>
                    </a:lnTo>
                    <a:lnTo>
                      <a:pt x="0" y="17"/>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2" name="Freeform 485"/>
              <p:cNvSpPr>
                <a:spLocks noChangeAspect="1"/>
              </p:cNvSpPr>
              <p:nvPr/>
            </p:nvSpPr>
            <p:spPr bwMode="auto">
              <a:xfrm>
                <a:off x="552" y="3507"/>
                <a:ext cx="52" cy="17"/>
              </a:xfrm>
              <a:custGeom>
                <a:avLst/>
                <a:gdLst>
                  <a:gd name="T0" fmla="*/ 0 w 52"/>
                  <a:gd name="T1" fmla="*/ 0 h 17"/>
                  <a:gd name="T2" fmla="*/ 0 w 52"/>
                  <a:gd name="T3" fmla="*/ 0 h 17"/>
                  <a:gd name="T4" fmla="*/ 51 w 52"/>
                  <a:gd name="T5" fmla="*/ 16 h 17"/>
                  <a:gd name="T6" fmla="*/ 51 w 52"/>
                  <a:gd name="T7" fmla="*/ 14 h 17"/>
                  <a:gd name="T8" fmla="*/ 0 w 52"/>
                  <a:gd name="T9" fmla="*/ 0 h 17"/>
                  <a:gd name="T10" fmla="*/ 1 w 52"/>
                  <a:gd name="T11" fmla="*/ 0 h 17"/>
                  <a:gd name="T12" fmla="*/ 0 w 52"/>
                  <a:gd name="T13" fmla="*/ 0 h 17"/>
                  <a:gd name="T14" fmla="*/ 0 w 52"/>
                  <a:gd name="T15" fmla="*/ 0 h 17"/>
                  <a:gd name="T16" fmla="*/ 0 w 52"/>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7"/>
                  <a:gd name="T29" fmla="*/ 52 w 52"/>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7">
                    <a:moveTo>
                      <a:pt x="0" y="0"/>
                    </a:moveTo>
                    <a:lnTo>
                      <a:pt x="0" y="0"/>
                    </a:lnTo>
                    <a:lnTo>
                      <a:pt x="51" y="16"/>
                    </a:lnTo>
                    <a:lnTo>
                      <a:pt x="51" y="14"/>
                    </a:lnTo>
                    <a:lnTo>
                      <a:pt x="0" y="0"/>
                    </a:lnTo>
                    <a:lnTo>
                      <a:pt x="1"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3" name="Freeform 486"/>
              <p:cNvSpPr>
                <a:spLocks noChangeAspect="1"/>
              </p:cNvSpPr>
              <p:nvPr/>
            </p:nvSpPr>
            <p:spPr bwMode="auto">
              <a:xfrm>
                <a:off x="541" y="3490"/>
                <a:ext cx="17" cy="17"/>
              </a:xfrm>
              <a:custGeom>
                <a:avLst/>
                <a:gdLst>
                  <a:gd name="T0" fmla="*/ 0 w 17"/>
                  <a:gd name="T1" fmla="*/ 0 h 17"/>
                  <a:gd name="T2" fmla="*/ 13 w 17"/>
                  <a:gd name="T3" fmla="*/ 16 h 17"/>
                  <a:gd name="T4" fmla="*/ 16 w 17"/>
                  <a:gd name="T5" fmla="*/ 15 h 17"/>
                  <a:gd name="T6" fmla="*/ 1 w 17"/>
                  <a:gd name="T7" fmla="*/ 0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3" y="16"/>
                    </a:lnTo>
                    <a:lnTo>
                      <a:pt x="16" y="15"/>
                    </a:lnTo>
                    <a:lnTo>
                      <a:pt x="1"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4" name="Freeform 487"/>
              <p:cNvSpPr>
                <a:spLocks noChangeAspect="1"/>
              </p:cNvSpPr>
              <p:nvPr/>
            </p:nvSpPr>
            <p:spPr bwMode="auto">
              <a:xfrm>
                <a:off x="539" y="3486"/>
                <a:ext cx="17" cy="17"/>
              </a:xfrm>
              <a:custGeom>
                <a:avLst/>
                <a:gdLst>
                  <a:gd name="T0" fmla="*/ 16 w 17"/>
                  <a:gd name="T1" fmla="*/ 16 h 17"/>
                  <a:gd name="T2" fmla="*/ 16 w 17"/>
                  <a:gd name="T3" fmla="*/ 8 h 17"/>
                  <a:gd name="T4" fmla="*/ 6 w 17"/>
                  <a:gd name="T5" fmla="*/ 0 h 17"/>
                  <a:gd name="T6" fmla="*/ 0 w 17"/>
                  <a:gd name="T7" fmla="*/ 8 h 17"/>
                  <a:gd name="T8" fmla="*/ 6 w 17"/>
                  <a:gd name="T9" fmla="*/ 16 h 17"/>
                  <a:gd name="T10" fmla="*/ 0 w 17"/>
                  <a:gd name="T11" fmla="*/ 8 h 17"/>
                  <a:gd name="T12" fmla="*/ 16 w 17"/>
                  <a:gd name="T13" fmla="*/ 16 h 17"/>
                  <a:gd name="T14" fmla="*/ 16 w 17"/>
                  <a:gd name="T15" fmla="*/ 8 h 17"/>
                  <a:gd name="T16" fmla="*/ 16 w 17"/>
                  <a:gd name="T17" fmla="*/ 1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6" y="16"/>
                    </a:moveTo>
                    <a:lnTo>
                      <a:pt x="16" y="8"/>
                    </a:lnTo>
                    <a:lnTo>
                      <a:pt x="6" y="0"/>
                    </a:lnTo>
                    <a:lnTo>
                      <a:pt x="0" y="8"/>
                    </a:lnTo>
                    <a:lnTo>
                      <a:pt x="6" y="16"/>
                    </a:lnTo>
                    <a:lnTo>
                      <a:pt x="0" y="8"/>
                    </a:lnTo>
                    <a:lnTo>
                      <a:pt x="16" y="16"/>
                    </a:lnTo>
                    <a:lnTo>
                      <a:pt x="16" y="8"/>
                    </a:lnTo>
                    <a:lnTo>
                      <a:pt x="1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5" name="Freeform 488"/>
              <p:cNvSpPr>
                <a:spLocks noChangeAspect="1"/>
              </p:cNvSpPr>
              <p:nvPr/>
            </p:nvSpPr>
            <p:spPr bwMode="auto">
              <a:xfrm>
                <a:off x="539" y="3485"/>
                <a:ext cx="17" cy="17"/>
              </a:xfrm>
              <a:custGeom>
                <a:avLst/>
                <a:gdLst>
                  <a:gd name="T0" fmla="*/ 6 w 17"/>
                  <a:gd name="T1" fmla="*/ 16 h 17"/>
                  <a:gd name="T2" fmla="*/ 16 w 17"/>
                  <a:gd name="T3" fmla="*/ 4 h 17"/>
                  <a:gd name="T4" fmla="*/ 0 w 17"/>
                  <a:gd name="T5" fmla="*/ 0 h 17"/>
                  <a:gd name="T6" fmla="*/ 0 w 17"/>
                  <a:gd name="T7" fmla="*/ 12 h 17"/>
                  <a:gd name="T8" fmla="*/ 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6" y="16"/>
                    </a:moveTo>
                    <a:lnTo>
                      <a:pt x="16" y="4"/>
                    </a:lnTo>
                    <a:lnTo>
                      <a:pt x="0" y="0"/>
                    </a:lnTo>
                    <a:lnTo>
                      <a:pt x="0" y="12"/>
                    </a:lnTo>
                    <a:lnTo>
                      <a:pt x="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6" name="Freeform 489"/>
              <p:cNvSpPr>
                <a:spLocks noChangeAspect="1"/>
              </p:cNvSpPr>
              <p:nvPr/>
            </p:nvSpPr>
            <p:spPr bwMode="auto">
              <a:xfrm>
                <a:off x="538" y="3484"/>
                <a:ext cx="17" cy="17"/>
              </a:xfrm>
              <a:custGeom>
                <a:avLst/>
                <a:gdLst>
                  <a:gd name="T0" fmla="*/ 5 w 17"/>
                  <a:gd name="T1" fmla="*/ 16 h 17"/>
                  <a:gd name="T2" fmla="*/ 16 w 17"/>
                  <a:gd name="T3" fmla="*/ 6 h 17"/>
                  <a:gd name="T4" fmla="*/ 10 w 17"/>
                  <a:gd name="T5" fmla="*/ 0 h 17"/>
                  <a:gd name="T6" fmla="*/ 0 w 17"/>
                  <a:gd name="T7" fmla="*/ 6 h 17"/>
                  <a:gd name="T8" fmla="*/ 5 w 17"/>
                  <a:gd name="T9" fmla="*/ 6 h 17"/>
                  <a:gd name="T10" fmla="*/ 5 w 17"/>
                  <a:gd name="T11" fmla="*/ 1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5" y="16"/>
                    </a:moveTo>
                    <a:lnTo>
                      <a:pt x="16" y="6"/>
                    </a:lnTo>
                    <a:lnTo>
                      <a:pt x="10" y="0"/>
                    </a:lnTo>
                    <a:lnTo>
                      <a:pt x="0" y="6"/>
                    </a:lnTo>
                    <a:lnTo>
                      <a:pt x="5" y="6"/>
                    </a:lnTo>
                    <a:lnTo>
                      <a:pt x="5"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7" name="Freeform 490"/>
              <p:cNvSpPr>
                <a:spLocks noChangeAspect="1"/>
              </p:cNvSpPr>
              <p:nvPr/>
            </p:nvSpPr>
            <p:spPr bwMode="auto">
              <a:xfrm>
                <a:off x="544" y="3480"/>
                <a:ext cx="17" cy="17"/>
              </a:xfrm>
              <a:custGeom>
                <a:avLst/>
                <a:gdLst>
                  <a:gd name="T0" fmla="*/ 15 w 17"/>
                  <a:gd name="T1" fmla="*/ 2 h 17"/>
                  <a:gd name="T2" fmla="*/ 15 w 17"/>
                  <a:gd name="T3" fmla="*/ 0 h 17"/>
                  <a:gd name="T4" fmla="*/ 0 w 17"/>
                  <a:gd name="T5" fmla="*/ 12 h 17"/>
                  <a:gd name="T6" fmla="*/ 0 w 17"/>
                  <a:gd name="T7" fmla="*/ 16 h 17"/>
                  <a:gd name="T8" fmla="*/ 16 w 17"/>
                  <a:gd name="T9" fmla="*/ 4 h 17"/>
                  <a:gd name="T10" fmla="*/ 16 w 17"/>
                  <a:gd name="T11" fmla="*/ 2 h 17"/>
                  <a:gd name="T12" fmla="*/ 16 w 17"/>
                  <a:gd name="T13" fmla="*/ 4 h 17"/>
                  <a:gd name="T14" fmla="*/ 16 w 17"/>
                  <a:gd name="T15" fmla="*/ 2 h 17"/>
                  <a:gd name="T16" fmla="*/ 15 w 17"/>
                  <a:gd name="T17" fmla="*/ 2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5" y="2"/>
                    </a:moveTo>
                    <a:lnTo>
                      <a:pt x="15" y="0"/>
                    </a:lnTo>
                    <a:lnTo>
                      <a:pt x="0" y="12"/>
                    </a:lnTo>
                    <a:lnTo>
                      <a:pt x="0" y="16"/>
                    </a:lnTo>
                    <a:lnTo>
                      <a:pt x="16" y="4"/>
                    </a:lnTo>
                    <a:lnTo>
                      <a:pt x="16" y="2"/>
                    </a:lnTo>
                    <a:lnTo>
                      <a:pt x="16" y="4"/>
                    </a:lnTo>
                    <a:lnTo>
                      <a:pt x="16" y="2"/>
                    </a:lnTo>
                    <a:lnTo>
                      <a:pt x="15" y="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8" name="Freeform 491"/>
              <p:cNvSpPr>
                <a:spLocks noChangeAspect="1"/>
              </p:cNvSpPr>
              <p:nvPr/>
            </p:nvSpPr>
            <p:spPr bwMode="auto">
              <a:xfrm>
                <a:off x="554" y="3475"/>
                <a:ext cx="17" cy="17"/>
              </a:xfrm>
              <a:custGeom>
                <a:avLst/>
                <a:gdLst>
                  <a:gd name="T0" fmla="*/ 5 w 17"/>
                  <a:gd name="T1" fmla="*/ 0 h 17"/>
                  <a:gd name="T2" fmla="*/ 16 w 17"/>
                  <a:gd name="T3" fmla="*/ 16 h 17"/>
                  <a:gd name="T4" fmla="*/ 10 w 17"/>
                  <a:gd name="T5" fmla="*/ 16 h 17"/>
                  <a:gd name="T6" fmla="*/ 0 w 17"/>
                  <a:gd name="T7" fmla="*/ 0 h 17"/>
                  <a:gd name="T8" fmla="*/ 5 w 17"/>
                  <a:gd name="T9" fmla="*/ 0 h 17"/>
                  <a:gd name="T10" fmla="*/ 5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5" y="0"/>
                    </a:moveTo>
                    <a:lnTo>
                      <a:pt x="16" y="16"/>
                    </a:lnTo>
                    <a:lnTo>
                      <a:pt x="10" y="16"/>
                    </a:lnTo>
                    <a:lnTo>
                      <a:pt x="0" y="0"/>
                    </a:lnTo>
                    <a:lnTo>
                      <a:pt x="5"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39" name="Freeform 492"/>
              <p:cNvSpPr>
                <a:spLocks noChangeAspect="1"/>
              </p:cNvSpPr>
              <p:nvPr/>
            </p:nvSpPr>
            <p:spPr bwMode="auto">
              <a:xfrm>
                <a:off x="557" y="3473"/>
                <a:ext cx="75" cy="17"/>
              </a:xfrm>
              <a:custGeom>
                <a:avLst/>
                <a:gdLst>
                  <a:gd name="T0" fmla="*/ 74 w 75"/>
                  <a:gd name="T1" fmla="*/ 4 h 17"/>
                  <a:gd name="T2" fmla="*/ 73 w 75"/>
                  <a:gd name="T3" fmla="*/ 8 h 17"/>
                  <a:gd name="T4" fmla="*/ 0 w 75"/>
                  <a:gd name="T5" fmla="*/ 16 h 17"/>
                  <a:gd name="T6" fmla="*/ 0 w 75"/>
                  <a:gd name="T7" fmla="*/ 12 h 17"/>
                  <a:gd name="T8" fmla="*/ 73 w 75"/>
                  <a:gd name="T9" fmla="*/ 0 h 17"/>
                  <a:gd name="T10" fmla="*/ 72 w 75"/>
                  <a:gd name="T11" fmla="*/ 4 h 17"/>
                  <a:gd name="T12" fmla="*/ 74 w 75"/>
                  <a:gd name="T13" fmla="*/ 4 h 17"/>
                  <a:gd name="T14" fmla="*/ 74 w 75"/>
                  <a:gd name="T15" fmla="*/ 8 h 17"/>
                  <a:gd name="T16" fmla="*/ 73 w 75"/>
                  <a:gd name="T17" fmla="*/ 8 h 17"/>
                  <a:gd name="T18" fmla="*/ 74 w 75"/>
                  <a:gd name="T19" fmla="*/ 4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5"/>
                  <a:gd name="T31" fmla="*/ 0 h 17"/>
                  <a:gd name="T32" fmla="*/ 75 w 75"/>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5" h="17">
                    <a:moveTo>
                      <a:pt x="74" y="4"/>
                    </a:moveTo>
                    <a:lnTo>
                      <a:pt x="73" y="8"/>
                    </a:lnTo>
                    <a:lnTo>
                      <a:pt x="0" y="16"/>
                    </a:lnTo>
                    <a:lnTo>
                      <a:pt x="0" y="12"/>
                    </a:lnTo>
                    <a:lnTo>
                      <a:pt x="73" y="0"/>
                    </a:lnTo>
                    <a:lnTo>
                      <a:pt x="72" y="4"/>
                    </a:lnTo>
                    <a:lnTo>
                      <a:pt x="74" y="4"/>
                    </a:lnTo>
                    <a:lnTo>
                      <a:pt x="74" y="8"/>
                    </a:lnTo>
                    <a:lnTo>
                      <a:pt x="73" y="8"/>
                    </a:lnTo>
                    <a:lnTo>
                      <a:pt x="74" y="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0" name="Freeform 493"/>
              <p:cNvSpPr>
                <a:spLocks noChangeAspect="1"/>
              </p:cNvSpPr>
              <p:nvPr/>
            </p:nvSpPr>
            <p:spPr bwMode="auto">
              <a:xfrm>
                <a:off x="630" y="3478"/>
                <a:ext cx="17" cy="17"/>
              </a:xfrm>
              <a:custGeom>
                <a:avLst/>
                <a:gdLst>
                  <a:gd name="T0" fmla="*/ 6 w 17"/>
                  <a:gd name="T1" fmla="*/ 16 h 17"/>
                  <a:gd name="T2" fmla="*/ 0 w 17"/>
                  <a:gd name="T3" fmla="*/ 0 h 17"/>
                  <a:gd name="T4" fmla="*/ 16 w 17"/>
                  <a:gd name="T5" fmla="*/ 0 h 17"/>
                  <a:gd name="T6" fmla="*/ 16 w 17"/>
                  <a:gd name="T7" fmla="*/ 16 h 17"/>
                  <a:gd name="T8" fmla="*/ 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6" y="16"/>
                    </a:moveTo>
                    <a:lnTo>
                      <a:pt x="0" y="0"/>
                    </a:lnTo>
                    <a:lnTo>
                      <a:pt x="16" y="0"/>
                    </a:lnTo>
                    <a:lnTo>
                      <a:pt x="16" y="16"/>
                    </a:lnTo>
                    <a:lnTo>
                      <a:pt x="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1" name="Freeform 494"/>
              <p:cNvSpPr>
                <a:spLocks noChangeAspect="1"/>
              </p:cNvSpPr>
              <p:nvPr/>
            </p:nvSpPr>
            <p:spPr bwMode="auto">
              <a:xfrm>
                <a:off x="634" y="3482"/>
                <a:ext cx="17" cy="17"/>
              </a:xfrm>
              <a:custGeom>
                <a:avLst/>
                <a:gdLst>
                  <a:gd name="T0" fmla="*/ 16 w 17"/>
                  <a:gd name="T1" fmla="*/ 16 h 17"/>
                  <a:gd name="T2" fmla="*/ 0 w 17"/>
                  <a:gd name="T3" fmla="*/ 0 h 17"/>
                  <a:gd name="T4" fmla="*/ 0 w 17"/>
                  <a:gd name="T5" fmla="*/ 4 h 17"/>
                  <a:gd name="T6" fmla="*/ 16 w 17"/>
                  <a:gd name="T7" fmla="*/ 1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0" y="0"/>
                    </a:lnTo>
                    <a:lnTo>
                      <a:pt x="0" y="4"/>
                    </a:lnTo>
                    <a:lnTo>
                      <a:pt x="1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2" name="Freeform 495"/>
              <p:cNvSpPr>
                <a:spLocks noChangeAspect="1"/>
              </p:cNvSpPr>
              <p:nvPr/>
            </p:nvSpPr>
            <p:spPr bwMode="auto">
              <a:xfrm>
                <a:off x="643" y="3484"/>
                <a:ext cx="17" cy="17"/>
              </a:xfrm>
              <a:custGeom>
                <a:avLst/>
                <a:gdLst>
                  <a:gd name="T0" fmla="*/ 0 w 17"/>
                  <a:gd name="T1" fmla="*/ 8 h 17"/>
                  <a:gd name="T2" fmla="*/ 16 w 17"/>
                  <a:gd name="T3" fmla="*/ 16 h 17"/>
                  <a:gd name="T4" fmla="*/ 16 w 17"/>
                  <a:gd name="T5" fmla="*/ 8 h 17"/>
                  <a:gd name="T6" fmla="*/ 0 w 17"/>
                  <a:gd name="T7" fmla="*/ 0 h 17"/>
                  <a:gd name="T8" fmla="*/ 0 w 17"/>
                  <a:gd name="T9" fmla="*/ 8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8"/>
                    </a:moveTo>
                    <a:lnTo>
                      <a:pt x="16" y="16"/>
                    </a:lnTo>
                    <a:lnTo>
                      <a:pt x="16" y="8"/>
                    </a:lnTo>
                    <a:lnTo>
                      <a:pt x="0" y="0"/>
                    </a:lnTo>
                    <a:lnTo>
                      <a:pt x="0"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3" name="Freeform 496"/>
              <p:cNvSpPr>
                <a:spLocks noChangeAspect="1"/>
              </p:cNvSpPr>
              <p:nvPr/>
            </p:nvSpPr>
            <p:spPr bwMode="auto">
              <a:xfrm>
                <a:off x="645" y="3486"/>
                <a:ext cx="17" cy="17"/>
              </a:xfrm>
              <a:custGeom>
                <a:avLst/>
                <a:gdLst>
                  <a:gd name="T0" fmla="*/ 0 w 17"/>
                  <a:gd name="T1" fmla="*/ 4 h 17"/>
                  <a:gd name="T2" fmla="*/ 16 w 17"/>
                  <a:gd name="T3" fmla="*/ 16 h 17"/>
                  <a:gd name="T4" fmla="*/ 16 w 17"/>
                  <a:gd name="T5" fmla="*/ 12 h 17"/>
                  <a:gd name="T6" fmla="*/ 6 w 17"/>
                  <a:gd name="T7" fmla="*/ 0 h 17"/>
                  <a:gd name="T8" fmla="*/ 0 w 17"/>
                  <a:gd name="T9" fmla="*/ 4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4"/>
                    </a:moveTo>
                    <a:lnTo>
                      <a:pt x="16" y="16"/>
                    </a:lnTo>
                    <a:lnTo>
                      <a:pt x="16" y="12"/>
                    </a:lnTo>
                    <a:lnTo>
                      <a:pt x="6" y="0"/>
                    </a:lnTo>
                    <a:lnTo>
                      <a:pt x="0" y="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4" name="Freeform 497"/>
              <p:cNvSpPr>
                <a:spLocks noChangeAspect="1"/>
              </p:cNvSpPr>
              <p:nvPr/>
            </p:nvSpPr>
            <p:spPr bwMode="auto">
              <a:xfrm>
                <a:off x="646" y="3487"/>
                <a:ext cx="17" cy="17"/>
              </a:xfrm>
              <a:custGeom>
                <a:avLst/>
                <a:gdLst>
                  <a:gd name="T0" fmla="*/ 0 w 17"/>
                  <a:gd name="T1" fmla="*/ 0 h 17"/>
                  <a:gd name="T2" fmla="*/ 0 w 17"/>
                  <a:gd name="T3" fmla="*/ 5 h 17"/>
                  <a:gd name="T4" fmla="*/ 6 w 17"/>
                  <a:gd name="T5" fmla="*/ 16 h 17"/>
                  <a:gd name="T6" fmla="*/ 16 w 17"/>
                  <a:gd name="T7" fmla="*/ 10 h 17"/>
                  <a:gd name="T8" fmla="*/ 6 w 17"/>
                  <a:gd name="T9" fmla="*/ 0 h 17"/>
                  <a:gd name="T10" fmla="*/ 6 w 17"/>
                  <a:gd name="T11" fmla="*/ 5 h 17"/>
                  <a:gd name="T12" fmla="*/ 0 w 17"/>
                  <a:gd name="T13" fmla="*/ 0 h 17"/>
                  <a:gd name="T14" fmla="*/ 0 w 17"/>
                  <a:gd name="T15" fmla="*/ 5 h 17"/>
                  <a:gd name="T16" fmla="*/ 0 w 17"/>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0"/>
                    </a:moveTo>
                    <a:lnTo>
                      <a:pt x="0" y="5"/>
                    </a:lnTo>
                    <a:lnTo>
                      <a:pt x="6" y="16"/>
                    </a:lnTo>
                    <a:lnTo>
                      <a:pt x="16" y="10"/>
                    </a:lnTo>
                    <a:lnTo>
                      <a:pt x="6" y="0"/>
                    </a:lnTo>
                    <a:lnTo>
                      <a:pt x="6" y="5"/>
                    </a:lnTo>
                    <a:lnTo>
                      <a:pt x="0" y="0"/>
                    </a:lnTo>
                    <a:lnTo>
                      <a:pt x="0" y="5"/>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5" name="Freeform 498"/>
              <p:cNvSpPr>
                <a:spLocks noChangeAspect="1"/>
              </p:cNvSpPr>
              <p:nvPr/>
            </p:nvSpPr>
            <p:spPr bwMode="auto">
              <a:xfrm>
                <a:off x="642" y="3491"/>
                <a:ext cx="17" cy="17"/>
              </a:xfrm>
              <a:custGeom>
                <a:avLst/>
                <a:gdLst>
                  <a:gd name="T0" fmla="*/ 2 w 17"/>
                  <a:gd name="T1" fmla="*/ 16 h 17"/>
                  <a:gd name="T2" fmla="*/ 2 w 17"/>
                  <a:gd name="T3" fmla="*/ 15 h 17"/>
                  <a:gd name="T4" fmla="*/ 16 w 17"/>
                  <a:gd name="T5" fmla="*/ 0 h 17"/>
                  <a:gd name="T6" fmla="*/ 14 w 17"/>
                  <a:gd name="T7" fmla="*/ 0 h 17"/>
                  <a:gd name="T8" fmla="*/ 0 w 17"/>
                  <a:gd name="T9" fmla="*/ 14 h 17"/>
                  <a:gd name="T10" fmla="*/ 2 w 17"/>
                  <a:gd name="T11" fmla="*/ 16 h 17"/>
                  <a:gd name="T12" fmla="*/ 2 w 17"/>
                  <a:gd name="T13" fmla="*/ 15 h 17"/>
                  <a:gd name="T14" fmla="*/ 2 w 17"/>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2" y="16"/>
                    </a:moveTo>
                    <a:lnTo>
                      <a:pt x="2" y="15"/>
                    </a:lnTo>
                    <a:lnTo>
                      <a:pt x="16" y="0"/>
                    </a:lnTo>
                    <a:lnTo>
                      <a:pt x="14" y="0"/>
                    </a:lnTo>
                    <a:lnTo>
                      <a:pt x="0" y="14"/>
                    </a:lnTo>
                    <a:lnTo>
                      <a:pt x="2" y="16"/>
                    </a:lnTo>
                    <a:lnTo>
                      <a:pt x="2" y="15"/>
                    </a:lnTo>
                    <a:lnTo>
                      <a:pt x="2"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6" name="Freeform 499"/>
              <p:cNvSpPr>
                <a:spLocks noChangeAspect="1"/>
              </p:cNvSpPr>
              <p:nvPr/>
            </p:nvSpPr>
            <p:spPr bwMode="auto">
              <a:xfrm>
                <a:off x="601" y="3506"/>
                <a:ext cx="17" cy="17"/>
              </a:xfrm>
              <a:custGeom>
                <a:avLst/>
                <a:gdLst>
                  <a:gd name="T0" fmla="*/ 0 w 17"/>
                  <a:gd name="T1" fmla="*/ 10 h 17"/>
                  <a:gd name="T2" fmla="*/ 0 w 17"/>
                  <a:gd name="T3" fmla="*/ 0 h 17"/>
                  <a:gd name="T4" fmla="*/ 4 w 17"/>
                  <a:gd name="T5" fmla="*/ 0 h 17"/>
                  <a:gd name="T6" fmla="*/ 8 w 17"/>
                  <a:gd name="T7" fmla="*/ 0 h 17"/>
                  <a:gd name="T8" fmla="*/ 12 w 17"/>
                  <a:gd name="T9" fmla="*/ 0 h 17"/>
                  <a:gd name="T10" fmla="*/ 16 w 17"/>
                  <a:gd name="T11" fmla="*/ 0 h 17"/>
                  <a:gd name="T12" fmla="*/ 16 w 17"/>
                  <a:gd name="T13" fmla="*/ 10 h 17"/>
                  <a:gd name="T14" fmla="*/ 14 w 17"/>
                  <a:gd name="T15" fmla="*/ 10 h 17"/>
                  <a:gd name="T16" fmla="*/ 8 w 17"/>
                  <a:gd name="T17" fmla="*/ 16 h 17"/>
                  <a:gd name="T18" fmla="*/ 2 w 17"/>
                  <a:gd name="T19" fmla="*/ 10 h 17"/>
                  <a:gd name="T20" fmla="*/ 0 w 17"/>
                  <a:gd name="T21" fmla="*/ 1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0" y="10"/>
                    </a:moveTo>
                    <a:lnTo>
                      <a:pt x="0" y="0"/>
                    </a:lnTo>
                    <a:lnTo>
                      <a:pt x="4" y="0"/>
                    </a:lnTo>
                    <a:lnTo>
                      <a:pt x="8" y="0"/>
                    </a:lnTo>
                    <a:lnTo>
                      <a:pt x="12" y="0"/>
                    </a:lnTo>
                    <a:lnTo>
                      <a:pt x="16" y="0"/>
                    </a:lnTo>
                    <a:lnTo>
                      <a:pt x="16" y="10"/>
                    </a:lnTo>
                    <a:lnTo>
                      <a:pt x="14" y="10"/>
                    </a:lnTo>
                    <a:lnTo>
                      <a:pt x="8" y="16"/>
                    </a:lnTo>
                    <a:lnTo>
                      <a:pt x="2" y="10"/>
                    </a:lnTo>
                    <a:lnTo>
                      <a:pt x="0" y="10"/>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7" name="Freeform 500"/>
              <p:cNvSpPr>
                <a:spLocks noChangeAspect="1"/>
              </p:cNvSpPr>
              <p:nvPr/>
            </p:nvSpPr>
            <p:spPr bwMode="auto">
              <a:xfrm>
                <a:off x="600" y="3506"/>
                <a:ext cx="17" cy="17"/>
              </a:xfrm>
              <a:custGeom>
                <a:avLst/>
                <a:gdLst>
                  <a:gd name="T0" fmla="*/ 0 w 17"/>
                  <a:gd name="T1" fmla="*/ 8 h 17"/>
                  <a:gd name="T2" fmla="*/ 0 w 17"/>
                  <a:gd name="T3" fmla="*/ 0 h 17"/>
                  <a:gd name="T4" fmla="*/ 4 w 17"/>
                  <a:gd name="T5" fmla="*/ 0 h 17"/>
                  <a:gd name="T6" fmla="*/ 8 w 17"/>
                  <a:gd name="T7" fmla="*/ 2 h 17"/>
                  <a:gd name="T8" fmla="*/ 12 w 17"/>
                  <a:gd name="T9" fmla="*/ 0 h 17"/>
                  <a:gd name="T10" fmla="*/ 16 w 17"/>
                  <a:gd name="T11" fmla="*/ 0 h 17"/>
                  <a:gd name="T12" fmla="*/ 16 w 17"/>
                  <a:gd name="T13" fmla="*/ 8 h 17"/>
                  <a:gd name="T14" fmla="*/ 14 w 17"/>
                  <a:gd name="T15" fmla="*/ 12 h 17"/>
                  <a:gd name="T16" fmla="*/ 8 w 17"/>
                  <a:gd name="T17" fmla="*/ 16 h 17"/>
                  <a:gd name="T18" fmla="*/ 1 w 17"/>
                  <a:gd name="T19" fmla="*/ 12 h 17"/>
                  <a:gd name="T20" fmla="*/ 0 w 17"/>
                  <a:gd name="T21" fmla="*/ 8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0" y="8"/>
                    </a:moveTo>
                    <a:lnTo>
                      <a:pt x="0" y="0"/>
                    </a:lnTo>
                    <a:lnTo>
                      <a:pt x="4" y="0"/>
                    </a:lnTo>
                    <a:lnTo>
                      <a:pt x="8" y="2"/>
                    </a:lnTo>
                    <a:lnTo>
                      <a:pt x="12" y="0"/>
                    </a:lnTo>
                    <a:lnTo>
                      <a:pt x="16" y="0"/>
                    </a:lnTo>
                    <a:lnTo>
                      <a:pt x="16" y="8"/>
                    </a:lnTo>
                    <a:lnTo>
                      <a:pt x="14" y="12"/>
                    </a:lnTo>
                    <a:lnTo>
                      <a:pt x="8" y="16"/>
                    </a:lnTo>
                    <a:lnTo>
                      <a:pt x="1" y="12"/>
                    </a:lnTo>
                    <a:lnTo>
                      <a:pt x="0" y="8"/>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48" name="Freeform 501"/>
              <p:cNvSpPr>
                <a:spLocks noChangeAspect="1"/>
              </p:cNvSpPr>
              <p:nvPr/>
            </p:nvSpPr>
            <p:spPr bwMode="auto">
              <a:xfrm>
                <a:off x="631" y="3488"/>
                <a:ext cx="17" cy="1"/>
              </a:xfrm>
              <a:custGeom>
                <a:avLst/>
                <a:gdLst>
                  <a:gd name="T0" fmla="*/ 0 w 17"/>
                  <a:gd name="T1" fmla="*/ 0 h 1"/>
                  <a:gd name="T2" fmla="*/ 3 w 17"/>
                  <a:gd name="T3" fmla="*/ 0 h 1"/>
                  <a:gd name="T4" fmla="*/ 8 w 17"/>
                  <a:gd name="T5" fmla="*/ 0 h 1"/>
                  <a:gd name="T6" fmla="*/ 13 w 17"/>
                  <a:gd name="T7" fmla="*/ 0 h 1"/>
                  <a:gd name="T8" fmla="*/ 16 w 17"/>
                  <a:gd name="T9" fmla="*/ 0 h 1"/>
                  <a:gd name="T10" fmla="*/ 13 w 17"/>
                  <a:gd name="T11" fmla="*/ 0 h 1"/>
                  <a:gd name="T12" fmla="*/ 8 w 17"/>
                  <a:gd name="T13" fmla="*/ 0 h 1"/>
                  <a:gd name="T14" fmla="*/ 1 w 17"/>
                  <a:gd name="T15" fmla="*/ 0 h 1"/>
                  <a:gd name="T16" fmla="*/ 0 w 17"/>
                  <a:gd name="T17" fmla="*/ 0 h 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
                  <a:gd name="T29" fmla="*/ 17 w 17"/>
                  <a:gd name="T30" fmla="*/ 1 h 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
                    <a:moveTo>
                      <a:pt x="0" y="0"/>
                    </a:moveTo>
                    <a:lnTo>
                      <a:pt x="3" y="0"/>
                    </a:lnTo>
                    <a:lnTo>
                      <a:pt x="8" y="0"/>
                    </a:lnTo>
                    <a:lnTo>
                      <a:pt x="13" y="0"/>
                    </a:lnTo>
                    <a:lnTo>
                      <a:pt x="16" y="0"/>
                    </a:lnTo>
                    <a:lnTo>
                      <a:pt x="13" y="0"/>
                    </a:lnTo>
                    <a:lnTo>
                      <a:pt x="8" y="0"/>
                    </a:lnTo>
                    <a:lnTo>
                      <a:pt x="1" y="0"/>
                    </a:lnTo>
                    <a:lnTo>
                      <a:pt x="0" y="0"/>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49" name="Freeform 502"/>
              <p:cNvSpPr>
                <a:spLocks noChangeAspect="1"/>
              </p:cNvSpPr>
              <p:nvPr/>
            </p:nvSpPr>
            <p:spPr bwMode="auto">
              <a:xfrm>
                <a:off x="630" y="3488"/>
                <a:ext cx="17" cy="17"/>
              </a:xfrm>
              <a:custGeom>
                <a:avLst/>
                <a:gdLst>
                  <a:gd name="T0" fmla="*/ 0 w 17"/>
                  <a:gd name="T1" fmla="*/ 10 h 17"/>
                  <a:gd name="T2" fmla="*/ 0 w 17"/>
                  <a:gd name="T3" fmla="*/ 0 h 17"/>
                  <a:gd name="T4" fmla="*/ 4 w 17"/>
                  <a:gd name="T5" fmla="*/ 0 h 17"/>
                  <a:gd name="T6" fmla="*/ 8 w 17"/>
                  <a:gd name="T7" fmla="*/ 2 h 17"/>
                  <a:gd name="T8" fmla="*/ 12 w 17"/>
                  <a:gd name="T9" fmla="*/ 0 h 17"/>
                  <a:gd name="T10" fmla="*/ 16 w 17"/>
                  <a:gd name="T11" fmla="*/ 0 h 17"/>
                  <a:gd name="T12" fmla="*/ 16 w 17"/>
                  <a:gd name="T13" fmla="*/ 10 h 17"/>
                  <a:gd name="T14" fmla="*/ 12 w 17"/>
                  <a:gd name="T15" fmla="*/ 13 h 17"/>
                  <a:gd name="T16" fmla="*/ 8 w 17"/>
                  <a:gd name="T17" fmla="*/ 16 h 17"/>
                  <a:gd name="T18" fmla="*/ 1 w 17"/>
                  <a:gd name="T19" fmla="*/ 13 h 17"/>
                  <a:gd name="T20" fmla="*/ 0 w 17"/>
                  <a:gd name="T21" fmla="*/ 1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0" y="10"/>
                    </a:moveTo>
                    <a:lnTo>
                      <a:pt x="0" y="0"/>
                    </a:lnTo>
                    <a:lnTo>
                      <a:pt x="4" y="0"/>
                    </a:lnTo>
                    <a:lnTo>
                      <a:pt x="8" y="2"/>
                    </a:lnTo>
                    <a:lnTo>
                      <a:pt x="12" y="0"/>
                    </a:lnTo>
                    <a:lnTo>
                      <a:pt x="16" y="0"/>
                    </a:lnTo>
                    <a:lnTo>
                      <a:pt x="16" y="10"/>
                    </a:lnTo>
                    <a:lnTo>
                      <a:pt x="12" y="13"/>
                    </a:lnTo>
                    <a:lnTo>
                      <a:pt x="8" y="16"/>
                    </a:lnTo>
                    <a:lnTo>
                      <a:pt x="1" y="13"/>
                    </a:lnTo>
                    <a:lnTo>
                      <a:pt x="0" y="1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50" name="Freeform 503"/>
              <p:cNvSpPr>
                <a:spLocks noChangeAspect="1"/>
              </p:cNvSpPr>
              <p:nvPr/>
            </p:nvSpPr>
            <p:spPr bwMode="auto">
              <a:xfrm>
                <a:off x="631" y="3486"/>
                <a:ext cx="17" cy="17"/>
              </a:xfrm>
              <a:custGeom>
                <a:avLst/>
                <a:gdLst>
                  <a:gd name="T0" fmla="*/ 8 w 17"/>
                  <a:gd name="T1" fmla="*/ 0 h 17"/>
                  <a:gd name="T2" fmla="*/ 10 w 17"/>
                  <a:gd name="T3" fmla="*/ 0 h 17"/>
                  <a:gd name="T4" fmla="*/ 11 w 17"/>
                  <a:gd name="T5" fmla="*/ 0 h 17"/>
                  <a:gd name="T6" fmla="*/ 12 w 17"/>
                  <a:gd name="T7" fmla="*/ 0 h 17"/>
                  <a:gd name="T8" fmla="*/ 14 w 17"/>
                  <a:gd name="T9" fmla="*/ 0 h 17"/>
                  <a:gd name="T10" fmla="*/ 15 w 17"/>
                  <a:gd name="T11" fmla="*/ 0 h 17"/>
                  <a:gd name="T12" fmla="*/ 15 w 17"/>
                  <a:gd name="T13" fmla="*/ 8 h 17"/>
                  <a:gd name="T14" fmla="*/ 16 w 17"/>
                  <a:gd name="T15" fmla="*/ 8 h 17"/>
                  <a:gd name="T16" fmla="*/ 15 w 17"/>
                  <a:gd name="T17" fmla="*/ 8 h 17"/>
                  <a:gd name="T18" fmla="*/ 14 w 17"/>
                  <a:gd name="T19" fmla="*/ 8 h 17"/>
                  <a:gd name="T20" fmla="*/ 12 w 17"/>
                  <a:gd name="T21" fmla="*/ 16 h 17"/>
                  <a:gd name="T22" fmla="*/ 11 w 17"/>
                  <a:gd name="T23" fmla="*/ 16 h 17"/>
                  <a:gd name="T24" fmla="*/ 10 w 17"/>
                  <a:gd name="T25" fmla="*/ 16 h 17"/>
                  <a:gd name="T26" fmla="*/ 8 w 17"/>
                  <a:gd name="T27" fmla="*/ 16 h 17"/>
                  <a:gd name="T28" fmla="*/ 6 w 17"/>
                  <a:gd name="T29" fmla="*/ 16 h 17"/>
                  <a:gd name="T30" fmla="*/ 4 w 17"/>
                  <a:gd name="T31" fmla="*/ 16 h 17"/>
                  <a:gd name="T32" fmla="*/ 3 w 17"/>
                  <a:gd name="T33" fmla="*/ 16 h 17"/>
                  <a:gd name="T34" fmla="*/ 1 w 17"/>
                  <a:gd name="T35" fmla="*/ 8 h 17"/>
                  <a:gd name="T36" fmla="*/ 0 w 17"/>
                  <a:gd name="T37" fmla="*/ 8 h 17"/>
                  <a:gd name="T38" fmla="*/ 0 w 17"/>
                  <a:gd name="T39" fmla="*/ 8 h 17"/>
                  <a:gd name="T40" fmla="*/ 0 w 17"/>
                  <a:gd name="T41" fmla="*/ 8 h 17"/>
                  <a:gd name="T42" fmla="*/ 0 w 17"/>
                  <a:gd name="T43" fmla="*/ 0 h 17"/>
                  <a:gd name="T44" fmla="*/ 1 w 17"/>
                  <a:gd name="T45" fmla="*/ 0 h 17"/>
                  <a:gd name="T46" fmla="*/ 3 w 17"/>
                  <a:gd name="T47" fmla="*/ 0 h 17"/>
                  <a:gd name="T48" fmla="*/ 4 w 17"/>
                  <a:gd name="T49" fmla="*/ 0 h 17"/>
                  <a:gd name="T50" fmla="*/ 6 w 17"/>
                  <a:gd name="T51" fmla="*/ 0 h 17"/>
                  <a:gd name="T52" fmla="*/ 8 w 17"/>
                  <a:gd name="T53" fmla="*/ 0 h 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7"/>
                  <a:gd name="T82" fmla="*/ 0 h 17"/>
                  <a:gd name="T83" fmla="*/ 17 w 17"/>
                  <a:gd name="T84" fmla="*/ 17 h 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7" h="17">
                    <a:moveTo>
                      <a:pt x="8" y="0"/>
                    </a:moveTo>
                    <a:lnTo>
                      <a:pt x="10" y="0"/>
                    </a:lnTo>
                    <a:lnTo>
                      <a:pt x="11" y="0"/>
                    </a:lnTo>
                    <a:lnTo>
                      <a:pt x="12" y="0"/>
                    </a:lnTo>
                    <a:lnTo>
                      <a:pt x="14" y="0"/>
                    </a:lnTo>
                    <a:lnTo>
                      <a:pt x="15" y="0"/>
                    </a:lnTo>
                    <a:lnTo>
                      <a:pt x="15" y="8"/>
                    </a:lnTo>
                    <a:lnTo>
                      <a:pt x="16" y="8"/>
                    </a:lnTo>
                    <a:lnTo>
                      <a:pt x="15" y="8"/>
                    </a:lnTo>
                    <a:lnTo>
                      <a:pt x="14" y="8"/>
                    </a:lnTo>
                    <a:lnTo>
                      <a:pt x="12" y="16"/>
                    </a:lnTo>
                    <a:lnTo>
                      <a:pt x="11" y="16"/>
                    </a:lnTo>
                    <a:lnTo>
                      <a:pt x="10" y="16"/>
                    </a:lnTo>
                    <a:lnTo>
                      <a:pt x="8" y="16"/>
                    </a:lnTo>
                    <a:lnTo>
                      <a:pt x="6" y="16"/>
                    </a:lnTo>
                    <a:lnTo>
                      <a:pt x="4" y="16"/>
                    </a:lnTo>
                    <a:lnTo>
                      <a:pt x="3" y="16"/>
                    </a:lnTo>
                    <a:lnTo>
                      <a:pt x="1" y="8"/>
                    </a:lnTo>
                    <a:lnTo>
                      <a:pt x="0" y="8"/>
                    </a:lnTo>
                    <a:lnTo>
                      <a:pt x="0" y="0"/>
                    </a:lnTo>
                    <a:lnTo>
                      <a:pt x="1" y="0"/>
                    </a:lnTo>
                    <a:lnTo>
                      <a:pt x="3" y="0"/>
                    </a:lnTo>
                    <a:lnTo>
                      <a:pt x="4" y="0"/>
                    </a:lnTo>
                    <a:lnTo>
                      <a:pt x="6" y="0"/>
                    </a:lnTo>
                    <a:lnTo>
                      <a:pt x="8" y="0"/>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51" name="Freeform 504"/>
              <p:cNvSpPr>
                <a:spLocks noChangeAspect="1"/>
              </p:cNvSpPr>
              <p:nvPr/>
            </p:nvSpPr>
            <p:spPr bwMode="auto">
              <a:xfrm>
                <a:off x="630" y="3486"/>
                <a:ext cx="17" cy="17"/>
              </a:xfrm>
              <a:custGeom>
                <a:avLst/>
                <a:gdLst>
                  <a:gd name="T0" fmla="*/ 8 w 17"/>
                  <a:gd name="T1" fmla="*/ 0 h 17"/>
                  <a:gd name="T2" fmla="*/ 9 w 17"/>
                  <a:gd name="T3" fmla="*/ 0 h 17"/>
                  <a:gd name="T4" fmla="*/ 11 w 17"/>
                  <a:gd name="T5" fmla="*/ 0 h 17"/>
                  <a:gd name="T6" fmla="*/ 12 w 17"/>
                  <a:gd name="T7" fmla="*/ 0 h 17"/>
                  <a:gd name="T8" fmla="*/ 14 w 17"/>
                  <a:gd name="T9" fmla="*/ 2 h 17"/>
                  <a:gd name="T10" fmla="*/ 14 w 17"/>
                  <a:gd name="T11" fmla="*/ 2 h 17"/>
                  <a:gd name="T12" fmla="*/ 14 w 17"/>
                  <a:gd name="T13" fmla="*/ 4 h 17"/>
                  <a:gd name="T14" fmla="*/ 16 w 17"/>
                  <a:gd name="T15" fmla="*/ 4 h 17"/>
                  <a:gd name="T16" fmla="*/ 16 w 17"/>
                  <a:gd name="T17" fmla="*/ 7 h 17"/>
                  <a:gd name="T18" fmla="*/ 16 w 17"/>
                  <a:gd name="T19" fmla="*/ 8 h 17"/>
                  <a:gd name="T20" fmla="*/ 14 w 17"/>
                  <a:gd name="T21" fmla="*/ 8 h 17"/>
                  <a:gd name="T22" fmla="*/ 14 w 17"/>
                  <a:gd name="T23" fmla="*/ 11 h 17"/>
                  <a:gd name="T24" fmla="*/ 14 w 17"/>
                  <a:gd name="T25" fmla="*/ 11 h 17"/>
                  <a:gd name="T26" fmla="*/ 12 w 17"/>
                  <a:gd name="T27" fmla="*/ 13 h 17"/>
                  <a:gd name="T28" fmla="*/ 11 w 17"/>
                  <a:gd name="T29" fmla="*/ 13 h 17"/>
                  <a:gd name="T30" fmla="*/ 9 w 17"/>
                  <a:gd name="T31" fmla="*/ 16 h 17"/>
                  <a:gd name="T32" fmla="*/ 8 w 17"/>
                  <a:gd name="T33" fmla="*/ 16 h 17"/>
                  <a:gd name="T34" fmla="*/ 6 w 17"/>
                  <a:gd name="T35" fmla="*/ 16 h 17"/>
                  <a:gd name="T36" fmla="*/ 4 w 17"/>
                  <a:gd name="T37" fmla="*/ 13 h 17"/>
                  <a:gd name="T38" fmla="*/ 4 w 17"/>
                  <a:gd name="T39" fmla="*/ 13 h 17"/>
                  <a:gd name="T40" fmla="*/ 1 w 17"/>
                  <a:gd name="T41" fmla="*/ 11 h 17"/>
                  <a:gd name="T42" fmla="*/ 1 w 17"/>
                  <a:gd name="T43" fmla="*/ 11 h 17"/>
                  <a:gd name="T44" fmla="*/ 1 w 17"/>
                  <a:gd name="T45" fmla="*/ 8 h 17"/>
                  <a:gd name="T46" fmla="*/ 0 w 17"/>
                  <a:gd name="T47" fmla="*/ 8 h 17"/>
                  <a:gd name="T48" fmla="*/ 0 w 17"/>
                  <a:gd name="T49" fmla="*/ 7 h 17"/>
                  <a:gd name="T50" fmla="*/ 0 w 17"/>
                  <a:gd name="T51" fmla="*/ 4 h 17"/>
                  <a:gd name="T52" fmla="*/ 1 w 17"/>
                  <a:gd name="T53" fmla="*/ 4 h 17"/>
                  <a:gd name="T54" fmla="*/ 1 w 17"/>
                  <a:gd name="T55" fmla="*/ 2 h 17"/>
                  <a:gd name="T56" fmla="*/ 1 w 17"/>
                  <a:gd name="T57" fmla="*/ 2 h 17"/>
                  <a:gd name="T58" fmla="*/ 4 w 17"/>
                  <a:gd name="T59" fmla="*/ 0 h 17"/>
                  <a:gd name="T60" fmla="*/ 4 w 17"/>
                  <a:gd name="T61" fmla="*/ 0 h 17"/>
                  <a:gd name="T62" fmla="*/ 6 w 17"/>
                  <a:gd name="T63" fmla="*/ 0 h 17"/>
                  <a:gd name="T64" fmla="*/ 8 w 17"/>
                  <a:gd name="T65" fmla="*/ 0 h 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
                  <a:gd name="T100" fmla="*/ 0 h 17"/>
                  <a:gd name="T101" fmla="*/ 17 w 17"/>
                  <a:gd name="T102" fmla="*/ 17 h 1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 h="17">
                    <a:moveTo>
                      <a:pt x="8" y="0"/>
                    </a:moveTo>
                    <a:lnTo>
                      <a:pt x="9" y="0"/>
                    </a:lnTo>
                    <a:lnTo>
                      <a:pt x="11" y="0"/>
                    </a:lnTo>
                    <a:lnTo>
                      <a:pt x="12" y="0"/>
                    </a:lnTo>
                    <a:lnTo>
                      <a:pt x="14" y="2"/>
                    </a:lnTo>
                    <a:lnTo>
                      <a:pt x="14" y="4"/>
                    </a:lnTo>
                    <a:lnTo>
                      <a:pt x="16" y="4"/>
                    </a:lnTo>
                    <a:lnTo>
                      <a:pt x="16" y="7"/>
                    </a:lnTo>
                    <a:lnTo>
                      <a:pt x="16" y="8"/>
                    </a:lnTo>
                    <a:lnTo>
                      <a:pt x="14" y="8"/>
                    </a:lnTo>
                    <a:lnTo>
                      <a:pt x="14" y="11"/>
                    </a:lnTo>
                    <a:lnTo>
                      <a:pt x="12" y="13"/>
                    </a:lnTo>
                    <a:lnTo>
                      <a:pt x="11" y="13"/>
                    </a:lnTo>
                    <a:lnTo>
                      <a:pt x="9" y="16"/>
                    </a:lnTo>
                    <a:lnTo>
                      <a:pt x="8" y="16"/>
                    </a:lnTo>
                    <a:lnTo>
                      <a:pt x="6" y="16"/>
                    </a:lnTo>
                    <a:lnTo>
                      <a:pt x="4" y="13"/>
                    </a:lnTo>
                    <a:lnTo>
                      <a:pt x="1" y="11"/>
                    </a:lnTo>
                    <a:lnTo>
                      <a:pt x="1" y="8"/>
                    </a:lnTo>
                    <a:lnTo>
                      <a:pt x="0" y="8"/>
                    </a:lnTo>
                    <a:lnTo>
                      <a:pt x="0" y="7"/>
                    </a:lnTo>
                    <a:lnTo>
                      <a:pt x="0" y="4"/>
                    </a:lnTo>
                    <a:lnTo>
                      <a:pt x="1" y="4"/>
                    </a:lnTo>
                    <a:lnTo>
                      <a:pt x="1" y="2"/>
                    </a:lnTo>
                    <a:lnTo>
                      <a:pt x="4" y="0"/>
                    </a:lnTo>
                    <a:lnTo>
                      <a:pt x="6" y="0"/>
                    </a:lnTo>
                    <a:lnTo>
                      <a:pt x="8" y="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52" name="Freeform 505"/>
              <p:cNvSpPr>
                <a:spLocks noChangeAspect="1"/>
              </p:cNvSpPr>
              <p:nvPr/>
            </p:nvSpPr>
            <p:spPr bwMode="auto">
              <a:xfrm>
                <a:off x="557" y="3487"/>
                <a:ext cx="17" cy="17"/>
              </a:xfrm>
              <a:custGeom>
                <a:avLst/>
                <a:gdLst>
                  <a:gd name="T0" fmla="*/ 16 w 17"/>
                  <a:gd name="T1" fmla="*/ 16 h 17"/>
                  <a:gd name="T2" fmla="*/ 5 w 17"/>
                  <a:gd name="T3" fmla="*/ 9 h 17"/>
                  <a:gd name="T4" fmla="*/ 0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16" y="16"/>
                    </a:moveTo>
                    <a:lnTo>
                      <a:pt x="5" y="9"/>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53" name="Freeform 506"/>
              <p:cNvSpPr>
                <a:spLocks noChangeAspect="1"/>
              </p:cNvSpPr>
              <p:nvPr/>
            </p:nvSpPr>
            <p:spPr bwMode="auto">
              <a:xfrm>
                <a:off x="586" y="3501"/>
                <a:ext cx="41" cy="17"/>
              </a:xfrm>
              <a:custGeom>
                <a:avLst/>
                <a:gdLst>
                  <a:gd name="T0" fmla="*/ 40 w 41"/>
                  <a:gd name="T1" fmla="*/ 16 h 17"/>
                  <a:gd name="T2" fmla="*/ 30 w 41"/>
                  <a:gd name="T3" fmla="*/ 0 h 17"/>
                  <a:gd name="T4" fmla="*/ 22 w 41"/>
                  <a:gd name="T5" fmla="*/ 6 h 17"/>
                  <a:gd name="T6" fmla="*/ 12 w 41"/>
                  <a:gd name="T7" fmla="*/ 9 h 17"/>
                  <a:gd name="T8" fmla="*/ 6 w 41"/>
                  <a:gd name="T9" fmla="*/ 6 h 17"/>
                  <a:gd name="T10" fmla="*/ 0 w 41"/>
                  <a:gd name="T11" fmla="*/ 0 h 17"/>
                  <a:gd name="T12" fmla="*/ 0 60000 65536"/>
                  <a:gd name="T13" fmla="*/ 0 60000 65536"/>
                  <a:gd name="T14" fmla="*/ 0 60000 65536"/>
                  <a:gd name="T15" fmla="*/ 0 60000 65536"/>
                  <a:gd name="T16" fmla="*/ 0 60000 65536"/>
                  <a:gd name="T17" fmla="*/ 0 60000 65536"/>
                  <a:gd name="T18" fmla="*/ 0 w 41"/>
                  <a:gd name="T19" fmla="*/ 0 h 17"/>
                  <a:gd name="T20" fmla="*/ 41 w 41"/>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41" h="17">
                    <a:moveTo>
                      <a:pt x="40" y="16"/>
                    </a:moveTo>
                    <a:lnTo>
                      <a:pt x="30" y="0"/>
                    </a:lnTo>
                    <a:lnTo>
                      <a:pt x="22" y="6"/>
                    </a:lnTo>
                    <a:lnTo>
                      <a:pt x="12" y="9"/>
                    </a:lnTo>
                    <a:lnTo>
                      <a:pt x="6" y="6"/>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54" name="Line 507"/>
              <p:cNvSpPr>
                <a:spLocks noChangeAspect="1" noChangeShapeType="1"/>
              </p:cNvSpPr>
              <p:nvPr/>
            </p:nvSpPr>
            <p:spPr bwMode="auto">
              <a:xfrm flipH="1">
                <a:off x="617" y="3491"/>
                <a:ext cx="2" cy="1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55" name="Freeform 508"/>
              <p:cNvSpPr>
                <a:spLocks noChangeAspect="1"/>
              </p:cNvSpPr>
              <p:nvPr/>
            </p:nvSpPr>
            <p:spPr bwMode="auto">
              <a:xfrm>
                <a:off x="583" y="3491"/>
                <a:ext cx="17" cy="17"/>
              </a:xfrm>
              <a:custGeom>
                <a:avLst/>
                <a:gdLst>
                  <a:gd name="T0" fmla="*/ 0 w 17"/>
                  <a:gd name="T1" fmla="*/ 0 h 17"/>
                  <a:gd name="T2" fmla="*/ 8 w 17"/>
                  <a:gd name="T3" fmla="*/ 4 h 17"/>
                  <a:gd name="T4" fmla="*/ 16 w 17"/>
                  <a:gd name="T5" fmla="*/ 7 h 17"/>
                  <a:gd name="T6" fmla="*/ 16 w 17"/>
                  <a:gd name="T7" fmla="*/ 11 h 17"/>
                  <a:gd name="T8" fmla="*/ 7 w 17"/>
                  <a:gd name="T9" fmla="*/ 16 h 17"/>
                  <a:gd name="T10" fmla="*/ 0 w 17"/>
                  <a:gd name="T11" fmla="*/ 1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8" y="4"/>
                    </a:lnTo>
                    <a:lnTo>
                      <a:pt x="16" y="7"/>
                    </a:lnTo>
                    <a:lnTo>
                      <a:pt x="16" y="11"/>
                    </a:lnTo>
                    <a:lnTo>
                      <a:pt x="7" y="16"/>
                    </a:lnTo>
                    <a:lnTo>
                      <a:pt x="0" y="16"/>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56" name="Freeform 509"/>
              <p:cNvSpPr>
                <a:spLocks noChangeAspect="1"/>
              </p:cNvSpPr>
              <p:nvPr/>
            </p:nvSpPr>
            <p:spPr bwMode="auto">
              <a:xfrm>
                <a:off x="547" y="3484"/>
                <a:ext cx="17" cy="17"/>
              </a:xfrm>
              <a:custGeom>
                <a:avLst/>
                <a:gdLst>
                  <a:gd name="T0" fmla="*/ 0 w 17"/>
                  <a:gd name="T1" fmla="*/ 12 h 17"/>
                  <a:gd name="T2" fmla="*/ 0 w 17"/>
                  <a:gd name="T3" fmla="*/ 0 h 17"/>
                  <a:gd name="T4" fmla="*/ 3 w 17"/>
                  <a:gd name="T5" fmla="*/ 4 h 17"/>
                  <a:gd name="T6" fmla="*/ 9 w 17"/>
                  <a:gd name="T7" fmla="*/ 4 h 17"/>
                  <a:gd name="T8" fmla="*/ 13 w 17"/>
                  <a:gd name="T9" fmla="*/ 4 h 17"/>
                  <a:gd name="T10" fmla="*/ 16 w 17"/>
                  <a:gd name="T11" fmla="*/ 4 h 17"/>
                  <a:gd name="T12" fmla="*/ 16 w 17"/>
                  <a:gd name="T13" fmla="*/ 12 h 17"/>
                  <a:gd name="T14" fmla="*/ 14 w 17"/>
                  <a:gd name="T15" fmla="*/ 16 h 17"/>
                  <a:gd name="T16" fmla="*/ 9 w 17"/>
                  <a:gd name="T17" fmla="*/ 16 h 17"/>
                  <a:gd name="T18" fmla="*/ 2 w 17"/>
                  <a:gd name="T19" fmla="*/ 16 h 17"/>
                  <a:gd name="T20" fmla="*/ 0 w 17"/>
                  <a:gd name="T21" fmla="*/ 12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0" y="12"/>
                    </a:moveTo>
                    <a:lnTo>
                      <a:pt x="0" y="0"/>
                    </a:lnTo>
                    <a:lnTo>
                      <a:pt x="3" y="4"/>
                    </a:lnTo>
                    <a:lnTo>
                      <a:pt x="9" y="4"/>
                    </a:lnTo>
                    <a:lnTo>
                      <a:pt x="13" y="4"/>
                    </a:lnTo>
                    <a:lnTo>
                      <a:pt x="16" y="4"/>
                    </a:lnTo>
                    <a:lnTo>
                      <a:pt x="16" y="12"/>
                    </a:lnTo>
                    <a:lnTo>
                      <a:pt x="14" y="16"/>
                    </a:lnTo>
                    <a:lnTo>
                      <a:pt x="9" y="16"/>
                    </a:lnTo>
                    <a:lnTo>
                      <a:pt x="2" y="16"/>
                    </a:lnTo>
                    <a:lnTo>
                      <a:pt x="0" y="12"/>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57" name="Freeform 510"/>
              <p:cNvSpPr>
                <a:spLocks noChangeAspect="1"/>
              </p:cNvSpPr>
              <p:nvPr/>
            </p:nvSpPr>
            <p:spPr bwMode="auto">
              <a:xfrm>
                <a:off x="547" y="3484"/>
                <a:ext cx="17" cy="17"/>
              </a:xfrm>
              <a:custGeom>
                <a:avLst/>
                <a:gdLst>
                  <a:gd name="T0" fmla="*/ 0 w 17"/>
                  <a:gd name="T1" fmla="*/ 9 h 17"/>
                  <a:gd name="T2" fmla="*/ 0 w 17"/>
                  <a:gd name="T3" fmla="*/ 0 h 17"/>
                  <a:gd name="T4" fmla="*/ 4 w 17"/>
                  <a:gd name="T5" fmla="*/ 2 h 17"/>
                  <a:gd name="T6" fmla="*/ 8 w 17"/>
                  <a:gd name="T7" fmla="*/ 3 h 17"/>
                  <a:gd name="T8" fmla="*/ 13 w 17"/>
                  <a:gd name="T9" fmla="*/ 2 h 17"/>
                  <a:gd name="T10" fmla="*/ 16 w 17"/>
                  <a:gd name="T11" fmla="*/ 2 h 17"/>
                  <a:gd name="T12" fmla="*/ 16 w 17"/>
                  <a:gd name="T13" fmla="*/ 9 h 17"/>
                  <a:gd name="T14" fmla="*/ 14 w 17"/>
                  <a:gd name="T15" fmla="*/ 13 h 17"/>
                  <a:gd name="T16" fmla="*/ 8 w 17"/>
                  <a:gd name="T17" fmla="*/ 16 h 17"/>
                  <a:gd name="T18" fmla="*/ 2 w 17"/>
                  <a:gd name="T19" fmla="*/ 13 h 17"/>
                  <a:gd name="T20" fmla="*/ 0 w 17"/>
                  <a:gd name="T21" fmla="*/ 9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0" y="9"/>
                    </a:moveTo>
                    <a:lnTo>
                      <a:pt x="0" y="0"/>
                    </a:lnTo>
                    <a:lnTo>
                      <a:pt x="4" y="2"/>
                    </a:lnTo>
                    <a:lnTo>
                      <a:pt x="8" y="3"/>
                    </a:lnTo>
                    <a:lnTo>
                      <a:pt x="13" y="2"/>
                    </a:lnTo>
                    <a:lnTo>
                      <a:pt x="16" y="2"/>
                    </a:lnTo>
                    <a:lnTo>
                      <a:pt x="16" y="9"/>
                    </a:lnTo>
                    <a:lnTo>
                      <a:pt x="14" y="13"/>
                    </a:lnTo>
                    <a:lnTo>
                      <a:pt x="8" y="16"/>
                    </a:lnTo>
                    <a:lnTo>
                      <a:pt x="2" y="13"/>
                    </a:lnTo>
                    <a:lnTo>
                      <a:pt x="0" y="9"/>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58" name="Freeform 511"/>
              <p:cNvSpPr>
                <a:spLocks noChangeAspect="1"/>
              </p:cNvSpPr>
              <p:nvPr/>
            </p:nvSpPr>
            <p:spPr bwMode="auto">
              <a:xfrm>
                <a:off x="667" y="3558"/>
                <a:ext cx="17" cy="17"/>
              </a:xfrm>
              <a:custGeom>
                <a:avLst/>
                <a:gdLst>
                  <a:gd name="T0" fmla="*/ 16 w 17"/>
                  <a:gd name="T1" fmla="*/ 8 h 17"/>
                  <a:gd name="T2" fmla="*/ 16 w 17"/>
                  <a:gd name="T3" fmla="*/ 1 h 17"/>
                  <a:gd name="T4" fmla="*/ 0 w 17"/>
                  <a:gd name="T5" fmla="*/ 0 h 17"/>
                  <a:gd name="T6" fmla="*/ 0 w 17"/>
                  <a:gd name="T7" fmla="*/ 8 h 17"/>
                  <a:gd name="T8" fmla="*/ 0 w 17"/>
                  <a:gd name="T9" fmla="*/ 16 h 17"/>
                  <a:gd name="T10" fmla="*/ 0 w 17"/>
                  <a:gd name="T11" fmla="*/ 14 h 17"/>
                  <a:gd name="T12" fmla="*/ 16 w 17"/>
                  <a:gd name="T13" fmla="*/ 8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8"/>
                    </a:moveTo>
                    <a:lnTo>
                      <a:pt x="16" y="1"/>
                    </a:lnTo>
                    <a:lnTo>
                      <a:pt x="0" y="0"/>
                    </a:lnTo>
                    <a:lnTo>
                      <a:pt x="0" y="8"/>
                    </a:lnTo>
                    <a:lnTo>
                      <a:pt x="0" y="16"/>
                    </a:lnTo>
                    <a:lnTo>
                      <a:pt x="0" y="14"/>
                    </a:lnTo>
                    <a:lnTo>
                      <a:pt x="16" y="8"/>
                    </a:lnTo>
                  </a:path>
                </a:pathLst>
              </a:custGeom>
              <a:solidFill>
                <a:srgbClr val="B5B5B5"/>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59" name="Freeform 512"/>
              <p:cNvSpPr>
                <a:spLocks noChangeAspect="1"/>
              </p:cNvSpPr>
              <p:nvPr/>
            </p:nvSpPr>
            <p:spPr bwMode="auto">
              <a:xfrm>
                <a:off x="667" y="3558"/>
                <a:ext cx="17" cy="17"/>
              </a:xfrm>
              <a:custGeom>
                <a:avLst/>
                <a:gdLst>
                  <a:gd name="T0" fmla="*/ 16 w 17"/>
                  <a:gd name="T1" fmla="*/ 8 h 17"/>
                  <a:gd name="T2" fmla="*/ 16 w 17"/>
                  <a:gd name="T3" fmla="*/ 1 h 17"/>
                  <a:gd name="T4" fmla="*/ 6 w 17"/>
                  <a:gd name="T5" fmla="*/ 0 h 17"/>
                  <a:gd name="T6" fmla="*/ 0 w 17"/>
                  <a:gd name="T7" fmla="*/ 8 h 17"/>
                  <a:gd name="T8" fmla="*/ 2 w 17"/>
                  <a:gd name="T9" fmla="*/ 16 h 17"/>
                  <a:gd name="T10" fmla="*/ 6 w 17"/>
                  <a:gd name="T11" fmla="*/ 14 h 17"/>
                  <a:gd name="T12" fmla="*/ 16 w 17"/>
                  <a:gd name="T13" fmla="*/ 8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8"/>
                    </a:moveTo>
                    <a:lnTo>
                      <a:pt x="16" y="1"/>
                    </a:lnTo>
                    <a:lnTo>
                      <a:pt x="6" y="0"/>
                    </a:lnTo>
                    <a:lnTo>
                      <a:pt x="0" y="8"/>
                    </a:lnTo>
                    <a:lnTo>
                      <a:pt x="2" y="16"/>
                    </a:lnTo>
                    <a:lnTo>
                      <a:pt x="6" y="14"/>
                    </a:lnTo>
                    <a:lnTo>
                      <a:pt x="16" y="8"/>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60" name="Line 513"/>
              <p:cNvSpPr>
                <a:spLocks noChangeAspect="1" noChangeShapeType="1"/>
              </p:cNvSpPr>
              <p:nvPr/>
            </p:nvSpPr>
            <p:spPr bwMode="auto">
              <a:xfrm>
                <a:off x="647" y="3549"/>
                <a:ext cx="11" cy="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1" name="Line 514"/>
              <p:cNvSpPr>
                <a:spLocks noChangeAspect="1" noChangeShapeType="1"/>
              </p:cNvSpPr>
              <p:nvPr/>
            </p:nvSpPr>
            <p:spPr bwMode="auto">
              <a:xfrm>
                <a:off x="643" y="3561"/>
                <a:ext cx="12" cy="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2" name="Line 515"/>
              <p:cNvSpPr>
                <a:spLocks noChangeAspect="1" noChangeShapeType="1"/>
              </p:cNvSpPr>
              <p:nvPr/>
            </p:nvSpPr>
            <p:spPr bwMode="auto">
              <a:xfrm>
                <a:off x="667" y="3556"/>
                <a:ext cx="4"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3" name="Line 516"/>
              <p:cNvSpPr>
                <a:spLocks noChangeAspect="1" noChangeShapeType="1"/>
              </p:cNvSpPr>
              <p:nvPr/>
            </p:nvSpPr>
            <p:spPr bwMode="auto">
              <a:xfrm>
                <a:off x="665" y="3563"/>
                <a:ext cx="2" cy="1"/>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4" name="Freeform 517"/>
              <p:cNvSpPr>
                <a:spLocks noChangeAspect="1"/>
              </p:cNvSpPr>
              <p:nvPr/>
            </p:nvSpPr>
            <p:spPr bwMode="auto">
              <a:xfrm>
                <a:off x="611" y="3532"/>
                <a:ext cx="36" cy="28"/>
              </a:xfrm>
              <a:custGeom>
                <a:avLst/>
                <a:gdLst>
                  <a:gd name="T0" fmla="*/ 35 w 36"/>
                  <a:gd name="T1" fmla="*/ 8 h 28"/>
                  <a:gd name="T2" fmla="*/ 33 w 36"/>
                  <a:gd name="T3" fmla="*/ 5 h 28"/>
                  <a:gd name="T4" fmla="*/ 26 w 36"/>
                  <a:gd name="T5" fmla="*/ 3 h 28"/>
                  <a:gd name="T6" fmla="*/ 18 w 36"/>
                  <a:gd name="T7" fmla="*/ 0 h 28"/>
                  <a:gd name="T8" fmla="*/ 12 w 36"/>
                  <a:gd name="T9" fmla="*/ 0 h 28"/>
                  <a:gd name="T10" fmla="*/ 8 w 36"/>
                  <a:gd name="T11" fmla="*/ 3 h 28"/>
                  <a:gd name="T12" fmla="*/ 5 w 36"/>
                  <a:gd name="T13" fmla="*/ 8 h 28"/>
                  <a:gd name="T14" fmla="*/ 5 w 36"/>
                  <a:gd name="T15" fmla="*/ 14 h 28"/>
                  <a:gd name="T16" fmla="*/ 6 w 36"/>
                  <a:gd name="T17" fmla="*/ 22 h 28"/>
                  <a:gd name="T18" fmla="*/ 12 w 36"/>
                  <a:gd name="T19" fmla="*/ 23 h 28"/>
                  <a:gd name="T20" fmla="*/ 15 w 36"/>
                  <a:gd name="T21" fmla="*/ 24 h 28"/>
                  <a:gd name="T22" fmla="*/ 16 w 36"/>
                  <a:gd name="T23" fmla="*/ 25 h 28"/>
                  <a:gd name="T24" fmla="*/ 7 w 36"/>
                  <a:gd name="T25" fmla="*/ 27 h 28"/>
                  <a:gd name="T26" fmla="*/ 0 w 36"/>
                  <a:gd name="T27" fmla="*/ 27 h 28"/>
                  <a:gd name="T28" fmla="*/ 2 w 36"/>
                  <a:gd name="T29" fmla="*/ 24 h 28"/>
                  <a:gd name="T30" fmla="*/ 6 w 36"/>
                  <a:gd name="T31" fmla="*/ 22 h 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
                  <a:gd name="T49" fmla="*/ 0 h 28"/>
                  <a:gd name="T50" fmla="*/ 36 w 36"/>
                  <a:gd name="T51" fmla="*/ 28 h 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 h="28">
                    <a:moveTo>
                      <a:pt x="35" y="8"/>
                    </a:moveTo>
                    <a:lnTo>
                      <a:pt x="33" y="5"/>
                    </a:lnTo>
                    <a:lnTo>
                      <a:pt x="26" y="3"/>
                    </a:lnTo>
                    <a:lnTo>
                      <a:pt x="18" y="0"/>
                    </a:lnTo>
                    <a:lnTo>
                      <a:pt x="12" y="0"/>
                    </a:lnTo>
                    <a:lnTo>
                      <a:pt x="8" y="3"/>
                    </a:lnTo>
                    <a:lnTo>
                      <a:pt x="5" y="8"/>
                    </a:lnTo>
                    <a:lnTo>
                      <a:pt x="5" y="14"/>
                    </a:lnTo>
                    <a:lnTo>
                      <a:pt x="6" y="22"/>
                    </a:lnTo>
                    <a:lnTo>
                      <a:pt x="12" y="23"/>
                    </a:lnTo>
                    <a:lnTo>
                      <a:pt x="15" y="24"/>
                    </a:lnTo>
                    <a:lnTo>
                      <a:pt x="16" y="25"/>
                    </a:lnTo>
                    <a:lnTo>
                      <a:pt x="7" y="27"/>
                    </a:lnTo>
                    <a:lnTo>
                      <a:pt x="0" y="27"/>
                    </a:lnTo>
                    <a:lnTo>
                      <a:pt x="2" y="24"/>
                    </a:lnTo>
                    <a:lnTo>
                      <a:pt x="6" y="22"/>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165" name="Line 518"/>
              <p:cNvSpPr>
                <a:spLocks noChangeAspect="1" noChangeShapeType="1"/>
              </p:cNvSpPr>
              <p:nvPr/>
            </p:nvSpPr>
            <p:spPr bwMode="auto">
              <a:xfrm flipV="1">
                <a:off x="611" y="3540"/>
                <a:ext cx="0" cy="1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6" name="Line 519"/>
              <p:cNvSpPr>
                <a:spLocks noChangeAspect="1" noChangeShapeType="1"/>
              </p:cNvSpPr>
              <p:nvPr/>
            </p:nvSpPr>
            <p:spPr bwMode="auto">
              <a:xfrm>
                <a:off x="521" y="3497"/>
                <a:ext cx="9" cy="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7" name="Line 520"/>
              <p:cNvSpPr>
                <a:spLocks noChangeAspect="1" noChangeShapeType="1"/>
              </p:cNvSpPr>
              <p:nvPr/>
            </p:nvSpPr>
            <p:spPr bwMode="auto">
              <a:xfrm>
                <a:off x="521" y="3508"/>
                <a:ext cx="9"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168" name="Freeform 521"/>
              <p:cNvSpPr>
                <a:spLocks noChangeAspect="1"/>
              </p:cNvSpPr>
              <p:nvPr/>
            </p:nvSpPr>
            <p:spPr bwMode="auto">
              <a:xfrm>
                <a:off x="551" y="3423"/>
                <a:ext cx="80" cy="65"/>
              </a:xfrm>
              <a:custGeom>
                <a:avLst/>
                <a:gdLst>
                  <a:gd name="T0" fmla="*/ 79 w 80"/>
                  <a:gd name="T1" fmla="*/ 24 h 65"/>
                  <a:gd name="T2" fmla="*/ 78 w 80"/>
                  <a:gd name="T3" fmla="*/ 51 h 65"/>
                  <a:gd name="T4" fmla="*/ 76 w 80"/>
                  <a:gd name="T5" fmla="*/ 54 h 65"/>
                  <a:gd name="T6" fmla="*/ 69 w 80"/>
                  <a:gd name="T7" fmla="*/ 59 h 65"/>
                  <a:gd name="T8" fmla="*/ 57 w 80"/>
                  <a:gd name="T9" fmla="*/ 64 h 65"/>
                  <a:gd name="T10" fmla="*/ 39 w 80"/>
                  <a:gd name="T11" fmla="*/ 64 h 65"/>
                  <a:gd name="T12" fmla="*/ 30 w 80"/>
                  <a:gd name="T13" fmla="*/ 64 h 65"/>
                  <a:gd name="T14" fmla="*/ 22 w 80"/>
                  <a:gd name="T15" fmla="*/ 63 h 65"/>
                  <a:gd name="T16" fmla="*/ 15 w 80"/>
                  <a:gd name="T17" fmla="*/ 60 h 65"/>
                  <a:gd name="T18" fmla="*/ 11 w 80"/>
                  <a:gd name="T19" fmla="*/ 57 h 65"/>
                  <a:gd name="T20" fmla="*/ 7 w 80"/>
                  <a:gd name="T21" fmla="*/ 51 h 65"/>
                  <a:gd name="T22" fmla="*/ 5 w 80"/>
                  <a:gd name="T23" fmla="*/ 49 h 65"/>
                  <a:gd name="T24" fmla="*/ 5 w 80"/>
                  <a:gd name="T25" fmla="*/ 42 h 65"/>
                  <a:gd name="T26" fmla="*/ 0 w 80"/>
                  <a:gd name="T27" fmla="*/ 34 h 65"/>
                  <a:gd name="T28" fmla="*/ 0 w 80"/>
                  <a:gd name="T29" fmla="*/ 21 h 65"/>
                  <a:gd name="T30" fmla="*/ 5 w 80"/>
                  <a:gd name="T31" fmla="*/ 18 h 65"/>
                  <a:gd name="T32" fmla="*/ 5 w 80"/>
                  <a:gd name="T33" fmla="*/ 0 h 65"/>
                  <a:gd name="T34" fmla="*/ 79 w 80"/>
                  <a:gd name="T35" fmla="*/ 24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65"/>
                  <a:gd name="T56" fmla="*/ 80 w 80"/>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65">
                    <a:moveTo>
                      <a:pt x="79" y="24"/>
                    </a:moveTo>
                    <a:lnTo>
                      <a:pt x="78" y="51"/>
                    </a:lnTo>
                    <a:lnTo>
                      <a:pt x="76" y="54"/>
                    </a:lnTo>
                    <a:lnTo>
                      <a:pt x="69" y="59"/>
                    </a:lnTo>
                    <a:lnTo>
                      <a:pt x="57" y="64"/>
                    </a:lnTo>
                    <a:lnTo>
                      <a:pt x="39" y="64"/>
                    </a:lnTo>
                    <a:lnTo>
                      <a:pt x="30" y="64"/>
                    </a:lnTo>
                    <a:lnTo>
                      <a:pt x="22" y="63"/>
                    </a:lnTo>
                    <a:lnTo>
                      <a:pt x="15" y="60"/>
                    </a:lnTo>
                    <a:lnTo>
                      <a:pt x="11" y="57"/>
                    </a:lnTo>
                    <a:lnTo>
                      <a:pt x="7" y="51"/>
                    </a:lnTo>
                    <a:lnTo>
                      <a:pt x="5" y="49"/>
                    </a:lnTo>
                    <a:lnTo>
                      <a:pt x="5" y="42"/>
                    </a:lnTo>
                    <a:lnTo>
                      <a:pt x="0" y="34"/>
                    </a:lnTo>
                    <a:lnTo>
                      <a:pt x="0" y="21"/>
                    </a:lnTo>
                    <a:lnTo>
                      <a:pt x="5" y="18"/>
                    </a:lnTo>
                    <a:lnTo>
                      <a:pt x="5" y="0"/>
                    </a:lnTo>
                    <a:lnTo>
                      <a:pt x="79" y="24"/>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69" name="Freeform 522"/>
              <p:cNvSpPr>
                <a:spLocks noChangeAspect="1"/>
              </p:cNvSpPr>
              <p:nvPr/>
            </p:nvSpPr>
            <p:spPr bwMode="auto">
              <a:xfrm>
                <a:off x="519" y="3309"/>
                <a:ext cx="164" cy="138"/>
              </a:xfrm>
              <a:custGeom>
                <a:avLst/>
                <a:gdLst>
                  <a:gd name="T0" fmla="*/ 37 w 164"/>
                  <a:gd name="T1" fmla="*/ 109 h 138"/>
                  <a:gd name="T2" fmla="*/ 30 w 164"/>
                  <a:gd name="T3" fmla="*/ 107 h 138"/>
                  <a:gd name="T4" fmla="*/ 19 w 164"/>
                  <a:gd name="T5" fmla="*/ 101 h 138"/>
                  <a:gd name="T6" fmla="*/ 13 w 164"/>
                  <a:gd name="T7" fmla="*/ 98 h 138"/>
                  <a:gd name="T8" fmla="*/ 11 w 164"/>
                  <a:gd name="T9" fmla="*/ 97 h 138"/>
                  <a:gd name="T10" fmla="*/ 10 w 164"/>
                  <a:gd name="T11" fmla="*/ 95 h 138"/>
                  <a:gd name="T12" fmla="*/ 6 w 164"/>
                  <a:gd name="T13" fmla="*/ 91 h 138"/>
                  <a:gd name="T14" fmla="*/ 6 w 164"/>
                  <a:gd name="T15" fmla="*/ 89 h 138"/>
                  <a:gd name="T16" fmla="*/ 3 w 164"/>
                  <a:gd name="T17" fmla="*/ 79 h 138"/>
                  <a:gd name="T18" fmla="*/ 0 w 164"/>
                  <a:gd name="T19" fmla="*/ 71 h 138"/>
                  <a:gd name="T20" fmla="*/ 0 w 164"/>
                  <a:gd name="T21" fmla="*/ 71 h 138"/>
                  <a:gd name="T22" fmla="*/ 0 w 164"/>
                  <a:gd name="T23" fmla="*/ 69 h 138"/>
                  <a:gd name="T24" fmla="*/ 0 w 164"/>
                  <a:gd name="T25" fmla="*/ 63 h 138"/>
                  <a:gd name="T26" fmla="*/ 2 w 164"/>
                  <a:gd name="T27" fmla="*/ 58 h 138"/>
                  <a:gd name="T28" fmla="*/ 1 w 164"/>
                  <a:gd name="T29" fmla="*/ 59 h 138"/>
                  <a:gd name="T30" fmla="*/ 0 w 164"/>
                  <a:gd name="T31" fmla="*/ 57 h 138"/>
                  <a:gd name="T32" fmla="*/ 3 w 164"/>
                  <a:gd name="T33" fmla="*/ 47 h 138"/>
                  <a:gd name="T34" fmla="*/ 7 w 164"/>
                  <a:gd name="T35" fmla="*/ 32 h 138"/>
                  <a:gd name="T36" fmla="*/ 11 w 164"/>
                  <a:gd name="T37" fmla="*/ 25 h 138"/>
                  <a:gd name="T38" fmla="*/ 15 w 164"/>
                  <a:gd name="T39" fmla="*/ 19 h 138"/>
                  <a:gd name="T40" fmla="*/ 20 w 164"/>
                  <a:gd name="T41" fmla="*/ 12 h 138"/>
                  <a:gd name="T42" fmla="*/ 20 w 164"/>
                  <a:gd name="T43" fmla="*/ 11 h 138"/>
                  <a:gd name="T44" fmla="*/ 30 w 164"/>
                  <a:gd name="T45" fmla="*/ 4 h 138"/>
                  <a:gd name="T46" fmla="*/ 36 w 164"/>
                  <a:gd name="T47" fmla="*/ 4 h 138"/>
                  <a:gd name="T48" fmla="*/ 37 w 164"/>
                  <a:gd name="T49" fmla="*/ 3 h 138"/>
                  <a:gd name="T50" fmla="*/ 43 w 164"/>
                  <a:gd name="T51" fmla="*/ 3 h 138"/>
                  <a:gd name="T52" fmla="*/ 47 w 164"/>
                  <a:gd name="T53" fmla="*/ 4 h 138"/>
                  <a:gd name="T54" fmla="*/ 62 w 164"/>
                  <a:gd name="T55" fmla="*/ 9 h 138"/>
                  <a:gd name="T56" fmla="*/ 83 w 164"/>
                  <a:gd name="T57" fmla="*/ 1 h 138"/>
                  <a:gd name="T58" fmla="*/ 95 w 164"/>
                  <a:gd name="T59" fmla="*/ 0 h 138"/>
                  <a:gd name="T60" fmla="*/ 100 w 164"/>
                  <a:gd name="T61" fmla="*/ 0 h 138"/>
                  <a:gd name="T62" fmla="*/ 109 w 164"/>
                  <a:gd name="T63" fmla="*/ 3 h 138"/>
                  <a:gd name="T64" fmla="*/ 111 w 164"/>
                  <a:gd name="T65" fmla="*/ 6 h 138"/>
                  <a:gd name="T66" fmla="*/ 114 w 164"/>
                  <a:gd name="T67" fmla="*/ 8 h 138"/>
                  <a:gd name="T68" fmla="*/ 116 w 164"/>
                  <a:gd name="T69" fmla="*/ 16 h 138"/>
                  <a:gd name="T70" fmla="*/ 117 w 164"/>
                  <a:gd name="T71" fmla="*/ 26 h 138"/>
                  <a:gd name="T72" fmla="*/ 126 w 164"/>
                  <a:gd name="T73" fmla="*/ 29 h 138"/>
                  <a:gd name="T74" fmla="*/ 128 w 164"/>
                  <a:gd name="T75" fmla="*/ 32 h 138"/>
                  <a:gd name="T76" fmla="*/ 129 w 164"/>
                  <a:gd name="T77" fmla="*/ 33 h 138"/>
                  <a:gd name="T78" fmla="*/ 139 w 164"/>
                  <a:gd name="T79" fmla="*/ 40 h 138"/>
                  <a:gd name="T80" fmla="*/ 142 w 164"/>
                  <a:gd name="T81" fmla="*/ 41 h 138"/>
                  <a:gd name="T82" fmla="*/ 149 w 164"/>
                  <a:gd name="T83" fmla="*/ 45 h 138"/>
                  <a:gd name="T84" fmla="*/ 154 w 164"/>
                  <a:gd name="T85" fmla="*/ 48 h 138"/>
                  <a:gd name="T86" fmla="*/ 157 w 164"/>
                  <a:gd name="T87" fmla="*/ 52 h 138"/>
                  <a:gd name="T88" fmla="*/ 162 w 164"/>
                  <a:gd name="T89" fmla="*/ 64 h 138"/>
                  <a:gd name="T90" fmla="*/ 163 w 164"/>
                  <a:gd name="T91" fmla="*/ 72 h 138"/>
                  <a:gd name="T92" fmla="*/ 163 w 164"/>
                  <a:gd name="T93" fmla="*/ 80 h 138"/>
                  <a:gd name="T94" fmla="*/ 162 w 164"/>
                  <a:gd name="T95" fmla="*/ 89 h 138"/>
                  <a:gd name="T96" fmla="*/ 160 w 164"/>
                  <a:gd name="T97" fmla="*/ 98 h 138"/>
                  <a:gd name="T98" fmla="*/ 157 w 164"/>
                  <a:gd name="T99" fmla="*/ 107 h 138"/>
                  <a:gd name="T100" fmla="*/ 154 w 164"/>
                  <a:gd name="T101" fmla="*/ 115 h 138"/>
                  <a:gd name="T102" fmla="*/ 149 w 164"/>
                  <a:gd name="T103" fmla="*/ 121 h 138"/>
                  <a:gd name="T104" fmla="*/ 145 w 164"/>
                  <a:gd name="T105" fmla="*/ 128 h 138"/>
                  <a:gd name="T106" fmla="*/ 140 w 164"/>
                  <a:gd name="T107" fmla="*/ 132 h 138"/>
                  <a:gd name="T108" fmla="*/ 134 w 164"/>
                  <a:gd name="T109" fmla="*/ 135 h 138"/>
                  <a:gd name="T110" fmla="*/ 130 w 164"/>
                  <a:gd name="T111" fmla="*/ 137 h 138"/>
                  <a:gd name="T112" fmla="*/ 125 w 164"/>
                  <a:gd name="T113" fmla="*/ 136 h 138"/>
                  <a:gd name="T114" fmla="*/ 123 w 164"/>
                  <a:gd name="T115" fmla="*/ 135 h 138"/>
                  <a:gd name="T116" fmla="*/ 118 w 164"/>
                  <a:gd name="T117" fmla="*/ 133 h 138"/>
                  <a:gd name="T118" fmla="*/ 114 w 164"/>
                  <a:gd name="T119" fmla="*/ 133 h 138"/>
                  <a:gd name="T120" fmla="*/ 112 w 164"/>
                  <a:gd name="T121" fmla="*/ 134 h 138"/>
                  <a:gd name="T122" fmla="*/ 85 w 164"/>
                  <a:gd name="T123" fmla="*/ 127 h 138"/>
                  <a:gd name="T124" fmla="*/ 37 w 164"/>
                  <a:gd name="T125" fmla="*/ 109 h 1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4"/>
                  <a:gd name="T190" fmla="*/ 0 h 138"/>
                  <a:gd name="T191" fmla="*/ 164 w 164"/>
                  <a:gd name="T192" fmla="*/ 138 h 13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4" h="138">
                    <a:moveTo>
                      <a:pt x="37" y="109"/>
                    </a:moveTo>
                    <a:lnTo>
                      <a:pt x="30" y="107"/>
                    </a:lnTo>
                    <a:lnTo>
                      <a:pt x="19" y="101"/>
                    </a:lnTo>
                    <a:lnTo>
                      <a:pt x="13" y="98"/>
                    </a:lnTo>
                    <a:lnTo>
                      <a:pt x="11" y="97"/>
                    </a:lnTo>
                    <a:lnTo>
                      <a:pt x="10" y="95"/>
                    </a:lnTo>
                    <a:lnTo>
                      <a:pt x="6" y="91"/>
                    </a:lnTo>
                    <a:lnTo>
                      <a:pt x="6" y="89"/>
                    </a:lnTo>
                    <a:lnTo>
                      <a:pt x="3" y="79"/>
                    </a:lnTo>
                    <a:lnTo>
                      <a:pt x="0" y="71"/>
                    </a:lnTo>
                    <a:lnTo>
                      <a:pt x="0" y="69"/>
                    </a:lnTo>
                    <a:lnTo>
                      <a:pt x="0" y="63"/>
                    </a:lnTo>
                    <a:lnTo>
                      <a:pt x="2" y="58"/>
                    </a:lnTo>
                    <a:lnTo>
                      <a:pt x="1" y="59"/>
                    </a:lnTo>
                    <a:lnTo>
                      <a:pt x="0" y="57"/>
                    </a:lnTo>
                    <a:lnTo>
                      <a:pt x="3" y="47"/>
                    </a:lnTo>
                    <a:lnTo>
                      <a:pt x="7" y="32"/>
                    </a:lnTo>
                    <a:lnTo>
                      <a:pt x="11" y="25"/>
                    </a:lnTo>
                    <a:lnTo>
                      <a:pt x="15" y="19"/>
                    </a:lnTo>
                    <a:lnTo>
                      <a:pt x="20" y="12"/>
                    </a:lnTo>
                    <a:lnTo>
                      <a:pt x="20" y="11"/>
                    </a:lnTo>
                    <a:lnTo>
                      <a:pt x="30" y="4"/>
                    </a:lnTo>
                    <a:lnTo>
                      <a:pt x="36" y="4"/>
                    </a:lnTo>
                    <a:lnTo>
                      <a:pt x="37" y="3"/>
                    </a:lnTo>
                    <a:lnTo>
                      <a:pt x="43" y="3"/>
                    </a:lnTo>
                    <a:lnTo>
                      <a:pt x="47" y="4"/>
                    </a:lnTo>
                    <a:lnTo>
                      <a:pt x="62" y="9"/>
                    </a:lnTo>
                    <a:lnTo>
                      <a:pt x="83" y="1"/>
                    </a:lnTo>
                    <a:lnTo>
                      <a:pt x="95" y="0"/>
                    </a:lnTo>
                    <a:lnTo>
                      <a:pt x="100" y="0"/>
                    </a:lnTo>
                    <a:lnTo>
                      <a:pt x="109" y="3"/>
                    </a:lnTo>
                    <a:lnTo>
                      <a:pt x="111" y="6"/>
                    </a:lnTo>
                    <a:lnTo>
                      <a:pt x="114" y="8"/>
                    </a:lnTo>
                    <a:lnTo>
                      <a:pt x="116" y="16"/>
                    </a:lnTo>
                    <a:lnTo>
                      <a:pt x="117" y="26"/>
                    </a:lnTo>
                    <a:lnTo>
                      <a:pt x="126" y="29"/>
                    </a:lnTo>
                    <a:lnTo>
                      <a:pt x="128" y="32"/>
                    </a:lnTo>
                    <a:lnTo>
                      <a:pt x="129" y="33"/>
                    </a:lnTo>
                    <a:lnTo>
                      <a:pt x="139" y="40"/>
                    </a:lnTo>
                    <a:lnTo>
                      <a:pt x="142" y="41"/>
                    </a:lnTo>
                    <a:lnTo>
                      <a:pt x="149" y="45"/>
                    </a:lnTo>
                    <a:lnTo>
                      <a:pt x="154" y="48"/>
                    </a:lnTo>
                    <a:lnTo>
                      <a:pt x="157" y="52"/>
                    </a:lnTo>
                    <a:lnTo>
                      <a:pt x="162" y="64"/>
                    </a:lnTo>
                    <a:lnTo>
                      <a:pt x="163" y="72"/>
                    </a:lnTo>
                    <a:lnTo>
                      <a:pt x="163" y="80"/>
                    </a:lnTo>
                    <a:lnTo>
                      <a:pt x="162" y="89"/>
                    </a:lnTo>
                    <a:lnTo>
                      <a:pt x="160" y="98"/>
                    </a:lnTo>
                    <a:lnTo>
                      <a:pt x="157" y="107"/>
                    </a:lnTo>
                    <a:lnTo>
                      <a:pt x="154" y="115"/>
                    </a:lnTo>
                    <a:lnTo>
                      <a:pt x="149" y="121"/>
                    </a:lnTo>
                    <a:lnTo>
                      <a:pt x="145" y="128"/>
                    </a:lnTo>
                    <a:lnTo>
                      <a:pt x="140" y="132"/>
                    </a:lnTo>
                    <a:lnTo>
                      <a:pt x="134" y="135"/>
                    </a:lnTo>
                    <a:lnTo>
                      <a:pt x="130" y="137"/>
                    </a:lnTo>
                    <a:lnTo>
                      <a:pt x="125" y="136"/>
                    </a:lnTo>
                    <a:lnTo>
                      <a:pt x="123" y="135"/>
                    </a:lnTo>
                    <a:lnTo>
                      <a:pt x="118" y="133"/>
                    </a:lnTo>
                    <a:lnTo>
                      <a:pt x="114" y="133"/>
                    </a:lnTo>
                    <a:lnTo>
                      <a:pt x="112" y="134"/>
                    </a:lnTo>
                    <a:lnTo>
                      <a:pt x="85" y="127"/>
                    </a:lnTo>
                    <a:lnTo>
                      <a:pt x="37" y="109"/>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0" name="Freeform 523"/>
              <p:cNvSpPr>
                <a:spLocks noChangeAspect="1"/>
              </p:cNvSpPr>
              <p:nvPr/>
            </p:nvSpPr>
            <p:spPr bwMode="auto">
              <a:xfrm>
                <a:off x="542" y="3485"/>
                <a:ext cx="104" cy="51"/>
              </a:xfrm>
              <a:custGeom>
                <a:avLst/>
                <a:gdLst>
                  <a:gd name="T0" fmla="*/ 103 w 104"/>
                  <a:gd name="T1" fmla="*/ 5 h 51"/>
                  <a:gd name="T2" fmla="*/ 101 w 104"/>
                  <a:gd name="T3" fmla="*/ 28 h 51"/>
                  <a:gd name="T4" fmla="*/ 67 w 104"/>
                  <a:gd name="T5" fmla="*/ 48 h 51"/>
                  <a:gd name="T6" fmla="*/ 67 w 104"/>
                  <a:gd name="T7" fmla="*/ 49 h 51"/>
                  <a:gd name="T8" fmla="*/ 61 w 104"/>
                  <a:gd name="T9" fmla="*/ 50 h 51"/>
                  <a:gd name="T10" fmla="*/ 54 w 104"/>
                  <a:gd name="T11" fmla="*/ 48 h 51"/>
                  <a:gd name="T12" fmla="*/ 52 w 104"/>
                  <a:gd name="T13" fmla="*/ 47 h 51"/>
                  <a:gd name="T14" fmla="*/ 4 w 104"/>
                  <a:gd name="T15" fmla="*/ 28 h 51"/>
                  <a:gd name="T16" fmla="*/ 0 w 104"/>
                  <a:gd name="T17" fmla="*/ 25 h 51"/>
                  <a:gd name="T18" fmla="*/ 0 w 104"/>
                  <a:gd name="T19" fmla="*/ 5 h 51"/>
                  <a:gd name="T20" fmla="*/ 20 w 104"/>
                  <a:gd name="T21" fmla="*/ 12 h 51"/>
                  <a:gd name="T22" fmla="*/ 21 w 104"/>
                  <a:gd name="T23" fmla="*/ 9 h 51"/>
                  <a:gd name="T24" fmla="*/ 23 w 104"/>
                  <a:gd name="T25" fmla="*/ 5 h 51"/>
                  <a:gd name="T26" fmla="*/ 27 w 104"/>
                  <a:gd name="T27" fmla="*/ 5 h 51"/>
                  <a:gd name="T28" fmla="*/ 31 w 104"/>
                  <a:gd name="T29" fmla="*/ 5 h 51"/>
                  <a:gd name="T30" fmla="*/ 34 w 104"/>
                  <a:gd name="T31" fmla="*/ 8 h 51"/>
                  <a:gd name="T32" fmla="*/ 37 w 104"/>
                  <a:gd name="T33" fmla="*/ 14 h 51"/>
                  <a:gd name="T34" fmla="*/ 38 w 104"/>
                  <a:gd name="T35" fmla="*/ 18 h 51"/>
                  <a:gd name="T36" fmla="*/ 37 w 104"/>
                  <a:gd name="T37" fmla="*/ 19 h 51"/>
                  <a:gd name="T38" fmla="*/ 51 w 104"/>
                  <a:gd name="T39" fmla="*/ 25 h 51"/>
                  <a:gd name="T40" fmla="*/ 63 w 104"/>
                  <a:gd name="T41" fmla="*/ 27 h 51"/>
                  <a:gd name="T42" fmla="*/ 67 w 104"/>
                  <a:gd name="T43" fmla="*/ 26 h 51"/>
                  <a:gd name="T44" fmla="*/ 72 w 104"/>
                  <a:gd name="T45" fmla="*/ 24 h 51"/>
                  <a:gd name="T46" fmla="*/ 79 w 104"/>
                  <a:gd name="T47" fmla="*/ 19 h 51"/>
                  <a:gd name="T48" fmla="*/ 73 w 104"/>
                  <a:gd name="T49" fmla="*/ 5 h 51"/>
                  <a:gd name="T50" fmla="*/ 85 w 104"/>
                  <a:gd name="T51" fmla="*/ 0 h 51"/>
                  <a:gd name="T52" fmla="*/ 86 w 104"/>
                  <a:gd name="T53" fmla="*/ 1 h 51"/>
                  <a:gd name="T54" fmla="*/ 88 w 104"/>
                  <a:gd name="T55" fmla="*/ 5 h 51"/>
                  <a:gd name="T56" fmla="*/ 91 w 104"/>
                  <a:gd name="T57" fmla="*/ 11 h 51"/>
                  <a:gd name="T58" fmla="*/ 96 w 104"/>
                  <a:gd name="T59" fmla="*/ 8 h 51"/>
                  <a:gd name="T60" fmla="*/ 102 w 104"/>
                  <a:gd name="T61" fmla="*/ 5 h 51"/>
                  <a:gd name="T62" fmla="*/ 103 w 104"/>
                  <a:gd name="T63" fmla="*/ 5 h 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4"/>
                  <a:gd name="T97" fmla="*/ 0 h 51"/>
                  <a:gd name="T98" fmla="*/ 104 w 104"/>
                  <a:gd name="T99" fmla="*/ 51 h 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4" h="51">
                    <a:moveTo>
                      <a:pt x="103" y="5"/>
                    </a:moveTo>
                    <a:lnTo>
                      <a:pt x="101" y="28"/>
                    </a:lnTo>
                    <a:lnTo>
                      <a:pt x="67" y="48"/>
                    </a:lnTo>
                    <a:lnTo>
                      <a:pt x="67" y="49"/>
                    </a:lnTo>
                    <a:lnTo>
                      <a:pt x="61" y="50"/>
                    </a:lnTo>
                    <a:lnTo>
                      <a:pt x="54" y="48"/>
                    </a:lnTo>
                    <a:lnTo>
                      <a:pt x="52" y="47"/>
                    </a:lnTo>
                    <a:lnTo>
                      <a:pt x="4" y="28"/>
                    </a:lnTo>
                    <a:lnTo>
                      <a:pt x="0" y="25"/>
                    </a:lnTo>
                    <a:lnTo>
                      <a:pt x="0" y="5"/>
                    </a:lnTo>
                    <a:lnTo>
                      <a:pt x="20" y="12"/>
                    </a:lnTo>
                    <a:lnTo>
                      <a:pt x="21" y="9"/>
                    </a:lnTo>
                    <a:lnTo>
                      <a:pt x="23" y="5"/>
                    </a:lnTo>
                    <a:lnTo>
                      <a:pt x="27" y="5"/>
                    </a:lnTo>
                    <a:lnTo>
                      <a:pt x="31" y="5"/>
                    </a:lnTo>
                    <a:lnTo>
                      <a:pt x="34" y="8"/>
                    </a:lnTo>
                    <a:lnTo>
                      <a:pt x="37" y="14"/>
                    </a:lnTo>
                    <a:lnTo>
                      <a:pt x="38" y="18"/>
                    </a:lnTo>
                    <a:lnTo>
                      <a:pt x="37" y="19"/>
                    </a:lnTo>
                    <a:lnTo>
                      <a:pt x="51" y="25"/>
                    </a:lnTo>
                    <a:lnTo>
                      <a:pt x="63" y="27"/>
                    </a:lnTo>
                    <a:lnTo>
                      <a:pt x="67" y="26"/>
                    </a:lnTo>
                    <a:lnTo>
                      <a:pt x="72" y="24"/>
                    </a:lnTo>
                    <a:lnTo>
                      <a:pt x="79" y="19"/>
                    </a:lnTo>
                    <a:lnTo>
                      <a:pt x="73" y="5"/>
                    </a:lnTo>
                    <a:lnTo>
                      <a:pt x="85" y="0"/>
                    </a:lnTo>
                    <a:lnTo>
                      <a:pt x="86" y="1"/>
                    </a:lnTo>
                    <a:lnTo>
                      <a:pt x="88" y="5"/>
                    </a:lnTo>
                    <a:lnTo>
                      <a:pt x="91" y="11"/>
                    </a:lnTo>
                    <a:lnTo>
                      <a:pt x="96" y="8"/>
                    </a:lnTo>
                    <a:lnTo>
                      <a:pt x="102" y="5"/>
                    </a:lnTo>
                    <a:lnTo>
                      <a:pt x="103" y="5"/>
                    </a:lnTo>
                  </a:path>
                </a:pathLst>
              </a:custGeom>
              <a:solidFill>
                <a:srgbClr val="CCCCCC"/>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1" name="Freeform 524"/>
              <p:cNvSpPr>
                <a:spLocks noChangeAspect="1"/>
              </p:cNvSpPr>
              <p:nvPr/>
            </p:nvSpPr>
            <p:spPr bwMode="auto">
              <a:xfrm>
                <a:off x="548" y="3336"/>
                <a:ext cx="28" cy="40"/>
              </a:xfrm>
              <a:custGeom>
                <a:avLst/>
                <a:gdLst>
                  <a:gd name="T0" fmla="*/ 1 w 28"/>
                  <a:gd name="T1" fmla="*/ 23 h 40"/>
                  <a:gd name="T2" fmla="*/ 0 w 28"/>
                  <a:gd name="T3" fmla="*/ 15 h 40"/>
                  <a:gd name="T4" fmla="*/ 0 w 28"/>
                  <a:gd name="T5" fmla="*/ 9 h 40"/>
                  <a:gd name="T6" fmla="*/ 3 w 28"/>
                  <a:gd name="T7" fmla="*/ 3 h 40"/>
                  <a:gd name="T8" fmla="*/ 7 w 28"/>
                  <a:gd name="T9" fmla="*/ 0 h 40"/>
                  <a:gd name="T10" fmla="*/ 12 w 28"/>
                  <a:gd name="T11" fmla="*/ 0 h 40"/>
                  <a:gd name="T12" fmla="*/ 17 w 28"/>
                  <a:gd name="T13" fmla="*/ 3 h 40"/>
                  <a:gd name="T14" fmla="*/ 21 w 28"/>
                  <a:gd name="T15" fmla="*/ 8 h 40"/>
                  <a:gd name="T16" fmla="*/ 24 w 28"/>
                  <a:gd name="T17" fmla="*/ 15 h 40"/>
                  <a:gd name="T18" fmla="*/ 27 w 28"/>
                  <a:gd name="T19" fmla="*/ 22 h 40"/>
                  <a:gd name="T20" fmla="*/ 26 w 28"/>
                  <a:gd name="T21" fmla="*/ 29 h 40"/>
                  <a:gd name="T22" fmla="*/ 23 w 28"/>
                  <a:gd name="T23" fmla="*/ 35 h 40"/>
                  <a:gd name="T24" fmla="*/ 19 w 28"/>
                  <a:gd name="T25" fmla="*/ 38 h 40"/>
                  <a:gd name="T26" fmla="*/ 14 w 28"/>
                  <a:gd name="T27" fmla="*/ 39 h 40"/>
                  <a:gd name="T28" fmla="*/ 9 w 28"/>
                  <a:gd name="T29" fmla="*/ 35 h 40"/>
                  <a:gd name="T30" fmla="*/ 4 w 28"/>
                  <a:gd name="T31" fmla="*/ 30 h 40"/>
                  <a:gd name="T32" fmla="*/ 1 w 28"/>
                  <a:gd name="T33" fmla="*/ 23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
                  <a:gd name="T52" fmla="*/ 0 h 40"/>
                  <a:gd name="T53" fmla="*/ 28 w 28"/>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 h="40">
                    <a:moveTo>
                      <a:pt x="1" y="23"/>
                    </a:moveTo>
                    <a:lnTo>
                      <a:pt x="0" y="15"/>
                    </a:lnTo>
                    <a:lnTo>
                      <a:pt x="0" y="9"/>
                    </a:lnTo>
                    <a:lnTo>
                      <a:pt x="3" y="3"/>
                    </a:lnTo>
                    <a:lnTo>
                      <a:pt x="7" y="0"/>
                    </a:lnTo>
                    <a:lnTo>
                      <a:pt x="12" y="0"/>
                    </a:lnTo>
                    <a:lnTo>
                      <a:pt x="17" y="3"/>
                    </a:lnTo>
                    <a:lnTo>
                      <a:pt x="21" y="8"/>
                    </a:lnTo>
                    <a:lnTo>
                      <a:pt x="24" y="15"/>
                    </a:lnTo>
                    <a:lnTo>
                      <a:pt x="27" y="22"/>
                    </a:lnTo>
                    <a:lnTo>
                      <a:pt x="26" y="29"/>
                    </a:lnTo>
                    <a:lnTo>
                      <a:pt x="23" y="35"/>
                    </a:lnTo>
                    <a:lnTo>
                      <a:pt x="19" y="38"/>
                    </a:lnTo>
                    <a:lnTo>
                      <a:pt x="14" y="39"/>
                    </a:lnTo>
                    <a:lnTo>
                      <a:pt x="9" y="35"/>
                    </a:lnTo>
                    <a:lnTo>
                      <a:pt x="4" y="30"/>
                    </a:lnTo>
                    <a:lnTo>
                      <a:pt x="1" y="23"/>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172" name="Freeform 525"/>
              <p:cNvSpPr>
                <a:spLocks noChangeAspect="1"/>
              </p:cNvSpPr>
              <p:nvPr/>
            </p:nvSpPr>
            <p:spPr bwMode="auto">
              <a:xfrm>
                <a:off x="637" y="3445"/>
                <a:ext cx="1" cy="17"/>
              </a:xfrm>
              <a:custGeom>
                <a:avLst/>
                <a:gdLst>
                  <a:gd name="T0" fmla="*/ 0 w 1"/>
                  <a:gd name="T1" fmla="*/ 6 h 17"/>
                  <a:gd name="T2" fmla="*/ 0 w 1"/>
                  <a:gd name="T3" fmla="*/ 0 h 17"/>
                  <a:gd name="T4" fmla="*/ 0 w 1"/>
                  <a:gd name="T5" fmla="*/ 9 h 17"/>
                  <a:gd name="T6" fmla="*/ 0 w 1"/>
                  <a:gd name="T7" fmla="*/ 16 h 17"/>
                  <a:gd name="T8" fmla="*/ 0 w 1"/>
                  <a:gd name="T9" fmla="*/ 6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6"/>
                    </a:moveTo>
                    <a:lnTo>
                      <a:pt x="0" y="0"/>
                    </a:lnTo>
                    <a:lnTo>
                      <a:pt x="0" y="9"/>
                    </a:lnTo>
                    <a:lnTo>
                      <a:pt x="0" y="16"/>
                    </a:lnTo>
                    <a:lnTo>
                      <a:pt x="0" y="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3" name="Freeform 526"/>
              <p:cNvSpPr>
                <a:spLocks noChangeAspect="1"/>
              </p:cNvSpPr>
              <p:nvPr/>
            </p:nvSpPr>
            <p:spPr bwMode="auto">
              <a:xfrm>
                <a:off x="633" y="3445"/>
                <a:ext cx="17" cy="17"/>
              </a:xfrm>
              <a:custGeom>
                <a:avLst/>
                <a:gdLst>
                  <a:gd name="T0" fmla="*/ 8 w 17"/>
                  <a:gd name="T1" fmla="*/ 0 h 17"/>
                  <a:gd name="T2" fmla="*/ 12 w 17"/>
                  <a:gd name="T3" fmla="*/ 0 h 17"/>
                  <a:gd name="T4" fmla="*/ 0 w 17"/>
                  <a:gd name="T5" fmla="*/ 6 h 17"/>
                  <a:gd name="T6" fmla="*/ 4 w 17"/>
                  <a:gd name="T7" fmla="*/ 16 h 17"/>
                  <a:gd name="T8" fmla="*/ 12 w 17"/>
                  <a:gd name="T9" fmla="*/ 6 h 17"/>
                  <a:gd name="T10" fmla="*/ 16 w 17"/>
                  <a:gd name="T11" fmla="*/ 0 h 17"/>
                  <a:gd name="T12" fmla="*/ 12 w 17"/>
                  <a:gd name="T13" fmla="*/ 6 h 17"/>
                  <a:gd name="T14" fmla="*/ 16 w 17"/>
                  <a:gd name="T15" fmla="*/ 6 h 17"/>
                  <a:gd name="T16" fmla="*/ 16 w 17"/>
                  <a:gd name="T17" fmla="*/ 0 h 17"/>
                  <a:gd name="T18" fmla="*/ 8 w 17"/>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8" y="0"/>
                    </a:moveTo>
                    <a:lnTo>
                      <a:pt x="12" y="0"/>
                    </a:lnTo>
                    <a:lnTo>
                      <a:pt x="0" y="6"/>
                    </a:lnTo>
                    <a:lnTo>
                      <a:pt x="4" y="16"/>
                    </a:lnTo>
                    <a:lnTo>
                      <a:pt x="12" y="6"/>
                    </a:lnTo>
                    <a:lnTo>
                      <a:pt x="16" y="0"/>
                    </a:lnTo>
                    <a:lnTo>
                      <a:pt x="12" y="6"/>
                    </a:lnTo>
                    <a:lnTo>
                      <a:pt x="16" y="6"/>
                    </a:lnTo>
                    <a:lnTo>
                      <a:pt x="16" y="0"/>
                    </a:lnTo>
                    <a:lnTo>
                      <a:pt x="8"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4" name="Freeform 527"/>
              <p:cNvSpPr>
                <a:spLocks noChangeAspect="1"/>
              </p:cNvSpPr>
              <p:nvPr/>
            </p:nvSpPr>
            <p:spPr bwMode="auto">
              <a:xfrm>
                <a:off x="631" y="3448"/>
                <a:ext cx="17" cy="26"/>
              </a:xfrm>
              <a:custGeom>
                <a:avLst/>
                <a:gdLst>
                  <a:gd name="T0" fmla="*/ 6 w 17"/>
                  <a:gd name="T1" fmla="*/ 25 h 26"/>
                  <a:gd name="T2" fmla="*/ 6 w 17"/>
                  <a:gd name="T3" fmla="*/ 24 h 26"/>
                  <a:gd name="T4" fmla="*/ 0 w 17"/>
                  <a:gd name="T5" fmla="*/ 0 h 26"/>
                  <a:gd name="T6" fmla="*/ 9 w 17"/>
                  <a:gd name="T7" fmla="*/ 0 h 26"/>
                  <a:gd name="T8" fmla="*/ 16 w 17"/>
                  <a:gd name="T9" fmla="*/ 24 h 26"/>
                  <a:gd name="T10" fmla="*/ 6 w 17"/>
                  <a:gd name="T11" fmla="*/ 25 h 26"/>
                  <a:gd name="T12" fmla="*/ 6 w 17"/>
                  <a:gd name="T13" fmla="*/ 24 h 26"/>
                  <a:gd name="T14" fmla="*/ 6 w 17"/>
                  <a:gd name="T15" fmla="*/ 25 h 26"/>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26"/>
                  <a:gd name="T26" fmla="*/ 17 w 17"/>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26">
                    <a:moveTo>
                      <a:pt x="6" y="25"/>
                    </a:moveTo>
                    <a:lnTo>
                      <a:pt x="6" y="24"/>
                    </a:lnTo>
                    <a:lnTo>
                      <a:pt x="0" y="0"/>
                    </a:lnTo>
                    <a:lnTo>
                      <a:pt x="9" y="0"/>
                    </a:lnTo>
                    <a:lnTo>
                      <a:pt x="16" y="24"/>
                    </a:lnTo>
                    <a:lnTo>
                      <a:pt x="6" y="25"/>
                    </a:lnTo>
                    <a:lnTo>
                      <a:pt x="6" y="24"/>
                    </a:lnTo>
                    <a:lnTo>
                      <a:pt x="6" y="2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5" name="Freeform 528"/>
              <p:cNvSpPr>
                <a:spLocks noChangeAspect="1"/>
              </p:cNvSpPr>
              <p:nvPr/>
            </p:nvSpPr>
            <p:spPr bwMode="auto">
              <a:xfrm>
                <a:off x="630" y="3478"/>
                <a:ext cx="17" cy="1"/>
              </a:xfrm>
              <a:custGeom>
                <a:avLst/>
                <a:gdLst>
                  <a:gd name="T0" fmla="*/ 16 w 17"/>
                  <a:gd name="T1" fmla="*/ 0 h 1"/>
                  <a:gd name="T2" fmla="*/ 0 w 17"/>
                  <a:gd name="T3" fmla="*/ 0 h 1"/>
                  <a:gd name="T4" fmla="*/ 8 w 17"/>
                  <a:gd name="T5" fmla="*/ 0 h 1"/>
                  <a:gd name="T6" fmla="*/ 16 w 17"/>
                  <a:gd name="T7" fmla="*/ 0 h 1"/>
                  <a:gd name="T8" fmla="*/ 16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16" y="0"/>
                    </a:moveTo>
                    <a:lnTo>
                      <a:pt x="0" y="0"/>
                    </a:lnTo>
                    <a:lnTo>
                      <a:pt x="8" y="0"/>
                    </a:lnTo>
                    <a:lnTo>
                      <a:pt x="1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6" name="Freeform 529"/>
              <p:cNvSpPr>
                <a:spLocks noChangeAspect="1"/>
              </p:cNvSpPr>
              <p:nvPr/>
            </p:nvSpPr>
            <p:spPr bwMode="auto">
              <a:xfrm>
                <a:off x="626" y="3482"/>
                <a:ext cx="17" cy="17"/>
              </a:xfrm>
              <a:custGeom>
                <a:avLst/>
                <a:gdLst>
                  <a:gd name="T0" fmla="*/ 0 w 17"/>
                  <a:gd name="T1" fmla="*/ 16 h 17"/>
                  <a:gd name="T2" fmla="*/ 16 w 17"/>
                  <a:gd name="T3" fmla="*/ 0 h 17"/>
                  <a:gd name="T4" fmla="*/ 0 w 17"/>
                  <a:gd name="T5" fmla="*/ 10 h 17"/>
                  <a:gd name="T6" fmla="*/ 0 w 17"/>
                  <a:gd name="T7" fmla="*/ 16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16" y="0"/>
                    </a:lnTo>
                    <a:lnTo>
                      <a:pt x="0" y="10"/>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7" name="Freeform 530"/>
              <p:cNvSpPr>
                <a:spLocks noChangeAspect="1"/>
              </p:cNvSpPr>
              <p:nvPr/>
            </p:nvSpPr>
            <p:spPr bwMode="auto">
              <a:xfrm>
                <a:off x="611" y="3486"/>
                <a:ext cx="17" cy="17"/>
              </a:xfrm>
              <a:custGeom>
                <a:avLst/>
                <a:gdLst>
                  <a:gd name="T0" fmla="*/ 0 w 17"/>
                  <a:gd name="T1" fmla="*/ 16 h 17"/>
                  <a:gd name="T2" fmla="*/ 0 w 17"/>
                  <a:gd name="T3" fmla="*/ 16 h 17"/>
                  <a:gd name="T4" fmla="*/ 16 w 17"/>
                  <a:gd name="T5" fmla="*/ 8 h 17"/>
                  <a:gd name="T6" fmla="*/ 16 w 17"/>
                  <a:gd name="T7" fmla="*/ 0 h 17"/>
                  <a:gd name="T8" fmla="*/ 0 w 17"/>
                  <a:gd name="T9" fmla="*/ 16 h 17"/>
                  <a:gd name="T10" fmla="*/ 0 w 17"/>
                  <a:gd name="T11" fmla="*/ 16 h 17"/>
                  <a:gd name="T12" fmla="*/ 0 w 17"/>
                  <a:gd name="T13" fmla="*/ 1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6"/>
                    </a:moveTo>
                    <a:lnTo>
                      <a:pt x="0" y="16"/>
                    </a:lnTo>
                    <a:lnTo>
                      <a:pt x="16" y="8"/>
                    </a:lnTo>
                    <a:lnTo>
                      <a:pt x="16" y="0"/>
                    </a:lnTo>
                    <a:lnTo>
                      <a:pt x="0"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8" name="Freeform 531"/>
              <p:cNvSpPr>
                <a:spLocks noChangeAspect="1"/>
              </p:cNvSpPr>
              <p:nvPr/>
            </p:nvSpPr>
            <p:spPr bwMode="auto">
              <a:xfrm>
                <a:off x="592" y="3487"/>
                <a:ext cx="17" cy="17"/>
              </a:xfrm>
              <a:custGeom>
                <a:avLst/>
                <a:gdLst>
                  <a:gd name="T0" fmla="*/ 0 w 17"/>
                  <a:gd name="T1" fmla="*/ 0 h 17"/>
                  <a:gd name="T2" fmla="*/ 16 w 17"/>
                  <a:gd name="T3" fmla="*/ 6 h 17"/>
                  <a:gd name="T4" fmla="*/ 16 w 17"/>
                  <a:gd name="T5" fmla="*/ 16 h 17"/>
                  <a:gd name="T6" fmla="*/ 0 w 17"/>
                  <a:gd name="T7" fmla="*/ 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6"/>
                    </a:lnTo>
                    <a:lnTo>
                      <a:pt x="16" y="16"/>
                    </a:lnTo>
                    <a:lnTo>
                      <a:pt x="0" y="6"/>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79" name="Freeform 532"/>
              <p:cNvSpPr>
                <a:spLocks noChangeAspect="1"/>
              </p:cNvSpPr>
              <p:nvPr/>
            </p:nvSpPr>
            <p:spPr bwMode="auto">
              <a:xfrm>
                <a:off x="583" y="3487"/>
                <a:ext cx="17" cy="17"/>
              </a:xfrm>
              <a:custGeom>
                <a:avLst/>
                <a:gdLst>
                  <a:gd name="T0" fmla="*/ 0 w 17"/>
                  <a:gd name="T1" fmla="*/ 0 h 17"/>
                  <a:gd name="T2" fmla="*/ 16 w 17"/>
                  <a:gd name="T3" fmla="*/ 0 h 17"/>
                  <a:gd name="T4" fmla="*/ 16 w 17"/>
                  <a:gd name="T5" fmla="*/ 16 h 17"/>
                  <a:gd name="T6" fmla="*/ 0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0"/>
                    </a:lnTo>
                    <a:lnTo>
                      <a:pt x="16" y="16"/>
                    </a:lnTo>
                    <a:lnTo>
                      <a:pt x="0" y="16"/>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0" name="Freeform 533"/>
              <p:cNvSpPr>
                <a:spLocks noChangeAspect="1"/>
              </p:cNvSpPr>
              <p:nvPr/>
            </p:nvSpPr>
            <p:spPr bwMode="auto">
              <a:xfrm>
                <a:off x="574" y="3487"/>
                <a:ext cx="17" cy="17"/>
              </a:xfrm>
              <a:custGeom>
                <a:avLst/>
                <a:gdLst>
                  <a:gd name="T0" fmla="*/ 0 w 17"/>
                  <a:gd name="T1" fmla="*/ 5 h 17"/>
                  <a:gd name="T2" fmla="*/ 16 w 17"/>
                  <a:gd name="T3" fmla="*/ 0 h 17"/>
                  <a:gd name="T4" fmla="*/ 16 w 17"/>
                  <a:gd name="T5" fmla="*/ 5 h 17"/>
                  <a:gd name="T6" fmla="*/ 0 w 17"/>
                  <a:gd name="T7" fmla="*/ 16 h 17"/>
                  <a:gd name="T8" fmla="*/ 0 w 17"/>
                  <a:gd name="T9" fmla="*/ 5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5"/>
                    </a:moveTo>
                    <a:lnTo>
                      <a:pt x="16" y="0"/>
                    </a:lnTo>
                    <a:lnTo>
                      <a:pt x="16" y="5"/>
                    </a:lnTo>
                    <a:lnTo>
                      <a:pt x="0" y="16"/>
                    </a:lnTo>
                    <a:lnTo>
                      <a:pt x="0" y="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1" name="Freeform 534"/>
              <p:cNvSpPr>
                <a:spLocks noChangeAspect="1"/>
              </p:cNvSpPr>
              <p:nvPr/>
            </p:nvSpPr>
            <p:spPr bwMode="auto">
              <a:xfrm>
                <a:off x="568" y="3487"/>
                <a:ext cx="17" cy="1"/>
              </a:xfrm>
              <a:custGeom>
                <a:avLst/>
                <a:gdLst>
                  <a:gd name="T0" fmla="*/ 0 w 17"/>
                  <a:gd name="T1" fmla="*/ 0 h 1"/>
                  <a:gd name="T2" fmla="*/ 16 w 17"/>
                  <a:gd name="T3" fmla="*/ 0 h 1"/>
                  <a:gd name="T4" fmla="*/ 0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16"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2" name="Freeform 535"/>
              <p:cNvSpPr>
                <a:spLocks noChangeAspect="1"/>
              </p:cNvSpPr>
              <p:nvPr/>
            </p:nvSpPr>
            <p:spPr bwMode="auto">
              <a:xfrm>
                <a:off x="564" y="3483"/>
                <a:ext cx="17" cy="17"/>
              </a:xfrm>
              <a:custGeom>
                <a:avLst/>
                <a:gdLst>
                  <a:gd name="T0" fmla="*/ 0 w 17"/>
                  <a:gd name="T1" fmla="*/ 8 h 17"/>
                  <a:gd name="T2" fmla="*/ 16 w 17"/>
                  <a:gd name="T3" fmla="*/ 0 h 17"/>
                  <a:gd name="T4" fmla="*/ 0 w 17"/>
                  <a:gd name="T5" fmla="*/ 16 h 17"/>
                  <a:gd name="T6" fmla="*/ 0 w 17"/>
                  <a:gd name="T7" fmla="*/ 8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8"/>
                    </a:moveTo>
                    <a:lnTo>
                      <a:pt x="16" y="0"/>
                    </a:lnTo>
                    <a:lnTo>
                      <a:pt x="0" y="16"/>
                    </a:lnTo>
                    <a:lnTo>
                      <a:pt x="0"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3" name="Freeform 536"/>
              <p:cNvSpPr>
                <a:spLocks noChangeAspect="1"/>
              </p:cNvSpPr>
              <p:nvPr/>
            </p:nvSpPr>
            <p:spPr bwMode="auto">
              <a:xfrm>
                <a:off x="558" y="3478"/>
                <a:ext cx="17" cy="17"/>
              </a:xfrm>
              <a:custGeom>
                <a:avLst/>
                <a:gdLst>
                  <a:gd name="T0" fmla="*/ 0 w 17"/>
                  <a:gd name="T1" fmla="*/ 2 h 17"/>
                  <a:gd name="T2" fmla="*/ 16 w 17"/>
                  <a:gd name="T3" fmla="*/ 16 h 17"/>
                  <a:gd name="T4" fmla="*/ 16 w 17"/>
                  <a:gd name="T5" fmla="*/ 13 h 17"/>
                  <a:gd name="T6" fmla="*/ 0 w 17"/>
                  <a:gd name="T7" fmla="*/ 0 h 17"/>
                  <a:gd name="T8" fmla="*/ 0 w 17"/>
                  <a:gd name="T9" fmla="*/ 2 h 17"/>
                  <a:gd name="T10" fmla="*/ 0 w 17"/>
                  <a:gd name="T11" fmla="*/ 2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2"/>
                    </a:moveTo>
                    <a:lnTo>
                      <a:pt x="16" y="16"/>
                    </a:lnTo>
                    <a:lnTo>
                      <a:pt x="16" y="13"/>
                    </a:lnTo>
                    <a:lnTo>
                      <a:pt x="0" y="0"/>
                    </a:lnTo>
                    <a:lnTo>
                      <a:pt x="0" y="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4" name="Freeform 537"/>
              <p:cNvSpPr>
                <a:spLocks noChangeAspect="1"/>
              </p:cNvSpPr>
              <p:nvPr/>
            </p:nvSpPr>
            <p:spPr bwMode="auto">
              <a:xfrm>
                <a:off x="555" y="3474"/>
                <a:ext cx="17" cy="17"/>
              </a:xfrm>
              <a:custGeom>
                <a:avLst/>
                <a:gdLst>
                  <a:gd name="T0" fmla="*/ 16 w 17"/>
                  <a:gd name="T1" fmla="*/ 16 h 17"/>
                  <a:gd name="T2" fmla="*/ 16 w 17"/>
                  <a:gd name="T3" fmla="*/ 10 h 17"/>
                  <a:gd name="T4" fmla="*/ 6 w 17"/>
                  <a:gd name="T5" fmla="*/ 0 h 17"/>
                  <a:gd name="T6" fmla="*/ 0 w 17"/>
                  <a:gd name="T7" fmla="*/ 5 h 17"/>
                  <a:gd name="T8" fmla="*/ 6 w 17"/>
                  <a:gd name="T9" fmla="*/ 16 h 17"/>
                  <a:gd name="T10" fmla="*/ 16 w 17"/>
                  <a:gd name="T11" fmla="*/ 16 h 17"/>
                  <a:gd name="T12" fmla="*/ 16 w 17"/>
                  <a:gd name="T13" fmla="*/ 10 h 17"/>
                  <a:gd name="T14" fmla="*/ 16 w 17"/>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16"/>
                    </a:moveTo>
                    <a:lnTo>
                      <a:pt x="16" y="10"/>
                    </a:lnTo>
                    <a:lnTo>
                      <a:pt x="6" y="0"/>
                    </a:lnTo>
                    <a:lnTo>
                      <a:pt x="0" y="5"/>
                    </a:lnTo>
                    <a:lnTo>
                      <a:pt x="6" y="16"/>
                    </a:lnTo>
                    <a:lnTo>
                      <a:pt x="16" y="16"/>
                    </a:lnTo>
                    <a:lnTo>
                      <a:pt x="16" y="10"/>
                    </a:lnTo>
                    <a:lnTo>
                      <a:pt x="16"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5" name="Freeform 538"/>
              <p:cNvSpPr>
                <a:spLocks noChangeAspect="1"/>
              </p:cNvSpPr>
              <p:nvPr/>
            </p:nvSpPr>
            <p:spPr bwMode="auto">
              <a:xfrm>
                <a:off x="555" y="3468"/>
                <a:ext cx="17" cy="17"/>
              </a:xfrm>
              <a:custGeom>
                <a:avLst/>
                <a:gdLst>
                  <a:gd name="T0" fmla="*/ 16 w 17"/>
                  <a:gd name="T1" fmla="*/ 2 h 17"/>
                  <a:gd name="T2" fmla="*/ 16 w 17"/>
                  <a:gd name="T3" fmla="*/ 16 h 17"/>
                  <a:gd name="T4" fmla="*/ 0 w 17"/>
                  <a:gd name="T5" fmla="*/ 16 h 17"/>
                  <a:gd name="T6" fmla="*/ 0 w 17"/>
                  <a:gd name="T7" fmla="*/ 2 h 17"/>
                  <a:gd name="T8" fmla="*/ 0 w 17"/>
                  <a:gd name="T9" fmla="*/ 0 h 17"/>
                  <a:gd name="T10" fmla="*/ 0 w 17"/>
                  <a:gd name="T11" fmla="*/ 2 h 17"/>
                  <a:gd name="T12" fmla="*/ 0 w 17"/>
                  <a:gd name="T13" fmla="*/ 0 h 17"/>
                  <a:gd name="T14" fmla="*/ 16 w 17"/>
                  <a:gd name="T15" fmla="*/ 2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2"/>
                    </a:moveTo>
                    <a:lnTo>
                      <a:pt x="16" y="16"/>
                    </a:lnTo>
                    <a:lnTo>
                      <a:pt x="0" y="16"/>
                    </a:lnTo>
                    <a:lnTo>
                      <a:pt x="0" y="2"/>
                    </a:lnTo>
                    <a:lnTo>
                      <a:pt x="0" y="0"/>
                    </a:lnTo>
                    <a:lnTo>
                      <a:pt x="0" y="2"/>
                    </a:lnTo>
                    <a:lnTo>
                      <a:pt x="0" y="0"/>
                    </a:lnTo>
                    <a:lnTo>
                      <a:pt x="16" y="2"/>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6" name="Freeform 539"/>
              <p:cNvSpPr>
                <a:spLocks noChangeAspect="1"/>
              </p:cNvSpPr>
              <p:nvPr/>
            </p:nvSpPr>
            <p:spPr bwMode="auto">
              <a:xfrm>
                <a:off x="552" y="3459"/>
                <a:ext cx="17" cy="17"/>
              </a:xfrm>
              <a:custGeom>
                <a:avLst/>
                <a:gdLst>
                  <a:gd name="T0" fmla="*/ 0 w 17"/>
                  <a:gd name="T1" fmla="*/ 0 h 17"/>
                  <a:gd name="T2" fmla="*/ 0 w 17"/>
                  <a:gd name="T3" fmla="*/ 1 h 17"/>
                  <a:gd name="T4" fmla="*/ 13 w 17"/>
                  <a:gd name="T5" fmla="*/ 16 h 17"/>
                  <a:gd name="T6" fmla="*/ 16 w 17"/>
                  <a:gd name="T7" fmla="*/ 14 h 17"/>
                  <a:gd name="T8" fmla="*/ 2 w 17"/>
                  <a:gd name="T9" fmla="*/ 0 h 17"/>
                  <a:gd name="T10" fmla="*/ 0 w 17"/>
                  <a:gd name="T11" fmla="*/ 0 h 17"/>
                  <a:gd name="T12" fmla="*/ 0 w 17"/>
                  <a:gd name="T13" fmla="*/ 1 h 17"/>
                  <a:gd name="T14" fmla="*/ 0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0"/>
                    </a:moveTo>
                    <a:lnTo>
                      <a:pt x="0" y="1"/>
                    </a:lnTo>
                    <a:lnTo>
                      <a:pt x="13" y="16"/>
                    </a:lnTo>
                    <a:lnTo>
                      <a:pt x="16" y="14"/>
                    </a:lnTo>
                    <a:lnTo>
                      <a:pt x="2" y="0"/>
                    </a:lnTo>
                    <a:lnTo>
                      <a:pt x="0" y="0"/>
                    </a:lnTo>
                    <a:lnTo>
                      <a:pt x="0" y="1"/>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7" name="Freeform 540"/>
              <p:cNvSpPr>
                <a:spLocks noChangeAspect="1"/>
              </p:cNvSpPr>
              <p:nvPr/>
            </p:nvSpPr>
            <p:spPr bwMode="auto">
              <a:xfrm>
                <a:off x="547" y="3445"/>
                <a:ext cx="17" cy="17"/>
              </a:xfrm>
              <a:custGeom>
                <a:avLst/>
                <a:gdLst>
                  <a:gd name="T0" fmla="*/ 6 w 17"/>
                  <a:gd name="T1" fmla="*/ 0 h 17"/>
                  <a:gd name="T2" fmla="*/ 16 w 17"/>
                  <a:gd name="T3" fmla="*/ 0 h 17"/>
                  <a:gd name="T4" fmla="*/ 16 w 17"/>
                  <a:gd name="T5" fmla="*/ 16 h 17"/>
                  <a:gd name="T6" fmla="*/ 6 w 17"/>
                  <a:gd name="T7" fmla="*/ 16 h 17"/>
                  <a:gd name="T8" fmla="*/ 0 w 17"/>
                  <a:gd name="T9" fmla="*/ 0 h 17"/>
                  <a:gd name="T10" fmla="*/ 6 w 17"/>
                  <a:gd name="T11" fmla="*/ 1 h 17"/>
                  <a:gd name="T12" fmla="*/ 6 w 17"/>
                  <a:gd name="T13" fmla="*/ 0 h 17"/>
                  <a:gd name="T14" fmla="*/ 16 w 17"/>
                  <a:gd name="T15" fmla="*/ 0 h 17"/>
                  <a:gd name="T16" fmla="*/ 6 w 17"/>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6" y="0"/>
                    </a:moveTo>
                    <a:lnTo>
                      <a:pt x="16" y="0"/>
                    </a:lnTo>
                    <a:lnTo>
                      <a:pt x="16" y="16"/>
                    </a:lnTo>
                    <a:lnTo>
                      <a:pt x="6" y="16"/>
                    </a:lnTo>
                    <a:lnTo>
                      <a:pt x="0" y="0"/>
                    </a:lnTo>
                    <a:lnTo>
                      <a:pt x="6" y="1"/>
                    </a:lnTo>
                    <a:lnTo>
                      <a:pt x="6" y="0"/>
                    </a:lnTo>
                    <a:lnTo>
                      <a:pt x="16" y="0"/>
                    </a:lnTo>
                    <a:lnTo>
                      <a:pt x="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8" name="Freeform 541"/>
              <p:cNvSpPr>
                <a:spLocks noChangeAspect="1"/>
              </p:cNvSpPr>
              <p:nvPr/>
            </p:nvSpPr>
            <p:spPr bwMode="auto">
              <a:xfrm>
                <a:off x="553" y="3442"/>
                <a:ext cx="17" cy="1"/>
              </a:xfrm>
              <a:custGeom>
                <a:avLst/>
                <a:gdLst>
                  <a:gd name="T0" fmla="*/ 12 w 17"/>
                  <a:gd name="T1" fmla="*/ 0 h 1"/>
                  <a:gd name="T2" fmla="*/ 16 w 17"/>
                  <a:gd name="T3" fmla="*/ 0 h 1"/>
                  <a:gd name="T4" fmla="*/ 0 w 17"/>
                  <a:gd name="T5" fmla="*/ 0 h 1"/>
                  <a:gd name="T6" fmla="*/ 16 w 17"/>
                  <a:gd name="T7" fmla="*/ 0 h 1"/>
                  <a:gd name="T8" fmla="*/ 12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12" y="0"/>
                    </a:moveTo>
                    <a:lnTo>
                      <a:pt x="16" y="0"/>
                    </a:lnTo>
                    <a:lnTo>
                      <a:pt x="0" y="0"/>
                    </a:lnTo>
                    <a:lnTo>
                      <a:pt x="16" y="0"/>
                    </a:lnTo>
                    <a:lnTo>
                      <a:pt x="12"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89" name="Freeform 542"/>
              <p:cNvSpPr>
                <a:spLocks noChangeAspect="1"/>
              </p:cNvSpPr>
              <p:nvPr/>
            </p:nvSpPr>
            <p:spPr bwMode="auto">
              <a:xfrm>
                <a:off x="555" y="3422"/>
                <a:ext cx="17" cy="17"/>
              </a:xfrm>
              <a:custGeom>
                <a:avLst/>
                <a:gdLst>
                  <a:gd name="T0" fmla="*/ 8 w 17"/>
                  <a:gd name="T1" fmla="*/ 0 h 17"/>
                  <a:gd name="T2" fmla="*/ 16 w 17"/>
                  <a:gd name="T3" fmla="*/ 0 h 17"/>
                  <a:gd name="T4" fmla="*/ 16 w 17"/>
                  <a:gd name="T5" fmla="*/ 16 h 17"/>
                  <a:gd name="T6" fmla="*/ 0 w 17"/>
                  <a:gd name="T7" fmla="*/ 16 h 17"/>
                  <a:gd name="T8" fmla="*/ 0 w 17"/>
                  <a:gd name="T9" fmla="*/ 0 h 17"/>
                  <a:gd name="T10" fmla="*/ 8 w 17"/>
                  <a:gd name="T11" fmla="*/ 0 h 17"/>
                  <a:gd name="T12" fmla="*/ 0 w 17"/>
                  <a:gd name="T13" fmla="*/ 0 h 17"/>
                  <a:gd name="T14" fmla="*/ 0 w 17"/>
                  <a:gd name="T15" fmla="*/ 0 h 17"/>
                  <a:gd name="T16" fmla="*/ 8 w 17"/>
                  <a:gd name="T17" fmla="*/ 0 h 17"/>
                  <a:gd name="T18" fmla="*/ 8 w 17"/>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8" y="0"/>
                    </a:moveTo>
                    <a:lnTo>
                      <a:pt x="16" y="0"/>
                    </a:lnTo>
                    <a:lnTo>
                      <a:pt x="16" y="16"/>
                    </a:lnTo>
                    <a:lnTo>
                      <a:pt x="0" y="16"/>
                    </a:lnTo>
                    <a:lnTo>
                      <a:pt x="0" y="0"/>
                    </a:lnTo>
                    <a:lnTo>
                      <a:pt x="8" y="0"/>
                    </a:lnTo>
                    <a:lnTo>
                      <a:pt x="0" y="0"/>
                    </a:lnTo>
                    <a:lnTo>
                      <a:pt x="8"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0" name="Freeform 543"/>
              <p:cNvSpPr>
                <a:spLocks noChangeAspect="1"/>
              </p:cNvSpPr>
              <p:nvPr/>
            </p:nvSpPr>
            <p:spPr bwMode="auto">
              <a:xfrm>
                <a:off x="552" y="3418"/>
                <a:ext cx="17" cy="17"/>
              </a:xfrm>
              <a:custGeom>
                <a:avLst/>
                <a:gdLst>
                  <a:gd name="T0" fmla="*/ 0 w 17"/>
                  <a:gd name="T1" fmla="*/ 16 h 17"/>
                  <a:gd name="T2" fmla="*/ 16 w 17"/>
                  <a:gd name="T3" fmla="*/ 0 h 17"/>
                  <a:gd name="T4" fmla="*/ 4 w 17"/>
                  <a:gd name="T5" fmla="*/ 16 h 17"/>
                  <a:gd name="T6" fmla="*/ 0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16"/>
                    </a:moveTo>
                    <a:lnTo>
                      <a:pt x="16" y="0"/>
                    </a:lnTo>
                    <a:lnTo>
                      <a:pt x="4" y="16"/>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1" name="Freeform 544"/>
              <p:cNvSpPr>
                <a:spLocks noChangeAspect="1"/>
              </p:cNvSpPr>
              <p:nvPr/>
            </p:nvSpPr>
            <p:spPr bwMode="auto">
              <a:xfrm>
                <a:off x="538" y="3414"/>
                <a:ext cx="17" cy="17"/>
              </a:xfrm>
              <a:custGeom>
                <a:avLst/>
                <a:gdLst>
                  <a:gd name="T0" fmla="*/ 0 w 17"/>
                  <a:gd name="T1" fmla="*/ 4 h 17"/>
                  <a:gd name="T2" fmla="*/ 15 w 17"/>
                  <a:gd name="T3" fmla="*/ 16 h 17"/>
                  <a:gd name="T4" fmla="*/ 16 w 17"/>
                  <a:gd name="T5" fmla="*/ 16 h 17"/>
                  <a:gd name="T6" fmla="*/ 0 w 17"/>
                  <a:gd name="T7" fmla="*/ 0 h 17"/>
                  <a:gd name="T8" fmla="*/ 0 w 17"/>
                  <a:gd name="T9" fmla="*/ 4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4"/>
                    </a:moveTo>
                    <a:lnTo>
                      <a:pt x="15" y="16"/>
                    </a:lnTo>
                    <a:lnTo>
                      <a:pt x="16" y="16"/>
                    </a:lnTo>
                    <a:lnTo>
                      <a:pt x="0" y="0"/>
                    </a:lnTo>
                    <a:lnTo>
                      <a:pt x="0"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2" name="Freeform 545"/>
              <p:cNvSpPr>
                <a:spLocks noChangeAspect="1"/>
              </p:cNvSpPr>
              <p:nvPr/>
            </p:nvSpPr>
            <p:spPr bwMode="auto">
              <a:xfrm>
                <a:off x="534" y="3410"/>
                <a:ext cx="17" cy="1"/>
              </a:xfrm>
              <a:custGeom>
                <a:avLst/>
                <a:gdLst>
                  <a:gd name="T0" fmla="*/ 0 w 17"/>
                  <a:gd name="T1" fmla="*/ 0 h 1"/>
                  <a:gd name="T2" fmla="*/ 16 w 17"/>
                  <a:gd name="T3" fmla="*/ 0 h 1"/>
                  <a:gd name="T4" fmla="*/ 0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16"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3" name="Freeform 546"/>
              <p:cNvSpPr>
                <a:spLocks noChangeAspect="1"/>
              </p:cNvSpPr>
              <p:nvPr/>
            </p:nvSpPr>
            <p:spPr bwMode="auto">
              <a:xfrm>
                <a:off x="529" y="3408"/>
                <a:ext cx="17" cy="17"/>
              </a:xfrm>
              <a:custGeom>
                <a:avLst/>
                <a:gdLst>
                  <a:gd name="T0" fmla="*/ 16 w 17"/>
                  <a:gd name="T1" fmla="*/ 9 h 17"/>
                  <a:gd name="T2" fmla="*/ 4 w 17"/>
                  <a:gd name="T3" fmla="*/ 0 h 17"/>
                  <a:gd name="T4" fmla="*/ 0 w 17"/>
                  <a:gd name="T5" fmla="*/ 9 h 17"/>
                  <a:gd name="T6" fmla="*/ 12 w 17"/>
                  <a:gd name="T7" fmla="*/ 16 h 17"/>
                  <a:gd name="T8" fmla="*/ 16 w 17"/>
                  <a:gd name="T9" fmla="*/ 9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9"/>
                    </a:moveTo>
                    <a:lnTo>
                      <a:pt x="4" y="0"/>
                    </a:lnTo>
                    <a:lnTo>
                      <a:pt x="0" y="9"/>
                    </a:lnTo>
                    <a:lnTo>
                      <a:pt x="12" y="16"/>
                    </a:lnTo>
                    <a:lnTo>
                      <a:pt x="16" y="9"/>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4" name="Freeform 547"/>
              <p:cNvSpPr>
                <a:spLocks noChangeAspect="1"/>
              </p:cNvSpPr>
              <p:nvPr/>
            </p:nvSpPr>
            <p:spPr bwMode="auto">
              <a:xfrm>
                <a:off x="529" y="3406"/>
                <a:ext cx="17" cy="17"/>
              </a:xfrm>
              <a:custGeom>
                <a:avLst/>
                <a:gdLst>
                  <a:gd name="T0" fmla="*/ 16 w 17"/>
                  <a:gd name="T1" fmla="*/ 9 h 17"/>
                  <a:gd name="T2" fmla="*/ 4 w 17"/>
                  <a:gd name="T3" fmla="*/ 0 h 17"/>
                  <a:gd name="T4" fmla="*/ 0 w 17"/>
                  <a:gd name="T5" fmla="*/ 6 h 17"/>
                  <a:gd name="T6" fmla="*/ 12 w 17"/>
                  <a:gd name="T7" fmla="*/ 16 h 17"/>
                  <a:gd name="T8" fmla="*/ 16 w 17"/>
                  <a:gd name="T9" fmla="*/ 9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9"/>
                    </a:moveTo>
                    <a:lnTo>
                      <a:pt x="4" y="0"/>
                    </a:lnTo>
                    <a:lnTo>
                      <a:pt x="0" y="6"/>
                    </a:lnTo>
                    <a:lnTo>
                      <a:pt x="12" y="16"/>
                    </a:lnTo>
                    <a:lnTo>
                      <a:pt x="16" y="9"/>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5" name="Freeform 548"/>
              <p:cNvSpPr>
                <a:spLocks noChangeAspect="1"/>
              </p:cNvSpPr>
              <p:nvPr/>
            </p:nvSpPr>
            <p:spPr bwMode="auto">
              <a:xfrm>
                <a:off x="526" y="3404"/>
                <a:ext cx="17" cy="17"/>
              </a:xfrm>
              <a:custGeom>
                <a:avLst/>
                <a:gdLst>
                  <a:gd name="T0" fmla="*/ 16 w 17"/>
                  <a:gd name="T1" fmla="*/ 0 h 17"/>
                  <a:gd name="T2" fmla="*/ 0 w 17"/>
                  <a:gd name="T3" fmla="*/ 16 h 17"/>
                  <a:gd name="T4" fmla="*/ 16 w 17"/>
                  <a:gd name="T5" fmla="*/ 0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0" y="16"/>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6" name="Freeform 549"/>
              <p:cNvSpPr>
                <a:spLocks noChangeAspect="1"/>
              </p:cNvSpPr>
              <p:nvPr/>
            </p:nvSpPr>
            <p:spPr bwMode="auto">
              <a:xfrm>
                <a:off x="521" y="3400"/>
                <a:ext cx="17" cy="17"/>
              </a:xfrm>
              <a:custGeom>
                <a:avLst/>
                <a:gdLst>
                  <a:gd name="T0" fmla="*/ 16 w 17"/>
                  <a:gd name="T1" fmla="*/ 0 h 17"/>
                  <a:gd name="T2" fmla="*/ 16 w 17"/>
                  <a:gd name="T3" fmla="*/ 16 h 17"/>
                  <a:gd name="T4" fmla="*/ 0 w 17"/>
                  <a:gd name="T5" fmla="*/ 16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16" y="16"/>
                    </a:lnTo>
                    <a:lnTo>
                      <a:pt x="0" y="16"/>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7" name="Freeform 550"/>
              <p:cNvSpPr>
                <a:spLocks noChangeAspect="1"/>
              </p:cNvSpPr>
              <p:nvPr/>
            </p:nvSpPr>
            <p:spPr bwMode="auto">
              <a:xfrm>
                <a:off x="521" y="3400"/>
                <a:ext cx="17" cy="17"/>
              </a:xfrm>
              <a:custGeom>
                <a:avLst/>
                <a:gdLst>
                  <a:gd name="T0" fmla="*/ 16 w 17"/>
                  <a:gd name="T1" fmla="*/ 12 h 17"/>
                  <a:gd name="T2" fmla="*/ 8 w 17"/>
                  <a:gd name="T3" fmla="*/ 0 h 17"/>
                  <a:gd name="T4" fmla="*/ 0 w 17"/>
                  <a:gd name="T5" fmla="*/ 4 h 17"/>
                  <a:gd name="T6" fmla="*/ 8 w 17"/>
                  <a:gd name="T7" fmla="*/ 16 h 17"/>
                  <a:gd name="T8" fmla="*/ 16 w 17"/>
                  <a:gd name="T9" fmla="*/ 12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2"/>
                    </a:moveTo>
                    <a:lnTo>
                      <a:pt x="8" y="0"/>
                    </a:lnTo>
                    <a:lnTo>
                      <a:pt x="0" y="4"/>
                    </a:lnTo>
                    <a:lnTo>
                      <a:pt x="8" y="16"/>
                    </a:lnTo>
                    <a:lnTo>
                      <a:pt x="16" y="12"/>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8" name="Freeform 551"/>
              <p:cNvSpPr>
                <a:spLocks noChangeAspect="1"/>
              </p:cNvSpPr>
              <p:nvPr/>
            </p:nvSpPr>
            <p:spPr bwMode="auto">
              <a:xfrm>
                <a:off x="522" y="3391"/>
                <a:ext cx="1" cy="17"/>
              </a:xfrm>
              <a:custGeom>
                <a:avLst/>
                <a:gdLst>
                  <a:gd name="T0" fmla="*/ 0 w 1"/>
                  <a:gd name="T1" fmla="*/ 0 h 17"/>
                  <a:gd name="T2" fmla="*/ 0 w 1"/>
                  <a:gd name="T3" fmla="*/ 16 h 17"/>
                  <a:gd name="T4" fmla="*/ 0 w 1"/>
                  <a:gd name="T5" fmla="*/ 14 h 17"/>
                  <a:gd name="T6" fmla="*/ 0 w 1"/>
                  <a:gd name="T7" fmla="*/ 0 h 17"/>
                  <a:gd name="T8" fmla="*/ 0 w 1"/>
                  <a:gd name="T9" fmla="*/ 0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0"/>
                    </a:moveTo>
                    <a:lnTo>
                      <a:pt x="0" y="16"/>
                    </a:lnTo>
                    <a:lnTo>
                      <a:pt x="0" y="14"/>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199" name="Freeform 552"/>
              <p:cNvSpPr>
                <a:spLocks noChangeAspect="1"/>
              </p:cNvSpPr>
              <p:nvPr/>
            </p:nvSpPr>
            <p:spPr bwMode="auto">
              <a:xfrm>
                <a:off x="519" y="3382"/>
                <a:ext cx="17" cy="17"/>
              </a:xfrm>
              <a:custGeom>
                <a:avLst/>
                <a:gdLst>
                  <a:gd name="T0" fmla="*/ 16 w 17"/>
                  <a:gd name="T1" fmla="*/ 0 h 17"/>
                  <a:gd name="T2" fmla="*/ 16 w 17"/>
                  <a:gd name="T3" fmla="*/ 2 h 17"/>
                  <a:gd name="T4" fmla="*/ 0 w 17"/>
                  <a:gd name="T5" fmla="*/ 16 h 17"/>
                  <a:gd name="T6" fmla="*/ 8 w 17"/>
                  <a:gd name="T7" fmla="*/ 2 h 17"/>
                  <a:gd name="T8" fmla="*/ 16 w 17"/>
                  <a:gd name="T9" fmla="*/ 2 h 17"/>
                  <a:gd name="T10" fmla="*/ 16 w 17"/>
                  <a:gd name="T11" fmla="*/ 0 h 17"/>
                  <a:gd name="T12" fmla="*/ 16 w 17"/>
                  <a:gd name="T13" fmla="*/ 2 h 17"/>
                  <a:gd name="T14" fmla="*/ 16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0"/>
                    </a:moveTo>
                    <a:lnTo>
                      <a:pt x="16" y="2"/>
                    </a:lnTo>
                    <a:lnTo>
                      <a:pt x="0" y="16"/>
                    </a:lnTo>
                    <a:lnTo>
                      <a:pt x="8" y="2"/>
                    </a:lnTo>
                    <a:lnTo>
                      <a:pt x="16" y="2"/>
                    </a:lnTo>
                    <a:lnTo>
                      <a:pt x="16" y="0"/>
                    </a:lnTo>
                    <a:lnTo>
                      <a:pt x="16" y="2"/>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0" name="Freeform 553"/>
              <p:cNvSpPr>
                <a:spLocks noChangeAspect="1"/>
              </p:cNvSpPr>
              <p:nvPr/>
            </p:nvSpPr>
            <p:spPr bwMode="auto">
              <a:xfrm>
                <a:off x="517" y="3380"/>
                <a:ext cx="17" cy="17"/>
              </a:xfrm>
              <a:custGeom>
                <a:avLst/>
                <a:gdLst>
                  <a:gd name="T0" fmla="*/ 16 w 17"/>
                  <a:gd name="T1" fmla="*/ 6 h 17"/>
                  <a:gd name="T2" fmla="*/ 8 w 17"/>
                  <a:gd name="T3" fmla="*/ 16 h 17"/>
                  <a:gd name="T4" fmla="*/ 16 w 17"/>
                  <a:gd name="T5" fmla="*/ 16 h 17"/>
                  <a:gd name="T6" fmla="*/ 16 w 17"/>
                  <a:gd name="T7" fmla="*/ 0 h 17"/>
                  <a:gd name="T8" fmla="*/ 8 w 17"/>
                  <a:gd name="T9" fmla="*/ 0 h 17"/>
                  <a:gd name="T10" fmla="*/ 0 w 17"/>
                  <a:gd name="T11" fmla="*/ 6 h 17"/>
                  <a:gd name="T12" fmla="*/ 8 w 17"/>
                  <a:gd name="T13" fmla="*/ 0 h 17"/>
                  <a:gd name="T14" fmla="*/ 0 w 17"/>
                  <a:gd name="T15" fmla="*/ 0 h 17"/>
                  <a:gd name="T16" fmla="*/ 0 w 17"/>
                  <a:gd name="T17" fmla="*/ 6 h 17"/>
                  <a:gd name="T18" fmla="*/ 16 w 17"/>
                  <a:gd name="T19" fmla="*/ 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6" y="6"/>
                    </a:moveTo>
                    <a:lnTo>
                      <a:pt x="8" y="16"/>
                    </a:lnTo>
                    <a:lnTo>
                      <a:pt x="16" y="16"/>
                    </a:lnTo>
                    <a:lnTo>
                      <a:pt x="16" y="0"/>
                    </a:lnTo>
                    <a:lnTo>
                      <a:pt x="8" y="0"/>
                    </a:lnTo>
                    <a:lnTo>
                      <a:pt x="0" y="6"/>
                    </a:lnTo>
                    <a:lnTo>
                      <a:pt x="8" y="0"/>
                    </a:lnTo>
                    <a:lnTo>
                      <a:pt x="0" y="0"/>
                    </a:lnTo>
                    <a:lnTo>
                      <a:pt x="0" y="6"/>
                    </a:lnTo>
                    <a:lnTo>
                      <a:pt x="16" y="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1" name="Freeform 554"/>
              <p:cNvSpPr>
                <a:spLocks noChangeAspect="1"/>
              </p:cNvSpPr>
              <p:nvPr/>
            </p:nvSpPr>
            <p:spPr bwMode="auto">
              <a:xfrm>
                <a:off x="517" y="3379"/>
                <a:ext cx="17" cy="17"/>
              </a:xfrm>
              <a:custGeom>
                <a:avLst/>
                <a:gdLst>
                  <a:gd name="T0" fmla="*/ 16 w 17"/>
                  <a:gd name="T1" fmla="*/ 16 h 17"/>
                  <a:gd name="T2" fmla="*/ 16 w 17"/>
                  <a:gd name="T3" fmla="*/ 0 h 17"/>
                  <a:gd name="T4" fmla="*/ 0 w 17"/>
                  <a:gd name="T5" fmla="*/ 0 h 17"/>
                  <a:gd name="T6" fmla="*/ 0 w 17"/>
                  <a:gd name="T7" fmla="*/ 1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16" y="0"/>
                    </a:lnTo>
                    <a:lnTo>
                      <a:pt x="0" y="0"/>
                    </a:lnTo>
                    <a:lnTo>
                      <a:pt x="0" y="16"/>
                    </a:lnTo>
                    <a:lnTo>
                      <a:pt x="1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2" name="Freeform 555"/>
              <p:cNvSpPr>
                <a:spLocks noChangeAspect="1"/>
              </p:cNvSpPr>
              <p:nvPr/>
            </p:nvSpPr>
            <p:spPr bwMode="auto">
              <a:xfrm>
                <a:off x="517" y="3375"/>
                <a:ext cx="17" cy="17"/>
              </a:xfrm>
              <a:custGeom>
                <a:avLst/>
                <a:gdLst>
                  <a:gd name="T0" fmla="*/ 16 w 17"/>
                  <a:gd name="T1" fmla="*/ 0 h 17"/>
                  <a:gd name="T2" fmla="*/ 16 w 17"/>
                  <a:gd name="T3" fmla="*/ 16 h 17"/>
                  <a:gd name="T4" fmla="*/ 0 w 17"/>
                  <a:gd name="T5" fmla="*/ 16 h 17"/>
                  <a:gd name="T6" fmla="*/ 0 w 17"/>
                  <a:gd name="T7" fmla="*/ 0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16" y="16"/>
                    </a:lnTo>
                    <a:lnTo>
                      <a:pt x="0" y="16"/>
                    </a:lnTo>
                    <a:lnTo>
                      <a:pt x="0" y="0"/>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3" name="Freeform 556"/>
              <p:cNvSpPr>
                <a:spLocks noChangeAspect="1"/>
              </p:cNvSpPr>
              <p:nvPr/>
            </p:nvSpPr>
            <p:spPr bwMode="auto">
              <a:xfrm>
                <a:off x="519" y="3367"/>
                <a:ext cx="17" cy="17"/>
              </a:xfrm>
              <a:custGeom>
                <a:avLst/>
                <a:gdLst>
                  <a:gd name="T0" fmla="*/ 5 w 17"/>
                  <a:gd name="T1" fmla="*/ 6 h 17"/>
                  <a:gd name="T2" fmla="*/ 5 w 17"/>
                  <a:gd name="T3" fmla="*/ 4 h 17"/>
                  <a:gd name="T4" fmla="*/ 16 w 17"/>
                  <a:gd name="T5" fmla="*/ 16 h 17"/>
                  <a:gd name="T6" fmla="*/ 5 w 17"/>
                  <a:gd name="T7" fmla="*/ 16 h 17"/>
                  <a:gd name="T8" fmla="*/ 5 w 17"/>
                  <a:gd name="T9" fmla="*/ 6 h 17"/>
                  <a:gd name="T10" fmla="*/ 5 w 17"/>
                  <a:gd name="T11" fmla="*/ 4 h 17"/>
                  <a:gd name="T12" fmla="*/ 5 w 17"/>
                  <a:gd name="T13" fmla="*/ 6 h 17"/>
                  <a:gd name="T14" fmla="*/ 0 w 17"/>
                  <a:gd name="T15" fmla="*/ 0 h 17"/>
                  <a:gd name="T16" fmla="*/ 5 w 17"/>
                  <a:gd name="T17" fmla="*/ 4 h 17"/>
                  <a:gd name="T18" fmla="*/ 5 w 17"/>
                  <a:gd name="T19" fmla="*/ 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5" y="6"/>
                    </a:moveTo>
                    <a:lnTo>
                      <a:pt x="5" y="4"/>
                    </a:lnTo>
                    <a:lnTo>
                      <a:pt x="16" y="16"/>
                    </a:lnTo>
                    <a:lnTo>
                      <a:pt x="5" y="16"/>
                    </a:lnTo>
                    <a:lnTo>
                      <a:pt x="5" y="6"/>
                    </a:lnTo>
                    <a:lnTo>
                      <a:pt x="5" y="4"/>
                    </a:lnTo>
                    <a:lnTo>
                      <a:pt x="5" y="6"/>
                    </a:lnTo>
                    <a:lnTo>
                      <a:pt x="0" y="0"/>
                    </a:lnTo>
                    <a:lnTo>
                      <a:pt x="5" y="4"/>
                    </a:lnTo>
                    <a:lnTo>
                      <a:pt x="5" y="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4" name="Freeform 557"/>
              <p:cNvSpPr>
                <a:spLocks noChangeAspect="1"/>
              </p:cNvSpPr>
              <p:nvPr/>
            </p:nvSpPr>
            <p:spPr bwMode="auto">
              <a:xfrm>
                <a:off x="518" y="3367"/>
                <a:ext cx="17" cy="17"/>
              </a:xfrm>
              <a:custGeom>
                <a:avLst/>
                <a:gdLst>
                  <a:gd name="T0" fmla="*/ 16 w 17"/>
                  <a:gd name="T1" fmla="*/ 4 h 17"/>
                  <a:gd name="T2" fmla="*/ 0 w 17"/>
                  <a:gd name="T3" fmla="*/ 4 h 17"/>
                  <a:gd name="T4" fmla="*/ 0 w 17"/>
                  <a:gd name="T5" fmla="*/ 12 h 17"/>
                  <a:gd name="T6" fmla="*/ 6 w 17"/>
                  <a:gd name="T7" fmla="*/ 16 h 17"/>
                  <a:gd name="T8" fmla="*/ 16 w 17"/>
                  <a:gd name="T9" fmla="*/ 12 h 17"/>
                  <a:gd name="T10" fmla="*/ 0 w 17"/>
                  <a:gd name="T11" fmla="*/ 12 h 17"/>
                  <a:gd name="T12" fmla="*/ 16 w 17"/>
                  <a:gd name="T13" fmla="*/ 4 h 17"/>
                  <a:gd name="T14" fmla="*/ 6 w 17"/>
                  <a:gd name="T15" fmla="*/ 0 h 17"/>
                  <a:gd name="T16" fmla="*/ 6 w 17"/>
                  <a:gd name="T17" fmla="*/ 4 h 17"/>
                  <a:gd name="T18" fmla="*/ 16 w 17"/>
                  <a:gd name="T19" fmla="*/ 4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6" y="4"/>
                    </a:moveTo>
                    <a:lnTo>
                      <a:pt x="0" y="4"/>
                    </a:lnTo>
                    <a:lnTo>
                      <a:pt x="0" y="12"/>
                    </a:lnTo>
                    <a:lnTo>
                      <a:pt x="6" y="16"/>
                    </a:lnTo>
                    <a:lnTo>
                      <a:pt x="16" y="12"/>
                    </a:lnTo>
                    <a:lnTo>
                      <a:pt x="0" y="12"/>
                    </a:lnTo>
                    <a:lnTo>
                      <a:pt x="16" y="4"/>
                    </a:lnTo>
                    <a:lnTo>
                      <a:pt x="6" y="0"/>
                    </a:lnTo>
                    <a:lnTo>
                      <a:pt x="6" y="4"/>
                    </a:lnTo>
                    <a:lnTo>
                      <a:pt x="16"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5" name="Freeform 558"/>
              <p:cNvSpPr>
                <a:spLocks noChangeAspect="1"/>
              </p:cNvSpPr>
              <p:nvPr/>
            </p:nvSpPr>
            <p:spPr bwMode="auto">
              <a:xfrm>
                <a:off x="518" y="3366"/>
                <a:ext cx="17" cy="17"/>
              </a:xfrm>
              <a:custGeom>
                <a:avLst/>
                <a:gdLst>
                  <a:gd name="T0" fmla="*/ 16 w 17"/>
                  <a:gd name="T1" fmla="*/ 10 h 17"/>
                  <a:gd name="T2" fmla="*/ 9 w 17"/>
                  <a:gd name="T3" fmla="*/ 0 h 17"/>
                  <a:gd name="T4" fmla="*/ 0 w 17"/>
                  <a:gd name="T5" fmla="*/ 5 h 17"/>
                  <a:gd name="T6" fmla="*/ 6 w 17"/>
                  <a:gd name="T7" fmla="*/ 16 h 17"/>
                  <a:gd name="T8" fmla="*/ 6 w 17"/>
                  <a:gd name="T9" fmla="*/ 10 h 17"/>
                  <a:gd name="T10" fmla="*/ 16 w 17"/>
                  <a:gd name="T11" fmla="*/ 1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10"/>
                    </a:moveTo>
                    <a:lnTo>
                      <a:pt x="9" y="0"/>
                    </a:lnTo>
                    <a:lnTo>
                      <a:pt x="0" y="5"/>
                    </a:lnTo>
                    <a:lnTo>
                      <a:pt x="6" y="16"/>
                    </a:lnTo>
                    <a:lnTo>
                      <a:pt x="6" y="10"/>
                    </a:lnTo>
                    <a:lnTo>
                      <a:pt x="16" y="1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6" name="Freeform 559"/>
              <p:cNvSpPr>
                <a:spLocks noChangeAspect="1"/>
              </p:cNvSpPr>
              <p:nvPr/>
            </p:nvSpPr>
            <p:spPr bwMode="auto">
              <a:xfrm>
                <a:off x="519" y="3357"/>
                <a:ext cx="17" cy="17"/>
              </a:xfrm>
              <a:custGeom>
                <a:avLst/>
                <a:gdLst>
                  <a:gd name="T0" fmla="*/ 5 w 17"/>
                  <a:gd name="T1" fmla="*/ 0 h 17"/>
                  <a:gd name="T2" fmla="*/ 16 w 17"/>
                  <a:gd name="T3" fmla="*/ 16 h 17"/>
                  <a:gd name="T4" fmla="*/ 5 w 17"/>
                  <a:gd name="T5" fmla="*/ 16 h 17"/>
                  <a:gd name="T6" fmla="*/ 0 w 17"/>
                  <a:gd name="T7" fmla="*/ 0 h 17"/>
                  <a:gd name="T8" fmla="*/ 5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5" y="0"/>
                    </a:moveTo>
                    <a:lnTo>
                      <a:pt x="16" y="16"/>
                    </a:lnTo>
                    <a:lnTo>
                      <a:pt x="5" y="16"/>
                    </a:lnTo>
                    <a:lnTo>
                      <a:pt x="0" y="0"/>
                    </a:lnTo>
                    <a:lnTo>
                      <a:pt x="5"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7" name="Freeform 560"/>
              <p:cNvSpPr>
                <a:spLocks noChangeAspect="1"/>
              </p:cNvSpPr>
              <p:nvPr/>
            </p:nvSpPr>
            <p:spPr bwMode="auto">
              <a:xfrm>
                <a:off x="521" y="3342"/>
                <a:ext cx="17" cy="17"/>
              </a:xfrm>
              <a:custGeom>
                <a:avLst/>
                <a:gdLst>
                  <a:gd name="T0" fmla="*/ 16 w 17"/>
                  <a:gd name="T1" fmla="*/ 0 h 17"/>
                  <a:gd name="T2" fmla="*/ 0 w 17"/>
                  <a:gd name="T3" fmla="*/ 16 h 17"/>
                  <a:gd name="T4" fmla="*/ 16 w 17"/>
                  <a:gd name="T5" fmla="*/ 0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0" y="16"/>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8" name="Freeform 561"/>
              <p:cNvSpPr>
                <a:spLocks noChangeAspect="1"/>
              </p:cNvSpPr>
              <p:nvPr/>
            </p:nvSpPr>
            <p:spPr bwMode="auto">
              <a:xfrm>
                <a:off x="528" y="3335"/>
                <a:ext cx="1" cy="17"/>
              </a:xfrm>
              <a:custGeom>
                <a:avLst/>
                <a:gdLst>
                  <a:gd name="T0" fmla="*/ 0 w 1"/>
                  <a:gd name="T1" fmla="*/ 0 h 17"/>
                  <a:gd name="T2" fmla="*/ 0 w 1"/>
                  <a:gd name="T3" fmla="*/ 16 h 17"/>
                  <a:gd name="T4" fmla="*/ 0 w 1"/>
                  <a:gd name="T5" fmla="*/ 2 h 17"/>
                  <a:gd name="T6" fmla="*/ 0 w 1"/>
                  <a:gd name="T7" fmla="*/ 0 h 17"/>
                  <a:gd name="T8" fmla="*/ 0 60000 65536"/>
                  <a:gd name="T9" fmla="*/ 0 60000 65536"/>
                  <a:gd name="T10" fmla="*/ 0 60000 65536"/>
                  <a:gd name="T11" fmla="*/ 0 60000 65536"/>
                  <a:gd name="T12" fmla="*/ 0 w 1"/>
                  <a:gd name="T13" fmla="*/ 0 h 17"/>
                  <a:gd name="T14" fmla="*/ 1 w 1"/>
                  <a:gd name="T15" fmla="*/ 17 h 17"/>
                </a:gdLst>
                <a:ahLst/>
                <a:cxnLst>
                  <a:cxn ang="T8">
                    <a:pos x="T0" y="T1"/>
                  </a:cxn>
                  <a:cxn ang="T9">
                    <a:pos x="T2" y="T3"/>
                  </a:cxn>
                  <a:cxn ang="T10">
                    <a:pos x="T4" y="T5"/>
                  </a:cxn>
                  <a:cxn ang="T11">
                    <a:pos x="T6" y="T7"/>
                  </a:cxn>
                </a:cxnLst>
                <a:rect l="T12" t="T13" r="T14" b="T15"/>
                <a:pathLst>
                  <a:path w="1" h="17">
                    <a:moveTo>
                      <a:pt x="0" y="0"/>
                    </a:moveTo>
                    <a:lnTo>
                      <a:pt x="0" y="16"/>
                    </a:lnTo>
                    <a:lnTo>
                      <a:pt x="0" y="2"/>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09" name="Freeform 562"/>
              <p:cNvSpPr>
                <a:spLocks noChangeAspect="1"/>
              </p:cNvSpPr>
              <p:nvPr/>
            </p:nvSpPr>
            <p:spPr bwMode="auto">
              <a:xfrm>
                <a:off x="530" y="3327"/>
                <a:ext cx="17" cy="17"/>
              </a:xfrm>
              <a:custGeom>
                <a:avLst/>
                <a:gdLst>
                  <a:gd name="T0" fmla="*/ 16 w 17"/>
                  <a:gd name="T1" fmla="*/ 0 h 17"/>
                  <a:gd name="T2" fmla="*/ 0 w 17"/>
                  <a:gd name="T3" fmla="*/ 13 h 17"/>
                  <a:gd name="T4" fmla="*/ 0 w 17"/>
                  <a:gd name="T5" fmla="*/ 16 h 17"/>
                  <a:gd name="T6" fmla="*/ 16 w 17"/>
                  <a:gd name="T7" fmla="*/ 2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0" y="13"/>
                    </a:lnTo>
                    <a:lnTo>
                      <a:pt x="0" y="16"/>
                    </a:lnTo>
                    <a:lnTo>
                      <a:pt x="16" y="2"/>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0" name="Freeform 563"/>
              <p:cNvSpPr>
                <a:spLocks noChangeAspect="1"/>
              </p:cNvSpPr>
              <p:nvPr/>
            </p:nvSpPr>
            <p:spPr bwMode="auto">
              <a:xfrm>
                <a:off x="536" y="3321"/>
                <a:ext cx="17" cy="17"/>
              </a:xfrm>
              <a:custGeom>
                <a:avLst/>
                <a:gdLst>
                  <a:gd name="T0" fmla="*/ 10 w 17"/>
                  <a:gd name="T1" fmla="*/ 3 h 17"/>
                  <a:gd name="T2" fmla="*/ 16 w 17"/>
                  <a:gd name="T3" fmla="*/ 0 h 17"/>
                  <a:gd name="T4" fmla="*/ 0 w 17"/>
                  <a:gd name="T5" fmla="*/ 12 h 17"/>
                  <a:gd name="T6" fmla="*/ 0 w 17"/>
                  <a:gd name="T7" fmla="*/ 16 h 17"/>
                  <a:gd name="T8" fmla="*/ 16 w 17"/>
                  <a:gd name="T9" fmla="*/ 3 h 17"/>
                  <a:gd name="T10" fmla="*/ 10 w 17"/>
                  <a:gd name="T11" fmla="*/ 3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0" y="3"/>
                    </a:moveTo>
                    <a:lnTo>
                      <a:pt x="16" y="0"/>
                    </a:lnTo>
                    <a:lnTo>
                      <a:pt x="0" y="12"/>
                    </a:lnTo>
                    <a:lnTo>
                      <a:pt x="0" y="16"/>
                    </a:lnTo>
                    <a:lnTo>
                      <a:pt x="16" y="3"/>
                    </a:lnTo>
                    <a:lnTo>
                      <a:pt x="10" y="3"/>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1" name="Freeform 564"/>
              <p:cNvSpPr>
                <a:spLocks noChangeAspect="1"/>
              </p:cNvSpPr>
              <p:nvPr/>
            </p:nvSpPr>
            <p:spPr bwMode="auto">
              <a:xfrm>
                <a:off x="538" y="3318"/>
                <a:ext cx="17" cy="17"/>
              </a:xfrm>
              <a:custGeom>
                <a:avLst/>
                <a:gdLst>
                  <a:gd name="T0" fmla="*/ 6 w 17"/>
                  <a:gd name="T1" fmla="*/ 16 h 17"/>
                  <a:gd name="T2" fmla="*/ 16 w 17"/>
                  <a:gd name="T3" fmla="*/ 9 h 17"/>
                  <a:gd name="T4" fmla="*/ 16 w 17"/>
                  <a:gd name="T5" fmla="*/ 0 h 17"/>
                  <a:gd name="T6" fmla="*/ 0 w 17"/>
                  <a:gd name="T7" fmla="*/ 0 h 17"/>
                  <a:gd name="T8" fmla="*/ 0 w 17"/>
                  <a:gd name="T9" fmla="*/ 9 h 17"/>
                  <a:gd name="T10" fmla="*/ 6 w 17"/>
                  <a:gd name="T11" fmla="*/ 6 h 17"/>
                  <a:gd name="T12" fmla="*/ 6 w 17"/>
                  <a:gd name="T13" fmla="*/ 16 h 17"/>
                  <a:gd name="T14" fmla="*/ 16 w 17"/>
                  <a:gd name="T15" fmla="*/ 9 h 17"/>
                  <a:gd name="T16" fmla="*/ 6 w 17"/>
                  <a:gd name="T17" fmla="*/ 1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6" y="16"/>
                    </a:moveTo>
                    <a:lnTo>
                      <a:pt x="16" y="9"/>
                    </a:lnTo>
                    <a:lnTo>
                      <a:pt x="16" y="0"/>
                    </a:lnTo>
                    <a:lnTo>
                      <a:pt x="0" y="0"/>
                    </a:lnTo>
                    <a:lnTo>
                      <a:pt x="0" y="9"/>
                    </a:lnTo>
                    <a:lnTo>
                      <a:pt x="6" y="6"/>
                    </a:lnTo>
                    <a:lnTo>
                      <a:pt x="6" y="16"/>
                    </a:lnTo>
                    <a:lnTo>
                      <a:pt x="16" y="9"/>
                    </a:lnTo>
                    <a:lnTo>
                      <a:pt x="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2" name="Freeform 565"/>
              <p:cNvSpPr>
                <a:spLocks noChangeAspect="1"/>
              </p:cNvSpPr>
              <p:nvPr/>
            </p:nvSpPr>
            <p:spPr bwMode="auto">
              <a:xfrm>
                <a:off x="540" y="3314"/>
                <a:ext cx="17" cy="17"/>
              </a:xfrm>
              <a:custGeom>
                <a:avLst/>
                <a:gdLst>
                  <a:gd name="T0" fmla="*/ 16 w 17"/>
                  <a:gd name="T1" fmla="*/ 0 h 17"/>
                  <a:gd name="T2" fmla="*/ 14 w 17"/>
                  <a:gd name="T3" fmla="*/ 0 h 17"/>
                  <a:gd name="T4" fmla="*/ 0 w 17"/>
                  <a:gd name="T5" fmla="*/ 12 h 17"/>
                  <a:gd name="T6" fmla="*/ 0 w 17"/>
                  <a:gd name="T7" fmla="*/ 16 h 17"/>
                  <a:gd name="T8" fmla="*/ 16 w 17"/>
                  <a:gd name="T9" fmla="*/ 2 h 17"/>
                  <a:gd name="T10" fmla="*/ 16 w 17"/>
                  <a:gd name="T11" fmla="*/ 0 h 17"/>
                  <a:gd name="T12" fmla="*/ 14 w 17"/>
                  <a:gd name="T13" fmla="*/ 0 h 17"/>
                  <a:gd name="T14" fmla="*/ 16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0"/>
                    </a:moveTo>
                    <a:lnTo>
                      <a:pt x="14" y="0"/>
                    </a:lnTo>
                    <a:lnTo>
                      <a:pt x="0" y="12"/>
                    </a:lnTo>
                    <a:lnTo>
                      <a:pt x="0" y="16"/>
                    </a:lnTo>
                    <a:lnTo>
                      <a:pt x="16" y="2"/>
                    </a:lnTo>
                    <a:lnTo>
                      <a:pt x="16" y="0"/>
                    </a:lnTo>
                    <a:lnTo>
                      <a:pt x="14" y="0"/>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3" name="Freeform 566"/>
              <p:cNvSpPr>
                <a:spLocks noChangeAspect="1"/>
              </p:cNvSpPr>
              <p:nvPr/>
            </p:nvSpPr>
            <p:spPr bwMode="auto">
              <a:xfrm>
                <a:off x="550" y="3310"/>
                <a:ext cx="17" cy="17"/>
              </a:xfrm>
              <a:custGeom>
                <a:avLst/>
                <a:gdLst>
                  <a:gd name="T0" fmla="*/ 13 w 17"/>
                  <a:gd name="T1" fmla="*/ 16 h 17"/>
                  <a:gd name="T2" fmla="*/ 0 w 17"/>
                  <a:gd name="T3" fmla="*/ 8 h 17"/>
                  <a:gd name="T4" fmla="*/ 0 w 17"/>
                  <a:gd name="T5" fmla="*/ 0 h 17"/>
                  <a:gd name="T6" fmla="*/ 13 w 17"/>
                  <a:gd name="T7" fmla="*/ 8 h 17"/>
                  <a:gd name="T8" fmla="*/ 16 w 17"/>
                  <a:gd name="T9" fmla="*/ 8 h 17"/>
                  <a:gd name="T10" fmla="*/ 13 w 17"/>
                  <a:gd name="T11" fmla="*/ 8 h 17"/>
                  <a:gd name="T12" fmla="*/ 16 w 17"/>
                  <a:gd name="T13" fmla="*/ 8 h 17"/>
                  <a:gd name="T14" fmla="*/ 13 w 17"/>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3" y="16"/>
                    </a:moveTo>
                    <a:lnTo>
                      <a:pt x="0" y="8"/>
                    </a:lnTo>
                    <a:lnTo>
                      <a:pt x="0" y="0"/>
                    </a:lnTo>
                    <a:lnTo>
                      <a:pt x="13" y="8"/>
                    </a:lnTo>
                    <a:lnTo>
                      <a:pt x="16" y="8"/>
                    </a:lnTo>
                    <a:lnTo>
                      <a:pt x="13" y="8"/>
                    </a:lnTo>
                    <a:lnTo>
                      <a:pt x="16" y="8"/>
                    </a:lnTo>
                    <a:lnTo>
                      <a:pt x="13"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4" name="Freeform 567"/>
              <p:cNvSpPr>
                <a:spLocks noChangeAspect="1"/>
              </p:cNvSpPr>
              <p:nvPr/>
            </p:nvSpPr>
            <p:spPr bwMode="auto">
              <a:xfrm>
                <a:off x="554" y="3309"/>
                <a:ext cx="17" cy="17"/>
              </a:xfrm>
              <a:custGeom>
                <a:avLst/>
                <a:gdLst>
                  <a:gd name="T0" fmla="*/ 0 w 17"/>
                  <a:gd name="T1" fmla="*/ 16 h 17"/>
                  <a:gd name="T2" fmla="*/ 16 w 17"/>
                  <a:gd name="T3" fmla="*/ 8 h 17"/>
                  <a:gd name="T4" fmla="*/ 0 w 17"/>
                  <a:gd name="T5" fmla="*/ 0 h 17"/>
                  <a:gd name="T6" fmla="*/ 0 w 17"/>
                  <a:gd name="T7" fmla="*/ 8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16" y="8"/>
                    </a:lnTo>
                    <a:lnTo>
                      <a:pt x="0" y="0"/>
                    </a:lnTo>
                    <a:lnTo>
                      <a:pt x="0" y="8"/>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5" name="Freeform 568"/>
              <p:cNvSpPr>
                <a:spLocks noChangeAspect="1"/>
              </p:cNvSpPr>
              <p:nvPr/>
            </p:nvSpPr>
            <p:spPr bwMode="auto">
              <a:xfrm>
                <a:off x="557" y="3309"/>
                <a:ext cx="17" cy="17"/>
              </a:xfrm>
              <a:custGeom>
                <a:avLst/>
                <a:gdLst>
                  <a:gd name="T0" fmla="*/ 16 w 17"/>
                  <a:gd name="T1" fmla="*/ 16 h 17"/>
                  <a:gd name="T2" fmla="*/ 0 w 17"/>
                  <a:gd name="T3" fmla="*/ 6 h 17"/>
                  <a:gd name="T4" fmla="*/ 0 w 17"/>
                  <a:gd name="T5" fmla="*/ 0 h 17"/>
                  <a:gd name="T6" fmla="*/ 16 w 17"/>
                  <a:gd name="T7" fmla="*/ 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0" y="6"/>
                    </a:lnTo>
                    <a:lnTo>
                      <a:pt x="0" y="0"/>
                    </a:lnTo>
                    <a:lnTo>
                      <a:pt x="16" y="6"/>
                    </a:lnTo>
                    <a:lnTo>
                      <a:pt x="1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6" name="Freeform 569"/>
              <p:cNvSpPr>
                <a:spLocks noChangeAspect="1"/>
              </p:cNvSpPr>
              <p:nvPr/>
            </p:nvSpPr>
            <p:spPr bwMode="auto">
              <a:xfrm>
                <a:off x="565" y="3310"/>
                <a:ext cx="1" cy="17"/>
              </a:xfrm>
              <a:custGeom>
                <a:avLst/>
                <a:gdLst>
                  <a:gd name="T0" fmla="*/ 0 w 1"/>
                  <a:gd name="T1" fmla="*/ 4 h 17"/>
                  <a:gd name="T2" fmla="*/ 0 w 1"/>
                  <a:gd name="T3" fmla="*/ 16 h 17"/>
                  <a:gd name="T4" fmla="*/ 0 w 1"/>
                  <a:gd name="T5" fmla="*/ 12 h 17"/>
                  <a:gd name="T6" fmla="*/ 0 w 1"/>
                  <a:gd name="T7" fmla="*/ 0 h 17"/>
                  <a:gd name="T8" fmla="*/ 0 w 1"/>
                  <a:gd name="T9" fmla="*/ 4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4"/>
                    </a:moveTo>
                    <a:lnTo>
                      <a:pt x="0" y="16"/>
                    </a:lnTo>
                    <a:lnTo>
                      <a:pt x="0" y="12"/>
                    </a:lnTo>
                    <a:lnTo>
                      <a:pt x="0" y="0"/>
                    </a:lnTo>
                    <a:lnTo>
                      <a:pt x="0"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7" name="Freeform 570"/>
              <p:cNvSpPr>
                <a:spLocks noChangeAspect="1"/>
              </p:cNvSpPr>
              <p:nvPr/>
            </p:nvSpPr>
            <p:spPr bwMode="auto">
              <a:xfrm>
                <a:off x="568" y="3314"/>
                <a:ext cx="17" cy="17"/>
              </a:xfrm>
              <a:custGeom>
                <a:avLst/>
                <a:gdLst>
                  <a:gd name="T0" fmla="*/ 15 w 17"/>
                  <a:gd name="T1" fmla="*/ 8 h 17"/>
                  <a:gd name="T2" fmla="*/ 16 w 17"/>
                  <a:gd name="T3" fmla="*/ 8 h 17"/>
                  <a:gd name="T4" fmla="*/ 0 w 17"/>
                  <a:gd name="T5" fmla="*/ 0 h 17"/>
                  <a:gd name="T6" fmla="*/ 16 w 17"/>
                  <a:gd name="T7" fmla="*/ 16 h 17"/>
                  <a:gd name="T8" fmla="*/ 15 w 17"/>
                  <a:gd name="T9" fmla="*/ 8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5" y="8"/>
                    </a:moveTo>
                    <a:lnTo>
                      <a:pt x="16" y="8"/>
                    </a:lnTo>
                    <a:lnTo>
                      <a:pt x="0" y="0"/>
                    </a:lnTo>
                    <a:lnTo>
                      <a:pt x="16" y="16"/>
                    </a:lnTo>
                    <a:lnTo>
                      <a:pt x="15" y="8"/>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8" name="Freeform 571"/>
              <p:cNvSpPr>
                <a:spLocks noChangeAspect="1"/>
              </p:cNvSpPr>
              <p:nvPr/>
            </p:nvSpPr>
            <p:spPr bwMode="auto">
              <a:xfrm>
                <a:off x="584" y="3309"/>
                <a:ext cx="18" cy="17"/>
              </a:xfrm>
              <a:custGeom>
                <a:avLst/>
                <a:gdLst>
                  <a:gd name="T0" fmla="*/ 17 w 18"/>
                  <a:gd name="T1" fmla="*/ 0 h 17"/>
                  <a:gd name="T2" fmla="*/ 0 w 18"/>
                  <a:gd name="T3" fmla="*/ 13 h 17"/>
                  <a:gd name="T4" fmla="*/ 0 w 18"/>
                  <a:gd name="T5" fmla="*/ 16 h 17"/>
                  <a:gd name="T6" fmla="*/ 17 w 18"/>
                  <a:gd name="T7" fmla="*/ 2 h 17"/>
                  <a:gd name="T8" fmla="*/ 17 w 18"/>
                  <a:gd name="T9" fmla="*/ 0 h 17"/>
                  <a:gd name="T10" fmla="*/ 0 60000 65536"/>
                  <a:gd name="T11" fmla="*/ 0 60000 65536"/>
                  <a:gd name="T12" fmla="*/ 0 60000 65536"/>
                  <a:gd name="T13" fmla="*/ 0 60000 65536"/>
                  <a:gd name="T14" fmla="*/ 0 60000 65536"/>
                  <a:gd name="T15" fmla="*/ 0 w 18"/>
                  <a:gd name="T16" fmla="*/ 0 h 17"/>
                  <a:gd name="T17" fmla="*/ 18 w 18"/>
                  <a:gd name="T18" fmla="*/ 17 h 17"/>
                </a:gdLst>
                <a:ahLst/>
                <a:cxnLst>
                  <a:cxn ang="T10">
                    <a:pos x="T0" y="T1"/>
                  </a:cxn>
                  <a:cxn ang="T11">
                    <a:pos x="T2" y="T3"/>
                  </a:cxn>
                  <a:cxn ang="T12">
                    <a:pos x="T4" y="T5"/>
                  </a:cxn>
                  <a:cxn ang="T13">
                    <a:pos x="T6" y="T7"/>
                  </a:cxn>
                  <a:cxn ang="T14">
                    <a:pos x="T8" y="T9"/>
                  </a:cxn>
                </a:cxnLst>
                <a:rect l="T15" t="T16" r="T17" b="T18"/>
                <a:pathLst>
                  <a:path w="18" h="17">
                    <a:moveTo>
                      <a:pt x="17" y="0"/>
                    </a:moveTo>
                    <a:lnTo>
                      <a:pt x="0" y="13"/>
                    </a:lnTo>
                    <a:lnTo>
                      <a:pt x="0" y="16"/>
                    </a:lnTo>
                    <a:lnTo>
                      <a:pt x="17" y="2"/>
                    </a:lnTo>
                    <a:lnTo>
                      <a:pt x="17"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19" name="Freeform 572"/>
              <p:cNvSpPr>
                <a:spLocks noChangeAspect="1"/>
              </p:cNvSpPr>
              <p:nvPr/>
            </p:nvSpPr>
            <p:spPr bwMode="auto">
              <a:xfrm>
                <a:off x="606" y="3307"/>
                <a:ext cx="17" cy="17"/>
              </a:xfrm>
              <a:custGeom>
                <a:avLst/>
                <a:gdLst>
                  <a:gd name="T0" fmla="*/ 16 w 17"/>
                  <a:gd name="T1" fmla="*/ 16 h 17"/>
                  <a:gd name="T2" fmla="*/ 0 w 17"/>
                  <a:gd name="T3" fmla="*/ 5 h 17"/>
                  <a:gd name="T4" fmla="*/ 0 w 17"/>
                  <a:gd name="T5" fmla="*/ 0 h 17"/>
                  <a:gd name="T6" fmla="*/ 16 w 17"/>
                  <a:gd name="T7" fmla="*/ 5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0" y="5"/>
                    </a:lnTo>
                    <a:lnTo>
                      <a:pt x="0" y="0"/>
                    </a:lnTo>
                    <a:lnTo>
                      <a:pt x="16" y="5"/>
                    </a:lnTo>
                    <a:lnTo>
                      <a:pt x="1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0" name="Freeform 573"/>
              <p:cNvSpPr>
                <a:spLocks noChangeAspect="1"/>
              </p:cNvSpPr>
              <p:nvPr/>
            </p:nvSpPr>
            <p:spPr bwMode="auto">
              <a:xfrm>
                <a:off x="619" y="3306"/>
                <a:ext cx="1" cy="17"/>
              </a:xfrm>
              <a:custGeom>
                <a:avLst/>
                <a:gdLst>
                  <a:gd name="T0" fmla="*/ 0 w 1"/>
                  <a:gd name="T1" fmla="*/ 9 h 17"/>
                  <a:gd name="T2" fmla="*/ 0 w 1"/>
                  <a:gd name="T3" fmla="*/ 16 h 17"/>
                  <a:gd name="T4" fmla="*/ 0 w 1"/>
                  <a:gd name="T5" fmla="*/ 6 h 17"/>
                  <a:gd name="T6" fmla="*/ 0 w 1"/>
                  <a:gd name="T7" fmla="*/ 0 h 17"/>
                  <a:gd name="T8" fmla="*/ 0 w 1"/>
                  <a:gd name="T9" fmla="*/ 9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9"/>
                    </a:moveTo>
                    <a:lnTo>
                      <a:pt x="0" y="16"/>
                    </a:lnTo>
                    <a:lnTo>
                      <a:pt x="0" y="6"/>
                    </a:lnTo>
                    <a:lnTo>
                      <a:pt x="0" y="0"/>
                    </a:lnTo>
                    <a:lnTo>
                      <a:pt x="0" y="9"/>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1" name="Freeform 574"/>
              <p:cNvSpPr>
                <a:spLocks noChangeAspect="1"/>
              </p:cNvSpPr>
              <p:nvPr/>
            </p:nvSpPr>
            <p:spPr bwMode="auto">
              <a:xfrm>
                <a:off x="621" y="3309"/>
                <a:ext cx="17" cy="1"/>
              </a:xfrm>
              <a:custGeom>
                <a:avLst/>
                <a:gdLst>
                  <a:gd name="T0" fmla="*/ 16 w 17"/>
                  <a:gd name="T1" fmla="*/ 0 h 1"/>
                  <a:gd name="T2" fmla="*/ 0 w 17"/>
                  <a:gd name="T3" fmla="*/ 0 h 1"/>
                  <a:gd name="T4" fmla="*/ 14 w 17"/>
                  <a:gd name="T5" fmla="*/ 0 h 1"/>
                  <a:gd name="T6" fmla="*/ 16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16" y="0"/>
                    </a:moveTo>
                    <a:lnTo>
                      <a:pt x="0" y="0"/>
                    </a:lnTo>
                    <a:lnTo>
                      <a:pt x="14" y="0"/>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2" name="Freeform 575"/>
              <p:cNvSpPr>
                <a:spLocks noChangeAspect="1"/>
              </p:cNvSpPr>
              <p:nvPr/>
            </p:nvSpPr>
            <p:spPr bwMode="auto">
              <a:xfrm>
                <a:off x="630" y="3311"/>
                <a:ext cx="17" cy="17"/>
              </a:xfrm>
              <a:custGeom>
                <a:avLst/>
                <a:gdLst>
                  <a:gd name="T0" fmla="*/ 0 w 17"/>
                  <a:gd name="T1" fmla="*/ 0 h 17"/>
                  <a:gd name="T2" fmla="*/ 16 w 17"/>
                  <a:gd name="T3" fmla="*/ 16 h 17"/>
                  <a:gd name="T4" fmla="*/ 16 w 17"/>
                  <a:gd name="T5" fmla="*/ 8 h 17"/>
                  <a:gd name="T6" fmla="*/ 0 w 17"/>
                  <a:gd name="T7" fmla="*/ 0 h 17"/>
                  <a:gd name="T8" fmla="*/ 8 w 17"/>
                  <a:gd name="T9" fmla="*/ 0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16" y="16"/>
                    </a:lnTo>
                    <a:lnTo>
                      <a:pt x="16" y="8"/>
                    </a:lnTo>
                    <a:lnTo>
                      <a:pt x="0" y="0"/>
                    </a:lnTo>
                    <a:lnTo>
                      <a:pt x="8"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3" name="Freeform 576"/>
              <p:cNvSpPr>
                <a:spLocks noChangeAspect="1"/>
              </p:cNvSpPr>
              <p:nvPr/>
            </p:nvSpPr>
            <p:spPr bwMode="auto">
              <a:xfrm>
                <a:off x="631" y="3314"/>
                <a:ext cx="17" cy="17"/>
              </a:xfrm>
              <a:custGeom>
                <a:avLst/>
                <a:gdLst>
                  <a:gd name="T0" fmla="*/ 0 w 17"/>
                  <a:gd name="T1" fmla="*/ 0 h 17"/>
                  <a:gd name="T2" fmla="*/ 8 w 17"/>
                  <a:gd name="T3" fmla="*/ 16 h 17"/>
                  <a:gd name="T4" fmla="*/ 16 w 17"/>
                  <a:gd name="T5" fmla="*/ 16 h 17"/>
                  <a:gd name="T6" fmla="*/ 4 w 17"/>
                  <a:gd name="T7" fmla="*/ 0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8" y="16"/>
                    </a:lnTo>
                    <a:lnTo>
                      <a:pt x="16" y="16"/>
                    </a:lnTo>
                    <a:lnTo>
                      <a:pt x="4"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4" name="Freeform 577"/>
              <p:cNvSpPr>
                <a:spLocks noChangeAspect="1"/>
              </p:cNvSpPr>
              <p:nvPr/>
            </p:nvSpPr>
            <p:spPr bwMode="auto">
              <a:xfrm>
                <a:off x="635" y="3318"/>
                <a:ext cx="17" cy="17"/>
              </a:xfrm>
              <a:custGeom>
                <a:avLst/>
                <a:gdLst>
                  <a:gd name="T0" fmla="*/ 0 w 17"/>
                  <a:gd name="T1" fmla="*/ 16 h 17"/>
                  <a:gd name="T2" fmla="*/ 16 w 17"/>
                  <a:gd name="T3" fmla="*/ 0 h 17"/>
                  <a:gd name="T4" fmla="*/ 0 w 17"/>
                  <a:gd name="T5" fmla="*/ 16 h 17"/>
                  <a:gd name="T6" fmla="*/ 0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16"/>
                    </a:moveTo>
                    <a:lnTo>
                      <a:pt x="16" y="0"/>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5" name="Freeform 578"/>
              <p:cNvSpPr>
                <a:spLocks noChangeAspect="1"/>
              </p:cNvSpPr>
              <p:nvPr/>
            </p:nvSpPr>
            <p:spPr bwMode="auto">
              <a:xfrm>
                <a:off x="637" y="3326"/>
                <a:ext cx="17" cy="17"/>
              </a:xfrm>
              <a:custGeom>
                <a:avLst/>
                <a:gdLst>
                  <a:gd name="T0" fmla="*/ 5 w 17"/>
                  <a:gd name="T1" fmla="*/ 14 h 17"/>
                  <a:gd name="T2" fmla="*/ 0 w 17"/>
                  <a:gd name="T3" fmla="*/ 14 h 17"/>
                  <a:gd name="T4" fmla="*/ 10 w 17"/>
                  <a:gd name="T5" fmla="*/ 0 h 17"/>
                  <a:gd name="T6" fmla="*/ 16 w 17"/>
                  <a:gd name="T7" fmla="*/ 0 h 17"/>
                  <a:gd name="T8" fmla="*/ 10 w 17"/>
                  <a:gd name="T9" fmla="*/ 14 h 17"/>
                  <a:gd name="T10" fmla="*/ 5 w 17"/>
                  <a:gd name="T11" fmla="*/ 16 h 17"/>
                  <a:gd name="T12" fmla="*/ 10 w 17"/>
                  <a:gd name="T13" fmla="*/ 14 h 17"/>
                  <a:gd name="T14" fmla="*/ 10 w 17"/>
                  <a:gd name="T15" fmla="*/ 16 h 17"/>
                  <a:gd name="T16" fmla="*/ 5 w 17"/>
                  <a:gd name="T17" fmla="*/ 16 h 17"/>
                  <a:gd name="T18" fmla="*/ 5 w 17"/>
                  <a:gd name="T19" fmla="*/ 14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5" y="14"/>
                    </a:moveTo>
                    <a:lnTo>
                      <a:pt x="0" y="14"/>
                    </a:lnTo>
                    <a:lnTo>
                      <a:pt x="10" y="0"/>
                    </a:lnTo>
                    <a:lnTo>
                      <a:pt x="16" y="0"/>
                    </a:lnTo>
                    <a:lnTo>
                      <a:pt x="10" y="14"/>
                    </a:lnTo>
                    <a:lnTo>
                      <a:pt x="5" y="16"/>
                    </a:lnTo>
                    <a:lnTo>
                      <a:pt x="10" y="14"/>
                    </a:lnTo>
                    <a:lnTo>
                      <a:pt x="10" y="16"/>
                    </a:lnTo>
                    <a:lnTo>
                      <a:pt x="5" y="16"/>
                    </a:lnTo>
                    <a:lnTo>
                      <a:pt x="5" y="1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6" name="Freeform 579"/>
              <p:cNvSpPr>
                <a:spLocks noChangeAspect="1"/>
              </p:cNvSpPr>
              <p:nvPr/>
            </p:nvSpPr>
            <p:spPr bwMode="auto">
              <a:xfrm>
                <a:off x="640" y="3336"/>
                <a:ext cx="17" cy="1"/>
              </a:xfrm>
              <a:custGeom>
                <a:avLst/>
                <a:gdLst>
                  <a:gd name="T0" fmla="*/ 16 w 17"/>
                  <a:gd name="T1" fmla="*/ 0 h 1"/>
                  <a:gd name="T2" fmla="*/ 0 w 17"/>
                  <a:gd name="T3" fmla="*/ 0 h 1"/>
                  <a:gd name="T4" fmla="*/ 14 w 17"/>
                  <a:gd name="T5" fmla="*/ 0 h 1"/>
                  <a:gd name="T6" fmla="*/ 16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16" y="0"/>
                    </a:moveTo>
                    <a:lnTo>
                      <a:pt x="0" y="0"/>
                    </a:lnTo>
                    <a:lnTo>
                      <a:pt x="14" y="0"/>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7" name="Freeform 580"/>
              <p:cNvSpPr>
                <a:spLocks noChangeAspect="1"/>
              </p:cNvSpPr>
              <p:nvPr/>
            </p:nvSpPr>
            <p:spPr bwMode="auto">
              <a:xfrm>
                <a:off x="648" y="3338"/>
                <a:ext cx="1" cy="17"/>
              </a:xfrm>
              <a:custGeom>
                <a:avLst/>
                <a:gdLst>
                  <a:gd name="T0" fmla="*/ 0 w 1"/>
                  <a:gd name="T1" fmla="*/ 0 h 17"/>
                  <a:gd name="T2" fmla="*/ 0 w 1"/>
                  <a:gd name="T3" fmla="*/ 8 h 17"/>
                  <a:gd name="T4" fmla="*/ 0 w 1"/>
                  <a:gd name="T5" fmla="*/ 16 h 17"/>
                  <a:gd name="T6" fmla="*/ 0 w 1"/>
                  <a:gd name="T7" fmla="*/ 8 h 17"/>
                  <a:gd name="T8" fmla="*/ 0 w 1"/>
                  <a:gd name="T9" fmla="*/ 0 h 17"/>
                  <a:gd name="T10" fmla="*/ 0 w 1"/>
                  <a:gd name="T11" fmla="*/ 8 h 17"/>
                  <a:gd name="T12" fmla="*/ 0 w 1"/>
                  <a:gd name="T13" fmla="*/ 0 h 17"/>
                  <a:gd name="T14" fmla="*/ 0 60000 65536"/>
                  <a:gd name="T15" fmla="*/ 0 60000 65536"/>
                  <a:gd name="T16" fmla="*/ 0 60000 65536"/>
                  <a:gd name="T17" fmla="*/ 0 60000 65536"/>
                  <a:gd name="T18" fmla="*/ 0 60000 65536"/>
                  <a:gd name="T19" fmla="*/ 0 60000 65536"/>
                  <a:gd name="T20" fmla="*/ 0 60000 65536"/>
                  <a:gd name="T21" fmla="*/ 0 w 1"/>
                  <a:gd name="T22" fmla="*/ 0 h 17"/>
                  <a:gd name="T23" fmla="*/ 1 w 1"/>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7">
                    <a:moveTo>
                      <a:pt x="0" y="0"/>
                    </a:moveTo>
                    <a:lnTo>
                      <a:pt x="0" y="8"/>
                    </a:lnTo>
                    <a:lnTo>
                      <a:pt x="0" y="16"/>
                    </a:lnTo>
                    <a:lnTo>
                      <a:pt x="0" y="8"/>
                    </a:lnTo>
                    <a:lnTo>
                      <a:pt x="0" y="0"/>
                    </a:lnTo>
                    <a:lnTo>
                      <a:pt x="0" y="8"/>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8" name="Freeform 581"/>
              <p:cNvSpPr>
                <a:spLocks noChangeAspect="1"/>
              </p:cNvSpPr>
              <p:nvPr/>
            </p:nvSpPr>
            <p:spPr bwMode="auto">
              <a:xfrm>
                <a:off x="647" y="3340"/>
                <a:ext cx="17" cy="17"/>
              </a:xfrm>
              <a:custGeom>
                <a:avLst/>
                <a:gdLst>
                  <a:gd name="T0" fmla="*/ 0 w 17"/>
                  <a:gd name="T1" fmla="*/ 9 h 17"/>
                  <a:gd name="T2" fmla="*/ 0 w 17"/>
                  <a:gd name="T3" fmla="*/ 6 h 17"/>
                  <a:gd name="T4" fmla="*/ 0 w 17"/>
                  <a:gd name="T5" fmla="*/ 16 h 17"/>
                  <a:gd name="T6" fmla="*/ 16 w 17"/>
                  <a:gd name="T7" fmla="*/ 16 h 17"/>
                  <a:gd name="T8" fmla="*/ 8 w 17"/>
                  <a:gd name="T9" fmla="*/ 6 h 17"/>
                  <a:gd name="T10" fmla="*/ 8 w 17"/>
                  <a:gd name="T11" fmla="*/ 0 h 17"/>
                  <a:gd name="T12" fmla="*/ 8 w 17"/>
                  <a:gd name="T13" fmla="*/ 6 h 17"/>
                  <a:gd name="T14" fmla="*/ 8 w 17"/>
                  <a:gd name="T15" fmla="*/ 0 h 17"/>
                  <a:gd name="T16" fmla="*/ 0 w 17"/>
                  <a:gd name="T17" fmla="*/ 9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0" y="9"/>
                    </a:moveTo>
                    <a:lnTo>
                      <a:pt x="0" y="6"/>
                    </a:lnTo>
                    <a:lnTo>
                      <a:pt x="0" y="16"/>
                    </a:lnTo>
                    <a:lnTo>
                      <a:pt x="16" y="16"/>
                    </a:lnTo>
                    <a:lnTo>
                      <a:pt x="8" y="6"/>
                    </a:lnTo>
                    <a:lnTo>
                      <a:pt x="8" y="0"/>
                    </a:lnTo>
                    <a:lnTo>
                      <a:pt x="8" y="6"/>
                    </a:lnTo>
                    <a:lnTo>
                      <a:pt x="8" y="0"/>
                    </a:lnTo>
                    <a:lnTo>
                      <a:pt x="0" y="9"/>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29" name="Freeform 582"/>
              <p:cNvSpPr>
                <a:spLocks noChangeAspect="1"/>
              </p:cNvSpPr>
              <p:nvPr/>
            </p:nvSpPr>
            <p:spPr bwMode="auto">
              <a:xfrm>
                <a:off x="652" y="3343"/>
                <a:ext cx="17" cy="17"/>
              </a:xfrm>
              <a:custGeom>
                <a:avLst/>
                <a:gdLst>
                  <a:gd name="T0" fmla="*/ 16 w 17"/>
                  <a:gd name="T1" fmla="*/ 13 h 17"/>
                  <a:gd name="T2" fmla="*/ 1 w 17"/>
                  <a:gd name="T3" fmla="*/ 0 h 17"/>
                  <a:gd name="T4" fmla="*/ 0 w 17"/>
                  <a:gd name="T5" fmla="*/ 2 h 17"/>
                  <a:gd name="T6" fmla="*/ 14 w 17"/>
                  <a:gd name="T7" fmla="*/ 16 h 17"/>
                  <a:gd name="T8" fmla="*/ 16 w 17"/>
                  <a:gd name="T9" fmla="*/ 13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3"/>
                    </a:moveTo>
                    <a:lnTo>
                      <a:pt x="1" y="0"/>
                    </a:lnTo>
                    <a:lnTo>
                      <a:pt x="0" y="2"/>
                    </a:lnTo>
                    <a:lnTo>
                      <a:pt x="14" y="16"/>
                    </a:lnTo>
                    <a:lnTo>
                      <a:pt x="16" y="13"/>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0" name="Freeform 583"/>
              <p:cNvSpPr>
                <a:spLocks noChangeAspect="1"/>
              </p:cNvSpPr>
              <p:nvPr/>
            </p:nvSpPr>
            <p:spPr bwMode="auto">
              <a:xfrm>
                <a:off x="661" y="3348"/>
                <a:ext cx="17" cy="17"/>
              </a:xfrm>
              <a:custGeom>
                <a:avLst/>
                <a:gdLst>
                  <a:gd name="T0" fmla="*/ 0 w 17"/>
                  <a:gd name="T1" fmla="*/ 5 h 17"/>
                  <a:gd name="T2" fmla="*/ 16 w 17"/>
                  <a:gd name="T3" fmla="*/ 16 h 17"/>
                  <a:gd name="T4" fmla="*/ 16 w 17"/>
                  <a:gd name="T5" fmla="*/ 10 h 17"/>
                  <a:gd name="T6" fmla="*/ 0 w 17"/>
                  <a:gd name="T7" fmla="*/ 0 h 17"/>
                  <a:gd name="T8" fmla="*/ 0 w 17"/>
                  <a:gd name="T9" fmla="*/ 5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5"/>
                    </a:moveTo>
                    <a:lnTo>
                      <a:pt x="16" y="16"/>
                    </a:lnTo>
                    <a:lnTo>
                      <a:pt x="16" y="10"/>
                    </a:lnTo>
                    <a:lnTo>
                      <a:pt x="0" y="0"/>
                    </a:lnTo>
                    <a:lnTo>
                      <a:pt x="0" y="5"/>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1" name="Freeform 584"/>
              <p:cNvSpPr>
                <a:spLocks noChangeAspect="1"/>
              </p:cNvSpPr>
              <p:nvPr/>
            </p:nvSpPr>
            <p:spPr bwMode="auto">
              <a:xfrm>
                <a:off x="664" y="3352"/>
                <a:ext cx="17" cy="1"/>
              </a:xfrm>
              <a:custGeom>
                <a:avLst/>
                <a:gdLst>
                  <a:gd name="T0" fmla="*/ 16 w 17"/>
                  <a:gd name="T1" fmla="*/ 0 h 1"/>
                  <a:gd name="T2" fmla="*/ 2 w 17"/>
                  <a:gd name="T3" fmla="*/ 0 h 1"/>
                  <a:gd name="T4" fmla="*/ 0 w 17"/>
                  <a:gd name="T5" fmla="*/ 0 h 1"/>
                  <a:gd name="T6" fmla="*/ 16 w 17"/>
                  <a:gd name="T7" fmla="*/ 0 h 1"/>
                  <a:gd name="T8" fmla="*/ 16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16" y="0"/>
                    </a:moveTo>
                    <a:lnTo>
                      <a:pt x="2" y="0"/>
                    </a:lnTo>
                    <a:lnTo>
                      <a:pt x="0" y="0"/>
                    </a:lnTo>
                    <a:lnTo>
                      <a:pt x="16"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2" name="Freeform 585"/>
              <p:cNvSpPr>
                <a:spLocks noChangeAspect="1"/>
              </p:cNvSpPr>
              <p:nvPr/>
            </p:nvSpPr>
            <p:spPr bwMode="auto">
              <a:xfrm>
                <a:off x="677" y="3358"/>
                <a:ext cx="1" cy="17"/>
              </a:xfrm>
              <a:custGeom>
                <a:avLst/>
                <a:gdLst>
                  <a:gd name="T0" fmla="*/ 0 w 1"/>
                  <a:gd name="T1" fmla="*/ 16 h 17"/>
                  <a:gd name="T2" fmla="*/ 0 w 1"/>
                  <a:gd name="T3" fmla="*/ 0 h 17"/>
                  <a:gd name="T4" fmla="*/ 0 w 1"/>
                  <a:gd name="T5" fmla="*/ 8 h 17"/>
                  <a:gd name="T6" fmla="*/ 0 w 1"/>
                  <a:gd name="T7" fmla="*/ 16 h 17"/>
                  <a:gd name="T8" fmla="*/ 0 w 1"/>
                  <a:gd name="T9" fmla="*/ 16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16"/>
                    </a:moveTo>
                    <a:lnTo>
                      <a:pt x="0" y="0"/>
                    </a:lnTo>
                    <a:lnTo>
                      <a:pt x="0" y="8"/>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3" name="Freeform 586"/>
              <p:cNvSpPr>
                <a:spLocks noChangeAspect="1"/>
              </p:cNvSpPr>
              <p:nvPr/>
            </p:nvSpPr>
            <p:spPr bwMode="auto">
              <a:xfrm>
                <a:off x="682" y="3363"/>
                <a:ext cx="17" cy="17"/>
              </a:xfrm>
              <a:custGeom>
                <a:avLst/>
                <a:gdLst>
                  <a:gd name="T0" fmla="*/ 16 w 17"/>
                  <a:gd name="T1" fmla="*/ 16 h 17"/>
                  <a:gd name="T2" fmla="*/ 4 w 17"/>
                  <a:gd name="T3" fmla="*/ 0 h 17"/>
                  <a:gd name="T4" fmla="*/ 0 w 17"/>
                  <a:gd name="T5" fmla="*/ 0 h 17"/>
                  <a:gd name="T6" fmla="*/ 16 w 17"/>
                  <a:gd name="T7" fmla="*/ 16 h 17"/>
                  <a:gd name="T8" fmla="*/ 1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16"/>
                    </a:moveTo>
                    <a:lnTo>
                      <a:pt x="4" y="0"/>
                    </a:lnTo>
                    <a:lnTo>
                      <a:pt x="0" y="0"/>
                    </a:lnTo>
                    <a:lnTo>
                      <a:pt x="1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4" name="Freeform 587"/>
              <p:cNvSpPr>
                <a:spLocks noChangeAspect="1"/>
              </p:cNvSpPr>
              <p:nvPr/>
            </p:nvSpPr>
            <p:spPr bwMode="auto">
              <a:xfrm>
                <a:off x="682" y="3375"/>
                <a:ext cx="17" cy="17"/>
              </a:xfrm>
              <a:custGeom>
                <a:avLst/>
                <a:gdLst>
                  <a:gd name="T0" fmla="*/ 0 w 17"/>
                  <a:gd name="T1" fmla="*/ 16 h 17"/>
                  <a:gd name="T2" fmla="*/ 6 w 17"/>
                  <a:gd name="T3" fmla="*/ 0 h 17"/>
                  <a:gd name="T4" fmla="*/ 16 w 17"/>
                  <a:gd name="T5" fmla="*/ 0 h 17"/>
                  <a:gd name="T6" fmla="*/ 6 w 17"/>
                  <a:gd name="T7" fmla="*/ 16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6" y="0"/>
                    </a:lnTo>
                    <a:lnTo>
                      <a:pt x="16" y="0"/>
                    </a:lnTo>
                    <a:lnTo>
                      <a:pt x="6" y="16"/>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5" name="Freeform 588"/>
              <p:cNvSpPr>
                <a:spLocks noChangeAspect="1"/>
              </p:cNvSpPr>
              <p:nvPr/>
            </p:nvSpPr>
            <p:spPr bwMode="auto">
              <a:xfrm>
                <a:off x="682" y="3383"/>
                <a:ext cx="17" cy="17"/>
              </a:xfrm>
              <a:custGeom>
                <a:avLst/>
                <a:gdLst>
                  <a:gd name="T0" fmla="*/ 0 w 17"/>
                  <a:gd name="T1" fmla="*/ 16 h 17"/>
                  <a:gd name="T2" fmla="*/ 0 w 17"/>
                  <a:gd name="T3" fmla="*/ 0 h 17"/>
                  <a:gd name="T4" fmla="*/ 16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0" y="0"/>
                    </a:lnTo>
                    <a:lnTo>
                      <a:pt x="16" y="0"/>
                    </a:lnTo>
                    <a:lnTo>
                      <a:pt x="16" y="16"/>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6" name="Freeform 589"/>
              <p:cNvSpPr>
                <a:spLocks noChangeAspect="1"/>
              </p:cNvSpPr>
              <p:nvPr/>
            </p:nvSpPr>
            <p:spPr bwMode="auto">
              <a:xfrm>
                <a:off x="682" y="3392"/>
                <a:ext cx="17" cy="17"/>
              </a:xfrm>
              <a:custGeom>
                <a:avLst/>
                <a:gdLst>
                  <a:gd name="T0" fmla="*/ 6 w 17"/>
                  <a:gd name="T1" fmla="*/ 16 h 17"/>
                  <a:gd name="T2" fmla="*/ 0 w 17"/>
                  <a:gd name="T3" fmla="*/ 0 h 17"/>
                  <a:gd name="T4" fmla="*/ 6 w 17"/>
                  <a:gd name="T5" fmla="*/ 0 h 17"/>
                  <a:gd name="T6" fmla="*/ 16 w 17"/>
                  <a:gd name="T7" fmla="*/ 16 h 17"/>
                  <a:gd name="T8" fmla="*/ 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6" y="16"/>
                    </a:moveTo>
                    <a:lnTo>
                      <a:pt x="0" y="0"/>
                    </a:lnTo>
                    <a:lnTo>
                      <a:pt x="6" y="0"/>
                    </a:lnTo>
                    <a:lnTo>
                      <a:pt x="16" y="16"/>
                    </a:lnTo>
                    <a:lnTo>
                      <a:pt x="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7" name="Freeform 590"/>
              <p:cNvSpPr>
                <a:spLocks noChangeAspect="1"/>
              </p:cNvSpPr>
              <p:nvPr/>
            </p:nvSpPr>
            <p:spPr bwMode="auto">
              <a:xfrm>
                <a:off x="682" y="3401"/>
                <a:ext cx="17" cy="17"/>
              </a:xfrm>
              <a:custGeom>
                <a:avLst/>
                <a:gdLst>
                  <a:gd name="T0" fmla="*/ 8 w 17"/>
                  <a:gd name="T1" fmla="*/ 16 h 17"/>
                  <a:gd name="T2" fmla="*/ 0 w 17"/>
                  <a:gd name="T3" fmla="*/ 0 h 17"/>
                  <a:gd name="T4" fmla="*/ 16 w 17"/>
                  <a:gd name="T5" fmla="*/ 16 h 17"/>
                  <a:gd name="T6" fmla="*/ 8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8" y="16"/>
                    </a:moveTo>
                    <a:lnTo>
                      <a:pt x="0" y="0"/>
                    </a:lnTo>
                    <a:lnTo>
                      <a:pt x="16" y="16"/>
                    </a:lnTo>
                    <a:lnTo>
                      <a:pt x="8"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8" name="Freeform 591"/>
              <p:cNvSpPr>
                <a:spLocks noChangeAspect="1"/>
              </p:cNvSpPr>
              <p:nvPr/>
            </p:nvSpPr>
            <p:spPr bwMode="auto">
              <a:xfrm>
                <a:off x="682" y="3411"/>
                <a:ext cx="1" cy="17"/>
              </a:xfrm>
              <a:custGeom>
                <a:avLst/>
                <a:gdLst>
                  <a:gd name="T0" fmla="*/ 0 w 1"/>
                  <a:gd name="T1" fmla="*/ 16 h 17"/>
                  <a:gd name="T2" fmla="*/ 0 w 1"/>
                  <a:gd name="T3" fmla="*/ 0 h 17"/>
                  <a:gd name="T4" fmla="*/ 0 w 1"/>
                  <a:gd name="T5" fmla="*/ 14 h 17"/>
                  <a:gd name="T6" fmla="*/ 0 w 1"/>
                  <a:gd name="T7" fmla="*/ 16 h 17"/>
                  <a:gd name="T8" fmla="*/ 0 60000 65536"/>
                  <a:gd name="T9" fmla="*/ 0 60000 65536"/>
                  <a:gd name="T10" fmla="*/ 0 60000 65536"/>
                  <a:gd name="T11" fmla="*/ 0 60000 65536"/>
                  <a:gd name="T12" fmla="*/ 0 w 1"/>
                  <a:gd name="T13" fmla="*/ 0 h 17"/>
                  <a:gd name="T14" fmla="*/ 1 w 1"/>
                  <a:gd name="T15" fmla="*/ 17 h 17"/>
                </a:gdLst>
                <a:ahLst/>
                <a:cxnLst>
                  <a:cxn ang="T8">
                    <a:pos x="T0" y="T1"/>
                  </a:cxn>
                  <a:cxn ang="T9">
                    <a:pos x="T2" y="T3"/>
                  </a:cxn>
                  <a:cxn ang="T10">
                    <a:pos x="T4" y="T5"/>
                  </a:cxn>
                  <a:cxn ang="T11">
                    <a:pos x="T6" y="T7"/>
                  </a:cxn>
                </a:cxnLst>
                <a:rect l="T12" t="T13" r="T14" b="T15"/>
                <a:pathLst>
                  <a:path w="1" h="17">
                    <a:moveTo>
                      <a:pt x="0" y="16"/>
                    </a:moveTo>
                    <a:lnTo>
                      <a:pt x="0" y="0"/>
                    </a:lnTo>
                    <a:lnTo>
                      <a:pt x="0" y="14"/>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39" name="Freeform 592"/>
              <p:cNvSpPr>
                <a:spLocks noChangeAspect="1"/>
              </p:cNvSpPr>
              <p:nvPr/>
            </p:nvSpPr>
            <p:spPr bwMode="auto">
              <a:xfrm>
                <a:off x="677" y="3420"/>
                <a:ext cx="1" cy="17"/>
              </a:xfrm>
              <a:custGeom>
                <a:avLst/>
                <a:gdLst>
                  <a:gd name="T0" fmla="*/ 0 w 1"/>
                  <a:gd name="T1" fmla="*/ 16 h 17"/>
                  <a:gd name="T2" fmla="*/ 0 w 1"/>
                  <a:gd name="T3" fmla="*/ 2 h 17"/>
                  <a:gd name="T4" fmla="*/ 0 w 1"/>
                  <a:gd name="T5" fmla="*/ 0 h 17"/>
                  <a:gd name="T6" fmla="*/ 0 w 1"/>
                  <a:gd name="T7" fmla="*/ 14 h 17"/>
                  <a:gd name="T8" fmla="*/ 0 w 1"/>
                  <a:gd name="T9" fmla="*/ 16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16"/>
                    </a:moveTo>
                    <a:lnTo>
                      <a:pt x="0" y="2"/>
                    </a:lnTo>
                    <a:lnTo>
                      <a:pt x="0" y="0"/>
                    </a:lnTo>
                    <a:lnTo>
                      <a:pt x="0" y="14"/>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0" name="Freeform 593"/>
              <p:cNvSpPr>
                <a:spLocks noChangeAspect="1"/>
              </p:cNvSpPr>
              <p:nvPr/>
            </p:nvSpPr>
            <p:spPr bwMode="auto">
              <a:xfrm>
                <a:off x="673" y="3428"/>
                <a:ext cx="17" cy="17"/>
              </a:xfrm>
              <a:custGeom>
                <a:avLst/>
                <a:gdLst>
                  <a:gd name="T0" fmla="*/ 0 w 17"/>
                  <a:gd name="T1" fmla="*/ 16 h 17"/>
                  <a:gd name="T2" fmla="*/ 16 w 17"/>
                  <a:gd name="T3" fmla="*/ 2 h 17"/>
                  <a:gd name="T4" fmla="*/ 16 w 17"/>
                  <a:gd name="T5" fmla="*/ 0 h 17"/>
                  <a:gd name="T6" fmla="*/ 0 w 17"/>
                  <a:gd name="T7" fmla="*/ 13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16" y="2"/>
                    </a:lnTo>
                    <a:lnTo>
                      <a:pt x="16" y="0"/>
                    </a:lnTo>
                    <a:lnTo>
                      <a:pt x="0" y="13"/>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1" name="Freeform 594"/>
              <p:cNvSpPr>
                <a:spLocks noChangeAspect="1"/>
              </p:cNvSpPr>
              <p:nvPr/>
            </p:nvSpPr>
            <p:spPr bwMode="auto">
              <a:xfrm>
                <a:off x="669" y="3435"/>
                <a:ext cx="1" cy="17"/>
              </a:xfrm>
              <a:custGeom>
                <a:avLst/>
                <a:gdLst>
                  <a:gd name="T0" fmla="*/ 0 w 1"/>
                  <a:gd name="T1" fmla="*/ 16 h 17"/>
                  <a:gd name="T2" fmla="*/ 0 w 1"/>
                  <a:gd name="T3" fmla="*/ 2 h 17"/>
                  <a:gd name="T4" fmla="*/ 0 w 1"/>
                  <a:gd name="T5" fmla="*/ 0 h 17"/>
                  <a:gd name="T6" fmla="*/ 0 w 1"/>
                  <a:gd name="T7" fmla="*/ 13 h 17"/>
                  <a:gd name="T8" fmla="*/ 0 w 1"/>
                  <a:gd name="T9" fmla="*/ 16 h 17"/>
                  <a:gd name="T10" fmla="*/ 0 60000 65536"/>
                  <a:gd name="T11" fmla="*/ 0 60000 65536"/>
                  <a:gd name="T12" fmla="*/ 0 60000 65536"/>
                  <a:gd name="T13" fmla="*/ 0 60000 65536"/>
                  <a:gd name="T14" fmla="*/ 0 60000 65536"/>
                  <a:gd name="T15" fmla="*/ 0 w 1"/>
                  <a:gd name="T16" fmla="*/ 0 h 17"/>
                  <a:gd name="T17" fmla="*/ 1 w 1"/>
                  <a:gd name="T18" fmla="*/ 17 h 17"/>
                </a:gdLst>
                <a:ahLst/>
                <a:cxnLst>
                  <a:cxn ang="T10">
                    <a:pos x="T0" y="T1"/>
                  </a:cxn>
                  <a:cxn ang="T11">
                    <a:pos x="T2" y="T3"/>
                  </a:cxn>
                  <a:cxn ang="T12">
                    <a:pos x="T4" y="T5"/>
                  </a:cxn>
                  <a:cxn ang="T13">
                    <a:pos x="T6" y="T7"/>
                  </a:cxn>
                  <a:cxn ang="T14">
                    <a:pos x="T8" y="T9"/>
                  </a:cxn>
                </a:cxnLst>
                <a:rect l="T15" t="T16" r="T17" b="T18"/>
                <a:pathLst>
                  <a:path w="1" h="17">
                    <a:moveTo>
                      <a:pt x="0" y="16"/>
                    </a:moveTo>
                    <a:lnTo>
                      <a:pt x="0" y="2"/>
                    </a:lnTo>
                    <a:lnTo>
                      <a:pt x="0" y="0"/>
                    </a:lnTo>
                    <a:lnTo>
                      <a:pt x="0" y="13"/>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2" name="Freeform 595"/>
              <p:cNvSpPr>
                <a:spLocks noChangeAspect="1"/>
              </p:cNvSpPr>
              <p:nvPr/>
            </p:nvSpPr>
            <p:spPr bwMode="auto">
              <a:xfrm>
                <a:off x="665" y="3442"/>
                <a:ext cx="17" cy="17"/>
              </a:xfrm>
              <a:custGeom>
                <a:avLst/>
                <a:gdLst>
                  <a:gd name="T0" fmla="*/ 0 w 17"/>
                  <a:gd name="T1" fmla="*/ 16 h 17"/>
                  <a:gd name="T2" fmla="*/ 16 w 17"/>
                  <a:gd name="T3" fmla="*/ 0 h 17"/>
                  <a:gd name="T4" fmla="*/ 0 w 17"/>
                  <a:gd name="T5" fmla="*/ 16 h 17"/>
                  <a:gd name="T6" fmla="*/ 0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16"/>
                    </a:moveTo>
                    <a:lnTo>
                      <a:pt x="16" y="0"/>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3" name="Freeform 596"/>
              <p:cNvSpPr>
                <a:spLocks noChangeAspect="1"/>
              </p:cNvSpPr>
              <p:nvPr/>
            </p:nvSpPr>
            <p:spPr bwMode="auto">
              <a:xfrm>
                <a:off x="657" y="3445"/>
                <a:ext cx="17" cy="1"/>
              </a:xfrm>
              <a:custGeom>
                <a:avLst/>
                <a:gdLst>
                  <a:gd name="T0" fmla="*/ 0 w 17"/>
                  <a:gd name="T1" fmla="*/ 0 h 1"/>
                  <a:gd name="T2" fmla="*/ 16 w 17"/>
                  <a:gd name="T3" fmla="*/ 0 h 1"/>
                  <a:gd name="T4" fmla="*/ 0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16"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4" name="Freeform 597"/>
              <p:cNvSpPr>
                <a:spLocks noChangeAspect="1"/>
              </p:cNvSpPr>
              <p:nvPr/>
            </p:nvSpPr>
            <p:spPr bwMode="auto">
              <a:xfrm>
                <a:off x="654" y="3447"/>
                <a:ext cx="17" cy="17"/>
              </a:xfrm>
              <a:custGeom>
                <a:avLst/>
                <a:gdLst>
                  <a:gd name="T0" fmla="*/ 0 w 17"/>
                  <a:gd name="T1" fmla="*/ 0 h 17"/>
                  <a:gd name="T2" fmla="*/ 16 w 17"/>
                  <a:gd name="T3" fmla="*/ 5 h 17"/>
                  <a:gd name="T4" fmla="*/ 16 w 17"/>
                  <a:gd name="T5" fmla="*/ 16 h 17"/>
                  <a:gd name="T6" fmla="*/ 0 w 17"/>
                  <a:gd name="T7" fmla="*/ 5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5"/>
                    </a:lnTo>
                    <a:lnTo>
                      <a:pt x="16" y="16"/>
                    </a:lnTo>
                    <a:lnTo>
                      <a:pt x="0" y="5"/>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5" name="Freeform 598"/>
              <p:cNvSpPr>
                <a:spLocks noChangeAspect="1"/>
              </p:cNvSpPr>
              <p:nvPr/>
            </p:nvSpPr>
            <p:spPr bwMode="auto">
              <a:xfrm>
                <a:off x="647" y="3447"/>
                <a:ext cx="17" cy="17"/>
              </a:xfrm>
              <a:custGeom>
                <a:avLst/>
                <a:gdLst>
                  <a:gd name="T0" fmla="*/ 0 w 17"/>
                  <a:gd name="T1" fmla="*/ 6 h 17"/>
                  <a:gd name="T2" fmla="*/ 16 w 17"/>
                  <a:gd name="T3" fmla="*/ 0 h 17"/>
                  <a:gd name="T4" fmla="*/ 16 w 17"/>
                  <a:gd name="T5" fmla="*/ 9 h 17"/>
                  <a:gd name="T6" fmla="*/ 0 w 17"/>
                  <a:gd name="T7" fmla="*/ 16 h 17"/>
                  <a:gd name="T8" fmla="*/ 0 w 17"/>
                  <a:gd name="T9" fmla="*/ 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6"/>
                    </a:moveTo>
                    <a:lnTo>
                      <a:pt x="16" y="0"/>
                    </a:lnTo>
                    <a:lnTo>
                      <a:pt x="16" y="9"/>
                    </a:lnTo>
                    <a:lnTo>
                      <a:pt x="0" y="16"/>
                    </a:lnTo>
                    <a:lnTo>
                      <a:pt x="0" y="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6" name="Freeform 599"/>
              <p:cNvSpPr>
                <a:spLocks noChangeAspect="1"/>
              </p:cNvSpPr>
              <p:nvPr/>
            </p:nvSpPr>
            <p:spPr bwMode="auto">
              <a:xfrm>
                <a:off x="644" y="3446"/>
                <a:ext cx="17" cy="17"/>
              </a:xfrm>
              <a:custGeom>
                <a:avLst/>
                <a:gdLst>
                  <a:gd name="T0" fmla="*/ 16 w 17"/>
                  <a:gd name="T1" fmla="*/ 4 h 17"/>
                  <a:gd name="T2" fmla="*/ 12 w 17"/>
                  <a:gd name="T3" fmla="*/ 4 h 17"/>
                  <a:gd name="T4" fmla="*/ 0 w 17"/>
                  <a:gd name="T5" fmla="*/ 0 h 17"/>
                  <a:gd name="T6" fmla="*/ 0 w 17"/>
                  <a:gd name="T7" fmla="*/ 12 h 17"/>
                  <a:gd name="T8" fmla="*/ 12 w 17"/>
                  <a:gd name="T9" fmla="*/ 16 h 17"/>
                  <a:gd name="T10" fmla="*/ 16 w 17"/>
                  <a:gd name="T11" fmla="*/ 4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4"/>
                    </a:moveTo>
                    <a:lnTo>
                      <a:pt x="12" y="4"/>
                    </a:lnTo>
                    <a:lnTo>
                      <a:pt x="0" y="0"/>
                    </a:lnTo>
                    <a:lnTo>
                      <a:pt x="0" y="12"/>
                    </a:lnTo>
                    <a:lnTo>
                      <a:pt x="12" y="16"/>
                    </a:lnTo>
                    <a:lnTo>
                      <a:pt x="16"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7" name="Freeform 600"/>
              <p:cNvSpPr>
                <a:spLocks noChangeAspect="1"/>
              </p:cNvSpPr>
              <p:nvPr/>
            </p:nvSpPr>
            <p:spPr bwMode="auto">
              <a:xfrm>
                <a:off x="640" y="3445"/>
                <a:ext cx="17" cy="17"/>
              </a:xfrm>
              <a:custGeom>
                <a:avLst/>
                <a:gdLst>
                  <a:gd name="T0" fmla="*/ 0 w 17"/>
                  <a:gd name="T1" fmla="*/ 5 h 17"/>
                  <a:gd name="T2" fmla="*/ 16 w 17"/>
                  <a:gd name="T3" fmla="*/ 0 h 17"/>
                  <a:gd name="T4" fmla="*/ 16 w 17"/>
                  <a:gd name="T5" fmla="*/ 5 h 17"/>
                  <a:gd name="T6" fmla="*/ 0 w 17"/>
                  <a:gd name="T7" fmla="*/ 16 h 17"/>
                  <a:gd name="T8" fmla="*/ 0 w 17"/>
                  <a:gd name="T9" fmla="*/ 5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5"/>
                    </a:moveTo>
                    <a:lnTo>
                      <a:pt x="16" y="0"/>
                    </a:lnTo>
                    <a:lnTo>
                      <a:pt x="16" y="5"/>
                    </a:lnTo>
                    <a:lnTo>
                      <a:pt x="0" y="16"/>
                    </a:lnTo>
                    <a:lnTo>
                      <a:pt x="0" y="5"/>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48" name="Freeform 601"/>
              <p:cNvSpPr>
                <a:spLocks noChangeAspect="1"/>
              </p:cNvSpPr>
              <p:nvPr/>
            </p:nvSpPr>
            <p:spPr bwMode="auto">
              <a:xfrm>
                <a:off x="551" y="3341"/>
                <a:ext cx="21" cy="29"/>
              </a:xfrm>
              <a:custGeom>
                <a:avLst/>
                <a:gdLst>
                  <a:gd name="T0" fmla="*/ 0 w 21"/>
                  <a:gd name="T1" fmla="*/ 17 h 29"/>
                  <a:gd name="T2" fmla="*/ 0 w 21"/>
                  <a:gd name="T3" fmla="*/ 11 h 29"/>
                  <a:gd name="T4" fmla="*/ 0 w 21"/>
                  <a:gd name="T5" fmla="*/ 6 h 29"/>
                  <a:gd name="T6" fmla="*/ 2 w 21"/>
                  <a:gd name="T7" fmla="*/ 2 h 29"/>
                  <a:gd name="T8" fmla="*/ 3 w 21"/>
                  <a:gd name="T9" fmla="*/ 0 h 29"/>
                  <a:gd name="T10" fmla="*/ 5 w 21"/>
                  <a:gd name="T11" fmla="*/ 0 h 29"/>
                  <a:gd name="T12" fmla="*/ 9 w 21"/>
                  <a:gd name="T13" fmla="*/ 0 h 29"/>
                  <a:gd name="T14" fmla="*/ 13 w 21"/>
                  <a:gd name="T15" fmla="*/ 1 h 29"/>
                  <a:gd name="T16" fmla="*/ 16 w 21"/>
                  <a:gd name="T17" fmla="*/ 5 h 29"/>
                  <a:gd name="T18" fmla="*/ 18 w 21"/>
                  <a:gd name="T19" fmla="*/ 10 h 29"/>
                  <a:gd name="T20" fmla="*/ 20 w 21"/>
                  <a:gd name="T21" fmla="*/ 15 h 29"/>
                  <a:gd name="T22" fmla="*/ 19 w 21"/>
                  <a:gd name="T23" fmla="*/ 22 h 29"/>
                  <a:gd name="T24" fmla="*/ 16 w 21"/>
                  <a:gd name="T25" fmla="*/ 25 h 29"/>
                  <a:gd name="T26" fmla="*/ 16 w 21"/>
                  <a:gd name="T27" fmla="*/ 27 h 29"/>
                  <a:gd name="T28" fmla="*/ 14 w 21"/>
                  <a:gd name="T29" fmla="*/ 28 h 29"/>
                  <a:gd name="T30" fmla="*/ 10 w 21"/>
                  <a:gd name="T31" fmla="*/ 28 h 29"/>
                  <a:gd name="T32" fmla="*/ 6 w 21"/>
                  <a:gd name="T33" fmla="*/ 25 h 29"/>
                  <a:gd name="T34" fmla="*/ 3 w 21"/>
                  <a:gd name="T35" fmla="*/ 22 h 29"/>
                  <a:gd name="T36" fmla="*/ 0 w 21"/>
                  <a:gd name="T37" fmla="*/ 17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
                  <a:gd name="T58" fmla="*/ 0 h 29"/>
                  <a:gd name="T59" fmla="*/ 21 w 21"/>
                  <a:gd name="T60" fmla="*/ 29 h 2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 h="29">
                    <a:moveTo>
                      <a:pt x="0" y="17"/>
                    </a:moveTo>
                    <a:lnTo>
                      <a:pt x="0" y="11"/>
                    </a:lnTo>
                    <a:lnTo>
                      <a:pt x="0" y="6"/>
                    </a:lnTo>
                    <a:lnTo>
                      <a:pt x="2" y="2"/>
                    </a:lnTo>
                    <a:lnTo>
                      <a:pt x="3" y="0"/>
                    </a:lnTo>
                    <a:lnTo>
                      <a:pt x="5" y="0"/>
                    </a:lnTo>
                    <a:lnTo>
                      <a:pt x="9" y="0"/>
                    </a:lnTo>
                    <a:lnTo>
                      <a:pt x="13" y="1"/>
                    </a:lnTo>
                    <a:lnTo>
                      <a:pt x="16" y="5"/>
                    </a:lnTo>
                    <a:lnTo>
                      <a:pt x="18" y="10"/>
                    </a:lnTo>
                    <a:lnTo>
                      <a:pt x="20" y="15"/>
                    </a:lnTo>
                    <a:lnTo>
                      <a:pt x="19" y="22"/>
                    </a:lnTo>
                    <a:lnTo>
                      <a:pt x="16" y="25"/>
                    </a:lnTo>
                    <a:lnTo>
                      <a:pt x="16" y="27"/>
                    </a:lnTo>
                    <a:lnTo>
                      <a:pt x="14" y="28"/>
                    </a:lnTo>
                    <a:lnTo>
                      <a:pt x="10" y="28"/>
                    </a:lnTo>
                    <a:lnTo>
                      <a:pt x="6" y="25"/>
                    </a:lnTo>
                    <a:lnTo>
                      <a:pt x="3" y="22"/>
                    </a:lnTo>
                    <a:lnTo>
                      <a:pt x="0" y="17"/>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49" name="Freeform 602"/>
              <p:cNvSpPr>
                <a:spLocks noChangeAspect="1"/>
              </p:cNvSpPr>
              <p:nvPr/>
            </p:nvSpPr>
            <p:spPr bwMode="auto">
              <a:xfrm>
                <a:off x="550" y="3454"/>
                <a:ext cx="17" cy="17"/>
              </a:xfrm>
              <a:custGeom>
                <a:avLst/>
                <a:gdLst>
                  <a:gd name="T0" fmla="*/ 8 w 17"/>
                  <a:gd name="T1" fmla="*/ 0 h 17"/>
                  <a:gd name="T2" fmla="*/ 4 w 17"/>
                  <a:gd name="T3" fmla="*/ 0 h 17"/>
                  <a:gd name="T4" fmla="*/ 0 w 17"/>
                  <a:gd name="T5" fmla="*/ 0 h 17"/>
                  <a:gd name="T6" fmla="*/ 0 w 17"/>
                  <a:gd name="T7" fmla="*/ 8 h 17"/>
                  <a:gd name="T8" fmla="*/ 0 w 17"/>
                  <a:gd name="T9" fmla="*/ 16 h 17"/>
                  <a:gd name="T10" fmla="*/ 4 w 17"/>
                  <a:gd name="T11" fmla="*/ 16 h 17"/>
                  <a:gd name="T12" fmla="*/ 8 w 17"/>
                  <a:gd name="T13" fmla="*/ 16 h 17"/>
                  <a:gd name="T14" fmla="*/ 12 w 17"/>
                  <a:gd name="T15" fmla="*/ 16 h 17"/>
                  <a:gd name="T16" fmla="*/ 16 w 17"/>
                  <a:gd name="T17" fmla="*/ 8 h 17"/>
                  <a:gd name="T18" fmla="*/ 12 w 17"/>
                  <a:gd name="T19" fmla="*/ 0 h 17"/>
                  <a:gd name="T20" fmla="*/ 8 w 17"/>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8" y="0"/>
                    </a:moveTo>
                    <a:lnTo>
                      <a:pt x="4" y="0"/>
                    </a:lnTo>
                    <a:lnTo>
                      <a:pt x="0" y="0"/>
                    </a:lnTo>
                    <a:lnTo>
                      <a:pt x="0" y="8"/>
                    </a:lnTo>
                    <a:lnTo>
                      <a:pt x="0" y="16"/>
                    </a:lnTo>
                    <a:lnTo>
                      <a:pt x="4" y="16"/>
                    </a:lnTo>
                    <a:lnTo>
                      <a:pt x="8" y="16"/>
                    </a:lnTo>
                    <a:lnTo>
                      <a:pt x="12" y="16"/>
                    </a:lnTo>
                    <a:lnTo>
                      <a:pt x="16" y="8"/>
                    </a:lnTo>
                    <a:lnTo>
                      <a:pt x="12" y="0"/>
                    </a:lnTo>
                    <a:lnTo>
                      <a:pt x="8"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50" name="Freeform 603"/>
              <p:cNvSpPr>
                <a:spLocks noChangeAspect="1"/>
              </p:cNvSpPr>
              <p:nvPr/>
            </p:nvSpPr>
            <p:spPr bwMode="auto">
              <a:xfrm>
                <a:off x="553" y="3454"/>
                <a:ext cx="17" cy="17"/>
              </a:xfrm>
              <a:custGeom>
                <a:avLst/>
                <a:gdLst>
                  <a:gd name="T0" fmla="*/ 9 w 17"/>
                  <a:gd name="T1" fmla="*/ 0 h 17"/>
                  <a:gd name="T2" fmla="*/ 11 w 17"/>
                  <a:gd name="T3" fmla="*/ 0 h 17"/>
                  <a:gd name="T4" fmla="*/ 16 w 17"/>
                  <a:gd name="T5" fmla="*/ 2 h 17"/>
                  <a:gd name="T6" fmla="*/ 16 w 17"/>
                  <a:gd name="T7" fmla="*/ 4 h 17"/>
                  <a:gd name="T8" fmla="*/ 16 w 17"/>
                  <a:gd name="T9" fmla="*/ 6 h 17"/>
                  <a:gd name="T10" fmla="*/ 16 w 17"/>
                  <a:gd name="T11" fmla="*/ 12 h 17"/>
                  <a:gd name="T12" fmla="*/ 16 w 17"/>
                  <a:gd name="T13" fmla="*/ 13 h 17"/>
                  <a:gd name="T14" fmla="*/ 11 w 17"/>
                  <a:gd name="T15" fmla="*/ 16 h 17"/>
                  <a:gd name="T16" fmla="*/ 9 w 17"/>
                  <a:gd name="T17" fmla="*/ 16 h 17"/>
                  <a:gd name="T18" fmla="*/ 4 w 17"/>
                  <a:gd name="T19" fmla="*/ 16 h 17"/>
                  <a:gd name="T20" fmla="*/ 4 w 17"/>
                  <a:gd name="T21" fmla="*/ 13 h 17"/>
                  <a:gd name="T22" fmla="*/ 0 w 17"/>
                  <a:gd name="T23" fmla="*/ 12 h 17"/>
                  <a:gd name="T24" fmla="*/ 0 w 17"/>
                  <a:gd name="T25" fmla="*/ 6 h 17"/>
                  <a:gd name="T26" fmla="*/ 0 w 17"/>
                  <a:gd name="T27" fmla="*/ 4 h 17"/>
                  <a:gd name="T28" fmla="*/ 4 w 17"/>
                  <a:gd name="T29" fmla="*/ 2 h 17"/>
                  <a:gd name="T30" fmla="*/ 4 w 17"/>
                  <a:gd name="T31" fmla="*/ 0 h 17"/>
                  <a:gd name="T32" fmla="*/ 9 w 17"/>
                  <a:gd name="T33" fmla="*/ 0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17"/>
                  <a:gd name="T53" fmla="*/ 17 w 17"/>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17">
                    <a:moveTo>
                      <a:pt x="9" y="0"/>
                    </a:moveTo>
                    <a:lnTo>
                      <a:pt x="11" y="0"/>
                    </a:lnTo>
                    <a:lnTo>
                      <a:pt x="16" y="2"/>
                    </a:lnTo>
                    <a:lnTo>
                      <a:pt x="16" y="4"/>
                    </a:lnTo>
                    <a:lnTo>
                      <a:pt x="16" y="6"/>
                    </a:lnTo>
                    <a:lnTo>
                      <a:pt x="16" y="12"/>
                    </a:lnTo>
                    <a:lnTo>
                      <a:pt x="16" y="13"/>
                    </a:lnTo>
                    <a:lnTo>
                      <a:pt x="11" y="16"/>
                    </a:lnTo>
                    <a:lnTo>
                      <a:pt x="9" y="16"/>
                    </a:lnTo>
                    <a:lnTo>
                      <a:pt x="4" y="16"/>
                    </a:lnTo>
                    <a:lnTo>
                      <a:pt x="4" y="13"/>
                    </a:lnTo>
                    <a:lnTo>
                      <a:pt x="0" y="12"/>
                    </a:lnTo>
                    <a:lnTo>
                      <a:pt x="0" y="6"/>
                    </a:lnTo>
                    <a:lnTo>
                      <a:pt x="0" y="4"/>
                    </a:lnTo>
                    <a:lnTo>
                      <a:pt x="4" y="2"/>
                    </a:lnTo>
                    <a:lnTo>
                      <a:pt x="4" y="0"/>
                    </a:lnTo>
                    <a:lnTo>
                      <a:pt x="9"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51" name="Line 604"/>
              <p:cNvSpPr>
                <a:spLocks noChangeAspect="1" noChangeShapeType="1"/>
              </p:cNvSpPr>
              <p:nvPr/>
            </p:nvSpPr>
            <p:spPr bwMode="auto">
              <a:xfrm flipV="1">
                <a:off x="550" y="3332"/>
                <a:ext cx="7" cy="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52" name="Freeform 605"/>
              <p:cNvSpPr>
                <a:spLocks noChangeAspect="1"/>
              </p:cNvSpPr>
              <p:nvPr/>
            </p:nvSpPr>
            <p:spPr bwMode="auto">
              <a:xfrm>
                <a:off x="549" y="3454"/>
                <a:ext cx="17" cy="17"/>
              </a:xfrm>
              <a:custGeom>
                <a:avLst/>
                <a:gdLst>
                  <a:gd name="T0" fmla="*/ 0 w 17"/>
                  <a:gd name="T1" fmla="*/ 0 h 17"/>
                  <a:gd name="T2" fmla="*/ 0 w 17"/>
                  <a:gd name="T3" fmla="*/ 8 h 17"/>
                  <a:gd name="T4" fmla="*/ 0 w 17"/>
                  <a:gd name="T5" fmla="*/ 16 h 17"/>
                  <a:gd name="T6" fmla="*/ 16 w 17"/>
                  <a:gd name="T7" fmla="*/ 16 h 17"/>
                  <a:gd name="T8" fmla="*/ 16 w 17"/>
                  <a:gd name="T9" fmla="*/ 8 h 17"/>
                  <a:gd name="T10" fmla="*/ 16 w 17"/>
                  <a:gd name="T11" fmla="*/ 0 h 17"/>
                  <a:gd name="T12" fmla="*/ 0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0"/>
                    </a:moveTo>
                    <a:lnTo>
                      <a:pt x="0" y="8"/>
                    </a:lnTo>
                    <a:lnTo>
                      <a:pt x="0" y="16"/>
                    </a:lnTo>
                    <a:lnTo>
                      <a:pt x="16" y="16"/>
                    </a:lnTo>
                    <a:lnTo>
                      <a:pt x="16" y="8"/>
                    </a:lnTo>
                    <a:lnTo>
                      <a:pt x="16"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53" name="Freeform 606"/>
              <p:cNvSpPr>
                <a:spLocks noChangeAspect="1"/>
              </p:cNvSpPr>
              <p:nvPr/>
            </p:nvSpPr>
            <p:spPr bwMode="auto">
              <a:xfrm>
                <a:off x="550" y="3454"/>
                <a:ext cx="17" cy="17"/>
              </a:xfrm>
              <a:custGeom>
                <a:avLst/>
                <a:gdLst>
                  <a:gd name="T0" fmla="*/ 8 w 17"/>
                  <a:gd name="T1" fmla="*/ 0 h 17"/>
                  <a:gd name="T2" fmla="*/ 12 w 17"/>
                  <a:gd name="T3" fmla="*/ 2 h 17"/>
                  <a:gd name="T4" fmla="*/ 12 w 17"/>
                  <a:gd name="T5" fmla="*/ 4 h 17"/>
                  <a:gd name="T6" fmla="*/ 16 w 17"/>
                  <a:gd name="T7" fmla="*/ 6 h 17"/>
                  <a:gd name="T8" fmla="*/ 12 w 17"/>
                  <a:gd name="T9" fmla="*/ 12 h 17"/>
                  <a:gd name="T10" fmla="*/ 12 w 17"/>
                  <a:gd name="T11" fmla="*/ 13 h 17"/>
                  <a:gd name="T12" fmla="*/ 8 w 17"/>
                  <a:gd name="T13" fmla="*/ 16 h 17"/>
                  <a:gd name="T14" fmla="*/ 7 w 17"/>
                  <a:gd name="T15" fmla="*/ 16 h 17"/>
                  <a:gd name="T16" fmla="*/ 3 w 17"/>
                  <a:gd name="T17" fmla="*/ 13 h 17"/>
                  <a:gd name="T18" fmla="*/ 3 w 17"/>
                  <a:gd name="T19" fmla="*/ 12 h 17"/>
                  <a:gd name="T20" fmla="*/ 0 w 17"/>
                  <a:gd name="T21" fmla="*/ 6 h 17"/>
                  <a:gd name="T22" fmla="*/ 3 w 17"/>
                  <a:gd name="T23" fmla="*/ 4 h 17"/>
                  <a:gd name="T24" fmla="*/ 3 w 17"/>
                  <a:gd name="T25" fmla="*/ 2 h 17"/>
                  <a:gd name="T26" fmla="*/ 7 w 17"/>
                  <a:gd name="T27" fmla="*/ 0 h 17"/>
                  <a:gd name="T28" fmla="*/ 8 w 17"/>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7"/>
                  <a:gd name="T47" fmla="*/ 17 w 17"/>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7">
                    <a:moveTo>
                      <a:pt x="8" y="0"/>
                    </a:moveTo>
                    <a:lnTo>
                      <a:pt x="12" y="2"/>
                    </a:lnTo>
                    <a:lnTo>
                      <a:pt x="12" y="4"/>
                    </a:lnTo>
                    <a:lnTo>
                      <a:pt x="16" y="6"/>
                    </a:lnTo>
                    <a:lnTo>
                      <a:pt x="12" y="12"/>
                    </a:lnTo>
                    <a:lnTo>
                      <a:pt x="12" y="13"/>
                    </a:lnTo>
                    <a:lnTo>
                      <a:pt x="8" y="16"/>
                    </a:lnTo>
                    <a:lnTo>
                      <a:pt x="7" y="16"/>
                    </a:lnTo>
                    <a:lnTo>
                      <a:pt x="3" y="13"/>
                    </a:lnTo>
                    <a:lnTo>
                      <a:pt x="3" y="12"/>
                    </a:lnTo>
                    <a:lnTo>
                      <a:pt x="0" y="6"/>
                    </a:lnTo>
                    <a:lnTo>
                      <a:pt x="3" y="4"/>
                    </a:lnTo>
                    <a:lnTo>
                      <a:pt x="3" y="2"/>
                    </a:lnTo>
                    <a:lnTo>
                      <a:pt x="7" y="0"/>
                    </a:lnTo>
                    <a:lnTo>
                      <a:pt x="8"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54" name="Freeform 607"/>
              <p:cNvSpPr>
                <a:spLocks noChangeAspect="1"/>
              </p:cNvSpPr>
              <p:nvPr/>
            </p:nvSpPr>
            <p:spPr bwMode="auto">
              <a:xfrm>
                <a:off x="543" y="3485"/>
                <a:ext cx="107" cy="32"/>
              </a:xfrm>
              <a:custGeom>
                <a:avLst/>
                <a:gdLst>
                  <a:gd name="T0" fmla="*/ 0 w 107"/>
                  <a:gd name="T1" fmla="*/ 5 h 32"/>
                  <a:gd name="T2" fmla="*/ 21 w 107"/>
                  <a:gd name="T3" fmla="*/ 13 h 32"/>
                  <a:gd name="T4" fmla="*/ 21 w 107"/>
                  <a:gd name="T5" fmla="*/ 10 h 32"/>
                  <a:gd name="T6" fmla="*/ 25 w 107"/>
                  <a:gd name="T7" fmla="*/ 6 h 32"/>
                  <a:gd name="T8" fmla="*/ 28 w 107"/>
                  <a:gd name="T9" fmla="*/ 6 h 32"/>
                  <a:gd name="T10" fmla="*/ 32 w 107"/>
                  <a:gd name="T11" fmla="*/ 6 h 32"/>
                  <a:gd name="T12" fmla="*/ 35 w 107"/>
                  <a:gd name="T13" fmla="*/ 9 h 32"/>
                  <a:gd name="T14" fmla="*/ 39 w 107"/>
                  <a:gd name="T15" fmla="*/ 15 h 32"/>
                  <a:gd name="T16" fmla="*/ 40 w 107"/>
                  <a:gd name="T17" fmla="*/ 20 h 32"/>
                  <a:gd name="T18" fmla="*/ 39 w 107"/>
                  <a:gd name="T19" fmla="*/ 21 h 32"/>
                  <a:gd name="T20" fmla="*/ 53 w 107"/>
                  <a:gd name="T21" fmla="*/ 27 h 32"/>
                  <a:gd name="T22" fmla="*/ 65 w 107"/>
                  <a:gd name="T23" fmla="*/ 31 h 32"/>
                  <a:gd name="T24" fmla="*/ 70 w 107"/>
                  <a:gd name="T25" fmla="*/ 29 h 32"/>
                  <a:gd name="T26" fmla="*/ 75 w 107"/>
                  <a:gd name="T27" fmla="*/ 27 h 32"/>
                  <a:gd name="T28" fmla="*/ 82 w 107"/>
                  <a:gd name="T29" fmla="*/ 21 h 32"/>
                  <a:gd name="T30" fmla="*/ 75 w 107"/>
                  <a:gd name="T31" fmla="*/ 6 h 32"/>
                  <a:gd name="T32" fmla="*/ 82 w 107"/>
                  <a:gd name="T33" fmla="*/ 3 h 32"/>
                  <a:gd name="T34" fmla="*/ 86 w 107"/>
                  <a:gd name="T35" fmla="*/ 0 h 32"/>
                  <a:gd name="T36" fmla="*/ 88 w 107"/>
                  <a:gd name="T37" fmla="*/ 0 h 32"/>
                  <a:gd name="T38" fmla="*/ 94 w 107"/>
                  <a:gd name="T39" fmla="*/ 12 h 32"/>
                  <a:gd name="T40" fmla="*/ 99 w 107"/>
                  <a:gd name="T41" fmla="*/ 9 h 32"/>
                  <a:gd name="T42" fmla="*/ 106 w 107"/>
                  <a:gd name="T43" fmla="*/ 6 h 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7"/>
                  <a:gd name="T67" fmla="*/ 0 h 32"/>
                  <a:gd name="T68" fmla="*/ 107 w 107"/>
                  <a:gd name="T69" fmla="*/ 32 h 3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7" h="32">
                    <a:moveTo>
                      <a:pt x="0" y="5"/>
                    </a:moveTo>
                    <a:lnTo>
                      <a:pt x="21" y="13"/>
                    </a:lnTo>
                    <a:lnTo>
                      <a:pt x="21" y="10"/>
                    </a:lnTo>
                    <a:lnTo>
                      <a:pt x="25" y="6"/>
                    </a:lnTo>
                    <a:lnTo>
                      <a:pt x="28" y="6"/>
                    </a:lnTo>
                    <a:lnTo>
                      <a:pt x="32" y="6"/>
                    </a:lnTo>
                    <a:lnTo>
                      <a:pt x="35" y="9"/>
                    </a:lnTo>
                    <a:lnTo>
                      <a:pt x="39" y="15"/>
                    </a:lnTo>
                    <a:lnTo>
                      <a:pt x="40" y="20"/>
                    </a:lnTo>
                    <a:lnTo>
                      <a:pt x="39" y="21"/>
                    </a:lnTo>
                    <a:lnTo>
                      <a:pt x="53" y="27"/>
                    </a:lnTo>
                    <a:lnTo>
                      <a:pt x="65" y="31"/>
                    </a:lnTo>
                    <a:lnTo>
                      <a:pt x="70" y="29"/>
                    </a:lnTo>
                    <a:lnTo>
                      <a:pt x="75" y="27"/>
                    </a:lnTo>
                    <a:lnTo>
                      <a:pt x="82" y="21"/>
                    </a:lnTo>
                    <a:lnTo>
                      <a:pt x="75" y="6"/>
                    </a:lnTo>
                    <a:lnTo>
                      <a:pt x="82" y="3"/>
                    </a:lnTo>
                    <a:lnTo>
                      <a:pt x="86" y="0"/>
                    </a:lnTo>
                    <a:lnTo>
                      <a:pt x="88" y="0"/>
                    </a:lnTo>
                    <a:lnTo>
                      <a:pt x="94" y="12"/>
                    </a:lnTo>
                    <a:lnTo>
                      <a:pt x="99" y="9"/>
                    </a:lnTo>
                    <a:lnTo>
                      <a:pt x="106" y="6"/>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255" name="Freeform 608"/>
              <p:cNvSpPr>
                <a:spLocks noChangeAspect="1"/>
              </p:cNvSpPr>
              <p:nvPr/>
            </p:nvSpPr>
            <p:spPr bwMode="auto">
              <a:xfrm>
                <a:off x="645" y="3487"/>
                <a:ext cx="17" cy="17"/>
              </a:xfrm>
              <a:custGeom>
                <a:avLst/>
                <a:gdLst>
                  <a:gd name="T0" fmla="*/ 0 w 17"/>
                  <a:gd name="T1" fmla="*/ 8 h 17"/>
                  <a:gd name="T2" fmla="*/ 16 w 17"/>
                  <a:gd name="T3" fmla="*/ 0 h 17"/>
                  <a:gd name="T4" fmla="*/ 0 w 17"/>
                  <a:gd name="T5" fmla="*/ 0 h 17"/>
                  <a:gd name="T6" fmla="*/ 16 w 17"/>
                  <a:gd name="T7" fmla="*/ 0 h 17"/>
                  <a:gd name="T8" fmla="*/ 0 w 17"/>
                  <a:gd name="T9" fmla="*/ 8 h 17"/>
                  <a:gd name="T10" fmla="*/ 16 w 17"/>
                  <a:gd name="T11" fmla="*/ 16 h 17"/>
                  <a:gd name="T12" fmla="*/ 16 w 17"/>
                  <a:gd name="T13" fmla="*/ 0 h 17"/>
                  <a:gd name="T14" fmla="*/ 0 w 17"/>
                  <a:gd name="T15" fmla="*/ 8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8"/>
                    </a:moveTo>
                    <a:lnTo>
                      <a:pt x="16" y="0"/>
                    </a:lnTo>
                    <a:lnTo>
                      <a:pt x="0" y="0"/>
                    </a:lnTo>
                    <a:lnTo>
                      <a:pt x="16" y="0"/>
                    </a:lnTo>
                    <a:lnTo>
                      <a:pt x="0" y="8"/>
                    </a:lnTo>
                    <a:lnTo>
                      <a:pt x="16" y="16"/>
                    </a:lnTo>
                    <a:lnTo>
                      <a:pt x="16" y="0"/>
                    </a:lnTo>
                    <a:lnTo>
                      <a:pt x="0"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56" name="Freeform 609"/>
              <p:cNvSpPr>
                <a:spLocks noChangeAspect="1"/>
              </p:cNvSpPr>
              <p:nvPr/>
            </p:nvSpPr>
            <p:spPr bwMode="auto">
              <a:xfrm>
                <a:off x="646" y="3487"/>
                <a:ext cx="17" cy="17"/>
              </a:xfrm>
              <a:custGeom>
                <a:avLst/>
                <a:gdLst>
                  <a:gd name="T0" fmla="*/ 0 w 17"/>
                  <a:gd name="T1" fmla="*/ 6 h 17"/>
                  <a:gd name="T2" fmla="*/ 6 w 17"/>
                  <a:gd name="T3" fmla="*/ 16 h 17"/>
                  <a:gd name="T4" fmla="*/ 16 w 17"/>
                  <a:gd name="T5" fmla="*/ 6 h 17"/>
                  <a:gd name="T6" fmla="*/ 6 w 17"/>
                  <a:gd name="T7" fmla="*/ 0 h 17"/>
                  <a:gd name="T8" fmla="*/ 6 w 17"/>
                  <a:gd name="T9" fmla="*/ 6 h 17"/>
                  <a:gd name="T10" fmla="*/ 0 w 17"/>
                  <a:gd name="T11" fmla="*/ 6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6"/>
                    </a:moveTo>
                    <a:lnTo>
                      <a:pt x="6" y="16"/>
                    </a:lnTo>
                    <a:lnTo>
                      <a:pt x="16" y="6"/>
                    </a:lnTo>
                    <a:lnTo>
                      <a:pt x="6" y="0"/>
                    </a:lnTo>
                    <a:lnTo>
                      <a:pt x="6" y="6"/>
                    </a:lnTo>
                    <a:lnTo>
                      <a:pt x="0"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57" name="Freeform 610"/>
              <p:cNvSpPr>
                <a:spLocks noChangeAspect="1"/>
              </p:cNvSpPr>
              <p:nvPr/>
            </p:nvSpPr>
            <p:spPr bwMode="auto">
              <a:xfrm>
                <a:off x="646" y="3491"/>
                <a:ext cx="17" cy="22"/>
              </a:xfrm>
              <a:custGeom>
                <a:avLst/>
                <a:gdLst>
                  <a:gd name="T0" fmla="*/ 9 w 17"/>
                  <a:gd name="T1" fmla="*/ 21 h 22"/>
                  <a:gd name="T2" fmla="*/ 6 w 17"/>
                  <a:gd name="T3" fmla="*/ 20 h 22"/>
                  <a:gd name="T4" fmla="*/ 0 w 17"/>
                  <a:gd name="T5" fmla="*/ 0 h 22"/>
                  <a:gd name="T6" fmla="*/ 6 w 17"/>
                  <a:gd name="T7" fmla="*/ 0 h 22"/>
                  <a:gd name="T8" fmla="*/ 16 w 17"/>
                  <a:gd name="T9" fmla="*/ 20 h 22"/>
                  <a:gd name="T10" fmla="*/ 9 w 17"/>
                  <a:gd name="T11" fmla="*/ 19 h 22"/>
                  <a:gd name="T12" fmla="*/ 9 w 17"/>
                  <a:gd name="T13" fmla="*/ 21 h 22"/>
                  <a:gd name="T14" fmla="*/ 6 w 17"/>
                  <a:gd name="T15" fmla="*/ 20 h 22"/>
                  <a:gd name="T16" fmla="*/ 9 w 17"/>
                  <a:gd name="T17" fmla="*/ 2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22"/>
                  <a:gd name="T29" fmla="*/ 17 w 1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22">
                    <a:moveTo>
                      <a:pt x="9" y="21"/>
                    </a:moveTo>
                    <a:lnTo>
                      <a:pt x="6" y="20"/>
                    </a:lnTo>
                    <a:lnTo>
                      <a:pt x="0" y="0"/>
                    </a:lnTo>
                    <a:lnTo>
                      <a:pt x="6" y="0"/>
                    </a:lnTo>
                    <a:lnTo>
                      <a:pt x="16" y="20"/>
                    </a:lnTo>
                    <a:lnTo>
                      <a:pt x="9" y="19"/>
                    </a:lnTo>
                    <a:lnTo>
                      <a:pt x="9" y="21"/>
                    </a:lnTo>
                    <a:lnTo>
                      <a:pt x="6" y="20"/>
                    </a:lnTo>
                    <a:lnTo>
                      <a:pt x="9" y="2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58" name="Freeform 611"/>
              <p:cNvSpPr>
                <a:spLocks noChangeAspect="1"/>
              </p:cNvSpPr>
              <p:nvPr/>
            </p:nvSpPr>
            <p:spPr bwMode="auto">
              <a:xfrm>
                <a:off x="612" y="3516"/>
                <a:ext cx="32" cy="19"/>
              </a:xfrm>
              <a:custGeom>
                <a:avLst/>
                <a:gdLst>
                  <a:gd name="T0" fmla="*/ 0 w 32"/>
                  <a:gd name="T1" fmla="*/ 18 h 19"/>
                  <a:gd name="T2" fmla="*/ 31 w 32"/>
                  <a:gd name="T3" fmla="*/ 1 h 19"/>
                  <a:gd name="T4" fmla="*/ 31 w 32"/>
                  <a:gd name="T5" fmla="*/ 0 h 19"/>
                  <a:gd name="T6" fmla="*/ 0 w 32"/>
                  <a:gd name="T7" fmla="*/ 16 h 19"/>
                  <a:gd name="T8" fmla="*/ 0 w 32"/>
                  <a:gd name="T9" fmla="*/ 18 h 19"/>
                  <a:gd name="T10" fmla="*/ 0 60000 65536"/>
                  <a:gd name="T11" fmla="*/ 0 60000 65536"/>
                  <a:gd name="T12" fmla="*/ 0 60000 65536"/>
                  <a:gd name="T13" fmla="*/ 0 60000 65536"/>
                  <a:gd name="T14" fmla="*/ 0 60000 65536"/>
                  <a:gd name="T15" fmla="*/ 0 w 32"/>
                  <a:gd name="T16" fmla="*/ 0 h 19"/>
                  <a:gd name="T17" fmla="*/ 32 w 32"/>
                  <a:gd name="T18" fmla="*/ 19 h 19"/>
                </a:gdLst>
                <a:ahLst/>
                <a:cxnLst>
                  <a:cxn ang="T10">
                    <a:pos x="T0" y="T1"/>
                  </a:cxn>
                  <a:cxn ang="T11">
                    <a:pos x="T2" y="T3"/>
                  </a:cxn>
                  <a:cxn ang="T12">
                    <a:pos x="T4" y="T5"/>
                  </a:cxn>
                  <a:cxn ang="T13">
                    <a:pos x="T6" y="T7"/>
                  </a:cxn>
                  <a:cxn ang="T14">
                    <a:pos x="T8" y="T9"/>
                  </a:cxn>
                </a:cxnLst>
                <a:rect l="T15" t="T16" r="T17" b="T18"/>
                <a:pathLst>
                  <a:path w="32" h="19">
                    <a:moveTo>
                      <a:pt x="0" y="18"/>
                    </a:moveTo>
                    <a:lnTo>
                      <a:pt x="31" y="1"/>
                    </a:lnTo>
                    <a:lnTo>
                      <a:pt x="31" y="0"/>
                    </a:lnTo>
                    <a:lnTo>
                      <a:pt x="0" y="16"/>
                    </a:lnTo>
                    <a:lnTo>
                      <a:pt x="0" y="1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59" name="Freeform 612"/>
              <p:cNvSpPr>
                <a:spLocks noChangeAspect="1"/>
              </p:cNvSpPr>
              <p:nvPr/>
            </p:nvSpPr>
            <p:spPr bwMode="auto">
              <a:xfrm>
                <a:off x="610" y="3535"/>
                <a:ext cx="17" cy="17"/>
              </a:xfrm>
              <a:custGeom>
                <a:avLst/>
                <a:gdLst>
                  <a:gd name="T0" fmla="*/ 16 w 17"/>
                  <a:gd name="T1" fmla="*/ 0 h 17"/>
                  <a:gd name="T2" fmla="*/ 0 w 17"/>
                  <a:gd name="T3" fmla="*/ 5 h 17"/>
                  <a:gd name="T4" fmla="*/ 8 w 17"/>
                  <a:gd name="T5" fmla="*/ 16 h 17"/>
                  <a:gd name="T6" fmla="*/ 16 w 17"/>
                  <a:gd name="T7" fmla="*/ 10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0" y="5"/>
                    </a:lnTo>
                    <a:lnTo>
                      <a:pt x="8" y="16"/>
                    </a:lnTo>
                    <a:lnTo>
                      <a:pt x="16" y="10"/>
                    </a:lnTo>
                    <a:lnTo>
                      <a:pt x="16"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0" name="Freeform 613"/>
              <p:cNvSpPr>
                <a:spLocks noChangeAspect="1"/>
              </p:cNvSpPr>
              <p:nvPr/>
            </p:nvSpPr>
            <p:spPr bwMode="auto">
              <a:xfrm>
                <a:off x="607" y="3536"/>
                <a:ext cx="17" cy="17"/>
              </a:xfrm>
              <a:custGeom>
                <a:avLst/>
                <a:gdLst>
                  <a:gd name="T0" fmla="*/ 0 w 17"/>
                  <a:gd name="T1" fmla="*/ 0 h 17"/>
                  <a:gd name="T2" fmla="*/ 16 w 17"/>
                  <a:gd name="T3" fmla="*/ 5 h 17"/>
                  <a:gd name="T4" fmla="*/ 16 w 17"/>
                  <a:gd name="T5" fmla="*/ 16 h 17"/>
                  <a:gd name="T6" fmla="*/ 0 w 17"/>
                  <a:gd name="T7" fmla="*/ 10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5"/>
                    </a:lnTo>
                    <a:lnTo>
                      <a:pt x="16" y="16"/>
                    </a:lnTo>
                    <a:lnTo>
                      <a:pt x="0" y="1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1" name="Freeform 614"/>
              <p:cNvSpPr>
                <a:spLocks noChangeAspect="1"/>
              </p:cNvSpPr>
              <p:nvPr/>
            </p:nvSpPr>
            <p:spPr bwMode="auto">
              <a:xfrm>
                <a:off x="600" y="3536"/>
                <a:ext cx="17" cy="17"/>
              </a:xfrm>
              <a:custGeom>
                <a:avLst/>
                <a:gdLst>
                  <a:gd name="T0" fmla="*/ 0 w 17"/>
                  <a:gd name="T1" fmla="*/ 8 h 17"/>
                  <a:gd name="T2" fmla="*/ 16 w 17"/>
                  <a:gd name="T3" fmla="*/ 0 h 17"/>
                  <a:gd name="T4" fmla="*/ 16 w 17"/>
                  <a:gd name="T5" fmla="*/ 8 h 17"/>
                  <a:gd name="T6" fmla="*/ 0 w 17"/>
                  <a:gd name="T7" fmla="*/ 16 h 17"/>
                  <a:gd name="T8" fmla="*/ 0 w 17"/>
                  <a:gd name="T9" fmla="*/ 8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8"/>
                    </a:moveTo>
                    <a:lnTo>
                      <a:pt x="16" y="0"/>
                    </a:lnTo>
                    <a:lnTo>
                      <a:pt x="16" y="8"/>
                    </a:lnTo>
                    <a:lnTo>
                      <a:pt x="0" y="16"/>
                    </a:lnTo>
                    <a:lnTo>
                      <a:pt x="0" y="8"/>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2" name="Freeform 615"/>
              <p:cNvSpPr>
                <a:spLocks noChangeAspect="1"/>
              </p:cNvSpPr>
              <p:nvPr/>
            </p:nvSpPr>
            <p:spPr bwMode="auto">
              <a:xfrm>
                <a:off x="594" y="3534"/>
                <a:ext cx="17" cy="17"/>
              </a:xfrm>
              <a:custGeom>
                <a:avLst/>
                <a:gdLst>
                  <a:gd name="T0" fmla="*/ 16 w 17"/>
                  <a:gd name="T1" fmla="*/ 6 h 17"/>
                  <a:gd name="T2" fmla="*/ 0 w 17"/>
                  <a:gd name="T3" fmla="*/ 0 h 17"/>
                  <a:gd name="T4" fmla="*/ 0 w 17"/>
                  <a:gd name="T5" fmla="*/ 9 h 17"/>
                  <a:gd name="T6" fmla="*/ 12 w 17"/>
                  <a:gd name="T7" fmla="*/ 16 h 17"/>
                  <a:gd name="T8" fmla="*/ 16 w 17"/>
                  <a:gd name="T9" fmla="*/ 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6"/>
                    </a:moveTo>
                    <a:lnTo>
                      <a:pt x="0" y="0"/>
                    </a:lnTo>
                    <a:lnTo>
                      <a:pt x="0" y="9"/>
                    </a:lnTo>
                    <a:lnTo>
                      <a:pt x="12" y="16"/>
                    </a:lnTo>
                    <a:lnTo>
                      <a:pt x="16" y="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3" name="Freeform 616"/>
              <p:cNvSpPr>
                <a:spLocks noChangeAspect="1"/>
              </p:cNvSpPr>
              <p:nvPr/>
            </p:nvSpPr>
            <p:spPr bwMode="auto">
              <a:xfrm>
                <a:off x="547" y="3516"/>
                <a:ext cx="47" cy="18"/>
              </a:xfrm>
              <a:custGeom>
                <a:avLst/>
                <a:gdLst>
                  <a:gd name="T0" fmla="*/ 0 w 47"/>
                  <a:gd name="T1" fmla="*/ 1 h 18"/>
                  <a:gd name="T2" fmla="*/ 0 w 47"/>
                  <a:gd name="T3" fmla="*/ 1 h 18"/>
                  <a:gd name="T4" fmla="*/ 45 w 47"/>
                  <a:gd name="T5" fmla="*/ 17 h 18"/>
                  <a:gd name="T6" fmla="*/ 46 w 47"/>
                  <a:gd name="T7" fmla="*/ 15 h 18"/>
                  <a:gd name="T8" fmla="*/ 0 w 47"/>
                  <a:gd name="T9" fmla="*/ 0 h 18"/>
                  <a:gd name="T10" fmla="*/ 0 w 47"/>
                  <a:gd name="T11" fmla="*/ 1 h 18"/>
                  <a:gd name="T12" fmla="*/ 0 w 47"/>
                  <a:gd name="T13" fmla="*/ 1 h 18"/>
                  <a:gd name="T14" fmla="*/ 0 w 47"/>
                  <a:gd name="T15" fmla="*/ 1 h 18"/>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18"/>
                  <a:gd name="T26" fmla="*/ 47 w 47"/>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18">
                    <a:moveTo>
                      <a:pt x="0" y="1"/>
                    </a:moveTo>
                    <a:lnTo>
                      <a:pt x="0" y="1"/>
                    </a:lnTo>
                    <a:lnTo>
                      <a:pt x="45" y="17"/>
                    </a:lnTo>
                    <a:lnTo>
                      <a:pt x="46" y="15"/>
                    </a:lnTo>
                    <a:lnTo>
                      <a:pt x="0" y="0"/>
                    </a:lnTo>
                    <a:lnTo>
                      <a:pt x="0" y="1"/>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4" name="Freeform 617"/>
              <p:cNvSpPr>
                <a:spLocks noChangeAspect="1"/>
              </p:cNvSpPr>
              <p:nvPr/>
            </p:nvSpPr>
            <p:spPr bwMode="auto">
              <a:xfrm>
                <a:off x="541" y="3512"/>
                <a:ext cx="17" cy="1"/>
              </a:xfrm>
              <a:custGeom>
                <a:avLst/>
                <a:gdLst>
                  <a:gd name="T0" fmla="*/ 0 w 17"/>
                  <a:gd name="T1" fmla="*/ 0 h 1"/>
                  <a:gd name="T2" fmla="*/ 16 w 17"/>
                  <a:gd name="T3" fmla="*/ 0 h 1"/>
                  <a:gd name="T4" fmla="*/ 0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16" y="0"/>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5" name="Freeform 618"/>
              <p:cNvSpPr>
                <a:spLocks noChangeAspect="1"/>
              </p:cNvSpPr>
              <p:nvPr/>
            </p:nvSpPr>
            <p:spPr bwMode="auto">
              <a:xfrm>
                <a:off x="539" y="3491"/>
                <a:ext cx="17" cy="18"/>
              </a:xfrm>
              <a:custGeom>
                <a:avLst/>
                <a:gdLst>
                  <a:gd name="T0" fmla="*/ 0 w 17"/>
                  <a:gd name="T1" fmla="*/ 0 h 18"/>
                  <a:gd name="T2" fmla="*/ 16 w 17"/>
                  <a:gd name="T3" fmla="*/ 0 h 18"/>
                  <a:gd name="T4" fmla="*/ 16 w 17"/>
                  <a:gd name="T5" fmla="*/ 17 h 18"/>
                  <a:gd name="T6" fmla="*/ 0 w 17"/>
                  <a:gd name="T7" fmla="*/ 17 h 18"/>
                  <a:gd name="T8" fmla="*/ 0 w 17"/>
                  <a:gd name="T9" fmla="*/ 0 h 18"/>
                  <a:gd name="T10" fmla="*/ 0 60000 65536"/>
                  <a:gd name="T11" fmla="*/ 0 60000 65536"/>
                  <a:gd name="T12" fmla="*/ 0 60000 65536"/>
                  <a:gd name="T13" fmla="*/ 0 60000 65536"/>
                  <a:gd name="T14" fmla="*/ 0 60000 65536"/>
                  <a:gd name="T15" fmla="*/ 0 w 17"/>
                  <a:gd name="T16" fmla="*/ 0 h 18"/>
                  <a:gd name="T17" fmla="*/ 17 w 17"/>
                  <a:gd name="T18" fmla="*/ 18 h 18"/>
                </a:gdLst>
                <a:ahLst/>
                <a:cxnLst>
                  <a:cxn ang="T10">
                    <a:pos x="T0" y="T1"/>
                  </a:cxn>
                  <a:cxn ang="T11">
                    <a:pos x="T2" y="T3"/>
                  </a:cxn>
                  <a:cxn ang="T12">
                    <a:pos x="T4" y="T5"/>
                  </a:cxn>
                  <a:cxn ang="T13">
                    <a:pos x="T6" y="T7"/>
                  </a:cxn>
                  <a:cxn ang="T14">
                    <a:pos x="T8" y="T9"/>
                  </a:cxn>
                </a:cxnLst>
                <a:rect l="T15" t="T16" r="T17" b="T18"/>
                <a:pathLst>
                  <a:path w="17" h="18">
                    <a:moveTo>
                      <a:pt x="0" y="0"/>
                    </a:moveTo>
                    <a:lnTo>
                      <a:pt x="16" y="0"/>
                    </a:lnTo>
                    <a:lnTo>
                      <a:pt x="16" y="17"/>
                    </a:lnTo>
                    <a:lnTo>
                      <a:pt x="0" y="17"/>
                    </a:lnTo>
                    <a:lnTo>
                      <a:pt x="0"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6" name="Freeform 619"/>
              <p:cNvSpPr>
                <a:spLocks noChangeAspect="1"/>
              </p:cNvSpPr>
              <p:nvPr/>
            </p:nvSpPr>
            <p:spPr bwMode="auto">
              <a:xfrm>
                <a:off x="564" y="3426"/>
                <a:ext cx="17" cy="17"/>
              </a:xfrm>
              <a:custGeom>
                <a:avLst/>
                <a:gdLst>
                  <a:gd name="T0" fmla="*/ 5 w 17"/>
                  <a:gd name="T1" fmla="*/ 0 h 17"/>
                  <a:gd name="T2" fmla="*/ 16 w 17"/>
                  <a:gd name="T3" fmla="*/ 3 h 17"/>
                  <a:gd name="T4" fmla="*/ 14 w 17"/>
                  <a:gd name="T5" fmla="*/ 15 h 17"/>
                  <a:gd name="T6" fmla="*/ 10 w 17"/>
                  <a:gd name="T7" fmla="*/ 16 h 17"/>
                  <a:gd name="T8" fmla="*/ 0 w 17"/>
                  <a:gd name="T9" fmla="*/ 0 h 17"/>
                  <a:gd name="T10" fmla="*/ 5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5" y="0"/>
                    </a:moveTo>
                    <a:lnTo>
                      <a:pt x="16" y="3"/>
                    </a:lnTo>
                    <a:lnTo>
                      <a:pt x="14" y="15"/>
                    </a:lnTo>
                    <a:lnTo>
                      <a:pt x="10" y="16"/>
                    </a:lnTo>
                    <a:lnTo>
                      <a:pt x="0" y="0"/>
                    </a:lnTo>
                    <a:lnTo>
                      <a:pt x="5"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7" name="Freeform 620"/>
              <p:cNvSpPr>
                <a:spLocks noChangeAspect="1"/>
              </p:cNvSpPr>
              <p:nvPr/>
            </p:nvSpPr>
            <p:spPr bwMode="auto">
              <a:xfrm>
                <a:off x="563" y="3426"/>
                <a:ext cx="17" cy="17"/>
              </a:xfrm>
              <a:custGeom>
                <a:avLst/>
                <a:gdLst>
                  <a:gd name="T0" fmla="*/ 5 w 17"/>
                  <a:gd name="T1" fmla="*/ 0 h 17"/>
                  <a:gd name="T2" fmla="*/ 16 w 17"/>
                  <a:gd name="T3" fmla="*/ 3 h 17"/>
                  <a:gd name="T4" fmla="*/ 14 w 17"/>
                  <a:gd name="T5" fmla="*/ 15 h 17"/>
                  <a:gd name="T6" fmla="*/ 10 w 17"/>
                  <a:gd name="T7" fmla="*/ 16 h 17"/>
                  <a:gd name="T8" fmla="*/ 0 w 17"/>
                  <a:gd name="T9" fmla="*/ 0 h 17"/>
                  <a:gd name="T10" fmla="*/ 5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5" y="0"/>
                    </a:moveTo>
                    <a:lnTo>
                      <a:pt x="16" y="3"/>
                    </a:lnTo>
                    <a:lnTo>
                      <a:pt x="14" y="15"/>
                    </a:lnTo>
                    <a:lnTo>
                      <a:pt x="10" y="16"/>
                    </a:lnTo>
                    <a:lnTo>
                      <a:pt x="0" y="0"/>
                    </a:lnTo>
                    <a:lnTo>
                      <a:pt x="5"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68" name="Freeform 621"/>
              <p:cNvSpPr>
                <a:spLocks noChangeAspect="1"/>
              </p:cNvSpPr>
              <p:nvPr/>
            </p:nvSpPr>
            <p:spPr bwMode="auto">
              <a:xfrm>
                <a:off x="558" y="3309"/>
                <a:ext cx="71" cy="24"/>
              </a:xfrm>
              <a:custGeom>
                <a:avLst/>
                <a:gdLst>
                  <a:gd name="T0" fmla="*/ 70 w 71"/>
                  <a:gd name="T1" fmla="*/ 4 h 24"/>
                  <a:gd name="T2" fmla="*/ 55 w 71"/>
                  <a:gd name="T3" fmla="*/ 0 h 24"/>
                  <a:gd name="T4" fmla="*/ 45 w 71"/>
                  <a:gd name="T5" fmla="*/ 1 h 24"/>
                  <a:gd name="T6" fmla="*/ 4 w 71"/>
                  <a:gd name="T7" fmla="*/ 15 h 24"/>
                  <a:gd name="T8" fmla="*/ 0 w 71"/>
                  <a:gd name="T9" fmla="*/ 19 h 24"/>
                  <a:gd name="T10" fmla="*/ 12 w 71"/>
                  <a:gd name="T11" fmla="*/ 23 h 24"/>
                  <a:gd name="T12" fmla="*/ 24 w 71"/>
                  <a:gd name="T13" fmla="*/ 21 h 24"/>
                  <a:gd name="T14" fmla="*/ 67 w 71"/>
                  <a:gd name="T15" fmla="*/ 7 h 24"/>
                  <a:gd name="T16" fmla="*/ 70 w 71"/>
                  <a:gd name="T17" fmla="*/ 4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24"/>
                  <a:gd name="T29" fmla="*/ 71 w 71"/>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24">
                    <a:moveTo>
                      <a:pt x="70" y="4"/>
                    </a:moveTo>
                    <a:lnTo>
                      <a:pt x="55" y="0"/>
                    </a:lnTo>
                    <a:lnTo>
                      <a:pt x="45" y="1"/>
                    </a:lnTo>
                    <a:lnTo>
                      <a:pt x="4" y="15"/>
                    </a:lnTo>
                    <a:lnTo>
                      <a:pt x="0" y="19"/>
                    </a:lnTo>
                    <a:lnTo>
                      <a:pt x="12" y="23"/>
                    </a:lnTo>
                    <a:lnTo>
                      <a:pt x="24" y="21"/>
                    </a:lnTo>
                    <a:lnTo>
                      <a:pt x="67" y="7"/>
                    </a:lnTo>
                    <a:lnTo>
                      <a:pt x="70"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69" name="Freeform 622"/>
              <p:cNvSpPr>
                <a:spLocks noChangeAspect="1"/>
              </p:cNvSpPr>
              <p:nvPr/>
            </p:nvSpPr>
            <p:spPr bwMode="auto">
              <a:xfrm>
                <a:off x="558" y="3309"/>
                <a:ext cx="75" cy="28"/>
              </a:xfrm>
              <a:custGeom>
                <a:avLst/>
                <a:gdLst>
                  <a:gd name="T0" fmla="*/ 74 w 75"/>
                  <a:gd name="T1" fmla="*/ 5 h 28"/>
                  <a:gd name="T2" fmla="*/ 58 w 75"/>
                  <a:gd name="T3" fmla="*/ 0 h 28"/>
                  <a:gd name="T4" fmla="*/ 47 w 75"/>
                  <a:gd name="T5" fmla="*/ 2 h 28"/>
                  <a:gd name="T6" fmla="*/ 5 w 75"/>
                  <a:gd name="T7" fmla="*/ 17 h 28"/>
                  <a:gd name="T8" fmla="*/ 0 w 75"/>
                  <a:gd name="T9" fmla="*/ 22 h 28"/>
                  <a:gd name="T10" fmla="*/ 13 w 75"/>
                  <a:gd name="T11" fmla="*/ 27 h 28"/>
                  <a:gd name="T12" fmla="*/ 26 w 75"/>
                  <a:gd name="T13" fmla="*/ 25 h 28"/>
                  <a:gd name="T14" fmla="*/ 70 w 75"/>
                  <a:gd name="T15" fmla="*/ 9 h 28"/>
                  <a:gd name="T16" fmla="*/ 74 w 75"/>
                  <a:gd name="T17" fmla="*/ 5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8"/>
                  <a:gd name="T29" fmla="*/ 75 w 7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8">
                    <a:moveTo>
                      <a:pt x="74" y="5"/>
                    </a:moveTo>
                    <a:lnTo>
                      <a:pt x="58" y="0"/>
                    </a:lnTo>
                    <a:lnTo>
                      <a:pt x="47" y="2"/>
                    </a:lnTo>
                    <a:lnTo>
                      <a:pt x="5" y="17"/>
                    </a:lnTo>
                    <a:lnTo>
                      <a:pt x="0" y="22"/>
                    </a:lnTo>
                    <a:lnTo>
                      <a:pt x="13" y="27"/>
                    </a:lnTo>
                    <a:lnTo>
                      <a:pt x="26" y="25"/>
                    </a:lnTo>
                    <a:lnTo>
                      <a:pt x="70" y="9"/>
                    </a:lnTo>
                    <a:lnTo>
                      <a:pt x="74" y="5"/>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70" name="Freeform 623"/>
              <p:cNvSpPr>
                <a:spLocks noChangeAspect="1"/>
              </p:cNvSpPr>
              <p:nvPr/>
            </p:nvSpPr>
            <p:spPr bwMode="auto">
              <a:xfrm>
                <a:off x="558" y="3308"/>
                <a:ext cx="71" cy="25"/>
              </a:xfrm>
              <a:custGeom>
                <a:avLst/>
                <a:gdLst>
                  <a:gd name="T0" fmla="*/ 70 w 71"/>
                  <a:gd name="T1" fmla="*/ 4 h 25"/>
                  <a:gd name="T2" fmla="*/ 55 w 71"/>
                  <a:gd name="T3" fmla="*/ 0 h 25"/>
                  <a:gd name="T4" fmla="*/ 45 w 71"/>
                  <a:gd name="T5" fmla="*/ 1 h 25"/>
                  <a:gd name="T6" fmla="*/ 4 w 71"/>
                  <a:gd name="T7" fmla="*/ 15 h 25"/>
                  <a:gd name="T8" fmla="*/ 0 w 71"/>
                  <a:gd name="T9" fmla="*/ 20 h 25"/>
                  <a:gd name="T10" fmla="*/ 12 w 71"/>
                  <a:gd name="T11" fmla="*/ 24 h 25"/>
                  <a:gd name="T12" fmla="*/ 24 w 71"/>
                  <a:gd name="T13" fmla="*/ 22 h 25"/>
                  <a:gd name="T14" fmla="*/ 67 w 71"/>
                  <a:gd name="T15" fmla="*/ 8 h 25"/>
                  <a:gd name="T16" fmla="*/ 70 w 71"/>
                  <a:gd name="T17" fmla="*/ 4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25"/>
                  <a:gd name="T29" fmla="*/ 71 w 71"/>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25">
                    <a:moveTo>
                      <a:pt x="70" y="4"/>
                    </a:moveTo>
                    <a:lnTo>
                      <a:pt x="55" y="0"/>
                    </a:lnTo>
                    <a:lnTo>
                      <a:pt x="45" y="1"/>
                    </a:lnTo>
                    <a:lnTo>
                      <a:pt x="4" y="15"/>
                    </a:lnTo>
                    <a:lnTo>
                      <a:pt x="0" y="20"/>
                    </a:lnTo>
                    <a:lnTo>
                      <a:pt x="12" y="24"/>
                    </a:lnTo>
                    <a:lnTo>
                      <a:pt x="24" y="22"/>
                    </a:lnTo>
                    <a:lnTo>
                      <a:pt x="67" y="8"/>
                    </a:lnTo>
                    <a:lnTo>
                      <a:pt x="70"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71" name="Freeform 624"/>
              <p:cNvSpPr>
                <a:spLocks noChangeAspect="1"/>
              </p:cNvSpPr>
              <p:nvPr/>
            </p:nvSpPr>
            <p:spPr bwMode="auto">
              <a:xfrm>
                <a:off x="558" y="3308"/>
                <a:ext cx="75" cy="29"/>
              </a:xfrm>
              <a:custGeom>
                <a:avLst/>
                <a:gdLst>
                  <a:gd name="T0" fmla="*/ 74 w 75"/>
                  <a:gd name="T1" fmla="*/ 5 h 29"/>
                  <a:gd name="T2" fmla="*/ 58 w 75"/>
                  <a:gd name="T3" fmla="*/ 0 h 29"/>
                  <a:gd name="T4" fmla="*/ 47 w 75"/>
                  <a:gd name="T5" fmla="*/ 2 h 29"/>
                  <a:gd name="T6" fmla="*/ 5 w 75"/>
                  <a:gd name="T7" fmla="*/ 18 h 29"/>
                  <a:gd name="T8" fmla="*/ 0 w 75"/>
                  <a:gd name="T9" fmla="*/ 24 h 29"/>
                  <a:gd name="T10" fmla="*/ 13 w 75"/>
                  <a:gd name="T11" fmla="*/ 28 h 29"/>
                  <a:gd name="T12" fmla="*/ 26 w 75"/>
                  <a:gd name="T13" fmla="*/ 26 h 29"/>
                  <a:gd name="T14" fmla="*/ 70 w 75"/>
                  <a:gd name="T15" fmla="*/ 9 h 29"/>
                  <a:gd name="T16" fmla="*/ 74 w 75"/>
                  <a:gd name="T17" fmla="*/ 5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5"/>
                  <a:gd name="T28" fmla="*/ 0 h 29"/>
                  <a:gd name="T29" fmla="*/ 75 w 75"/>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5" h="29">
                    <a:moveTo>
                      <a:pt x="74" y="5"/>
                    </a:moveTo>
                    <a:lnTo>
                      <a:pt x="58" y="0"/>
                    </a:lnTo>
                    <a:lnTo>
                      <a:pt x="47" y="2"/>
                    </a:lnTo>
                    <a:lnTo>
                      <a:pt x="5" y="18"/>
                    </a:lnTo>
                    <a:lnTo>
                      <a:pt x="0" y="24"/>
                    </a:lnTo>
                    <a:lnTo>
                      <a:pt x="13" y="28"/>
                    </a:lnTo>
                    <a:lnTo>
                      <a:pt x="26" y="26"/>
                    </a:lnTo>
                    <a:lnTo>
                      <a:pt x="70" y="9"/>
                    </a:lnTo>
                    <a:lnTo>
                      <a:pt x="74" y="5"/>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72" name="Freeform 625"/>
              <p:cNvSpPr>
                <a:spLocks noChangeAspect="1"/>
              </p:cNvSpPr>
              <p:nvPr/>
            </p:nvSpPr>
            <p:spPr bwMode="auto">
              <a:xfrm>
                <a:off x="575" y="3322"/>
                <a:ext cx="17" cy="1"/>
              </a:xfrm>
              <a:custGeom>
                <a:avLst/>
                <a:gdLst>
                  <a:gd name="T0" fmla="*/ 0 w 17"/>
                  <a:gd name="T1" fmla="*/ 0 h 1"/>
                  <a:gd name="T2" fmla="*/ 5 w 17"/>
                  <a:gd name="T3" fmla="*/ 0 h 1"/>
                  <a:gd name="T4" fmla="*/ 16 w 17"/>
                  <a:gd name="T5" fmla="*/ 0 h 1"/>
                  <a:gd name="T6" fmla="*/ 5 w 17"/>
                  <a:gd name="T7" fmla="*/ 0 h 1"/>
                  <a:gd name="T8" fmla="*/ 0 w 17"/>
                  <a:gd name="T9" fmla="*/ 0 h 1"/>
                  <a:gd name="T10" fmla="*/ 0 60000 65536"/>
                  <a:gd name="T11" fmla="*/ 0 60000 65536"/>
                  <a:gd name="T12" fmla="*/ 0 60000 65536"/>
                  <a:gd name="T13" fmla="*/ 0 60000 65536"/>
                  <a:gd name="T14" fmla="*/ 0 60000 65536"/>
                  <a:gd name="T15" fmla="*/ 0 w 17"/>
                  <a:gd name="T16" fmla="*/ 0 h 1"/>
                  <a:gd name="T17" fmla="*/ 17 w 17"/>
                  <a:gd name="T18" fmla="*/ 1 h 1"/>
                </a:gdLst>
                <a:ahLst/>
                <a:cxnLst>
                  <a:cxn ang="T10">
                    <a:pos x="T0" y="T1"/>
                  </a:cxn>
                  <a:cxn ang="T11">
                    <a:pos x="T2" y="T3"/>
                  </a:cxn>
                  <a:cxn ang="T12">
                    <a:pos x="T4" y="T5"/>
                  </a:cxn>
                  <a:cxn ang="T13">
                    <a:pos x="T6" y="T7"/>
                  </a:cxn>
                  <a:cxn ang="T14">
                    <a:pos x="T8" y="T9"/>
                  </a:cxn>
                </a:cxnLst>
                <a:rect l="T15" t="T16" r="T17" b="T18"/>
                <a:pathLst>
                  <a:path w="17" h="1">
                    <a:moveTo>
                      <a:pt x="0" y="0"/>
                    </a:moveTo>
                    <a:lnTo>
                      <a:pt x="5" y="0"/>
                    </a:lnTo>
                    <a:lnTo>
                      <a:pt x="16" y="0"/>
                    </a:lnTo>
                    <a:lnTo>
                      <a:pt x="5"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73" name="Freeform 626"/>
              <p:cNvSpPr>
                <a:spLocks noChangeAspect="1"/>
              </p:cNvSpPr>
              <p:nvPr/>
            </p:nvSpPr>
            <p:spPr bwMode="auto">
              <a:xfrm>
                <a:off x="575" y="3322"/>
                <a:ext cx="17" cy="17"/>
              </a:xfrm>
              <a:custGeom>
                <a:avLst/>
                <a:gdLst>
                  <a:gd name="T0" fmla="*/ 0 w 17"/>
                  <a:gd name="T1" fmla="*/ 12 h 17"/>
                  <a:gd name="T2" fmla="*/ 2 w 17"/>
                  <a:gd name="T3" fmla="*/ 3 h 17"/>
                  <a:gd name="T4" fmla="*/ 6 w 17"/>
                  <a:gd name="T5" fmla="*/ 0 h 17"/>
                  <a:gd name="T6" fmla="*/ 16 w 17"/>
                  <a:gd name="T7" fmla="*/ 0 h 17"/>
                  <a:gd name="T8" fmla="*/ 16 w 17"/>
                  <a:gd name="T9" fmla="*/ 12 h 17"/>
                  <a:gd name="T10" fmla="*/ 6 w 17"/>
                  <a:gd name="T11" fmla="*/ 16 h 17"/>
                  <a:gd name="T12" fmla="*/ 0 w 17"/>
                  <a:gd name="T13" fmla="*/ 1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2"/>
                    </a:moveTo>
                    <a:lnTo>
                      <a:pt x="2" y="3"/>
                    </a:lnTo>
                    <a:lnTo>
                      <a:pt x="6" y="0"/>
                    </a:lnTo>
                    <a:lnTo>
                      <a:pt x="16" y="0"/>
                    </a:lnTo>
                    <a:lnTo>
                      <a:pt x="16" y="12"/>
                    </a:lnTo>
                    <a:lnTo>
                      <a:pt x="6" y="16"/>
                    </a:lnTo>
                    <a:lnTo>
                      <a:pt x="0" y="12"/>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74" name="Freeform 627"/>
              <p:cNvSpPr>
                <a:spLocks noChangeAspect="1"/>
              </p:cNvSpPr>
              <p:nvPr/>
            </p:nvSpPr>
            <p:spPr bwMode="auto">
              <a:xfrm>
                <a:off x="633" y="3354"/>
                <a:ext cx="54" cy="98"/>
              </a:xfrm>
              <a:custGeom>
                <a:avLst/>
                <a:gdLst>
                  <a:gd name="T0" fmla="*/ 3 w 54"/>
                  <a:gd name="T1" fmla="*/ 40 h 98"/>
                  <a:gd name="T2" fmla="*/ 6 w 54"/>
                  <a:gd name="T3" fmla="*/ 30 h 98"/>
                  <a:gd name="T4" fmla="*/ 10 w 54"/>
                  <a:gd name="T5" fmla="*/ 23 h 98"/>
                  <a:gd name="T6" fmla="*/ 15 w 54"/>
                  <a:gd name="T7" fmla="*/ 15 h 98"/>
                  <a:gd name="T8" fmla="*/ 19 w 54"/>
                  <a:gd name="T9" fmla="*/ 9 h 98"/>
                  <a:gd name="T10" fmla="*/ 24 w 54"/>
                  <a:gd name="T11" fmla="*/ 4 h 98"/>
                  <a:gd name="T12" fmla="*/ 29 w 54"/>
                  <a:gd name="T13" fmla="*/ 1 h 98"/>
                  <a:gd name="T14" fmla="*/ 35 w 54"/>
                  <a:gd name="T15" fmla="*/ 0 h 98"/>
                  <a:gd name="T16" fmla="*/ 39 w 54"/>
                  <a:gd name="T17" fmla="*/ 0 h 98"/>
                  <a:gd name="T18" fmla="*/ 44 w 54"/>
                  <a:gd name="T19" fmla="*/ 3 h 98"/>
                  <a:gd name="T20" fmla="*/ 47 w 54"/>
                  <a:gd name="T21" fmla="*/ 8 h 98"/>
                  <a:gd name="T22" fmla="*/ 52 w 54"/>
                  <a:gd name="T23" fmla="*/ 20 h 98"/>
                  <a:gd name="T24" fmla="*/ 53 w 54"/>
                  <a:gd name="T25" fmla="*/ 29 h 98"/>
                  <a:gd name="T26" fmla="*/ 53 w 54"/>
                  <a:gd name="T27" fmla="*/ 37 h 98"/>
                  <a:gd name="T28" fmla="*/ 52 w 54"/>
                  <a:gd name="T29" fmla="*/ 46 h 98"/>
                  <a:gd name="T30" fmla="*/ 50 w 54"/>
                  <a:gd name="T31" fmla="*/ 56 h 98"/>
                  <a:gd name="T32" fmla="*/ 47 w 54"/>
                  <a:gd name="T33" fmla="*/ 66 h 98"/>
                  <a:gd name="T34" fmla="*/ 44 w 54"/>
                  <a:gd name="T35" fmla="*/ 73 h 98"/>
                  <a:gd name="T36" fmla="*/ 39 w 54"/>
                  <a:gd name="T37" fmla="*/ 81 h 98"/>
                  <a:gd name="T38" fmla="*/ 35 w 54"/>
                  <a:gd name="T39" fmla="*/ 87 h 98"/>
                  <a:gd name="T40" fmla="*/ 30 w 54"/>
                  <a:gd name="T41" fmla="*/ 92 h 98"/>
                  <a:gd name="T42" fmla="*/ 24 w 54"/>
                  <a:gd name="T43" fmla="*/ 95 h 98"/>
                  <a:gd name="T44" fmla="*/ 19 w 54"/>
                  <a:gd name="T45" fmla="*/ 97 h 98"/>
                  <a:gd name="T46" fmla="*/ 14 w 54"/>
                  <a:gd name="T47" fmla="*/ 96 h 98"/>
                  <a:gd name="T48" fmla="*/ 9 w 54"/>
                  <a:gd name="T49" fmla="*/ 93 h 98"/>
                  <a:gd name="T50" fmla="*/ 5 w 54"/>
                  <a:gd name="T51" fmla="*/ 88 h 98"/>
                  <a:gd name="T52" fmla="*/ 1 w 54"/>
                  <a:gd name="T53" fmla="*/ 75 h 98"/>
                  <a:gd name="T54" fmla="*/ 0 w 54"/>
                  <a:gd name="T55" fmla="*/ 68 h 98"/>
                  <a:gd name="T56" fmla="*/ 0 w 54"/>
                  <a:gd name="T57" fmla="*/ 59 h 98"/>
                  <a:gd name="T58" fmla="*/ 1 w 54"/>
                  <a:gd name="T59" fmla="*/ 49 h 98"/>
                  <a:gd name="T60" fmla="*/ 3 w 54"/>
                  <a:gd name="T61" fmla="*/ 40 h 9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4"/>
                  <a:gd name="T94" fmla="*/ 0 h 98"/>
                  <a:gd name="T95" fmla="*/ 54 w 54"/>
                  <a:gd name="T96" fmla="*/ 98 h 9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4" h="98">
                    <a:moveTo>
                      <a:pt x="3" y="40"/>
                    </a:moveTo>
                    <a:lnTo>
                      <a:pt x="6" y="30"/>
                    </a:lnTo>
                    <a:lnTo>
                      <a:pt x="10" y="23"/>
                    </a:lnTo>
                    <a:lnTo>
                      <a:pt x="15" y="15"/>
                    </a:lnTo>
                    <a:lnTo>
                      <a:pt x="19" y="9"/>
                    </a:lnTo>
                    <a:lnTo>
                      <a:pt x="24" y="4"/>
                    </a:lnTo>
                    <a:lnTo>
                      <a:pt x="29" y="1"/>
                    </a:lnTo>
                    <a:lnTo>
                      <a:pt x="35" y="0"/>
                    </a:lnTo>
                    <a:lnTo>
                      <a:pt x="39" y="0"/>
                    </a:lnTo>
                    <a:lnTo>
                      <a:pt x="44" y="3"/>
                    </a:lnTo>
                    <a:lnTo>
                      <a:pt x="47" y="8"/>
                    </a:lnTo>
                    <a:lnTo>
                      <a:pt x="52" y="20"/>
                    </a:lnTo>
                    <a:lnTo>
                      <a:pt x="53" y="29"/>
                    </a:lnTo>
                    <a:lnTo>
                      <a:pt x="53" y="37"/>
                    </a:lnTo>
                    <a:lnTo>
                      <a:pt x="52" y="46"/>
                    </a:lnTo>
                    <a:lnTo>
                      <a:pt x="50" y="56"/>
                    </a:lnTo>
                    <a:lnTo>
                      <a:pt x="47" y="66"/>
                    </a:lnTo>
                    <a:lnTo>
                      <a:pt x="44" y="73"/>
                    </a:lnTo>
                    <a:lnTo>
                      <a:pt x="39" y="81"/>
                    </a:lnTo>
                    <a:lnTo>
                      <a:pt x="35" y="87"/>
                    </a:lnTo>
                    <a:lnTo>
                      <a:pt x="30" y="92"/>
                    </a:lnTo>
                    <a:lnTo>
                      <a:pt x="24" y="95"/>
                    </a:lnTo>
                    <a:lnTo>
                      <a:pt x="19" y="97"/>
                    </a:lnTo>
                    <a:lnTo>
                      <a:pt x="14" y="96"/>
                    </a:lnTo>
                    <a:lnTo>
                      <a:pt x="9" y="93"/>
                    </a:lnTo>
                    <a:lnTo>
                      <a:pt x="5" y="88"/>
                    </a:lnTo>
                    <a:lnTo>
                      <a:pt x="1" y="75"/>
                    </a:lnTo>
                    <a:lnTo>
                      <a:pt x="0" y="68"/>
                    </a:lnTo>
                    <a:lnTo>
                      <a:pt x="0" y="59"/>
                    </a:lnTo>
                    <a:lnTo>
                      <a:pt x="1" y="49"/>
                    </a:lnTo>
                    <a:lnTo>
                      <a:pt x="3" y="4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75" name="Freeform 628"/>
              <p:cNvSpPr>
                <a:spLocks noChangeAspect="1"/>
              </p:cNvSpPr>
              <p:nvPr/>
            </p:nvSpPr>
            <p:spPr bwMode="auto">
              <a:xfrm>
                <a:off x="641" y="3367"/>
                <a:ext cx="42" cy="71"/>
              </a:xfrm>
              <a:custGeom>
                <a:avLst/>
                <a:gdLst>
                  <a:gd name="T0" fmla="*/ 1 w 42"/>
                  <a:gd name="T1" fmla="*/ 28 h 71"/>
                  <a:gd name="T2" fmla="*/ 6 w 42"/>
                  <a:gd name="T3" fmla="*/ 16 h 71"/>
                  <a:gd name="T4" fmla="*/ 10 w 42"/>
                  <a:gd name="T5" fmla="*/ 11 h 71"/>
                  <a:gd name="T6" fmla="*/ 14 w 42"/>
                  <a:gd name="T7" fmla="*/ 6 h 71"/>
                  <a:gd name="T8" fmla="*/ 17 w 42"/>
                  <a:gd name="T9" fmla="*/ 3 h 71"/>
                  <a:gd name="T10" fmla="*/ 21 w 42"/>
                  <a:gd name="T11" fmla="*/ 1 h 71"/>
                  <a:gd name="T12" fmla="*/ 26 w 42"/>
                  <a:gd name="T13" fmla="*/ 0 h 71"/>
                  <a:gd name="T14" fmla="*/ 29 w 42"/>
                  <a:gd name="T15" fmla="*/ 1 h 71"/>
                  <a:gd name="T16" fmla="*/ 33 w 42"/>
                  <a:gd name="T17" fmla="*/ 3 h 71"/>
                  <a:gd name="T18" fmla="*/ 36 w 42"/>
                  <a:gd name="T19" fmla="*/ 5 h 71"/>
                  <a:gd name="T20" fmla="*/ 37 w 42"/>
                  <a:gd name="T21" fmla="*/ 10 h 71"/>
                  <a:gd name="T22" fmla="*/ 40 w 42"/>
                  <a:gd name="T23" fmla="*/ 15 h 71"/>
                  <a:gd name="T24" fmla="*/ 41 w 42"/>
                  <a:gd name="T25" fmla="*/ 27 h 71"/>
                  <a:gd name="T26" fmla="*/ 38 w 42"/>
                  <a:gd name="T27" fmla="*/ 42 h 71"/>
                  <a:gd name="T28" fmla="*/ 33 w 42"/>
                  <a:gd name="T29" fmla="*/ 54 h 71"/>
                  <a:gd name="T30" fmla="*/ 30 w 42"/>
                  <a:gd name="T31" fmla="*/ 59 h 71"/>
                  <a:gd name="T32" fmla="*/ 26 w 42"/>
                  <a:gd name="T33" fmla="*/ 64 h 71"/>
                  <a:gd name="T34" fmla="*/ 23 w 42"/>
                  <a:gd name="T35" fmla="*/ 66 h 71"/>
                  <a:gd name="T36" fmla="*/ 19 w 42"/>
                  <a:gd name="T37" fmla="*/ 69 h 71"/>
                  <a:gd name="T38" fmla="*/ 15 w 42"/>
                  <a:gd name="T39" fmla="*/ 70 h 71"/>
                  <a:gd name="T40" fmla="*/ 10 w 42"/>
                  <a:gd name="T41" fmla="*/ 70 h 71"/>
                  <a:gd name="T42" fmla="*/ 7 w 42"/>
                  <a:gd name="T43" fmla="*/ 67 h 71"/>
                  <a:gd name="T44" fmla="*/ 4 w 42"/>
                  <a:gd name="T45" fmla="*/ 64 h 71"/>
                  <a:gd name="T46" fmla="*/ 2 w 42"/>
                  <a:gd name="T47" fmla="*/ 59 h 71"/>
                  <a:gd name="T48" fmla="*/ 0 w 42"/>
                  <a:gd name="T49" fmla="*/ 55 h 71"/>
                  <a:gd name="T50" fmla="*/ 0 w 42"/>
                  <a:gd name="T51" fmla="*/ 42 h 71"/>
                  <a:gd name="T52" fmla="*/ 1 w 42"/>
                  <a:gd name="T53" fmla="*/ 28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2"/>
                  <a:gd name="T82" fmla="*/ 0 h 71"/>
                  <a:gd name="T83" fmla="*/ 42 w 42"/>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2" h="71">
                    <a:moveTo>
                      <a:pt x="1" y="28"/>
                    </a:moveTo>
                    <a:lnTo>
                      <a:pt x="6" y="16"/>
                    </a:lnTo>
                    <a:lnTo>
                      <a:pt x="10" y="11"/>
                    </a:lnTo>
                    <a:lnTo>
                      <a:pt x="14" y="6"/>
                    </a:lnTo>
                    <a:lnTo>
                      <a:pt x="17" y="3"/>
                    </a:lnTo>
                    <a:lnTo>
                      <a:pt x="21" y="1"/>
                    </a:lnTo>
                    <a:lnTo>
                      <a:pt x="26" y="0"/>
                    </a:lnTo>
                    <a:lnTo>
                      <a:pt x="29" y="1"/>
                    </a:lnTo>
                    <a:lnTo>
                      <a:pt x="33" y="3"/>
                    </a:lnTo>
                    <a:lnTo>
                      <a:pt x="36" y="5"/>
                    </a:lnTo>
                    <a:lnTo>
                      <a:pt x="37" y="10"/>
                    </a:lnTo>
                    <a:lnTo>
                      <a:pt x="40" y="15"/>
                    </a:lnTo>
                    <a:lnTo>
                      <a:pt x="41" y="27"/>
                    </a:lnTo>
                    <a:lnTo>
                      <a:pt x="38" y="42"/>
                    </a:lnTo>
                    <a:lnTo>
                      <a:pt x="33" y="54"/>
                    </a:lnTo>
                    <a:lnTo>
                      <a:pt x="30" y="59"/>
                    </a:lnTo>
                    <a:lnTo>
                      <a:pt x="26" y="64"/>
                    </a:lnTo>
                    <a:lnTo>
                      <a:pt x="23" y="66"/>
                    </a:lnTo>
                    <a:lnTo>
                      <a:pt x="19" y="69"/>
                    </a:lnTo>
                    <a:lnTo>
                      <a:pt x="15" y="70"/>
                    </a:lnTo>
                    <a:lnTo>
                      <a:pt x="10" y="70"/>
                    </a:lnTo>
                    <a:lnTo>
                      <a:pt x="7" y="67"/>
                    </a:lnTo>
                    <a:lnTo>
                      <a:pt x="4" y="64"/>
                    </a:lnTo>
                    <a:lnTo>
                      <a:pt x="2" y="59"/>
                    </a:lnTo>
                    <a:lnTo>
                      <a:pt x="0" y="55"/>
                    </a:lnTo>
                    <a:lnTo>
                      <a:pt x="0" y="42"/>
                    </a:lnTo>
                    <a:lnTo>
                      <a:pt x="1" y="28"/>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76" name="Freeform 629"/>
              <p:cNvSpPr>
                <a:spLocks noChangeAspect="1"/>
              </p:cNvSpPr>
              <p:nvPr/>
            </p:nvSpPr>
            <p:spPr bwMode="auto">
              <a:xfrm>
                <a:off x="642" y="3369"/>
                <a:ext cx="37" cy="68"/>
              </a:xfrm>
              <a:custGeom>
                <a:avLst/>
                <a:gdLst>
                  <a:gd name="T0" fmla="*/ 2 w 37"/>
                  <a:gd name="T1" fmla="*/ 27 h 68"/>
                  <a:gd name="T2" fmla="*/ 7 w 37"/>
                  <a:gd name="T3" fmla="*/ 16 h 68"/>
                  <a:gd name="T4" fmla="*/ 9 w 37"/>
                  <a:gd name="T5" fmla="*/ 11 h 68"/>
                  <a:gd name="T6" fmla="*/ 13 w 37"/>
                  <a:gd name="T7" fmla="*/ 6 h 68"/>
                  <a:gd name="T8" fmla="*/ 16 w 37"/>
                  <a:gd name="T9" fmla="*/ 3 h 68"/>
                  <a:gd name="T10" fmla="*/ 21 w 37"/>
                  <a:gd name="T11" fmla="*/ 0 h 68"/>
                  <a:gd name="T12" fmla="*/ 23 w 37"/>
                  <a:gd name="T13" fmla="*/ 0 h 68"/>
                  <a:gd name="T14" fmla="*/ 27 w 37"/>
                  <a:gd name="T15" fmla="*/ 0 h 68"/>
                  <a:gd name="T16" fmla="*/ 29 w 37"/>
                  <a:gd name="T17" fmla="*/ 2 h 68"/>
                  <a:gd name="T18" fmla="*/ 32 w 37"/>
                  <a:gd name="T19" fmla="*/ 5 h 68"/>
                  <a:gd name="T20" fmla="*/ 35 w 37"/>
                  <a:gd name="T21" fmla="*/ 14 h 68"/>
                  <a:gd name="T22" fmla="*/ 36 w 37"/>
                  <a:gd name="T23" fmla="*/ 25 h 68"/>
                  <a:gd name="T24" fmla="*/ 35 w 37"/>
                  <a:gd name="T25" fmla="*/ 32 h 68"/>
                  <a:gd name="T26" fmla="*/ 32 w 37"/>
                  <a:gd name="T27" fmla="*/ 38 h 68"/>
                  <a:gd name="T28" fmla="*/ 28 w 37"/>
                  <a:gd name="T29" fmla="*/ 51 h 68"/>
                  <a:gd name="T30" fmla="*/ 26 w 37"/>
                  <a:gd name="T31" fmla="*/ 55 h 68"/>
                  <a:gd name="T32" fmla="*/ 23 w 37"/>
                  <a:gd name="T33" fmla="*/ 60 h 68"/>
                  <a:gd name="T34" fmla="*/ 19 w 37"/>
                  <a:gd name="T35" fmla="*/ 63 h 68"/>
                  <a:gd name="T36" fmla="*/ 16 w 37"/>
                  <a:gd name="T37" fmla="*/ 65 h 68"/>
                  <a:gd name="T38" fmla="*/ 12 w 37"/>
                  <a:gd name="T39" fmla="*/ 67 h 68"/>
                  <a:gd name="T40" fmla="*/ 9 w 37"/>
                  <a:gd name="T41" fmla="*/ 65 h 68"/>
                  <a:gd name="T42" fmla="*/ 5 w 37"/>
                  <a:gd name="T43" fmla="*/ 63 h 68"/>
                  <a:gd name="T44" fmla="*/ 4 w 37"/>
                  <a:gd name="T45" fmla="*/ 61 h 68"/>
                  <a:gd name="T46" fmla="*/ 0 w 37"/>
                  <a:gd name="T47" fmla="*/ 53 h 68"/>
                  <a:gd name="T48" fmla="*/ 0 w 37"/>
                  <a:gd name="T49" fmla="*/ 41 h 68"/>
                  <a:gd name="T50" fmla="*/ 0 w 37"/>
                  <a:gd name="T51" fmla="*/ 34 h 68"/>
                  <a:gd name="T52" fmla="*/ 2 w 37"/>
                  <a:gd name="T53" fmla="*/ 27 h 6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7"/>
                  <a:gd name="T82" fmla="*/ 0 h 68"/>
                  <a:gd name="T83" fmla="*/ 37 w 37"/>
                  <a:gd name="T84" fmla="*/ 68 h 6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7" h="68">
                    <a:moveTo>
                      <a:pt x="2" y="27"/>
                    </a:moveTo>
                    <a:lnTo>
                      <a:pt x="7" y="16"/>
                    </a:lnTo>
                    <a:lnTo>
                      <a:pt x="9" y="11"/>
                    </a:lnTo>
                    <a:lnTo>
                      <a:pt x="13" y="6"/>
                    </a:lnTo>
                    <a:lnTo>
                      <a:pt x="16" y="3"/>
                    </a:lnTo>
                    <a:lnTo>
                      <a:pt x="21" y="0"/>
                    </a:lnTo>
                    <a:lnTo>
                      <a:pt x="23" y="0"/>
                    </a:lnTo>
                    <a:lnTo>
                      <a:pt x="27" y="0"/>
                    </a:lnTo>
                    <a:lnTo>
                      <a:pt x="29" y="2"/>
                    </a:lnTo>
                    <a:lnTo>
                      <a:pt x="32" y="5"/>
                    </a:lnTo>
                    <a:lnTo>
                      <a:pt x="35" y="14"/>
                    </a:lnTo>
                    <a:lnTo>
                      <a:pt x="36" y="25"/>
                    </a:lnTo>
                    <a:lnTo>
                      <a:pt x="35" y="32"/>
                    </a:lnTo>
                    <a:lnTo>
                      <a:pt x="32" y="38"/>
                    </a:lnTo>
                    <a:lnTo>
                      <a:pt x="28" y="51"/>
                    </a:lnTo>
                    <a:lnTo>
                      <a:pt x="26" y="55"/>
                    </a:lnTo>
                    <a:lnTo>
                      <a:pt x="23" y="60"/>
                    </a:lnTo>
                    <a:lnTo>
                      <a:pt x="19" y="63"/>
                    </a:lnTo>
                    <a:lnTo>
                      <a:pt x="16" y="65"/>
                    </a:lnTo>
                    <a:lnTo>
                      <a:pt x="12" y="67"/>
                    </a:lnTo>
                    <a:lnTo>
                      <a:pt x="9" y="65"/>
                    </a:lnTo>
                    <a:lnTo>
                      <a:pt x="5" y="63"/>
                    </a:lnTo>
                    <a:lnTo>
                      <a:pt x="4" y="61"/>
                    </a:lnTo>
                    <a:lnTo>
                      <a:pt x="0" y="53"/>
                    </a:lnTo>
                    <a:lnTo>
                      <a:pt x="0" y="41"/>
                    </a:lnTo>
                    <a:lnTo>
                      <a:pt x="0" y="34"/>
                    </a:lnTo>
                    <a:lnTo>
                      <a:pt x="2" y="27"/>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77" name="Freeform 630"/>
              <p:cNvSpPr>
                <a:spLocks noChangeAspect="1"/>
              </p:cNvSpPr>
              <p:nvPr/>
            </p:nvSpPr>
            <p:spPr bwMode="auto">
              <a:xfrm>
                <a:off x="598" y="3337"/>
                <a:ext cx="45" cy="106"/>
              </a:xfrm>
              <a:custGeom>
                <a:avLst/>
                <a:gdLst>
                  <a:gd name="T0" fmla="*/ 9 w 45"/>
                  <a:gd name="T1" fmla="*/ 105 h 106"/>
                  <a:gd name="T2" fmla="*/ 6 w 45"/>
                  <a:gd name="T3" fmla="*/ 101 h 106"/>
                  <a:gd name="T4" fmla="*/ 3 w 45"/>
                  <a:gd name="T5" fmla="*/ 95 h 106"/>
                  <a:gd name="T6" fmla="*/ 1 w 45"/>
                  <a:gd name="T7" fmla="*/ 87 h 106"/>
                  <a:gd name="T8" fmla="*/ 0 w 45"/>
                  <a:gd name="T9" fmla="*/ 80 h 106"/>
                  <a:gd name="T10" fmla="*/ 0 w 45"/>
                  <a:gd name="T11" fmla="*/ 61 h 106"/>
                  <a:gd name="T12" fmla="*/ 1 w 45"/>
                  <a:gd name="T13" fmla="*/ 52 h 106"/>
                  <a:gd name="T14" fmla="*/ 3 w 45"/>
                  <a:gd name="T15" fmla="*/ 42 h 106"/>
                  <a:gd name="T16" fmla="*/ 6 w 45"/>
                  <a:gd name="T17" fmla="*/ 32 h 106"/>
                  <a:gd name="T18" fmla="*/ 11 w 45"/>
                  <a:gd name="T19" fmla="*/ 24 h 106"/>
                  <a:gd name="T20" fmla="*/ 17 w 45"/>
                  <a:gd name="T21" fmla="*/ 16 h 106"/>
                  <a:gd name="T22" fmla="*/ 22 w 45"/>
                  <a:gd name="T23" fmla="*/ 10 h 106"/>
                  <a:gd name="T24" fmla="*/ 34 w 45"/>
                  <a:gd name="T25" fmla="*/ 1 h 106"/>
                  <a:gd name="T26" fmla="*/ 39 w 45"/>
                  <a:gd name="T27" fmla="*/ 0 h 106"/>
                  <a:gd name="T28" fmla="*/ 44 w 45"/>
                  <a:gd name="T29" fmla="*/ 0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106"/>
                  <a:gd name="T47" fmla="*/ 45 w 4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106">
                    <a:moveTo>
                      <a:pt x="9" y="105"/>
                    </a:moveTo>
                    <a:lnTo>
                      <a:pt x="6" y="101"/>
                    </a:lnTo>
                    <a:lnTo>
                      <a:pt x="3" y="95"/>
                    </a:lnTo>
                    <a:lnTo>
                      <a:pt x="1" y="87"/>
                    </a:lnTo>
                    <a:lnTo>
                      <a:pt x="0" y="80"/>
                    </a:lnTo>
                    <a:lnTo>
                      <a:pt x="0" y="61"/>
                    </a:lnTo>
                    <a:lnTo>
                      <a:pt x="1" y="52"/>
                    </a:lnTo>
                    <a:lnTo>
                      <a:pt x="3" y="42"/>
                    </a:lnTo>
                    <a:lnTo>
                      <a:pt x="6" y="32"/>
                    </a:lnTo>
                    <a:lnTo>
                      <a:pt x="11" y="24"/>
                    </a:lnTo>
                    <a:lnTo>
                      <a:pt x="17" y="16"/>
                    </a:lnTo>
                    <a:lnTo>
                      <a:pt x="22" y="10"/>
                    </a:lnTo>
                    <a:lnTo>
                      <a:pt x="34" y="1"/>
                    </a:lnTo>
                    <a:lnTo>
                      <a:pt x="39" y="0"/>
                    </a:lnTo>
                    <a:lnTo>
                      <a:pt x="44"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78" name="Freeform 631"/>
              <p:cNvSpPr>
                <a:spLocks noChangeAspect="1"/>
              </p:cNvSpPr>
              <p:nvPr/>
            </p:nvSpPr>
            <p:spPr bwMode="auto">
              <a:xfrm>
                <a:off x="599" y="3337"/>
                <a:ext cx="44" cy="106"/>
              </a:xfrm>
              <a:custGeom>
                <a:avLst/>
                <a:gdLst>
                  <a:gd name="T0" fmla="*/ 8 w 44"/>
                  <a:gd name="T1" fmla="*/ 105 h 106"/>
                  <a:gd name="T2" fmla="*/ 7 w 44"/>
                  <a:gd name="T3" fmla="*/ 103 h 106"/>
                  <a:gd name="T4" fmla="*/ 5 w 44"/>
                  <a:gd name="T5" fmla="*/ 101 h 106"/>
                  <a:gd name="T6" fmla="*/ 3 w 44"/>
                  <a:gd name="T7" fmla="*/ 95 h 106"/>
                  <a:gd name="T8" fmla="*/ 0 w 44"/>
                  <a:gd name="T9" fmla="*/ 81 h 106"/>
                  <a:gd name="T10" fmla="*/ 0 w 44"/>
                  <a:gd name="T11" fmla="*/ 62 h 106"/>
                  <a:gd name="T12" fmla="*/ 3 w 44"/>
                  <a:gd name="T13" fmla="*/ 42 h 106"/>
                  <a:gd name="T14" fmla="*/ 8 w 44"/>
                  <a:gd name="T15" fmla="*/ 31 h 106"/>
                  <a:gd name="T16" fmla="*/ 12 w 44"/>
                  <a:gd name="T17" fmla="*/ 22 h 106"/>
                  <a:gd name="T18" fmla="*/ 18 w 44"/>
                  <a:gd name="T19" fmla="*/ 14 h 106"/>
                  <a:gd name="T20" fmla="*/ 24 w 44"/>
                  <a:gd name="T21" fmla="*/ 8 h 106"/>
                  <a:gd name="T22" fmla="*/ 33 w 44"/>
                  <a:gd name="T23" fmla="*/ 0 h 106"/>
                  <a:gd name="T24" fmla="*/ 38 w 44"/>
                  <a:gd name="T25" fmla="*/ 0 h 106"/>
                  <a:gd name="T26" fmla="*/ 43 w 44"/>
                  <a:gd name="T27" fmla="*/ 0 h 10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106"/>
                  <a:gd name="T44" fmla="*/ 44 w 44"/>
                  <a:gd name="T45" fmla="*/ 106 h 10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106">
                    <a:moveTo>
                      <a:pt x="8" y="105"/>
                    </a:moveTo>
                    <a:lnTo>
                      <a:pt x="7" y="103"/>
                    </a:lnTo>
                    <a:lnTo>
                      <a:pt x="5" y="101"/>
                    </a:lnTo>
                    <a:lnTo>
                      <a:pt x="3" y="95"/>
                    </a:lnTo>
                    <a:lnTo>
                      <a:pt x="0" y="81"/>
                    </a:lnTo>
                    <a:lnTo>
                      <a:pt x="0" y="62"/>
                    </a:lnTo>
                    <a:lnTo>
                      <a:pt x="3" y="42"/>
                    </a:lnTo>
                    <a:lnTo>
                      <a:pt x="8" y="31"/>
                    </a:lnTo>
                    <a:lnTo>
                      <a:pt x="12" y="22"/>
                    </a:lnTo>
                    <a:lnTo>
                      <a:pt x="18" y="14"/>
                    </a:lnTo>
                    <a:lnTo>
                      <a:pt x="24" y="8"/>
                    </a:lnTo>
                    <a:lnTo>
                      <a:pt x="33" y="0"/>
                    </a:lnTo>
                    <a:lnTo>
                      <a:pt x="38" y="0"/>
                    </a:lnTo>
                    <a:lnTo>
                      <a:pt x="43"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79" name="Freeform 632"/>
              <p:cNvSpPr>
                <a:spLocks noChangeAspect="1"/>
              </p:cNvSpPr>
              <p:nvPr/>
            </p:nvSpPr>
            <p:spPr bwMode="auto">
              <a:xfrm>
                <a:off x="565" y="3345"/>
                <a:ext cx="17" cy="17"/>
              </a:xfrm>
              <a:custGeom>
                <a:avLst/>
                <a:gdLst>
                  <a:gd name="T0" fmla="*/ 16 w 17"/>
                  <a:gd name="T1" fmla="*/ 16 h 17"/>
                  <a:gd name="T2" fmla="*/ 2 w 17"/>
                  <a:gd name="T3" fmla="*/ 5 h 17"/>
                  <a:gd name="T4" fmla="*/ 0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16" y="16"/>
                    </a:moveTo>
                    <a:lnTo>
                      <a:pt x="2" y="5"/>
                    </a:lnTo>
                    <a:lnTo>
                      <a:pt x="0"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0" name="Freeform 633"/>
              <p:cNvSpPr>
                <a:spLocks noChangeAspect="1"/>
              </p:cNvSpPr>
              <p:nvPr/>
            </p:nvSpPr>
            <p:spPr bwMode="auto">
              <a:xfrm>
                <a:off x="563" y="3343"/>
                <a:ext cx="17" cy="18"/>
              </a:xfrm>
              <a:custGeom>
                <a:avLst/>
                <a:gdLst>
                  <a:gd name="T0" fmla="*/ 16 w 17"/>
                  <a:gd name="T1" fmla="*/ 17 h 18"/>
                  <a:gd name="T2" fmla="*/ 8 w 17"/>
                  <a:gd name="T3" fmla="*/ 12 h 18"/>
                  <a:gd name="T4" fmla="*/ 1 w 17"/>
                  <a:gd name="T5" fmla="*/ 8 h 18"/>
                  <a:gd name="T6" fmla="*/ 0 w 17"/>
                  <a:gd name="T7" fmla="*/ 0 h 18"/>
                  <a:gd name="T8" fmla="*/ 0 60000 65536"/>
                  <a:gd name="T9" fmla="*/ 0 60000 65536"/>
                  <a:gd name="T10" fmla="*/ 0 60000 65536"/>
                  <a:gd name="T11" fmla="*/ 0 60000 65536"/>
                  <a:gd name="T12" fmla="*/ 0 w 17"/>
                  <a:gd name="T13" fmla="*/ 0 h 18"/>
                  <a:gd name="T14" fmla="*/ 17 w 17"/>
                  <a:gd name="T15" fmla="*/ 18 h 18"/>
                </a:gdLst>
                <a:ahLst/>
                <a:cxnLst>
                  <a:cxn ang="T8">
                    <a:pos x="T0" y="T1"/>
                  </a:cxn>
                  <a:cxn ang="T9">
                    <a:pos x="T2" y="T3"/>
                  </a:cxn>
                  <a:cxn ang="T10">
                    <a:pos x="T4" y="T5"/>
                  </a:cxn>
                  <a:cxn ang="T11">
                    <a:pos x="T6" y="T7"/>
                  </a:cxn>
                </a:cxnLst>
                <a:rect l="T12" t="T13" r="T14" b="T15"/>
                <a:pathLst>
                  <a:path w="17" h="18">
                    <a:moveTo>
                      <a:pt x="16" y="17"/>
                    </a:moveTo>
                    <a:lnTo>
                      <a:pt x="8" y="12"/>
                    </a:lnTo>
                    <a:lnTo>
                      <a:pt x="1" y="8"/>
                    </a:lnTo>
                    <a:lnTo>
                      <a:pt x="0"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1" name="Freeform 634"/>
              <p:cNvSpPr>
                <a:spLocks noChangeAspect="1"/>
              </p:cNvSpPr>
              <p:nvPr/>
            </p:nvSpPr>
            <p:spPr bwMode="auto">
              <a:xfrm>
                <a:off x="561" y="3341"/>
                <a:ext cx="17" cy="23"/>
              </a:xfrm>
              <a:custGeom>
                <a:avLst/>
                <a:gdLst>
                  <a:gd name="T0" fmla="*/ 16 w 17"/>
                  <a:gd name="T1" fmla="*/ 22 h 23"/>
                  <a:gd name="T2" fmla="*/ 8 w 17"/>
                  <a:gd name="T3" fmla="*/ 17 h 23"/>
                  <a:gd name="T4" fmla="*/ 1 w 17"/>
                  <a:gd name="T5" fmla="*/ 11 h 23"/>
                  <a:gd name="T6" fmla="*/ 0 w 17"/>
                  <a:gd name="T7" fmla="*/ 5 h 23"/>
                  <a:gd name="T8" fmla="*/ 0 w 17"/>
                  <a:gd name="T9" fmla="*/ 0 h 23"/>
                  <a:gd name="T10" fmla="*/ 0 60000 65536"/>
                  <a:gd name="T11" fmla="*/ 0 60000 65536"/>
                  <a:gd name="T12" fmla="*/ 0 60000 65536"/>
                  <a:gd name="T13" fmla="*/ 0 60000 65536"/>
                  <a:gd name="T14" fmla="*/ 0 60000 65536"/>
                  <a:gd name="T15" fmla="*/ 0 w 17"/>
                  <a:gd name="T16" fmla="*/ 0 h 23"/>
                  <a:gd name="T17" fmla="*/ 17 w 17"/>
                  <a:gd name="T18" fmla="*/ 23 h 23"/>
                </a:gdLst>
                <a:ahLst/>
                <a:cxnLst>
                  <a:cxn ang="T10">
                    <a:pos x="T0" y="T1"/>
                  </a:cxn>
                  <a:cxn ang="T11">
                    <a:pos x="T2" y="T3"/>
                  </a:cxn>
                  <a:cxn ang="T12">
                    <a:pos x="T4" y="T5"/>
                  </a:cxn>
                  <a:cxn ang="T13">
                    <a:pos x="T6" y="T7"/>
                  </a:cxn>
                  <a:cxn ang="T14">
                    <a:pos x="T8" y="T9"/>
                  </a:cxn>
                </a:cxnLst>
                <a:rect l="T15" t="T16" r="T17" b="T18"/>
                <a:pathLst>
                  <a:path w="17" h="23">
                    <a:moveTo>
                      <a:pt x="16" y="22"/>
                    </a:moveTo>
                    <a:lnTo>
                      <a:pt x="8" y="17"/>
                    </a:lnTo>
                    <a:lnTo>
                      <a:pt x="1" y="11"/>
                    </a:lnTo>
                    <a:lnTo>
                      <a:pt x="0" y="5"/>
                    </a:lnTo>
                    <a:lnTo>
                      <a:pt x="0"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2" name="Freeform 635"/>
              <p:cNvSpPr>
                <a:spLocks noChangeAspect="1"/>
              </p:cNvSpPr>
              <p:nvPr/>
            </p:nvSpPr>
            <p:spPr bwMode="auto">
              <a:xfrm>
                <a:off x="558" y="3341"/>
                <a:ext cx="17" cy="24"/>
              </a:xfrm>
              <a:custGeom>
                <a:avLst/>
                <a:gdLst>
                  <a:gd name="T0" fmla="*/ 16 w 17"/>
                  <a:gd name="T1" fmla="*/ 23 h 24"/>
                  <a:gd name="T2" fmla="*/ 12 w 17"/>
                  <a:gd name="T3" fmla="*/ 22 h 24"/>
                  <a:gd name="T4" fmla="*/ 7 w 17"/>
                  <a:gd name="T5" fmla="*/ 19 h 24"/>
                  <a:gd name="T6" fmla="*/ 3 w 17"/>
                  <a:gd name="T7" fmla="*/ 16 h 24"/>
                  <a:gd name="T8" fmla="*/ 1 w 17"/>
                  <a:gd name="T9" fmla="*/ 12 h 24"/>
                  <a:gd name="T10" fmla="*/ 0 w 17"/>
                  <a:gd name="T11" fmla="*/ 6 h 24"/>
                  <a:gd name="T12" fmla="*/ 1 w 17"/>
                  <a:gd name="T13" fmla="*/ 0 h 24"/>
                  <a:gd name="T14" fmla="*/ 0 60000 65536"/>
                  <a:gd name="T15" fmla="*/ 0 60000 65536"/>
                  <a:gd name="T16" fmla="*/ 0 60000 65536"/>
                  <a:gd name="T17" fmla="*/ 0 60000 65536"/>
                  <a:gd name="T18" fmla="*/ 0 60000 65536"/>
                  <a:gd name="T19" fmla="*/ 0 60000 65536"/>
                  <a:gd name="T20" fmla="*/ 0 60000 65536"/>
                  <a:gd name="T21" fmla="*/ 0 w 17"/>
                  <a:gd name="T22" fmla="*/ 0 h 24"/>
                  <a:gd name="T23" fmla="*/ 17 w 17"/>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4">
                    <a:moveTo>
                      <a:pt x="16" y="23"/>
                    </a:moveTo>
                    <a:lnTo>
                      <a:pt x="12" y="22"/>
                    </a:lnTo>
                    <a:lnTo>
                      <a:pt x="7" y="19"/>
                    </a:lnTo>
                    <a:lnTo>
                      <a:pt x="3" y="16"/>
                    </a:lnTo>
                    <a:lnTo>
                      <a:pt x="1" y="12"/>
                    </a:lnTo>
                    <a:lnTo>
                      <a:pt x="0" y="6"/>
                    </a:lnTo>
                    <a:lnTo>
                      <a:pt x="1"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3" name="Freeform 636"/>
              <p:cNvSpPr>
                <a:spLocks noChangeAspect="1"/>
              </p:cNvSpPr>
              <p:nvPr/>
            </p:nvSpPr>
            <p:spPr bwMode="auto">
              <a:xfrm>
                <a:off x="556" y="3341"/>
                <a:ext cx="17" cy="26"/>
              </a:xfrm>
              <a:custGeom>
                <a:avLst/>
                <a:gdLst>
                  <a:gd name="T0" fmla="*/ 16 w 17"/>
                  <a:gd name="T1" fmla="*/ 25 h 26"/>
                  <a:gd name="T2" fmla="*/ 8 w 17"/>
                  <a:gd name="T3" fmla="*/ 21 h 26"/>
                  <a:gd name="T4" fmla="*/ 4 w 17"/>
                  <a:gd name="T5" fmla="*/ 17 h 26"/>
                  <a:gd name="T6" fmla="*/ 1 w 17"/>
                  <a:gd name="T7" fmla="*/ 13 h 26"/>
                  <a:gd name="T8" fmla="*/ 0 w 17"/>
                  <a:gd name="T9" fmla="*/ 6 h 26"/>
                  <a:gd name="T10" fmla="*/ 1 w 17"/>
                  <a:gd name="T11" fmla="*/ 0 h 26"/>
                  <a:gd name="T12" fmla="*/ 0 60000 65536"/>
                  <a:gd name="T13" fmla="*/ 0 60000 65536"/>
                  <a:gd name="T14" fmla="*/ 0 60000 65536"/>
                  <a:gd name="T15" fmla="*/ 0 60000 65536"/>
                  <a:gd name="T16" fmla="*/ 0 60000 65536"/>
                  <a:gd name="T17" fmla="*/ 0 60000 65536"/>
                  <a:gd name="T18" fmla="*/ 0 w 17"/>
                  <a:gd name="T19" fmla="*/ 0 h 26"/>
                  <a:gd name="T20" fmla="*/ 17 w 17"/>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7" h="26">
                    <a:moveTo>
                      <a:pt x="16" y="25"/>
                    </a:moveTo>
                    <a:lnTo>
                      <a:pt x="8" y="21"/>
                    </a:lnTo>
                    <a:lnTo>
                      <a:pt x="4" y="17"/>
                    </a:lnTo>
                    <a:lnTo>
                      <a:pt x="1" y="13"/>
                    </a:lnTo>
                    <a:lnTo>
                      <a:pt x="0" y="6"/>
                    </a:lnTo>
                    <a:lnTo>
                      <a:pt x="1"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4" name="Freeform 637"/>
              <p:cNvSpPr>
                <a:spLocks noChangeAspect="1"/>
              </p:cNvSpPr>
              <p:nvPr/>
            </p:nvSpPr>
            <p:spPr bwMode="auto">
              <a:xfrm>
                <a:off x="556" y="3341"/>
                <a:ext cx="17" cy="27"/>
              </a:xfrm>
              <a:custGeom>
                <a:avLst/>
                <a:gdLst>
                  <a:gd name="T0" fmla="*/ 16 w 17"/>
                  <a:gd name="T1" fmla="*/ 26 h 27"/>
                  <a:gd name="T2" fmla="*/ 11 w 17"/>
                  <a:gd name="T3" fmla="*/ 26 h 27"/>
                  <a:gd name="T4" fmla="*/ 7 w 17"/>
                  <a:gd name="T5" fmla="*/ 23 h 27"/>
                  <a:gd name="T6" fmla="*/ 0 w 17"/>
                  <a:gd name="T7" fmla="*/ 14 h 27"/>
                  <a:gd name="T8" fmla="*/ 0 w 17"/>
                  <a:gd name="T9" fmla="*/ 6 h 27"/>
                  <a:gd name="T10" fmla="*/ 0 w 17"/>
                  <a:gd name="T11" fmla="*/ 4 h 27"/>
                  <a:gd name="T12" fmla="*/ 1 w 17"/>
                  <a:gd name="T13" fmla="*/ 0 h 27"/>
                  <a:gd name="T14" fmla="*/ 0 60000 65536"/>
                  <a:gd name="T15" fmla="*/ 0 60000 65536"/>
                  <a:gd name="T16" fmla="*/ 0 60000 65536"/>
                  <a:gd name="T17" fmla="*/ 0 60000 65536"/>
                  <a:gd name="T18" fmla="*/ 0 60000 65536"/>
                  <a:gd name="T19" fmla="*/ 0 60000 65536"/>
                  <a:gd name="T20" fmla="*/ 0 60000 65536"/>
                  <a:gd name="T21" fmla="*/ 0 w 17"/>
                  <a:gd name="T22" fmla="*/ 0 h 27"/>
                  <a:gd name="T23" fmla="*/ 17 w 1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7">
                    <a:moveTo>
                      <a:pt x="16" y="26"/>
                    </a:moveTo>
                    <a:lnTo>
                      <a:pt x="11" y="26"/>
                    </a:lnTo>
                    <a:lnTo>
                      <a:pt x="7" y="23"/>
                    </a:lnTo>
                    <a:lnTo>
                      <a:pt x="0" y="14"/>
                    </a:lnTo>
                    <a:lnTo>
                      <a:pt x="0" y="6"/>
                    </a:lnTo>
                    <a:lnTo>
                      <a:pt x="0" y="4"/>
                    </a:lnTo>
                    <a:lnTo>
                      <a:pt x="1"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5" name="Freeform 638"/>
              <p:cNvSpPr>
                <a:spLocks noChangeAspect="1"/>
              </p:cNvSpPr>
              <p:nvPr/>
            </p:nvSpPr>
            <p:spPr bwMode="auto">
              <a:xfrm>
                <a:off x="554" y="3342"/>
                <a:ext cx="17" cy="28"/>
              </a:xfrm>
              <a:custGeom>
                <a:avLst/>
                <a:gdLst>
                  <a:gd name="T0" fmla="*/ 16 w 17"/>
                  <a:gd name="T1" fmla="*/ 27 h 28"/>
                  <a:gd name="T2" fmla="*/ 12 w 17"/>
                  <a:gd name="T3" fmla="*/ 27 h 28"/>
                  <a:gd name="T4" fmla="*/ 7 w 17"/>
                  <a:gd name="T5" fmla="*/ 24 h 28"/>
                  <a:gd name="T6" fmla="*/ 3 w 17"/>
                  <a:gd name="T7" fmla="*/ 21 h 28"/>
                  <a:gd name="T8" fmla="*/ 1 w 17"/>
                  <a:gd name="T9" fmla="*/ 15 h 28"/>
                  <a:gd name="T10" fmla="*/ 0 w 17"/>
                  <a:gd name="T11" fmla="*/ 6 h 28"/>
                  <a:gd name="T12" fmla="*/ 1 w 17"/>
                  <a:gd name="T13" fmla="*/ 3 h 28"/>
                  <a:gd name="T14" fmla="*/ 2 w 17"/>
                  <a:gd name="T15" fmla="*/ 0 h 28"/>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28"/>
                  <a:gd name="T26" fmla="*/ 17 w 1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28">
                    <a:moveTo>
                      <a:pt x="16" y="27"/>
                    </a:moveTo>
                    <a:lnTo>
                      <a:pt x="12" y="27"/>
                    </a:lnTo>
                    <a:lnTo>
                      <a:pt x="7" y="24"/>
                    </a:lnTo>
                    <a:lnTo>
                      <a:pt x="3" y="21"/>
                    </a:lnTo>
                    <a:lnTo>
                      <a:pt x="1" y="15"/>
                    </a:lnTo>
                    <a:lnTo>
                      <a:pt x="0" y="6"/>
                    </a:lnTo>
                    <a:lnTo>
                      <a:pt x="1" y="3"/>
                    </a:lnTo>
                    <a:lnTo>
                      <a:pt x="2"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6" name="Freeform 639"/>
              <p:cNvSpPr>
                <a:spLocks noChangeAspect="1"/>
              </p:cNvSpPr>
              <p:nvPr/>
            </p:nvSpPr>
            <p:spPr bwMode="auto">
              <a:xfrm>
                <a:off x="528" y="3314"/>
                <a:ext cx="44" cy="102"/>
              </a:xfrm>
              <a:custGeom>
                <a:avLst/>
                <a:gdLst>
                  <a:gd name="T0" fmla="*/ 11 w 44"/>
                  <a:gd name="T1" fmla="*/ 101 h 102"/>
                  <a:gd name="T2" fmla="*/ 7 w 44"/>
                  <a:gd name="T3" fmla="*/ 94 h 102"/>
                  <a:gd name="T4" fmla="*/ 4 w 44"/>
                  <a:gd name="T5" fmla="*/ 87 h 102"/>
                  <a:gd name="T6" fmla="*/ 2 w 44"/>
                  <a:gd name="T7" fmla="*/ 79 h 102"/>
                  <a:gd name="T8" fmla="*/ 0 w 44"/>
                  <a:gd name="T9" fmla="*/ 72 h 102"/>
                  <a:gd name="T10" fmla="*/ 0 w 44"/>
                  <a:gd name="T11" fmla="*/ 55 h 102"/>
                  <a:gd name="T12" fmla="*/ 2 w 44"/>
                  <a:gd name="T13" fmla="*/ 39 h 102"/>
                  <a:gd name="T14" fmla="*/ 6 w 44"/>
                  <a:gd name="T15" fmla="*/ 30 h 102"/>
                  <a:gd name="T16" fmla="*/ 11 w 44"/>
                  <a:gd name="T17" fmla="*/ 21 h 102"/>
                  <a:gd name="T18" fmla="*/ 15 w 44"/>
                  <a:gd name="T19" fmla="*/ 15 h 102"/>
                  <a:gd name="T20" fmla="*/ 21 w 44"/>
                  <a:gd name="T21" fmla="*/ 9 h 102"/>
                  <a:gd name="T22" fmla="*/ 27 w 44"/>
                  <a:gd name="T23" fmla="*/ 4 h 102"/>
                  <a:gd name="T24" fmla="*/ 32 w 44"/>
                  <a:gd name="T25" fmla="*/ 1 h 102"/>
                  <a:gd name="T26" fmla="*/ 37 w 44"/>
                  <a:gd name="T27" fmla="*/ 0 h 102"/>
                  <a:gd name="T28" fmla="*/ 43 w 44"/>
                  <a:gd name="T29" fmla="*/ 1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
                  <a:gd name="T46" fmla="*/ 0 h 102"/>
                  <a:gd name="T47" fmla="*/ 44 w 44"/>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 h="102">
                    <a:moveTo>
                      <a:pt x="11" y="101"/>
                    </a:moveTo>
                    <a:lnTo>
                      <a:pt x="7" y="94"/>
                    </a:lnTo>
                    <a:lnTo>
                      <a:pt x="4" y="87"/>
                    </a:lnTo>
                    <a:lnTo>
                      <a:pt x="2" y="79"/>
                    </a:lnTo>
                    <a:lnTo>
                      <a:pt x="0" y="72"/>
                    </a:lnTo>
                    <a:lnTo>
                      <a:pt x="0" y="55"/>
                    </a:lnTo>
                    <a:lnTo>
                      <a:pt x="2" y="39"/>
                    </a:lnTo>
                    <a:lnTo>
                      <a:pt x="6" y="30"/>
                    </a:lnTo>
                    <a:lnTo>
                      <a:pt x="11" y="21"/>
                    </a:lnTo>
                    <a:lnTo>
                      <a:pt x="15" y="15"/>
                    </a:lnTo>
                    <a:lnTo>
                      <a:pt x="21" y="9"/>
                    </a:lnTo>
                    <a:lnTo>
                      <a:pt x="27" y="4"/>
                    </a:lnTo>
                    <a:lnTo>
                      <a:pt x="32" y="1"/>
                    </a:lnTo>
                    <a:lnTo>
                      <a:pt x="37" y="0"/>
                    </a:lnTo>
                    <a:lnTo>
                      <a:pt x="43" y="1"/>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7" name="Freeform 640"/>
              <p:cNvSpPr>
                <a:spLocks noChangeAspect="1"/>
              </p:cNvSpPr>
              <p:nvPr/>
            </p:nvSpPr>
            <p:spPr bwMode="auto">
              <a:xfrm>
                <a:off x="530" y="3316"/>
                <a:ext cx="43" cy="101"/>
              </a:xfrm>
              <a:custGeom>
                <a:avLst/>
                <a:gdLst>
                  <a:gd name="T0" fmla="*/ 10 w 43"/>
                  <a:gd name="T1" fmla="*/ 100 h 101"/>
                  <a:gd name="T2" fmla="*/ 6 w 43"/>
                  <a:gd name="T3" fmla="*/ 92 h 101"/>
                  <a:gd name="T4" fmla="*/ 3 w 43"/>
                  <a:gd name="T5" fmla="*/ 84 h 101"/>
                  <a:gd name="T6" fmla="*/ 0 w 43"/>
                  <a:gd name="T7" fmla="*/ 68 h 101"/>
                  <a:gd name="T8" fmla="*/ 0 w 43"/>
                  <a:gd name="T9" fmla="*/ 51 h 101"/>
                  <a:gd name="T10" fmla="*/ 2 w 43"/>
                  <a:gd name="T11" fmla="*/ 36 h 101"/>
                  <a:gd name="T12" fmla="*/ 12 w 43"/>
                  <a:gd name="T13" fmla="*/ 16 h 101"/>
                  <a:gd name="T14" fmla="*/ 16 w 43"/>
                  <a:gd name="T15" fmla="*/ 9 h 101"/>
                  <a:gd name="T16" fmla="*/ 21 w 43"/>
                  <a:gd name="T17" fmla="*/ 5 h 101"/>
                  <a:gd name="T18" fmla="*/ 26 w 43"/>
                  <a:gd name="T19" fmla="*/ 1 h 101"/>
                  <a:gd name="T20" fmla="*/ 31 w 43"/>
                  <a:gd name="T21" fmla="*/ 0 h 101"/>
                  <a:gd name="T22" fmla="*/ 42 w 43"/>
                  <a:gd name="T23" fmla="*/ 0 h 1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
                  <a:gd name="T37" fmla="*/ 0 h 101"/>
                  <a:gd name="T38" fmla="*/ 43 w 43"/>
                  <a:gd name="T39" fmla="*/ 101 h 1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 h="101">
                    <a:moveTo>
                      <a:pt x="10" y="100"/>
                    </a:moveTo>
                    <a:lnTo>
                      <a:pt x="6" y="92"/>
                    </a:lnTo>
                    <a:lnTo>
                      <a:pt x="3" y="84"/>
                    </a:lnTo>
                    <a:lnTo>
                      <a:pt x="0" y="68"/>
                    </a:lnTo>
                    <a:lnTo>
                      <a:pt x="0" y="51"/>
                    </a:lnTo>
                    <a:lnTo>
                      <a:pt x="2" y="36"/>
                    </a:lnTo>
                    <a:lnTo>
                      <a:pt x="12" y="16"/>
                    </a:lnTo>
                    <a:lnTo>
                      <a:pt x="16" y="9"/>
                    </a:lnTo>
                    <a:lnTo>
                      <a:pt x="21" y="5"/>
                    </a:lnTo>
                    <a:lnTo>
                      <a:pt x="26" y="1"/>
                    </a:lnTo>
                    <a:lnTo>
                      <a:pt x="31" y="0"/>
                    </a:lnTo>
                    <a:lnTo>
                      <a:pt x="42"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88" name="Line 641"/>
              <p:cNvSpPr>
                <a:spLocks noChangeAspect="1" noChangeShapeType="1"/>
              </p:cNvSpPr>
              <p:nvPr/>
            </p:nvSpPr>
            <p:spPr bwMode="auto">
              <a:xfrm>
                <a:off x="558" y="3312"/>
                <a:ext cx="5"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89" name="Freeform 642"/>
              <p:cNvSpPr>
                <a:spLocks noChangeAspect="1"/>
              </p:cNvSpPr>
              <p:nvPr/>
            </p:nvSpPr>
            <p:spPr bwMode="auto">
              <a:xfrm>
                <a:off x="540" y="3320"/>
                <a:ext cx="17" cy="17"/>
              </a:xfrm>
              <a:custGeom>
                <a:avLst/>
                <a:gdLst>
                  <a:gd name="T0" fmla="*/ 0 w 17"/>
                  <a:gd name="T1" fmla="*/ 0 h 17"/>
                  <a:gd name="T2" fmla="*/ 16 w 17"/>
                  <a:gd name="T3" fmla="*/ 4 h 17"/>
                  <a:gd name="T4" fmla="*/ 6 w 17"/>
                  <a:gd name="T5" fmla="*/ 16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0" y="0"/>
                    </a:moveTo>
                    <a:lnTo>
                      <a:pt x="16" y="4"/>
                    </a:lnTo>
                    <a:lnTo>
                      <a:pt x="6" y="16"/>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90" name="Freeform 643"/>
              <p:cNvSpPr>
                <a:spLocks noChangeAspect="1"/>
              </p:cNvSpPr>
              <p:nvPr/>
            </p:nvSpPr>
            <p:spPr bwMode="auto">
              <a:xfrm>
                <a:off x="522" y="3342"/>
                <a:ext cx="17" cy="17"/>
              </a:xfrm>
              <a:custGeom>
                <a:avLst/>
                <a:gdLst>
                  <a:gd name="T0" fmla="*/ 6 w 17"/>
                  <a:gd name="T1" fmla="*/ 0 h 17"/>
                  <a:gd name="T2" fmla="*/ 16 w 17"/>
                  <a:gd name="T3" fmla="*/ 1 h 17"/>
                  <a:gd name="T4" fmla="*/ 8 w 17"/>
                  <a:gd name="T5" fmla="*/ 16 h 17"/>
                  <a:gd name="T6" fmla="*/ 0 w 17"/>
                  <a:gd name="T7" fmla="*/ 14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6" y="0"/>
                    </a:moveTo>
                    <a:lnTo>
                      <a:pt x="16" y="1"/>
                    </a:lnTo>
                    <a:lnTo>
                      <a:pt x="8" y="16"/>
                    </a:lnTo>
                    <a:lnTo>
                      <a:pt x="0" y="14"/>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91" name="Line 644"/>
              <p:cNvSpPr>
                <a:spLocks noChangeAspect="1" noChangeShapeType="1"/>
              </p:cNvSpPr>
              <p:nvPr/>
            </p:nvSpPr>
            <p:spPr bwMode="auto">
              <a:xfrm>
                <a:off x="540" y="3322"/>
                <a:ext cx="5"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92" name="Line 645"/>
              <p:cNvSpPr>
                <a:spLocks noChangeAspect="1" noChangeShapeType="1"/>
              </p:cNvSpPr>
              <p:nvPr/>
            </p:nvSpPr>
            <p:spPr bwMode="auto">
              <a:xfrm>
                <a:off x="527" y="3343"/>
                <a:ext cx="5"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93" name="Line 646"/>
              <p:cNvSpPr>
                <a:spLocks noChangeAspect="1" noChangeShapeType="1"/>
              </p:cNvSpPr>
              <p:nvPr/>
            </p:nvSpPr>
            <p:spPr bwMode="auto">
              <a:xfrm>
                <a:off x="520" y="3369"/>
                <a:ext cx="5"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94" name="Line 647"/>
              <p:cNvSpPr>
                <a:spLocks noChangeAspect="1" noChangeShapeType="1"/>
              </p:cNvSpPr>
              <p:nvPr/>
            </p:nvSpPr>
            <p:spPr bwMode="auto">
              <a:xfrm>
                <a:off x="519" y="3383"/>
                <a:ext cx="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95" name="Freeform 648"/>
              <p:cNvSpPr>
                <a:spLocks noChangeAspect="1"/>
              </p:cNvSpPr>
              <p:nvPr/>
            </p:nvSpPr>
            <p:spPr bwMode="auto">
              <a:xfrm>
                <a:off x="520" y="3371"/>
                <a:ext cx="17" cy="17"/>
              </a:xfrm>
              <a:custGeom>
                <a:avLst/>
                <a:gdLst>
                  <a:gd name="T0" fmla="*/ 0 w 17"/>
                  <a:gd name="T1" fmla="*/ 14 h 17"/>
                  <a:gd name="T2" fmla="*/ 16 w 17"/>
                  <a:gd name="T3" fmla="*/ 16 h 17"/>
                  <a:gd name="T4" fmla="*/ 16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0" y="14"/>
                    </a:moveTo>
                    <a:lnTo>
                      <a:pt x="16" y="16"/>
                    </a:lnTo>
                    <a:lnTo>
                      <a:pt x="16"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296" name="Line 649"/>
              <p:cNvSpPr>
                <a:spLocks noChangeAspect="1" noChangeShapeType="1"/>
              </p:cNvSpPr>
              <p:nvPr/>
            </p:nvSpPr>
            <p:spPr bwMode="auto">
              <a:xfrm>
                <a:off x="527" y="3403"/>
                <a:ext cx="6"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297" name="Freeform 650"/>
              <p:cNvSpPr>
                <a:spLocks noChangeAspect="1"/>
              </p:cNvSpPr>
              <p:nvPr/>
            </p:nvSpPr>
            <p:spPr bwMode="auto">
              <a:xfrm>
                <a:off x="571" y="3339"/>
                <a:ext cx="17" cy="17"/>
              </a:xfrm>
              <a:custGeom>
                <a:avLst/>
                <a:gdLst>
                  <a:gd name="T0" fmla="*/ 0 w 17"/>
                  <a:gd name="T1" fmla="*/ 0 h 17"/>
                  <a:gd name="T2" fmla="*/ 5 w 17"/>
                  <a:gd name="T3" fmla="*/ 9 h 17"/>
                  <a:gd name="T4" fmla="*/ 8 w 17"/>
                  <a:gd name="T5" fmla="*/ 16 h 17"/>
                  <a:gd name="T6" fmla="*/ 12 w 17"/>
                  <a:gd name="T7" fmla="*/ 9 h 17"/>
                  <a:gd name="T8" fmla="*/ 16 w 17"/>
                  <a:gd name="T9" fmla="*/ 0 h 17"/>
                  <a:gd name="T10" fmla="*/ 0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0"/>
                    </a:moveTo>
                    <a:lnTo>
                      <a:pt x="5" y="9"/>
                    </a:lnTo>
                    <a:lnTo>
                      <a:pt x="8" y="16"/>
                    </a:lnTo>
                    <a:lnTo>
                      <a:pt x="12" y="9"/>
                    </a:lnTo>
                    <a:lnTo>
                      <a:pt x="16" y="0"/>
                    </a:lnTo>
                    <a:lnTo>
                      <a:pt x="0" y="0"/>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298" name="Freeform 651"/>
              <p:cNvSpPr>
                <a:spLocks noChangeAspect="1"/>
              </p:cNvSpPr>
              <p:nvPr/>
            </p:nvSpPr>
            <p:spPr bwMode="auto">
              <a:xfrm>
                <a:off x="571" y="3339"/>
                <a:ext cx="17" cy="17"/>
              </a:xfrm>
              <a:custGeom>
                <a:avLst/>
                <a:gdLst>
                  <a:gd name="T0" fmla="*/ 0 w 17"/>
                  <a:gd name="T1" fmla="*/ 1 h 17"/>
                  <a:gd name="T2" fmla="*/ 5 w 17"/>
                  <a:gd name="T3" fmla="*/ 9 h 17"/>
                  <a:gd name="T4" fmla="*/ 8 w 17"/>
                  <a:gd name="T5" fmla="*/ 16 h 17"/>
                  <a:gd name="T6" fmla="*/ 12 w 17"/>
                  <a:gd name="T7" fmla="*/ 9 h 17"/>
                  <a:gd name="T8" fmla="*/ 16 w 17"/>
                  <a:gd name="T9" fmla="*/ 0 h 17"/>
                  <a:gd name="T10" fmla="*/ 0 w 17"/>
                  <a:gd name="T11" fmla="*/ 1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1"/>
                    </a:moveTo>
                    <a:lnTo>
                      <a:pt x="5" y="9"/>
                    </a:lnTo>
                    <a:lnTo>
                      <a:pt x="8" y="16"/>
                    </a:lnTo>
                    <a:lnTo>
                      <a:pt x="12" y="9"/>
                    </a:lnTo>
                    <a:lnTo>
                      <a:pt x="16" y="0"/>
                    </a:lnTo>
                    <a:lnTo>
                      <a:pt x="0" y="1"/>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299" name="Freeform 652"/>
              <p:cNvSpPr>
                <a:spLocks noChangeAspect="1"/>
              </p:cNvSpPr>
              <p:nvPr/>
            </p:nvSpPr>
            <p:spPr bwMode="auto">
              <a:xfrm>
                <a:off x="584" y="3316"/>
                <a:ext cx="50" cy="24"/>
              </a:xfrm>
              <a:custGeom>
                <a:avLst/>
                <a:gdLst>
                  <a:gd name="T0" fmla="*/ 0 w 50"/>
                  <a:gd name="T1" fmla="*/ 23 h 24"/>
                  <a:gd name="T2" fmla="*/ 46 w 50"/>
                  <a:gd name="T3" fmla="*/ 5 h 24"/>
                  <a:gd name="T4" fmla="*/ 49 w 50"/>
                  <a:gd name="T5" fmla="*/ 0 h 24"/>
                  <a:gd name="T6" fmla="*/ 0 60000 65536"/>
                  <a:gd name="T7" fmla="*/ 0 60000 65536"/>
                  <a:gd name="T8" fmla="*/ 0 60000 65536"/>
                  <a:gd name="T9" fmla="*/ 0 w 50"/>
                  <a:gd name="T10" fmla="*/ 0 h 24"/>
                  <a:gd name="T11" fmla="*/ 50 w 50"/>
                  <a:gd name="T12" fmla="*/ 24 h 24"/>
                </a:gdLst>
                <a:ahLst/>
                <a:cxnLst>
                  <a:cxn ang="T6">
                    <a:pos x="T0" y="T1"/>
                  </a:cxn>
                  <a:cxn ang="T7">
                    <a:pos x="T2" y="T3"/>
                  </a:cxn>
                  <a:cxn ang="T8">
                    <a:pos x="T4" y="T5"/>
                  </a:cxn>
                </a:cxnLst>
                <a:rect l="T9" t="T10" r="T11" b="T12"/>
                <a:pathLst>
                  <a:path w="50" h="24">
                    <a:moveTo>
                      <a:pt x="0" y="23"/>
                    </a:moveTo>
                    <a:lnTo>
                      <a:pt x="46" y="5"/>
                    </a:lnTo>
                    <a:lnTo>
                      <a:pt x="49"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00" name="Freeform 653"/>
              <p:cNvSpPr>
                <a:spLocks noChangeAspect="1"/>
              </p:cNvSpPr>
              <p:nvPr/>
            </p:nvSpPr>
            <p:spPr bwMode="auto">
              <a:xfrm>
                <a:off x="631" y="3320"/>
                <a:ext cx="17" cy="17"/>
              </a:xfrm>
              <a:custGeom>
                <a:avLst/>
                <a:gdLst>
                  <a:gd name="T0" fmla="*/ 0 w 17"/>
                  <a:gd name="T1" fmla="*/ 0 h 17"/>
                  <a:gd name="T2" fmla="*/ 8 w 17"/>
                  <a:gd name="T3" fmla="*/ 2 h 17"/>
                  <a:gd name="T4" fmla="*/ 13 w 17"/>
                  <a:gd name="T5" fmla="*/ 9 h 17"/>
                  <a:gd name="T6" fmla="*/ 16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8" y="2"/>
                    </a:lnTo>
                    <a:lnTo>
                      <a:pt x="13" y="9"/>
                    </a:lnTo>
                    <a:lnTo>
                      <a:pt x="16" y="16"/>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01" name="Freeform 654"/>
              <p:cNvSpPr>
                <a:spLocks noChangeAspect="1"/>
              </p:cNvSpPr>
              <p:nvPr/>
            </p:nvSpPr>
            <p:spPr bwMode="auto">
              <a:xfrm>
                <a:off x="575" y="3320"/>
                <a:ext cx="1" cy="17"/>
              </a:xfrm>
              <a:custGeom>
                <a:avLst/>
                <a:gdLst>
                  <a:gd name="T0" fmla="*/ 0 w 1"/>
                  <a:gd name="T1" fmla="*/ 16 h 17"/>
                  <a:gd name="T2" fmla="*/ 0 w 1"/>
                  <a:gd name="T3" fmla="*/ 9 h 17"/>
                  <a:gd name="T4" fmla="*/ 0 w 1"/>
                  <a:gd name="T5" fmla="*/ 6 h 17"/>
                  <a:gd name="T6" fmla="*/ 0 w 1"/>
                  <a:gd name="T7" fmla="*/ 0 h 17"/>
                  <a:gd name="T8" fmla="*/ 0 w 1"/>
                  <a:gd name="T9" fmla="*/ 6 h 17"/>
                  <a:gd name="T10" fmla="*/ 0 w 1"/>
                  <a:gd name="T11" fmla="*/ 9 h 17"/>
                  <a:gd name="T12" fmla="*/ 0 w 1"/>
                  <a:gd name="T13" fmla="*/ 16 h 17"/>
                  <a:gd name="T14" fmla="*/ 0 w 1"/>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
                  <a:gd name="T25" fmla="*/ 0 h 17"/>
                  <a:gd name="T26" fmla="*/ 1 w 1"/>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 h="17">
                    <a:moveTo>
                      <a:pt x="0" y="16"/>
                    </a:moveTo>
                    <a:lnTo>
                      <a:pt x="0" y="9"/>
                    </a:lnTo>
                    <a:lnTo>
                      <a:pt x="0" y="6"/>
                    </a:lnTo>
                    <a:lnTo>
                      <a:pt x="0" y="0"/>
                    </a:lnTo>
                    <a:lnTo>
                      <a:pt x="0" y="6"/>
                    </a:lnTo>
                    <a:lnTo>
                      <a:pt x="0" y="9"/>
                    </a:lnTo>
                    <a:lnTo>
                      <a:pt x="0"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02" name="Freeform 655"/>
              <p:cNvSpPr>
                <a:spLocks noChangeAspect="1"/>
              </p:cNvSpPr>
              <p:nvPr/>
            </p:nvSpPr>
            <p:spPr bwMode="auto">
              <a:xfrm>
                <a:off x="574" y="3322"/>
                <a:ext cx="17" cy="17"/>
              </a:xfrm>
              <a:custGeom>
                <a:avLst/>
                <a:gdLst>
                  <a:gd name="T0" fmla="*/ 8 w 17"/>
                  <a:gd name="T1" fmla="*/ 0 h 17"/>
                  <a:gd name="T2" fmla="*/ 10 w 17"/>
                  <a:gd name="T3" fmla="*/ 0 h 17"/>
                  <a:gd name="T4" fmla="*/ 14 w 17"/>
                  <a:gd name="T5" fmla="*/ 0 h 17"/>
                  <a:gd name="T6" fmla="*/ 16 w 17"/>
                  <a:gd name="T7" fmla="*/ 6 h 17"/>
                  <a:gd name="T8" fmla="*/ 16 w 17"/>
                  <a:gd name="T9" fmla="*/ 9 h 17"/>
                  <a:gd name="T10" fmla="*/ 14 w 17"/>
                  <a:gd name="T11" fmla="*/ 16 h 17"/>
                  <a:gd name="T12" fmla="*/ 10 w 17"/>
                  <a:gd name="T13" fmla="*/ 16 h 17"/>
                  <a:gd name="T14" fmla="*/ 8 w 17"/>
                  <a:gd name="T15" fmla="*/ 16 h 17"/>
                  <a:gd name="T16" fmla="*/ 5 w 17"/>
                  <a:gd name="T17" fmla="*/ 16 h 17"/>
                  <a:gd name="T18" fmla="*/ 3 w 17"/>
                  <a:gd name="T19" fmla="*/ 16 h 17"/>
                  <a:gd name="T20" fmla="*/ 0 w 17"/>
                  <a:gd name="T21" fmla="*/ 9 h 17"/>
                  <a:gd name="T22" fmla="*/ 0 w 17"/>
                  <a:gd name="T23" fmla="*/ 6 h 17"/>
                  <a:gd name="T24" fmla="*/ 3 w 17"/>
                  <a:gd name="T25" fmla="*/ 0 h 17"/>
                  <a:gd name="T26" fmla="*/ 5 w 17"/>
                  <a:gd name="T27" fmla="*/ 0 h 17"/>
                  <a:gd name="T28" fmla="*/ 8 w 17"/>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7"/>
                  <a:gd name="T47" fmla="*/ 17 w 17"/>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7">
                    <a:moveTo>
                      <a:pt x="8" y="0"/>
                    </a:moveTo>
                    <a:lnTo>
                      <a:pt x="10" y="0"/>
                    </a:lnTo>
                    <a:lnTo>
                      <a:pt x="14" y="0"/>
                    </a:lnTo>
                    <a:lnTo>
                      <a:pt x="16" y="6"/>
                    </a:lnTo>
                    <a:lnTo>
                      <a:pt x="16" y="9"/>
                    </a:lnTo>
                    <a:lnTo>
                      <a:pt x="14" y="16"/>
                    </a:lnTo>
                    <a:lnTo>
                      <a:pt x="10" y="16"/>
                    </a:lnTo>
                    <a:lnTo>
                      <a:pt x="8" y="16"/>
                    </a:lnTo>
                    <a:lnTo>
                      <a:pt x="5" y="16"/>
                    </a:lnTo>
                    <a:lnTo>
                      <a:pt x="3" y="16"/>
                    </a:lnTo>
                    <a:lnTo>
                      <a:pt x="0" y="9"/>
                    </a:lnTo>
                    <a:lnTo>
                      <a:pt x="0" y="6"/>
                    </a:lnTo>
                    <a:lnTo>
                      <a:pt x="3" y="0"/>
                    </a:lnTo>
                    <a:lnTo>
                      <a:pt x="5" y="0"/>
                    </a:lnTo>
                    <a:lnTo>
                      <a:pt x="8"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03" name="Freeform 656"/>
              <p:cNvSpPr>
                <a:spLocks noChangeAspect="1"/>
              </p:cNvSpPr>
              <p:nvPr/>
            </p:nvSpPr>
            <p:spPr bwMode="auto">
              <a:xfrm>
                <a:off x="598" y="3312"/>
                <a:ext cx="17" cy="17"/>
              </a:xfrm>
              <a:custGeom>
                <a:avLst/>
                <a:gdLst>
                  <a:gd name="T0" fmla="*/ 0 w 17"/>
                  <a:gd name="T1" fmla="*/ 4 h 17"/>
                  <a:gd name="T2" fmla="*/ 0 w 17"/>
                  <a:gd name="T3" fmla="*/ 8 h 17"/>
                  <a:gd name="T4" fmla="*/ 8 w 17"/>
                  <a:gd name="T5" fmla="*/ 16 h 17"/>
                  <a:gd name="T6" fmla="*/ 16 w 17"/>
                  <a:gd name="T7" fmla="*/ 8 h 17"/>
                  <a:gd name="T8" fmla="*/ 16 w 17"/>
                  <a:gd name="T9" fmla="*/ 4 h 17"/>
                  <a:gd name="T10" fmla="*/ 8 w 17"/>
                  <a:gd name="T11" fmla="*/ 0 h 17"/>
                  <a:gd name="T12" fmla="*/ 0 w 17"/>
                  <a:gd name="T13" fmla="*/ 4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4"/>
                    </a:moveTo>
                    <a:lnTo>
                      <a:pt x="0" y="8"/>
                    </a:lnTo>
                    <a:lnTo>
                      <a:pt x="8" y="16"/>
                    </a:lnTo>
                    <a:lnTo>
                      <a:pt x="16" y="8"/>
                    </a:lnTo>
                    <a:lnTo>
                      <a:pt x="16" y="4"/>
                    </a:lnTo>
                    <a:lnTo>
                      <a:pt x="8" y="0"/>
                    </a:lnTo>
                    <a:lnTo>
                      <a:pt x="0"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04" name="Freeform 657"/>
              <p:cNvSpPr>
                <a:spLocks noChangeAspect="1"/>
              </p:cNvSpPr>
              <p:nvPr/>
            </p:nvSpPr>
            <p:spPr bwMode="auto">
              <a:xfrm>
                <a:off x="598" y="3314"/>
                <a:ext cx="17" cy="17"/>
              </a:xfrm>
              <a:custGeom>
                <a:avLst/>
                <a:gdLst>
                  <a:gd name="T0" fmla="*/ 0 w 17"/>
                  <a:gd name="T1" fmla="*/ 12 h 17"/>
                  <a:gd name="T2" fmla="*/ 0 w 17"/>
                  <a:gd name="T3" fmla="*/ 8 h 17"/>
                  <a:gd name="T4" fmla="*/ 9 w 17"/>
                  <a:gd name="T5" fmla="*/ 0 h 17"/>
                  <a:gd name="T6" fmla="*/ 16 w 17"/>
                  <a:gd name="T7" fmla="*/ 8 h 17"/>
                  <a:gd name="T8" fmla="*/ 16 w 17"/>
                  <a:gd name="T9" fmla="*/ 12 h 17"/>
                  <a:gd name="T10" fmla="*/ 9 w 17"/>
                  <a:gd name="T11" fmla="*/ 16 h 17"/>
                  <a:gd name="T12" fmla="*/ 0 w 17"/>
                  <a:gd name="T13" fmla="*/ 1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2"/>
                    </a:moveTo>
                    <a:lnTo>
                      <a:pt x="0" y="8"/>
                    </a:lnTo>
                    <a:lnTo>
                      <a:pt x="9" y="0"/>
                    </a:lnTo>
                    <a:lnTo>
                      <a:pt x="16" y="8"/>
                    </a:lnTo>
                    <a:lnTo>
                      <a:pt x="16" y="12"/>
                    </a:lnTo>
                    <a:lnTo>
                      <a:pt x="9" y="16"/>
                    </a:lnTo>
                    <a:lnTo>
                      <a:pt x="0" y="12"/>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05" name="Freeform 658"/>
              <p:cNvSpPr>
                <a:spLocks noChangeAspect="1"/>
              </p:cNvSpPr>
              <p:nvPr/>
            </p:nvSpPr>
            <p:spPr bwMode="auto">
              <a:xfrm>
                <a:off x="598" y="3311"/>
                <a:ext cx="17" cy="17"/>
              </a:xfrm>
              <a:custGeom>
                <a:avLst/>
                <a:gdLst>
                  <a:gd name="T0" fmla="*/ 8 w 17"/>
                  <a:gd name="T1" fmla="*/ 16 h 17"/>
                  <a:gd name="T2" fmla="*/ 8 w 17"/>
                  <a:gd name="T3" fmla="*/ 12 h 17"/>
                  <a:gd name="T4" fmla="*/ 16 w 17"/>
                  <a:gd name="T5" fmla="*/ 12 h 17"/>
                  <a:gd name="T6" fmla="*/ 16 w 17"/>
                  <a:gd name="T7" fmla="*/ 4 h 17"/>
                  <a:gd name="T8" fmla="*/ 16 w 17"/>
                  <a:gd name="T9" fmla="*/ 0 h 17"/>
                  <a:gd name="T10" fmla="*/ 8 w 17"/>
                  <a:gd name="T11" fmla="*/ 0 h 17"/>
                  <a:gd name="T12" fmla="*/ 0 w 17"/>
                  <a:gd name="T13" fmla="*/ 0 h 17"/>
                  <a:gd name="T14" fmla="*/ 0 w 17"/>
                  <a:gd name="T15" fmla="*/ 4 h 17"/>
                  <a:gd name="T16" fmla="*/ 0 w 17"/>
                  <a:gd name="T17" fmla="*/ 12 h 17"/>
                  <a:gd name="T18" fmla="*/ 8 w 17"/>
                  <a:gd name="T19" fmla="*/ 12 h 17"/>
                  <a:gd name="T20" fmla="*/ 8 w 17"/>
                  <a:gd name="T21" fmla="*/ 16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8" y="16"/>
                    </a:moveTo>
                    <a:lnTo>
                      <a:pt x="8" y="12"/>
                    </a:lnTo>
                    <a:lnTo>
                      <a:pt x="16" y="12"/>
                    </a:lnTo>
                    <a:lnTo>
                      <a:pt x="16" y="4"/>
                    </a:lnTo>
                    <a:lnTo>
                      <a:pt x="16" y="0"/>
                    </a:lnTo>
                    <a:lnTo>
                      <a:pt x="8" y="0"/>
                    </a:lnTo>
                    <a:lnTo>
                      <a:pt x="0" y="0"/>
                    </a:lnTo>
                    <a:lnTo>
                      <a:pt x="0" y="4"/>
                    </a:lnTo>
                    <a:lnTo>
                      <a:pt x="0" y="12"/>
                    </a:lnTo>
                    <a:lnTo>
                      <a:pt x="8" y="12"/>
                    </a:lnTo>
                    <a:lnTo>
                      <a:pt x="8"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06" name="Freeform 659"/>
              <p:cNvSpPr>
                <a:spLocks noChangeAspect="1"/>
              </p:cNvSpPr>
              <p:nvPr/>
            </p:nvSpPr>
            <p:spPr bwMode="auto">
              <a:xfrm>
                <a:off x="598" y="3313"/>
                <a:ext cx="17" cy="17"/>
              </a:xfrm>
              <a:custGeom>
                <a:avLst/>
                <a:gdLst>
                  <a:gd name="T0" fmla="*/ 6 w 17"/>
                  <a:gd name="T1" fmla="*/ 0 h 17"/>
                  <a:gd name="T2" fmla="*/ 12 w 17"/>
                  <a:gd name="T3" fmla="*/ 5 h 17"/>
                  <a:gd name="T4" fmla="*/ 13 w 17"/>
                  <a:gd name="T5" fmla="*/ 5 h 17"/>
                  <a:gd name="T6" fmla="*/ 16 w 17"/>
                  <a:gd name="T7" fmla="*/ 10 h 17"/>
                  <a:gd name="T8" fmla="*/ 13 w 17"/>
                  <a:gd name="T9" fmla="*/ 16 h 17"/>
                  <a:gd name="T10" fmla="*/ 12 w 17"/>
                  <a:gd name="T11" fmla="*/ 16 h 17"/>
                  <a:gd name="T12" fmla="*/ 6 w 17"/>
                  <a:gd name="T13" fmla="*/ 16 h 17"/>
                  <a:gd name="T14" fmla="*/ 4 w 17"/>
                  <a:gd name="T15" fmla="*/ 16 h 17"/>
                  <a:gd name="T16" fmla="*/ 2 w 17"/>
                  <a:gd name="T17" fmla="*/ 16 h 17"/>
                  <a:gd name="T18" fmla="*/ 0 w 17"/>
                  <a:gd name="T19" fmla="*/ 16 h 17"/>
                  <a:gd name="T20" fmla="*/ 0 w 17"/>
                  <a:gd name="T21" fmla="*/ 10 h 17"/>
                  <a:gd name="T22" fmla="*/ 0 w 17"/>
                  <a:gd name="T23" fmla="*/ 5 h 17"/>
                  <a:gd name="T24" fmla="*/ 2 w 17"/>
                  <a:gd name="T25" fmla="*/ 5 h 17"/>
                  <a:gd name="T26" fmla="*/ 4 w 17"/>
                  <a:gd name="T27" fmla="*/ 5 h 17"/>
                  <a:gd name="T28" fmla="*/ 6 w 17"/>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7"/>
                  <a:gd name="T47" fmla="*/ 17 w 17"/>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7">
                    <a:moveTo>
                      <a:pt x="6" y="0"/>
                    </a:moveTo>
                    <a:lnTo>
                      <a:pt x="12" y="5"/>
                    </a:lnTo>
                    <a:lnTo>
                      <a:pt x="13" y="5"/>
                    </a:lnTo>
                    <a:lnTo>
                      <a:pt x="16" y="10"/>
                    </a:lnTo>
                    <a:lnTo>
                      <a:pt x="13" y="16"/>
                    </a:lnTo>
                    <a:lnTo>
                      <a:pt x="12" y="16"/>
                    </a:lnTo>
                    <a:lnTo>
                      <a:pt x="6" y="16"/>
                    </a:lnTo>
                    <a:lnTo>
                      <a:pt x="4" y="16"/>
                    </a:lnTo>
                    <a:lnTo>
                      <a:pt x="2" y="16"/>
                    </a:lnTo>
                    <a:lnTo>
                      <a:pt x="0" y="16"/>
                    </a:lnTo>
                    <a:lnTo>
                      <a:pt x="0" y="10"/>
                    </a:lnTo>
                    <a:lnTo>
                      <a:pt x="0" y="5"/>
                    </a:lnTo>
                    <a:lnTo>
                      <a:pt x="2" y="5"/>
                    </a:lnTo>
                    <a:lnTo>
                      <a:pt x="4" y="5"/>
                    </a:lnTo>
                    <a:lnTo>
                      <a:pt x="6"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07" name="Freeform 660"/>
              <p:cNvSpPr>
                <a:spLocks noChangeAspect="1"/>
              </p:cNvSpPr>
              <p:nvPr/>
            </p:nvSpPr>
            <p:spPr bwMode="auto">
              <a:xfrm>
                <a:off x="638" y="3340"/>
                <a:ext cx="17" cy="17"/>
              </a:xfrm>
              <a:custGeom>
                <a:avLst/>
                <a:gdLst>
                  <a:gd name="T0" fmla="*/ 2 w 17"/>
                  <a:gd name="T1" fmla="*/ 12 h 17"/>
                  <a:gd name="T2" fmla="*/ 0 w 17"/>
                  <a:gd name="T3" fmla="*/ 0 h 17"/>
                  <a:gd name="T4" fmla="*/ 14 w 17"/>
                  <a:gd name="T5" fmla="*/ 5 h 17"/>
                  <a:gd name="T6" fmla="*/ 16 w 17"/>
                  <a:gd name="T7" fmla="*/ 16 h 17"/>
                  <a:gd name="T8" fmla="*/ 2 w 17"/>
                  <a:gd name="T9" fmla="*/ 12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2" y="12"/>
                    </a:moveTo>
                    <a:lnTo>
                      <a:pt x="0" y="0"/>
                    </a:lnTo>
                    <a:lnTo>
                      <a:pt x="14" y="5"/>
                    </a:lnTo>
                    <a:lnTo>
                      <a:pt x="16" y="16"/>
                    </a:lnTo>
                    <a:lnTo>
                      <a:pt x="2" y="12"/>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08" name="Freeform 661"/>
              <p:cNvSpPr>
                <a:spLocks noChangeAspect="1"/>
              </p:cNvSpPr>
              <p:nvPr/>
            </p:nvSpPr>
            <p:spPr bwMode="auto">
              <a:xfrm>
                <a:off x="645" y="3341"/>
                <a:ext cx="17" cy="17"/>
              </a:xfrm>
              <a:custGeom>
                <a:avLst/>
                <a:gdLst>
                  <a:gd name="T0" fmla="*/ 0 w 17"/>
                  <a:gd name="T1" fmla="*/ 16 h 17"/>
                  <a:gd name="T2" fmla="*/ 9 w 17"/>
                  <a:gd name="T3" fmla="*/ 0 h 17"/>
                  <a:gd name="T4" fmla="*/ 16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0" y="16"/>
                    </a:moveTo>
                    <a:lnTo>
                      <a:pt x="9" y="0"/>
                    </a:lnTo>
                    <a:lnTo>
                      <a:pt x="16"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09" name="Freeform 662"/>
              <p:cNvSpPr>
                <a:spLocks noChangeAspect="1"/>
              </p:cNvSpPr>
              <p:nvPr/>
            </p:nvSpPr>
            <p:spPr bwMode="auto">
              <a:xfrm>
                <a:off x="629" y="3340"/>
                <a:ext cx="17" cy="17"/>
              </a:xfrm>
              <a:custGeom>
                <a:avLst/>
                <a:gdLst>
                  <a:gd name="T0" fmla="*/ 14 w 17"/>
                  <a:gd name="T1" fmla="*/ 16 h 17"/>
                  <a:gd name="T2" fmla="*/ 0 w 17"/>
                  <a:gd name="T3" fmla="*/ 12 h 17"/>
                  <a:gd name="T4" fmla="*/ 16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14" y="16"/>
                    </a:moveTo>
                    <a:lnTo>
                      <a:pt x="0" y="12"/>
                    </a:lnTo>
                    <a:lnTo>
                      <a:pt x="16"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0" name="Freeform 663"/>
              <p:cNvSpPr>
                <a:spLocks noChangeAspect="1"/>
              </p:cNvSpPr>
              <p:nvPr/>
            </p:nvSpPr>
            <p:spPr bwMode="auto">
              <a:xfrm>
                <a:off x="615" y="3346"/>
                <a:ext cx="23" cy="30"/>
              </a:xfrm>
              <a:custGeom>
                <a:avLst/>
                <a:gdLst>
                  <a:gd name="T0" fmla="*/ 0 w 23"/>
                  <a:gd name="T1" fmla="*/ 29 h 30"/>
                  <a:gd name="T2" fmla="*/ 5 w 23"/>
                  <a:gd name="T3" fmla="*/ 16 h 30"/>
                  <a:gd name="T4" fmla="*/ 7 w 23"/>
                  <a:gd name="T5" fmla="*/ 15 h 30"/>
                  <a:gd name="T6" fmla="*/ 12 w 23"/>
                  <a:gd name="T7" fmla="*/ 8 h 30"/>
                  <a:gd name="T8" fmla="*/ 12 w 23"/>
                  <a:gd name="T9" fmla="*/ 7 h 30"/>
                  <a:gd name="T10" fmla="*/ 22 w 23"/>
                  <a:gd name="T11" fmla="*/ 0 h 30"/>
                  <a:gd name="T12" fmla="*/ 0 60000 65536"/>
                  <a:gd name="T13" fmla="*/ 0 60000 65536"/>
                  <a:gd name="T14" fmla="*/ 0 60000 65536"/>
                  <a:gd name="T15" fmla="*/ 0 60000 65536"/>
                  <a:gd name="T16" fmla="*/ 0 60000 65536"/>
                  <a:gd name="T17" fmla="*/ 0 60000 65536"/>
                  <a:gd name="T18" fmla="*/ 0 w 23"/>
                  <a:gd name="T19" fmla="*/ 0 h 30"/>
                  <a:gd name="T20" fmla="*/ 23 w 23"/>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23" h="30">
                    <a:moveTo>
                      <a:pt x="0" y="29"/>
                    </a:moveTo>
                    <a:lnTo>
                      <a:pt x="5" y="16"/>
                    </a:lnTo>
                    <a:lnTo>
                      <a:pt x="7" y="15"/>
                    </a:lnTo>
                    <a:lnTo>
                      <a:pt x="12" y="8"/>
                    </a:lnTo>
                    <a:lnTo>
                      <a:pt x="12" y="7"/>
                    </a:lnTo>
                    <a:lnTo>
                      <a:pt x="22"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1" name="Freeform 664"/>
              <p:cNvSpPr>
                <a:spLocks noChangeAspect="1"/>
              </p:cNvSpPr>
              <p:nvPr/>
            </p:nvSpPr>
            <p:spPr bwMode="auto">
              <a:xfrm>
                <a:off x="602" y="3373"/>
                <a:ext cx="17" cy="19"/>
              </a:xfrm>
              <a:custGeom>
                <a:avLst/>
                <a:gdLst>
                  <a:gd name="T0" fmla="*/ 9 w 17"/>
                  <a:gd name="T1" fmla="*/ 18 h 19"/>
                  <a:gd name="T2" fmla="*/ 0 w 17"/>
                  <a:gd name="T3" fmla="*/ 16 h 19"/>
                  <a:gd name="T4" fmla="*/ 3 w 17"/>
                  <a:gd name="T5" fmla="*/ 8 h 19"/>
                  <a:gd name="T6" fmla="*/ 8 w 17"/>
                  <a:gd name="T7" fmla="*/ 0 h 19"/>
                  <a:gd name="T8" fmla="*/ 16 w 17"/>
                  <a:gd name="T9" fmla="*/ 2 h 19"/>
                  <a:gd name="T10" fmla="*/ 0 60000 65536"/>
                  <a:gd name="T11" fmla="*/ 0 60000 65536"/>
                  <a:gd name="T12" fmla="*/ 0 60000 65536"/>
                  <a:gd name="T13" fmla="*/ 0 60000 65536"/>
                  <a:gd name="T14" fmla="*/ 0 60000 65536"/>
                  <a:gd name="T15" fmla="*/ 0 w 17"/>
                  <a:gd name="T16" fmla="*/ 0 h 19"/>
                  <a:gd name="T17" fmla="*/ 17 w 17"/>
                  <a:gd name="T18" fmla="*/ 19 h 19"/>
                </a:gdLst>
                <a:ahLst/>
                <a:cxnLst>
                  <a:cxn ang="T10">
                    <a:pos x="T0" y="T1"/>
                  </a:cxn>
                  <a:cxn ang="T11">
                    <a:pos x="T2" y="T3"/>
                  </a:cxn>
                  <a:cxn ang="T12">
                    <a:pos x="T4" y="T5"/>
                  </a:cxn>
                  <a:cxn ang="T13">
                    <a:pos x="T6" y="T7"/>
                  </a:cxn>
                  <a:cxn ang="T14">
                    <a:pos x="T8" y="T9"/>
                  </a:cxn>
                </a:cxnLst>
                <a:rect l="T15" t="T16" r="T17" b="T18"/>
                <a:pathLst>
                  <a:path w="17" h="19">
                    <a:moveTo>
                      <a:pt x="9" y="18"/>
                    </a:moveTo>
                    <a:lnTo>
                      <a:pt x="0" y="16"/>
                    </a:lnTo>
                    <a:lnTo>
                      <a:pt x="3" y="8"/>
                    </a:lnTo>
                    <a:lnTo>
                      <a:pt x="8" y="0"/>
                    </a:lnTo>
                    <a:lnTo>
                      <a:pt x="16" y="2"/>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2" name="Line 665"/>
              <p:cNvSpPr>
                <a:spLocks noChangeAspect="1" noChangeShapeType="1"/>
              </p:cNvSpPr>
              <p:nvPr/>
            </p:nvSpPr>
            <p:spPr bwMode="auto">
              <a:xfrm flipH="1" flipV="1">
                <a:off x="607" y="3419"/>
                <a:ext cx="3" cy="1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13" name="Freeform 666"/>
              <p:cNvSpPr>
                <a:spLocks noChangeAspect="1"/>
              </p:cNvSpPr>
              <p:nvPr/>
            </p:nvSpPr>
            <p:spPr bwMode="auto">
              <a:xfrm>
                <a:off x="616" y="3440"/>
                <a:ext cx="17" cy="17"/>
              </a:xfrm>
              <a:custGeom>
                <a:avLst/>
                <a:gdLst>
                  <a:gd name="T0" fmla="*/ 0 w 17"/>
                  <a:gd name="T1" fmla="*/ 16 h 17"/>
                  <a:gd name="T2" fmla="*/ 4 w 17"/>
                  <a:gd name="T3" fmla="*/ 9 h 17"/>
                  <a:gd name="T4" fmla="*/ 11 w 17"/>
                  <a:gd name="T5" fmla="*/ 9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16"/>
                    </a:moveTo>
                    <a:lnTo>
                      <a:pt x="4" y="9"/>
                    </a:lnTo>
                    <a:lnTo>
                      <a:pt x="11" y="9"/>
                    </a:lnTo>
                    <a:lnTo>
                      <a:pt x="16"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4" name="Freeform 667"/>
              <p:cNvSpPr>
                <a:spLocks noChangeAspect="1"/>
              </p:cNvSpPr>
              <p:nvPr/>
            </p:nvSpPr>
            <p:spPr bwMode="auto">
              <a:xfrm>
                <a:off x="602" y="3415"/>
                <a:ext cx="17" cy="17"/>
              </a:xfrm>
              <a:custGeom>
                <a:avLst/>
                <a:gdLst>
                  <a:gd name="T0" fmla="*/ 0 w 17"/>
                  <a:gd name="T1" fmla="*/ 0 h 17"/>
                  <a:gd name="T2" fmla="*/ 16 w 17"/>
                  <a:gd name="T3" fmla="*/ 8 h 17"/>
                  <a:gd name="T4" fmla="*/ 16 w 17"/>
                  <a:gd name="T5" fmla="*/ 16 h 17"/>
                  <a:gd name="T6" fmla="*/ 14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16" y="8"/>
                    </a:lnTo>
                    <a:lnTo>
                      <a:pt x="16" y="16"/>
                    </a:lnTo>
                    <a:lnTo>
                      <a:pt x="14" y="16"/>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5" name="Line 668"/>
              <p:cNvSpPr>
                <a:spLocks noChangeAspect="1" noChangeShapeType="1"/>
              </p:cNvSpPr>
              <p:nvPr/>
            </p:nvSpPr>
            <p:spPr bwMode="auto">
              <a:xfrm>
                <a:off x="602" y="3427"/>
                <a:ext cx="9" cy="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16" name="Freeform 669"/>
              <p:cNvSpPr>
                <a:spLocks noChangeAspect="1"/>
              </p:cNvSpPr>
              <p:nvPr/>
            </p:nvSpPr>
            <p:spPr bwMode="auto">
              <a:xfrm>
                <a:off x="604" y="3435"/>
                <a:ext cx="17" cy="17"/>
              </a:xfrm>
              <a:custGeom>
                <a:avLst/>
                <a:gdLst>
                  <a:gd name="T0" fmla="*/ 0 w 17"/>
                  <a:gd name="T1" fmla="*/ 0 h 17"/>
                  <a:gd name="T2" fmla="*/ 7 w 17"/>
                  <a:gd name="T3" fmla="*/ 10 h 17"/>
                  <a:gd name="T4" fmla="*/ 12 w 17"/>
                  <a:gd name="T5" fmla="*/ 13 h 17"/>
                  <a:gd name="T6" fmla="*/ 16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7" y="10"/>
                    </a:lnTo>
                    <a:lnTo>
                      <a:pt x="12" y="13"/>
                    </a:lnTo>
                    <a:lnTo>
                      <a:pt x="16" y="16"/>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7" name="Freeform 670"/>
              <p:cNvSpPr>
                <a:spLocks noChangeAspect="1"/>
              </p:cNvSpPr>
              <p:nvPr/>
            </p:nvSpPr>
            <p:spPr bwMode="auto">
              <a:xfrm>
                <a:off x="608" y="3377"/>
                <a:ext cx="17" cy="17"/>
              </a:xfrm>
              <a:custGeom>
                <a:avLst/>
                <a:gdLst>
                  <a:gd name="T0" fmla="*/ 4 w 17"/>
                  <a:gd name="T1" fmla="*/ 16 h 17"/>
                  <a:gd name="T2" fmla="*/ 16 w 17"/>
                  <a:gd name="T3" fmla="*/ 15 h 17"/>
                  <a:gd name="T4" fmla="*/ 0 w 17"/>
                  <a:gd name="T5" fmla="*/ 10 h 17"/>
                  <a:gd name="T6" fmla="*/ 1 w 17"/>
                  <a:gd name="T7" fmla="*/ 5 h 17"/>
                  <a:gd name="T8" fmla="*/ 4 w 17"/>
                  <a:gd name="T9" fmla="*/ 0 h 17"/>
                  <a:gd name="T10" fmla="*/ 14 w 17"/>
                  <a:gd name="T11" fmla="*/ 3 h 17"/>
                  <a:gd name="T12" fmla="*/ 10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4" y="16"/>
                    </a:moveTo>
                    <a:lnTo>
                      <a:pt x="16" y="15"/>
                    </a:lnTo>
                    <a:lnTo>
                      <a:pt x="0" y="10"/>
                    </a:lnTo>
                    <a:lnTo>
                      <a:pt x="1" y="5"/>
                    </a:lnTo>
                    <a:lnTo>
                      <a:pt x="4" y="0"/>
                    </a:lnTo>
                    <a:lnTo>
                      <a:pt x="14" y="3"/>
                    </a:lnTo>
                    <a:lnTo>
                      <a:pt x="10"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8" name="Freeform 671"/>
              <p:cNvSpPr>
                <a:spLocks noChangeAspect="1"/>
              </p:cNvSpPr>
              <p:nvPr/>
            </p:nvSpPr>
            <p:spPr bwMode="auto">
              <a:xfrm>
                <a:off x="613" y="3352"/>
                <a:ext cx="17" cy="17"/>
              </a:xfrm>
              <a:custGeom>
                <a:avLst/>
                <a:gdLst>
                  <a:gd name="T0" fmla="*/ 16 w 17"/>
                  <a:gd name="T1" fmla="*/ 3 h 17"/>
                  <a:gd name="T2" fmla="*/ 8 w 17"/>
                  <a:gd name="T3" fmla="*/ 0 h 17"/>
                  <a:gd name="T4" fmla="*/ 3 w 17"/>
                  <a:gd name="T5" fmla="*/ 5 h 17"/>
                  <a:gd name="T6" fmla="*/ 0 w 17"/>
                  <a:gd name="T7" fmla="*/ 11 h 17"/>
                  <a:gd name="T8" fmla="*/ 6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3"/>
                    </a:moveTo>
                    <a:lnTo>
                      <a:pt x="8" y="0"/>
                    </a:lnTo>
                    <a:lnTo>
                      <a:pt x="3" y="5"/>
                    </a:lnTo>
                    <a:lnTo>
                      <a:pt x="0" y="11"/>
                    </a:lnTo>
                    <a:lnTo>
                      <a:pt x="6" y="16"/>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19" name="Line 672"/>
              <p:cNvSpPr>
                <a:spLocks noChangeAspect="1" noChangeShapeType="1"/>
              </p:cNvSpPr>
              <p:nvPr/>
            </p:nvSpPr>
            <p:spPr bwMode="auto">
              <a:xfrm>
                <a:off x="621" y="3352"/>
                <a:ext cx="7"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20" name="Freeform 673"/>
              <p:cNvSpPr>
                <a:spLocks noChangeAspect="1"/>
              </p:cNvSpPr>
              <p:nvPr/>
            </p:nvSpPr>
            <p:spPr bwMode="auto">
              <a:xfrm>
                <a:off x="612" y="3346"/>
                <a:ext cx="26" cy="33"/>
              </a:xfrm>
              <a:custGeom>
                <a:avLst/>
                <a:gdLst>
                  <a:gd name="T0" fmla="*/ 24 w 26"/>
                  <a:gd name="T1" fmla="*/ 0 h 33"/>
                  <a:gd name="T2" fmla="*/ 25 w 26"/>
                  <a:gd name="T3" fmla="*/ 4 h 33"/>
                  <a:gd name="T4" fmla="*/ 21 w 26"/>
                  <a:gd name="T5" fmla="*/ 5 h 33"/>
                  <a:gd name="T6" fmla="*/ 13 w 26"/>
                  <a:gd name="T7" fmla="*/ 14 h 33"/>
                  <a:gd name="T8" fmla="*/ 9 w 26"/>
                  <a:gd name="T9" fmla="*/ 21 h 33"/>
                  <a:gd name="T10" fmla="*/ 6 w 26"/>
                  <a:gd name="T11" fmla="*/ 26 h 33"/>
                  <a:gd name="T12" fmla="*/ 4 w 26"/>
                  <a:gd name="T13" fmla="*/ 32 h 33"/>
                  <a:gd name="T14" fmla="*/ 0 w 26"/>
                  <a:gd name="T15" fmla="*/ 29 h 3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33"/>
                  <a:gd name="T26" fmla="*/ 26 w 26"/>
                  <a:gd name="T27" fmla="*/ 33 h 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33">
                    <a:moveTo>
                      <a:pt x="24" y="0"/>
                    </a:moveTo>
                    <a:lnTo>
                      <a:pt x="25" y="4"/>
                    </a:lnTo>
                    <a:lnTo>
                      <a:pt x="21" y="5"/>
                    </a:lnTo>
                    <a:lnTo>
                      <a:pt x="13" y="14"/>
                    </a:lnTo>
                    <a:lnTo>
                      <a:pt x="9" y="21"/>
                    </a:lnTo>
                    <a:lnTo>
                      <a:pt x="6" y="26"/>
                    </a:lnTo>
                    <a:lnTo>
                      <a:pt x="4" y="32"/>
                    </a:lnTo>
                    <a:lnTo>
                      <a:pt x="0" y="29"/>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21" name="Freeform 674"/>
              <p:cNvSpPr>
                <a:spLocks noChangeAspect="1"/>
              </p:cNvSpPr>
              <p:nvPr/>
            </p:nvSpPr>
            <p:spPr bwMode="auto">
              <a:xfrm>
                <a:off x="609" y="3391"/>
                <a:ext cx="17" cy="41"/>
              </a:xfrm>
              <a:custGeom>
                <a:avLst/>
                <a:gdLst>
                  <a:gd name="T0" fmla="*/ 0 w 17"/>
                  <a:gd name="T1" fmla="*/ 0 h 41"/>
                  <a:gd name="T2" fmla="*/ 12 w 17"/>
                  <a:gd name="T3" fmla="*/ 3 h 41"/>
                  <a:gd name="T4" fmla="*/ 8 w 17"/>
                  <a:gd name="T5" fmla="*/ 23 h 41"/>
                  <a:gd name="T6" fmla="*/ 11 w 17"/>
                  <a:gd name="T7" fmla="*/ 32 h 41"/>
                  <a:gd name="T8" fmla="*/ 16 w 17"/>
                  <a:gd name="T9" fmla="*/ 40 h 41"/>
                  <a:gd name="T10" fmla="*/ 4 w 17"/>
                  <a:gd name="T11" fmla="*/ 40 h 41"/>
                  <a:gd name="T12" fmla="*/ 0 60000 65536"/>
                  <a:gd name="T13" fmla="*/ 0 60000 65536"/>
                  <a:gd name="T14" fmla="*/ 0 60000 65536"/>
                  <a:gd name="T15" fmla="*/ 0 60000 65536"/>
                  <a:gd name="T16" fmla="*/ 0 60000 65536"/>
                  <a:gd name="T17" fmla="*/ 0 60000 65536"/>
                  <a:gd name="T18" fmla="*/ 0 w 17"/>
                  <a:gd name="T19" fmla="*/ 0 h 41"/>
                  <a:gd name="T20" fmla="*/ 17 w 17"/>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17" h="41">
                    <a:moveTo>
                      <a:pt x="0" y="0"/>
                    </a:moveTo>
                    <a:lnTo>
                      <a:pt x="12" y="3"/>
                    </a:lnTo>
                    <a:lnTo>
                      <a:pt x="8" y="23"/>
                    </a:lnTo>
                    <a:lnTo>
                      <a:pt x="11" y="32"/>
                    </a:lnTo>
                    <a:lnTo>
                      <a:pt x="16" y="40"/>
                    </a:lnTo>
                    <a:lnTo>
                      <a:pt x="4" y="4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22" name="Freeform 675"/>
              <p:cNvSpPr>
                <a:spLocks noChangeAspect="1"/>
              </p:cNvSpPr>
              <p:nvPr/>
            </p:nvSpPr>
            <p:spPr bwMode="auto">
              <a:xfrm>
                <a:off x="602" y="3391"/>
                <a:ext cx="17" cy="29"/>
              </a:xfrm>
              <a:custGeom>
                <a:avLst/>
                <a:gdLst>
                  <a:gd name="T0" fmla="*/ 14 w 17"/>
                  <a:gd name="T1" fmla="*/ 28 h 29"/>
                  <a:gd name="T2" fmla="*/ 0 w 17"/>
                  <a:gd name="T3" fmla="*/ 25 h 29"/>
                  <a:gd name="T4" fmla="*/ 0 w 17"/>
                  <a:gd name="T5" fmla="*/ 12 h 29"/>
                  <a:gd name="T6" fmla="*/ 14 w 17"/>
                  <a:gd name="T7" fmla="*/ 14 h 29"/>
                  <a:gd name="T8" fmla="*/ 16 w 17"/>
                  <a:gd name="T9" fmla="*/ 0 h 29"/>
                  <a:gd name="T10" fmla="*/ 0 60000 65536"/>
                  <a:gd name="T11" fmla="*/ 0 60000 65536"/>
                  <a:gd name="T12" fmla="*/ 0 60000 65536"/>
                  <a:gd name="T13" fmla="*/ 0 60000 65536"/>
                  <a:gd name="T14" fmla="*/ 0 60000 65536"/>
                  <a:gd name="T15" fmla="*/ 0 w 17"/>
                  <a:gd name="T16" fmla="*/ 0 h 29"/>
                  <a:gd name="T17" fmla="*/ 17 w 17"/>
                  <a:gd name="T18" fmla="*/ 29 h 29"/>
                </a:gdLst>
                <a:ahLst/>
                <a:cxnLst>
                  <a:cxn ang="T10">
                    <a:pos x="T0" y="T1"/>
                  </a:cxn>
                  <a:cxn ang="T11">
                    <a:pos x="T2" y="T3"/>
                  </a:cxn>
                  <a:cxn ang="T12">
                    <a:pos x="T4" y="T5"/>
                  </a:cxn>
                  <a:cxn ang="T13">
                    <a:pos x="T6" y="T7"/>
                  </a:cxn>
                  <a:cxn ang="T14">
                    <a:pos x="T8" y="T9"/>
                  </a:cxn>
                </a:cxnLst>
                <a:rect l="T15" t="T16" r="T17" b="T18"/>
                <a:pathLst>
                  <a:path w="17" h="29">
                    <a:moveTo>
                      <a:pt x="14" y="28"/>
                    </a:moveTo>
                    <a:lnTo>
                      <a:pt x="0" y="25"/>
                    </a:lnTo>
                    <a:lnTo>
                      <a:pt x="0" y="12"/>
                    </a:lnTo>
                    <a:lnTo>
                      <a:pt x="14" y="14"/>
                    </a:lnTo>
                    <a:lnTo>
                      <a:pt x="16"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23" name="Freeform 676"/>
              <p:cNvSpPr>
                <a:spLocks noChangeAspect="1"/>
              </p:cNvSpPr>
              <p:nvPr/>
            </p:nvSpPr>
            <p:spPr bwMode="auto">
              <a:xfrm>
                <a:off x="564" y="3426"/>
                <a:ext cx="17" cy="17"/>
              </a:xfrm>
              <a:custGeom>
                <a:avLst/>
                <a:gdLst>
                  <a:gd name="T0" fmla="*/ 0 w 17"/>
                  <a:gd name="T1" fmla="*/ 0 h 17"/>
                  <a:gd name="T2" fmla="*/ 16 w 17"/>
                  <a:gd name="T3" fmla="*/ 3 h 17"/>
                  <a:gd name="T4" fmla="*/ 16 w 17"/>
                  <a:gd name="T5" fmla="*/ 16 h 17"/>
                  <a:gd name="T6" fmla="*/ 0 w 17"/>
                  <a:gd name="T7" fmla="*/ 13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3"/>
                    </a:lnTo>
                    <a:lnTo>
                      <a:pt x="16" y="16"/>
                    </a:lnTo>
                    <a:lnTo>
                      <a:pt x="0" y="13"/>
                    </a:lnTo>
                    <a:lnTo>
                      <a:pt x="0"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24" name="Line 677"/>
              <p:cNvSpPr>
                <a:spLocks noChangeAspect="1" noChangeShapeType="1"/>
              </p:cNvSpPr>
              <p:nvPr/>
            </p:nvSpPr>
            <p:spPr bwMode="auto">
              <a:xfrm>
                <a:off x="571" y="3429"/>
                <a:ext cx="3"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25" name="Freeform 678"/>
              <p:cNvSpPr>
                <a:spLocks noChangeAspect="1"/>
              </p:cNvSpPr>
              <p:nvPr/>
            </p:nvSpPr>
            <p:spPr bwMode="auto">
              <a:xfrm>
                <a:off x="563" y="3431"/>
                <a:ext cx="17" cy="17"/>
              </a:xfrm>
              <a:custGeom>
                <a:avLst/>
                <a:gdLst>
                  <a:gd name="T0" fmla="*/ 6 w 17"/>
                  <a:gd name="T1" fmla="*/ 16 h 17"/>
                  <a:gd name="T2" fmla="*/ 0 w 17"/>
                  <a:gd name="T3" fmla="*/ 16 h 17"/>
                  <a:gd name="T4" fmla="*/ 0 w 17"/>
                  <a:gd name="T5" fmla="*/ 0 h 17"/>
                  <a:gd name="T6" fmla="*/ 6 w 17"/>
                  <a:gd name="T7" fmla="*/ 0 h 17"/>
                  <a:gd name="T8" fmla="*/ 9 w 17"/>
                  <a:gd name="T9" fmla="*/ 0 h 17"/>
                  <a:gd name="T10" fmla="*/ 16 w 17"/>
                  <a:gd name="T11" fmla="*/ 0 h 17"/>
                  <a:gd name="T12" fmla="*/ 16 w 17"/>
                  <a:gd name="T13" fmla="*/ 16 h 17"/>
                  <a:gd name="T14" fmla="*/ 9 w 17"/>
                  <a:gd name="T15" fmla="*/ 16 h 17"/>
                  <a:gd name="T16" fmla="*/ 6 w 17"/>
                  <a:gd name="T17" fmla="*/ 16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6" y="16"/>
                    </a:moveTo>
                    <a:lnTo>
                      <a:pt x="0" y="16"/>
                    </a:lnTo>
                    <a:lnTo>
                      <a:pt x="0" y="0"/>
                    </a:lnTo>
                    <a:lnTo>
                      <a:pt x="6" y="0"/>
                    </a:lnTo>
                    <a:lnTo>
                      <a:pt x="9" y="0"/>
                    </a:lnTo>
                    <a:lnTo>
                      <a:pt x="16" y="0"/>
                    </a:lnTo>
                    <a:lnTo>
                      <a:pt x="16" y="16"/>
                    </a:lnTo>
                    <a:lnTo>
                      <a:pt x="9" y="16"/>
                    </a:lnTo>
                    <a:lnTo>
                      <a:pt x="6" y="16"/>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26" name="Freeform 679"/>
              <p:cNvSpPr>
                <a:spLocks noChangeAspect="1"/>
              </p:cNvSpPr>
              <p:nvPr/>
            </p:nvSpPr>
            <p:spPr bwMode="auto">
              <a:xfrm>
                <a:off x="566" y="3431"/>
                <a:ext cx="17" cy="17"/>
              </a:xfrm>
              <a:custGeom>
                <a:avLst/>
                <a:gdLst>
                  <a:gd name="T0" fmla="*/ 10 w 17"/>
                  <a:gd name="T1" fmla="*/ 0 h 17"/>
                  <a:gd name="T2" fmla="*/ 16 w 17"/>
                  <a:gd name="T3" fmla="*/ 4 h 17"/>
                  <a:gd name="T4" fmla="*/ 16 w 17"/>
                  <a:gd name="T5" fmla="*/ 6 h 17"/>
                  <a:gd name="T6" fmla="*/ 16 w 17"/>
                  <a:gd name="T7" fmla="*/ 10 h 17"/>
                  <a:gd name="T8" fmla="*/ 16 w 17"/>
                  <a:gd name="T9" fmla="*/ 12 h 17"/>
                  <a:gd name="T10" fmla="*/ 16 w 17"/>
                  <a:gd name="T11" fmla="*/ 16 h 17"/>
                  <a:gd name="T12" fmla="*/ 10 w 17"/>
                  <a:gd name="T13" fmla="*/ 16 h 17"/>
                  <a:gd name="T14" fmla="*/ 5 w 17"/>
                  <a:gd name="T15" fmla="*/ 16 h 17"/>
                  <a:gd name="T16" fmla="*/ 0 w 17"/>
                  <a:gd name="T17" fmla="*/ 12 h 17"/>
                  <a:gd name="T18" fmla="*/ 0 w 17"/>
                  <a:gd name="T19" fmla="*/ 10 h 17"/>
                  <a:gd name="T20" fmla="*/ 0 w 17"/>
                  <a:gd name="T21" fmla="*/ 6 h 17"/>
                  <a:gd name="T22" fmla="*/ 5 w 17"/>
                  <a:gd name="T23" fmla="*/ 4 h 17"/>
                  <a:gd name="T24" fmla="*/ 5 w 17"/>
                  <a:gd name="T25" fmla="*/ 0 h 17"/>
                  <a:gd name="T26" fmla="*/ 10 w 17"/>
                  <a:gd name="T27" fmla="*/ 0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17"/>
                  <a:gd name="T44" fmla="*/ 17 w 17"/>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17">
                    <a:moveTo>
                      <a:pt x="10" y="0"/>
                    </a:moveTo>
                    <a:lnTo>
                      <a:pt x="16" y="4"/>
                    </a:lnTo>
                    <a:lnTo>
                      <a:pt x="16" y="6"/>
                    </a:lnTo>
                    <a:lnTo>
                      <a:pt x="16" y="10"/>
                    </a:lnTo>
                    <a:lnTo>
                      <a:pt x="16" y="12"/>
                    </a:lnTo>
                    <a:lnTo>
                      <a:pt x="16" y="16"/>
                    </a:lnTo>
                    <a:lnTo>
                      <a:pt x="10" y="16"/>
                    </a:lnTo>
                    <a:lnTo>
                      <a:pt x="5" y="16"/>
                    </a:lnTo>
                    <a:lnTo>
                      <a:pt x="0" y="12"/>
                    </a:lnTo>
                    <a:lnTo>
                      <a:pt x="0" y="10"/>
                    </a:lnTo>
                    <a:lnTo>
                      <a:pt x="0" y="6"/>
                    </a:lnTo>
                    <a:lnTo>
                      <a:pt x="5" y="4"/>
                    </a:lnTo>
                    <a:lnTo>
                      <a:pt x="5" y="0"/>
                    </a:lnTo>
                    <a:lnTo>
                      <a:pt x="10" y="0"/>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27" name="Freeform 680"/>
              <p:cNvSpPr>
                <a:spLocks noChangeAspect="1"/>
              </p:cNvSpPr>
              <p:nvPr/>
            </p:nvSpPr>
            <p:spPr bwMode="auto">
              <a:xfrm>
                <a:off x="558" y="3423"/>
                <a:ext cx="78" cy="25"/>
              </a:xfrm>
              <a:custGeom>
                <a:avLst/>
                <a:gdLst>
                  <a:gd name="T0" fmla="*/ 0 w 78"/>
                  <a:gd name="T1" fmla="*/ 0 h 25"/>
                  <a:gd name="T2" fmla="*/ 4 w 78"/>
                  <a:gd name="T3" fmla="*/ 0 h 25"/>
                  <a:gd name="T4" fmla="*/ 14 w 78"/>
                  <a:gd name="T5" fmla="*/ 2 h 25"/>
                  <a:gd name="T6" fmla="*/ 33 w 78"/>
                  <a:gd name="T7" fmla="*/ 11 h 25"/>
                  <a:gd name="T8" fmla="*/ 50 w 78"/>
                  <a:gd name="T9" fmla="*/ 18 h 25"/>
                  <a:gd name="T10" fmla="*/ 58 w 78"/>
                  <a:gd name="T11" fmla="*/ 19 h 25"/>
                  <a:gd name="T12" fmla="*/ 67 w 78"/>
                  <a:gd name="T13" fmla="*/ 22 h 25"/>
                  <a:gd name="T14" fmla="*/ 73 w 78"/>
                  <a:gd name="T15" fmla="*/ 24 h 25"/>
                  <a:gd name="T16" fmla="*/ 77 w 78"/>
                  <a:gd name="T17" fmla="*/ 24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8"/>
                  <a:gd name="T28" fmla="*/ 0 h 25"/>
                  <a:gd name="T29" fmla="*/ 78 w 78"/>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8" h="25">
                    <a:moveTo>
                      <a:pt x="0" y="0"/>
                    </a:moveTo>
                    <a:lnTo>
                      <a:pt x="4" y="0"/>
                    </a:lnTo>
                    <a:lnTo>
                      <a:pt x="14" y="2"/>
                    </a:lnTo>
                    <a:lnTo>
                      <a:pt x="33" y="11"/>
                    </a:lnTo>
                    <a:lnTo>
                      <a:pt x="50" y="18"/>
                    </a:lnTo>
                    <a:lnTo>
                      <a:pt x="58" y="19"/>
                    </a:lnTo>
                    <a:lnTo>
                      <a:pt x="67" y="22"/>
                    </a:lnTo>
                    <a:lnTo>
                      <a:pt x="73" y="24"/>
                    </a:lnTo>
                    <a:lnTo>
                      <a:pt x="77" y="24"/>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28" name="Freeform 681"/>
              <p:cNvSpPr>
                <a:spLocks noChangeAspect="1"/>
              </p:cNvSpPr>
              <p:nvPr/>
            </p:nvSpPr>
            <p:spPr bwMode="auto">
              <a:xfrm>
                <a:off x="612" y="3435"/>
                <a:ext cx="28" cy="17"/>
              </a:xfrm>
              <a:custGeom>
                <a:avLst/>
                <a:gdLst>
                  <a:gd name="T0" fmla="*/ 27 w 28"/>
                  <a:gd name="T1" fmla="*/ 16 h 17"/>
                  <a:gd name="T2" fmla="*/ 0 w 28"/>
                  <a:gd name="T3" fmla="*/ 0 h 17"/>
                  <a:gd name="T4" fmla="*/ 4 w 28"/>
                  <a:gd name="T5" fmla="*/ 8 h 17"/>
                  <a:gd name="T6" fmla="*/ 0 60000 65536"/>
                  <a:gd name="T7" fmla="*/ 0 60000 65536"/>
                  <a:gd name="T8" fmla="*/ 0 60000 65536"/>
                  <a:gd name="T9" fmla="*/ 0 w 28"/>
                  <a:gd name="T10" fmla="*/ 0 h 17"/>
                  <a:gd name="T11" fmla="*/ 28 w 28"/>
                  <a:gd name="T12" fmla="*/ 17 h 17"/>
                </a:gdLst>
                <a:ahLst/>
                <a:cxnLst>
                  <a:cxn ang="T6">
                    <a:pos x="T0" y="T1"/>
                  </a:cxn>
                  <a:cxn ang="T7">
                    <a:pos x="T2" y="T3"/>
                  </a:cxn>
                  <a:cxn ang="T8">
                    <a:pos x="T4" y="T5"/>
                  </a:cxn>
                </a:cxnLst>
                <a:rect l="T9" t="T10" r="T11" b="T12"/>
                <a:pathLst>
                  <a:path w="28" h="17">
                    <a:moveTo>
                      <a:pt x="27" y="16"/>
                    </a:moveTo>
                    <a:lnTo>
                      <a:pt x="0" y="0"/>
                    </a:lnTo>
                    <a:lnTo>
                      <a:pt x="4" y="8"/>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29" name="Freeform 682"/>
              <p:cNvSpPr>
                <a:spLocks noChangeAspect="1"/>
              </p:cNvSpPr>
              <p:nvPr/>
            </p:nvSpPr>
            <p:spPr bwMode="auto">
              <a:xfrm>
                <a:off x="646" y="3344"/>
                <a:ext cx="17" cy="17"/>
              </a:xfrm>
              <a:custGeom>
                <a:avLst/>
                <a:gdLst>
                  <a:gd name="T0" fmla="*/ 0 w 17"/>
                  <a:gd name="T1" fmla="*/ 16 h 17"/>
                  <a:gd name="T2" fmla="*/ 6 w 17"/>
                  <a:gd name="T3" fmla="*/ 6 h 17"/>
                  <a:gd name="T4" fmla="*/ 16 w 17"/>
                  <a:gd name="T5" fmla="*/ 0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0" y="16"/>
                    </a:moveTo>
                    <a:lnTo>
                      <a:pt x="6" y="6"/>
                    </a:lnTo>
                    <a:lnTo>
                      <a:pt x="16" y="0"/>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30" name="Line 683"/>
              <p:cNvSpPr>
                <a:spLocks noChangeAspect="1" noChangeShapeType="1"/>
              </p:cNvSpPr>
              <p:nvPr/>
            </p:nvSpPr>
            <p:spPr bwMode="auto">
              <a:xfrm flipV="1">
                <a:off x="635" y="3344"/>
                <a:ext cx="3"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31" name="Line 684"/>
              <p:cNvSpPr>
                <a:spLocks noChangeAspect="1" noChangeShapeType="1"/>
              </p:cNvSpPr>
              <p:nvPr/>
            </p:nvSpPr>
            <p:spPr bwMode="auto">
              <a:xfrm>
                <a:off x="552" y="3447"/>
                <a:ext cx="11"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32" name="Freeform 685"/>
              <p:cNvSpPr>
                <a:spLocks noChangeAspect="1"/>
              </p:cNvSpPr>
              <p:nvPr/>
            </p:nvSpPr>
            <p:spPr bwMode="auto">
              <a:xfrm>
                <a:off x="557" y="3443"/>
                <a:ext cx="74" cy="17"/>
              </a:xfrm>
              <a:custGeom>
                <a:avLst/>
                <a:gdLst>
                  <a:gd name="T0" fmla="*/ 0 w 74"/>
                  <a:gd name="T1" fmla="*/ 0 h 17"/>
                  <a:gd name="T2" fmla="*/ 9 w 74"/>
                  <a:gd name="T3" fmla="*/ 7 h 17"/>
                  <a:gd name="T4" fmla="*/ 19 w 74"/>
                  <a:gd name="T5" fmla="*/ 14 h 17"/>
                  <a:gd name="T6" fmla="*/ 26 w 74"/>
                  <a:gd name="T7" fmla="*/ 14 h 17"/>
                  <a:gd name="T8" fmla="*/ 34 w 74"/>
                  <a:gd name="T9" fmla="*/ 16 h 17"/>
                  <a:gd name="T10" fmla="*/ 49 w 74"/>
                  <a:gd name="T11" fmla="*/ 14 h 17"/>
                  <a:gd name="T12" fmla="*/ 62 w 74"/>
                  <a:gd name="T13" fmla="*/ 11 h 17"/>
                  <a:gd name="T14" fmla="*/ 73 w 74"/>
                  <a:gd name="T15" fmla="*/ 7 h 17"/>
                  <a:gd name="T16" fmla="*/ 0 60000 65536"/>
                  <a:gd name="T17" fmla="*/ 0 60000 65536"/>
                  <a:gd name="T18" fmla="*/ 0 60000 65536"/>
                  <a:gd name="T19" fmla="*/ 0 60000 65536"/>
                  <a:gd name="T20" fmla="*/ 0 60000 65536"/>
                  <a:gd name="T21" fmla="*/ 0 60000 65536"/>
                  <a:gd name="T22" fmla="*/ 0 60000 65536"/>
                  <a:gd name="T23" fmla="*/ 0 60000 65536"/>
                  <a:gd name="T24" fmla="*/ 0 w 74"/>
                  <a:gd name="T25" fmla="*/ 0 h 17"/>
                  <a:gd name="T26" fmla="*/ 74 w 74"/>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4" h="17">
                    <a:moveTo>
                      <a:pt x="0" y="0"/>
                    </a:moveTo>
                    <a:lnTo>
                      <a:pt x="9" y="7"/>
                    </a:lnTo>
                    <a:lnTo>
                      <a:pt x="19" y="14"/>
                    </a:lnTo>
                    <a:lnTo>
                      <a:pt x="26" y="14"/>
                    </a:lnTo>
                    <a:lnTo>
                      <a:pt x="34" y="16"/>
                    </a:lnTo>
                    <a:lnTo>
                      <a:pt x="49" y="14"/>
                    </a:lnTo>
                    <a:lnTo>
                      <a:pt x="62" y="11"/>
                    </a:lnTo>
                    <a:lnTo>
                      <a:pt x="73" y="7"/>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33" name="Freeform 686"/>
              <p:cNvSpPr>
                <a:spLocks noChangeAspect="1"/>
              </p:cNvSpPr>
              <p:nvPr/>
            </p:nvSpPr>
            <p:spPr bwMode="auto">
              <a:xfrm>
                <a:off x="599" y="3503"/>
                <a:ext cx="17" cy="17"/>
              </a:xfrm>
              <a:custGeom>
                <a:avLst/>
                <a:gdLst>
                  <a:gd name="T0" fmla="*/ 7 w 17"/>
                  <a:gd name="T1" fmla="*/ 0 h 17"/>
                  <a:gd name="T2" fmla="*/ 9 w 17"/>
                  <a:gd name="T3" fmla="*/ 0 h 17"/>
                  <a:gd name="T4" fmla="*/ 10 w 17"/>
                  <a:gd name="T5" fmla="*/ 0 h 17"/>
                  <a:gd name="T6" fmla="*/ 12 w 17"/>
                  <a:gd name="T7" fmla="*/ 0 h 17"/>
                  <a:gd name="T8" fmla="*/ 13 w 17"/>
                  <a:gd name="T9" fmla="*/ 0 h 17"/>
                  <a:gd name="T10" fmla="*/ 14 w 17"/>
                  <a:gd name="T11" fmla="*/ 0 h 17"/>
                  <a:gd name="T12" fmla="*/ 15 w 17"/>
                  <a:gd name="T13" fmla="*/ 0 h 17"/>
                  <a:gd name="T14" fmla="*/ 16 w 17"/>
                  <a:gd name="T15" fmla="*/ 0 h 17"/>
                  <a:gd name="T16" fmla="*/ 15 w 17"/>
                  <a:gd name="T17" fmla="*/ 16 h 17"/>
                  <a:gd name="T18" fmla="*/ 14 w 17"/>
                  <a:gd name="T19" fmla="*/ 16 h 17"/>
                  <a:gd name="T20" fmla="*/ 13 w 17"/>
                  <a:gd name="T21" fmla="*/ 16 h 17"/>
                  <a:gd name="T22" fmla="*/ 12 w 17"/>
                  <a:gd name="T23" fmla="*/ 16 h 17"/>
                  <a:gd name="T24" fmla="*/ 10 w 17"/>
                  <a:gd name="T25" fmla="*/ 16 h 17"/>
                  <a:gd name="T26" fmla="*/ 9 w 17"/>
                  <a:gd name="T27" fmla="*/ 16 h 17"/>
                  <a:gd name="T28" fmla="*/ 7 w 17"/>
                  <a:gd name="T29" fmla="*/ 16 h 17"/>
                  <a:gd name="T30" fmla="*/ 5 w 17"/>
                  <a:gd name="T31" fmla="*/ 16 h 17"/>
                  <a:gd name="T32" fmla="*/ 4 w 17"/>
                  <a:gd name="T33" fmla="*/ 16 h 17"/>
                  <a:gd name="T34" fmla="*/ 2 w 17"/>
                  <a:gd name="T35" fmla="*/ 16 h 17"/>
                  <a:gd name="T36" fmla="*/ 1 w 17"/>
                  <a:gd name="T37" fmla="*/ 16 h 17"/>
                  <a:gd name="T38" fmla="*/ 0 w 17"/>
                  <a:gd name="T39" fmla="*/ 16 h 17"/>
                  <a:gd name="T40" fmla="*/ 0 w 17"/>
                  <a:gd name="T41" fmla="*/ 16 h 17"/>
                  <a:gd name="T42" fmla="*/ 0 w 17"/>
                  <a:gd name="T43" fmla="*/ 0 h 17"/>
                  <a:gd name="T44" fmla="*/ 0 w 17"/>
                  <a:gd name="T45" fmla="*/ 0 h 17"/>
                  <a:gd name="T46" fmla="*/ 1 w 17"/>
                  <a:gd name="T47" fmla="*/ 0 h 17"/>
                  <a:gd name="T48" fmla="*/ 2 w 17"/>
                  <a:gd name="T49" fmla="*/ 0 h 17"/>
                  <a:gd name="T50" fmla="*/ 4 w 17"/>
                  <a:gd name="T51" fmla="*/ 0 h 17"/>
                  <a:gd name="T52" fmla="*/ 5 w 17"/>
                  <a:gd name="T53" fmla="*/ 0 h 17"/>
                  <a:gd name="T54" fmla="*/ 7 w 17"/>
                  <a:gd name="T55" fmla="*/ 0 h 1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7"/>
                  <a:gd name="T85" fmla="*/ 0 h 17"/>
                  <a:gd name="T86" fmla="*/ 17 w 17"/>
                  <a:gd name="T87" fmla="*/ 17 h 1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7" h="17">
                    <a:moveTo>
                      <a:pt x="7" y="0"/>
                    </a:moveTo>
                    <a:lnTo>
                      <a:pt x="9" y="0"/>
                    </a:lnTo>
                    <a:lnTo>
                      <a:pt x="10" y="0"/>
                    </a:lnTo>
                    <a:lnTo>
                      <a:pt x="12" y="0"/>
                    </a:lnTo>
                    <a:lnTo>
                      <a:pt x="13" y="0"/>
                    </a:lnTo>
                    <a:lnTo>
                      <a:pt x="14" y="0"/>
                    </a:lnTo>
                    <a:lnTo>
                      <a:pt x="15" y="0"/>
                    </a:lnTo>
                    <a:lnTo>
                      <a:pt x="16" y="0"/>
                    </a:lnTo>
                    <a:lnTo>
                      <a:pt x="15" y="16"/>
                    </a:lnTo>
                    <a:lnTo>
                      <a:pt x="14" y="16"/>
                    </a:lnTo>
                    <a:lnTo>
                      <a:pt x="13" y="16"/>
                    </a:lnTo>
                    <a:lnTo>
                      <a:pt x="12" y="16"/>
                    </a:lnTo>
                    <a:lnTo>
                      <a:pt x="10" y="16"/>
                    </a:lnTo>
                    <a:lnTo>
                      <a:pt x="9" y="16"/>
                    </a:lnTo>
                    <a:lnTo>
                      <a:pt x="7" y="16"/>
                    </a:lnTo>
                    <a:lnTo>
                      <a:pt x="5" y="16"/>
                    </a:lnTo>
                    <a:lnTo>
                      <a:pt x="4" y="16"/>
                    </a:lnTo>
                    <a:lnTo>
                      <a:pt x="2" y="16"/>
                    </a:lnTo>
                    <a:lnTo>
                      <a:pt x="1" y="16"/>
                    </a:lnTo>
                    <a:lnTo>
                      <a:pt x="0" y="16"/>
                    </a:lnTo>
                    <a:lnTo>
                      <a:pt x="0" y="0"/>
                    </a:lnTo>
                    <a:lnTo>
                      <a:pt x="1" y="0"/>
                    </a:lnTo>
                    <a:lnTo>
                      <a:pt x="2" y="0"/>
                    </a:lnTo>
                    <a:lnTo>
                      <a:pt x="4" y="0"/>
                    </a:lnTo>
                    <a:lnTo>
                      <a:pt x="5" y="0"/>
                    </a:lnTo>
                    <a:lnTo>
                      <a:pt x="7" y="0"/>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34" name="Freeform 687"/>
              <p:cNvSpPr>
                <a:spLocks noChangeAspect="1"/>
              </p:cNvSpPr>
              <p:nvPr/>
            </p:nvSpPr>
            <p:spPr bwMode="auto">
              <a:xfrm>
                <a:off x="600" y="3503"/>
                <a:ext cx="17" cy="17"/>
              </a:xfrm>
              <a:custGeom>
                <a:avLst/>
                <a:gdLst>
                  <a:gd name="T0" fmla="*/ 7 w 17"/>
                  <a:gd name="T1" fmla="*/ 0 h 17"/>
                  <a:gd name="T2" fmla="*/ 9 w 17"/>
                  <a:gd name="T3" fmla="*/ 0 h 17"/>
                  <a:gd name="T4" fmla="*/ 10 w 17"/>
                  <a:gd name="T5" fmla="*/ 0 h 17"/>
                  <a:gd name="T6" fmla="*/ 12 w 17"/>
                  <a:gd name="T7" fmla="*/ 0 h 17"/>
                  <a:gd name="T8" fmla="*/ 13 w 17"/>
                  <a:gd name="T9" fmla="*/ 2 h 17"/>
                  <a:gd name="T10" fmla="*/ 14 w 17"/>
                  <a:gd name="T11" fmla="*/ 2 h 17"/>
                  <a:gd name="T12" fmla="*/ 14 w 17"/>
                  <a:gd name="T13" fmla="*/ 4 h 17"/>
                  <a:gd name="T14" fmla="*/ 16 w 17"/>
                  <a:gd name="T15" fmla="*/ 7 h 17"/>
                  <a:gd name="T16" fmla="*/ 14 w 17"/>
                  <a:gd name="T17" fmla="*/ 8 h 17"/>
                  <a:gd name="T18" fmla="*/ 14 w 17"/>
                  <a:gd name="T19" fmla="*/ 11 h 17"/>
                  <a:gd name="T20" fmla="*/ 13 w 17"/>
                  <a:gd name="T21" fmla="*/ 13 h 17"/>
                  <a:gd name="T22" fmla="*/ 12 w 17"/>
                  <a:gd name="T23" fmla="*/ 13 h 17"/>
                  <a:gd name="T24" fmla="*/ 10 w 17"/>
                  <a:gd name="T25" fmla="*/ 16 h 17"/>
                  <a:gd name="T26" fmla="*/ 9 w 17"/>
                  <a:gd name="T27" fmla="*/ 16 h 17"/>
                  <a:gd name="T28" fmla="*/ 7 w 17"/>
                  <a:gd name="T29" fmla="*/ 16 h 17"/>
                  <a:gd name="T30" fmla="*/ 5 w 17"/>
                  <a:gd name="T31" fmla="*/ 16 h 17"/>
                  <a:gd name="T32" fmla="*/ 4 w 17"/>
                  <a:gd name="T33" fmla="*/ 16 h 17"/>
                  <a:gd name="T34" fmla="*/ 2 w 17"/>
                  <a:gd name="T35" fmla="*/ 13 h 17"/>
                  <a:gd name="T36" fmla="*/ 1 w 17"/>
                  <a:gd name="T37" fmla="*/ 13 h 17"/>
                  <a:gd name="T38" fmla="*/ 1 w 17"/>
                  <a:gd name="T39" fmla="*/ 11 h 17"/>
                  <a:gd name="T40" fmla="*/ 0 w 17"/>
                  <a:gd name="T41" fmla="*/ 8 h 17"/>
                  <a:gd name="T42" fmla="*/ 0 w 17"/>
                  <a:gd name="T43" fmla="*/ 7 h 17"/>
                  <a:gd name="T44" fmla="*/ 0 w 17"/>
                  <a:gd name="T45" fmla="*/ 4 h 17"/>
                  <a:gd name="T46" fmla="*/ 1 w 17"/>
                  <a:gd name="T47" fmla="*/ 2 h 17"/>
                  <a:gd name="T48" fmla="*/ 1 w 17"/>
                  <a:gd name="T49" fmla="*/ 2 h 17"/>
                  <a:gd name="T50" fmla="*/ 2 w 17"/>
                  <a:gd name="T51" fmla="*/ 0 h 17"/>
                  <a:gd name="T52" fmla="*/ 4 w 17"/>
                  <a:gd name="T53" fmla="*/ 0 h 17"/>
                  <a:gd name="T54" fmla="*/ 5 w 17"/>
                  <a:gd name="T55" fmla="*/ 0 h 17"/>
                  <a:gd name="T56" fmla="*/ 7 w 17"/>
                  <a:gd name="T57" fmla="*/ 0 h 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
                  <a:gd name="T88" fmla="*/ 0 h 17"/>
                  <a:gd name="T89" fmla="*/ 17 w 17"/>
                  <a:gd name="T90" fmla="*/ 17 h 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 h="17">
                    <a:moveTo>
                      <a:pt x="7" y="0"/>
                    </a:moveTo>
                    <a:lnTo>
                      <a:pt x="9" y="0"/>
                    </a:lnTo>
                    <a:lnTo>
                      <a:pt x="10" y="0"/>
                    </a:lnTo>
                    <a:lnTo>
                      <a:pt x="12" y="0"/>
                    </a:lnTo>
                    <a:lnTo>
                      <a:pt x="13" y="2"/>
                    </a:lnTo>
                    <a:lnTo>
                      <a:pt x="14" y="2"/>
                    </a:lnTo>
                    <a:lnTo>
                      <a:pt x="14" y="4"/>
                    </a:lnTo>
                    <a:lnTo>
                      <a:pt x="16" y="7"/>
                    </a:lnTo>
                    <a:lnTo>
                      <a:pt x="14" y="8"/>
                    </a:lnTo>
                    <a:lnTo>
                      <a:pt x="14" y="11"/>
                    </a:lnTo>
                    <a:lnTo>
                      <a:pt x="13" y="13"/>
                    </a:lnTo>
                    <a:lnTo>
                      <a:pt x="12" y="13"/>
                    </a:lnTo>
                    <a:lnTo>
                      <a:pt x="10" y="16"/>
                    </a:lnTo>
                    <a:lnTo>
                      <a:pt x="9" y="16"/>
                    </a:lnTo>
                    <a:lnTo>
                      <a:pt x="7" y="16"/>
                    </a:lnTo>
                    <a:lnTo>
                      <a:pt x="5" y="16"/>
                    </a:lnTo>
                    <a:lnTo>
                      <a:pt x="4" y="16"/>
                    </a:lnTo>
                    <a:lnTo>
                      <a:pt x="2" y="13"/>
                    </a:lnTo>
                    <a:lnTo>
                      <a:pt x="1" y="13"/>
                    </a:lnTo>
                    <a:lnTo>
                      <a:pt x="1" y="11"/>
                    </a:lnTo>
                    <a:lnTo>
                      <a:pt x="0" y="8"/>
                    </a:lnTo>
                    <a:lnTo>
                      <a:pt x="0" y="7"/>
                    </a:lnTo>
                    <a:lnTo>
                      <a:pt x="0" y="4"/>
                    </a:lnTo>
                    <a:lnTo>
                      <a:pt x="1" y="2"/>
                    </a:lnTo>
                    <a:lnTo>
                      <a:pt x="2" y="0"/>
                    </a:lnTo>
                    <a:lnTo>
                      <a:pt x="4" y="0"/>
                    </a:lnTo>
                    <a:lnTo>
                      <a:pt x="5" y="0"/>
                    </a:lnTo>
                    <a:lnTo>
                      <a:pt x="7" y="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35" name="Freeform 688"/>
              <p:cNvSpPr>
                <a:spLocks noChangeAspect="1"/>
              </p:cNvSpPr>
              <p:nvPr/>
            </p:nvSpPr>
            <p:spPr bwMode="auto">
              <a:xfrm>
                <a:off x="557" y="3478"/>
                <a:ext cx="78" cy="17"/>
              </a:xfrm>
              <a:custGeom>
                <a:avLst/>
                <a:gdLst>
                  <a:gd name="T0" fmla="*/ 77 w 78"/>
                  <a:gd name="T1" fmla="*/ 0 h 17"/>
                  <a:gd name="T2" fmla="*/ 72 w 78"/>
                  <a:gd name="T3" fmla="*/ 7 h 17"/>
                  <a:gd name="T4" fmla="*/ 69 w 78"/>
                  <a:gd name="T5" fmla="*/ 10 h 17"/>
                  <a:gd name="T6" fmla="*/ 63 w 78"/>
                  <a:gd name="T7" fmla="*/ 12 h 17"/>
                  <a:gd name="T8" fmla="*/ 53 w 78"/>
                  <a:gd name="T9" fmla="*/ 14 h 17"/>
                  <a:gd name="T10" fmla="*/ 38 w 78"/>
                  <a:gd name="T11" fmla="*/ 16 h 17"/>
                  <a:gd name="T12" fmla="*/ 26 w 78"/>
                  <a:gd name="T13" fmla="*/ 14 h 17"/>
                  <a:gd name="T14" fmla="*/ 13 w 78"/>
                  <a:gd name="T15" fmla="*/ 12 h 17"/>
                  <a:gd name="T16" fmla="*/ 4 w 78"/>
                  <a:gd name="T17" fmla="*/ 6 h 17"/>
                  <a:gd name="T18" fmla="*/ 2 w 78"/>
                  <a:gd name="T19" fmla="*/ 3 h 17"/>
                  <a:gd name="T20" fmla="*/ 0 w 78"/>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8"/>
                  <a:gd name="T34" fmla="*/ 0 h 17"/>
                  <a:gd name="T35" fmla="*/ 78 w 78"/>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8" h="17">
                    <a:moveTo>
                      <a:pt x="77" y="0"/>
                    </a:moveTo>
                    <a:lnTo>
                      <a:pt x="72" y="7"/>
                    </a:lnTo>
                    <a:lnTo>
                      <a:pt x="69" y="10"/>
                    </a:lnTo>
                    <a:lnTo>
                      <a:pt x="63" y="12"/>
                    </a:lnTo>
                    <a:lnTo>
                      <a:pt x="53" y="14"/>
                    </a:lnTo>
                    <a:lnTo>
                      <a:pt x="38" y="16"/>
                    </a:lnTo>
                    <a:lnTo>
                      <a:pt x="26" y="14"/>
                    </a:lnTo>
                    <a:lnTo>
                      <a:pt x="13" y="12"/>
                    </a:lnTo>
                    <a:lnTo>
                      <a:pt x="4" y="6"/>
                    </a:lnTo>
                    <a:lnTo>
                      <a:pt x="2" y="3"/>
                    </a:lnTo>
                    <a:lnTo>
                      <a:pt x="0" y="0"/>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36" name="Freeform 689"/>
              <p:cNvSpPr>
                <a:spLocks noChangeAspect="1"/>
              </p:cNvSpPr>
              <p:nvPr/>
            </p:nvSpPr>
            <p:spPr bwMode="auto">
              <a:xfrm>
                <a:off x="547" y="3483"/>
                <a:ext cx="17" cy="1"/>
              </a:xfrm>
              <a:custGeom>
                <a:avLst/>
                <a:gdLst>
                  <a:gd name="T0" fmla="*/ 8 w 17"/>
                  <a:gd name="T1" fmla="*/ 0 h 1"/>
                  <a:gd name="T2" fmla="*/ 10 w 17"/>
                  <a:gd name="T3" fmla="*/ 0 h 1"/>
                  <a:gd name="T4" fmla="*/ 11 w 17"/>
                  <a:gd name="T5" fmla="*/ 0 h 1"/>
                  <a:gd name="T6" fmla="*/ 13 w 17"/>
                  <a:gd name="T7" fmla="*/ 0 h 1"/>
                  <a:gd name="T8" fmla="*/ 14 w 17"/>
                  <a:gd name="T9" fmla="*/ 0 h 1"/>
                  <a:gd name="T10" fmla="*/ 15 w 17"/>
                  <a:gd name="T11" fmla="*/ 0 h 1"/>
                  <a:gd name="T12" fmla="*/ 16 w 17"/>
                  <a:gd name="T13" fmla="*/ 0 h 1"/>
                  <a:gd name="T14" fmla="*/ 15 w 17"/>
                  <a:gd name="T15" fmla="*/ 0 h 1"/>
                  <a:gd name="T16" fmla="*/ 14 w 17"/>
                  <a:gd name="T17" fmla="*/ 0 h 1"/>
                  <a:gd name="T18" fmla="*/ 13 w 17"/>
                  <a:gd name="T19" fmla="*/ 0 h 1"/>
                  <a:gd name="T20" fmla="*/ 11 w 17"/>
                  <a:gd name="T21" fmla="*/ 0 h 1"/>
                  <a:gd name="T22" fmla="*/ 10 w 17"/>
                  <a:gd name="T23" fmla="*/ 0 h 1"/>
                  <a:gd name="T24" fmla="*/ 8 w 17"/>
                  <a:gd name="T25" fmla="*/ 0 h 1"/>
                  <a:gd name="T26" fmla="*/ 6 w 17"/>
                  <a:gd name="T27" fmla="*/ 0 h 1"/>
                  <a:gd name="T28" fmla="*/ 4 w 17"/>
                  <a:gd name="T29" fmla="*/ 0 h 1"/>
                  <a:gd name="T30" fmla="*/ 3 w 17"/>
                  <a:gd name="T31" fmla="*/ 0 h 1"/>
                  <a:gd name="T32" fmla="*/ 2 w 17"/>
                  <a:gd name="T33" fmla="*/ 0 h 1"/>
                  <a:gd name="T34" fmla="*/ 1 w 17"/>
                  <a:gd name="T35" fmla="*/ 0 h 1"/>
                  <a:gd name="T36" fmla="*/ 0 w 17"/>
                  <a:gd name="T37" fmla="*/ 0 h 1"/>
                  <a:gd name="T38" fmla="*/ 0 w 17"/>
                  <a:gd name="T39" fmla="*/ 0 h 1"/>
                  <a:gd name="T40" fmla="*/ 0 w 17"/>
                  <a:gd name="T41" fmla="*/ 0 h 1"/>
                  <a:gd name="T42" fmla="*/ 1 w 17"/>
                  <a:gd name="T43" fmla="*/ 0 h 1"/>
                  <a:gd name="T44" fmla="*/ 2 w 17"/>
                  <a:gd name="T45" fmla="*/ 0 h 1"/>
                  <a:gd name="T46" fmla="*/ 3 w 17"/>
                  <a:gd name="T47" fmla="*/ 0 h 1"/>
                  <a:gd name="T48" fmla="*/ 4 w 17"/>
                  <a:gd name="T49" fmla="*/ 0 h 1"/>
                  <a:gd name="T50" fmla="*/ 6 w 17"/>
                  <a:gd name="T51" fmla="*/ 0 h 1"/>
                  <a:gd name="T52" fmla="*/ 8 w 17"/>
                  <a:gd name="T53" fmla="*/ 0 h 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7"/>
                  <a:gd name="T82" fmla="*/ 0 h 1"/>
                  <a:gd name="T83" fmla="*/ 17 w 17"/>
                  <a:gd name="T84" fmla="*/ 1 h 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7" h="1">
                    <a:moveTo>
                      <a:pt x="8" y="0"/>
                    </a:moveTo>
                    <a:lnTo>
                      <a:pt x="10" y="0"/>
                    </a:lnTo>
                    <a:lnTo>
                      <a:pt x="11" y="0"/>
                    </a:lnTo>
                    <a:lnTo>
                      <a:pt x="13" y="0"/>
                    </a:lnTo>
                    <a:lnTo>
                      <a:pt x="14" y="0"/>
                    </a:lnTo>
                    <a:lnTo>
                      <a:pt x="15" y="0"/>
                    </a:lnTo>
                    <a:lnTo>
                      <a:pt x="16" y="0"/>
                    </a:lnTo>
                    <a:lnTo>
                      <a:pt x="15" y="0"/>
                    </a:lnTo>
                    <a:lnTo>
                      <a:pt x="14" y="0"/>
                    </a:lnTo>
                    <a:lnTo>
                      <a:pt x="13" y="0"/>
                    </a:lnTo>
                    <a:lnTo>
                      <a:pt x="11" y="0"/>
                    </a:lnTo>
                    <a:lnTo>
                      <a:pt x="10" y="0"/>
                    </a:lnTo>
                    <a:lnTo>
                      <a:pt x="8" y="0"/>
                    </a:lnTo>
                    <a:lnTo>
                      <a:pt x="6" y="0"/>
                    </a:lnTo>
                    <a:lnTo>
                      <a:pt x="4" y="0"/>
                    </a:lnTo>
                    <a:lnTo>
                      <a:pt x="3" y="0"/>
                    </a:lnTo>
                    <a:lnTo>
                      <a:pt x="2" y="0"/>
                    </a:lnTo>
                    <a:lnTo>
                      <a:pt x="1" y="0"/>
                    </a:lnTo>
                    <a:lnTo>
                      <a:pt x="0" y="0"/>
                    </a:lnTo>
                    <a:lnTo>
                      <a:pt x="1" y="0"/>
                    </a:lnTo>
                    <a:lnTo>
                      <a:pt x="2" y="0"/>
                    </a:lnTo>
                    <a:lnTo>
                      <a:pt x="3" y="0"/>
                    </a:lnTo>
                    <a:lnTo>
                      <a:pt x="4" y="0"/>
                    </a:lnTo>
                    <a:lnTo>
                      <a:pt x="6" y="0"/>
                    </a:lnTo>
                    <a:lnTo>
                      <a:pt x="8" y="0"/>
                    </a:lnTo>
                  </a:path>
                </a:pathLst>
              </a:custGeom>
              <a:solidFill>
                <a:srgbClr val="66666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37" name="Freeform 690"/>
              <p:cNvSpPr>
                <a:spLocks noChangeAspect="1"/>
              </p:cNvSpPr>
              <p:nvPr/>
            </p:nvSpPr>
            <p:spPr bwMode="auto">
              <a:xfrm>
                <a:off x="547" y="3483"/>
                <a:ext cx="17" cy="17"/>
              </a:xfrm>
              <a:custGeom>
                <a:avLst/>
                <a:gdLst>
                  <a:gd name="T0" fmla="*/ 8 w 17"/>
                  <a:gd name="T1" fmla="*/ 0 h 17"/>
                  <a:gd name="T2" fmla="*/ 10 w 17"/>
                  <a:gd name="T3" fmla="*/ 0 h 17"/>
                  <a:gd name="T4" fmla="*/ 11 w 17"/>
                  <a:gd name="T5" fmla="*/ 0 h 17"/>
                  <a:gd name="T6" fmla="*/ 13 w 17"/>
                  <a:gd name="T7" fmla="*/ 3 h 17"/>
                  <a:gd name="T8" fmla="*/ 14 w 17"/>
                  <a:gd name="T9" fmla="*/ 3 h 17"/>
                  <a:gd name="T10" fmla="*/ 14 w 17"/>
                  <a:gd name="T11" fmla="*/ 3 h 17"/>
                  <a:gd name="T12" fmla="*/ 16 w 17"/>
                  <a:gd name="T13" fmla="*/ 5 h 17"/>
                  <a:gd name="T14" fmla="*/ 16 w 17"/>
                  <a:gd name="T15" fmla="*/ 8 h 17"/>
                  <a:gd name="T16" fmla="*/ 16 w 17"/>
                  <a:gd name="T17" fmla="*/ 10 h 17"/>
                  <a:gd name="T18" fmla="*/ 14 w 17"/>
                  <a:gd name="T19" fmla="*/ 14 h 17"/>
                  <a:gd name="T20" fmla="*/ 14 w 17"/>
                  <a:gd name="T21" fmla="*/ 14 h 17"/>
                  <a:gd name="T22" fmla="*/ 13 w 17"/>
                  <a:gd name="T23" fmla="*/ 14 h 17"/>
                  <a:gd name="T24" fmla="*/ 11 w 17"/>
                  <a:gd name="T25" fmla="*/ 16 h 17"/>
                  <a:gd name="T26" fmla="*/ 10 w 17"/>
                  <a:gd name="T27" fmla="*/ 16 h 17"/>
                  <a:gd name="T28" fmla="*/ 8 w 17"/>
                  <a:gd name="T29" fmla="*/ 16 h 17"/>
                  <a:gd name="T30" fmla="*/ 7 w 17"/>
                  <a:gd name="T31" fmla="*/ 16 h 17"/>
                  <a:gd name="T32" fmla="*/ 4 w 17"/>
                  <a:gd name="T33" fmla="*/ 16 h 17"/>
                  <a:gd name="T34" fmla="*/ 4 w 17"/>
                  <a:gd name="T35" fmla="*/ 14 h 17"/>
                  <a:gd name="T36" fmla="*/ 2 w 17"/>
                  <a:gd name="T37" fmla="*/ 14 h 17"/>
                  <a:gd name="T38" fmla="*/ 1 w 17"/>
                  <a:gd name="T39" fmla="*/ 14 h 17"/>
                  <a:gd name="T40" fmla="*/ 1 w 17"/>
                  <a:gd name="T41" fmla="*/ 10 h 17"/>
                  <a:gd name="T42" fmla="*/ 0 w 17"/>
                  <a:gd name="T43" fmla="*/ 10 h 17"/>
                  <a:gd name="T44" fmla="*/ 0 w 17"/>
                  <a:gd name="T45" fmla="*/ 8 h 17"/>
                  <a:gd name="T46" fmla="*/ 0 w 17"/>
                  <a:gd name="T47" fmla="*/ 5 h 17"/>
                  <a:gd name="T48" fmla="*/ 1 w 17"/>
                  <a:gd name="T49" fmla="*/ 5 h 17"/>
                  <a:gd name="T50" fmla="*/ 1 w 17"/>
                  <a:gd name="T51" fmla="*/ 3 h 17"/>
                  <a:gd name="T52" fmla="*/ 2 w 17"/>
                  <a:gd name="T53" fmla="*/ 3 h 17"/>
                  <a:gd name="T54" fmla="*/ 4 w 17"/>
                  <a:gd name="T55" fmla="*/ 3 h 17"/>
                  <a:gd name="T56" fmla="*/ 4 w 17"/>
                  <a:gd name="T57" fmla="*/ 0 h 17"/>
                  <a:gd name="T58" fmla="*/ 7 w 17"/>
                  <a:gd name="T59" fmla="*/ 0 h 17"/>
                  <a:gd name="T60" fmla="*/ 8 w 17"/>
                  <a:gd name="T61" fmla="*/ 0 h 1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
                  <a:gd name="T94" fmla="*/ 0 h 17"/>
                  <a:gd name="T95" fmla="*/ 17 w 17"/>
                  <a:gd name="T96" fmla="*/ 17 h 1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 h="17">
                    <a:moveTo>
                      <a:pt x="8" y="0"/>
                    </a:moveTo>
                    <a:lnTo>
                      <a:pt x="10" y="0"/>
                    </a:lnTo>
                    <a:lnTo>
                      <a:pt x="11" y="0"/>
                    </a:lnTo>
                    <a:lnTo>
                      <a:pt x="13" y="3"/>
                    </a:lnTo>
                    <a:lnTo>
                      <a:pt x="14" y="3"/>
                    </a:lnTo>
                    <a:lnTo>
                      <a:pt x="16" y="5"/>
                    </a:lnTo>
                    <a:lnTo>
                      <a:pt x="16" y="8"/>
                    </a:lnTo>
                    <a:lnTo>
                      <a:pt x="16" y="10"/>
                    </a:lnTo>
                    <a:lnTo>
                      <a:pt x="14" y="14"/>
                    </a:lnTo>
                    <a:lnTo>
                      <a:pt x="13" y="14"/>
                    </a:lnTo>
                    <a:lnTo>
                      <a:pt x="11" y="16"/>
                    </a:lnTo>
                    <a:lnTo>
                      <a:pt x="10" y="16"/>
                    </a:lnTo>
                    <a:lnTo>
                      <a:pt x="8" y="16"/>
                    </a:lnTo>
                    <a:lnTo>
                      <a:pt x="7" y="16"/>
                    </a:lnTo>
                    <a:lnTo>
                      <a:pt x="4" y="16"/>
                    </a:lnTo>
                    <a:lnTo>
                      <a:pt x="4" y="14"/>
                    </a:lnTo>
                    <a:lnTo>
                      <a:pt x="2" y="14"/>
                    </a:lnTo>
                    <a:lnTo>
                      <a:pt x="1" y="14"/>
                    </a:lnTo>
                    <a:lnTo>
                      <a:pt x="1" y="10"/>
                    </a:lnTo>
                    <a:lnTo>
                      <a:pt x="0" y="10"/>
                    </a:lnTo>
                    <a:lnTo>
                      <a:pt x="0" y="8"/>
                    </a:lnTo>
                    <a:lnTo>
                      <a:pt x="0" y="5"/>
                    </a:lnTo>
                    <a:lnTo>
                      <a:pt x="1" y="5"/>
                    </a:lnTo>
                    <a:lnTo>
                      <a:pt x="1" y="3"/>
                    </a:lnTo>
                    <a:lnTo>
                      <a:pt x="2" y="3"/>
                    </a:lnTo>
                    <a:lnTo>
                      <a:pt x="4" y="3"/>
                    </a:lnTo>
                    <a:lnTo>
                      <a:pt x="4" y="0"/>
                    </a:lnTo>
                    <a:lnTo>
                      <a:pt x="7" y="0"/>
                    </a:lnTo>
                    <a:lnTo>
                      <a:pt x="8" y="0"/>
                    </a:lnTo>
                  </a:path>
                </a:pathLst>
              </a:custGeom>
              <a:noFill/>
              <a:ln w="12700" cap="rnd"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dirty="0">
                  <a:solidFill>
                    <a:srgbClr val="475B79"/>
                  </a:solidFill>
                </a:endParaRPr>
              </a:p>
            </p:txBody>
          </p:sp>
          <p:sp>
            <p:nvSpPr>
              <p:cNvPr id="338" name="Line 691"/>
              <p:cNvSpPr>
                <a:spLocks noChangeAspect="1" noChangeShapeType="1"/>
              </p:cNvSpPr>
              <p:nvPr/>
            </p:nvSpPr>
            <p:spPr bwMode="auto">
              <a:xfrm>
                <a:off x="621" y="3556"/>
                <a:ext cx="3" cy="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39" name="Freeform 692"/>
              <p:cNvSpPr>
                <a:spLocks noChangeAspect="1"/>
              </p:cNvSpPr>
              <p:nvPr/>
            </p:nvSpPr>
            <p:spPr bwMode="auto">
              <a:xfrm>
                <a:off x="584" y="3320"/>
                <a:ext cx="17" cy="17"/>
              </a:xfrm>
              <a:custGeom>
                <a:avLst/>
                <a:gdLst>
                  <a:gd name="T0" fmla="*/ 0 w 17"/>
                  <a:gd name="T1" fmla="*/ 0 h 17"/>
                  <a:gd name="T2" fmla="*/ 8 w 17"/>
                  <a:gd name="T3" fmla="*/ 2 h 17"/>
                  <a:gd name="T4" fmla="*/ 13 w 17"/>
                  <a:gd name="T5" fmla="*/ 9 h 17"/>
                  <a:gd name="T6" fmla="*/ 16 w 17"/>
                  <a:gd name="T7" fmla="*/ 16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8" y="2"/>
                    </a:lnTo>
                    <a:lnTo>
                      <a:pt x="13" y="9"/>
                    </a:lnTo>
                    <a:lnTo>
                      <a:pt x="16" y="16"/>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sp>
            <p:nvSpPr>
              <p:cNvPr id="340" name="Freeform 693"/>
              <p:cNvSpPr>
                <a:spLocks noChangeAspect="1"/>
              </p:cNvSpPr>
              <p:nvPr/>
            </p:nvSpPr>
            <p:spPr bwMode="auto">
              <a:xfrm>
                <a:off x="550" y="3312"/>
                <a:ext cx="17" cy="17"/>
              </a:xfrm>
              <a:custGeom>
                <a:avLst/>
                <a:gdLst>
                  <a:gd name="T0" fmla="*/ 0 w 17"/>
                  <a:gd name="T1" fmla="*/ 4 h 17"/>
                  <a:gd name="T2" fmla="*/ 0 w 17"/>
                  <a:gd name="T3" fmla="*/ 8 h 17"/>
                  <a:gd name="T4" fmla="*/ 8 w 17"/>
                  <a:gd name="T5" fmla="*/ 16 h 17"/>
                  <a:gd name="T6" fmla="*/ 16 w 17"/>
                  <a:gd name="T7" fmla="*/ 8 h 17"/>
                  <a:gd name="T8" fmla="*/ 16 w 17"/>
                  <a:gd name="T9" fmla="*/ 4 h 17"/>
                  <a:gd name="T10" fmla="*/ 8 w 17"/>
                  <a:gd name="T11" fmla="*/ 0 h 17"/>
                  <a:gd name="T12" fmla="*/ 0 w 17"/>
                  <a:gd name="T13" fmla="*/ 4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4"/>
                    </a:moveTo>
                    <a:lnTo>
                      <a:pt x="0" y="8"/>
                    </a:lnTo>
                    <a:lnTo>
                      <a:pt x="8" y="16"/>
                    </a:lnTo>
                    <a:lnTo>
                      <a:pt x="16" y="8"/>
                    </a:lnTo>
                    <a:lnTo>
                      <a:pt x="16" y="4"/>
                    </a:lnTo>
                    <a:lnTo>
                      <a:pt x="8" y="0"/>
                    </a:lnTo>
                    <a:lnTo>
                      <a:pt x="0" y="4"/>
                    </a:lnTo>
                  </a:path>
                </a:pathLst>
              </a:custGeom>
              <a:solidFill>
                <a:srgbClr val="618FF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ru-RU" dirty="0">
                  <a:solidFill>
                    <a:srgbClr val="475B79"/>
                  </a:solidFill>
                </a:endParaRPr>
              </a:p>
            </p:txBody>
          </p:sp>
          <p:sp>
            <p:nvSpPr>
              <p:cNvPr id="341" name="Freeform 694"/>
              <p:cNvSpPr>
                <a:spLocks noChangeAspect="1"/>
              </p:cNvSpPr>
              <p:nvPr/>
            </p:nvSpPr>
            <p:spPr bwMode="auto">
              <a:xfrm>
                <a:off x="550" y="3314"/>
                <a:ext cx="17" cy="17"/>
              </a:xfrm>
              <a:custGeom>
                <a:avLst/>
                <a:gdLst>
                  <a:gd name="T0" fmla="*/ 0 w 17"/>
                  <a:gd name="T1" fmla="*/ 12 h 17"/>
                  <a:gd name="T2" fmla="*/ 0 w 17"/>
                  <a:gd name="T3" fmla="*/ 8 h 17"/>
                  <a:gd name="T4" fmla="*/ 9 w 17"/>
                  <a:gd name="T5" fmla="*/ 0 h 17"/>
                  <a:gd name="T6" fmla="*/ 16 w 17"/>
                  <a:gd name="T7" fmla="*/ 8 h 17"/>
                  <a:gd name="T8" fmla="*/ 16 w 17"/>
                  <a:gd name="T9" fmla="*/ 12 h 17"/>
                  <a:gd name="T10" fmla="*/ 9 w 17"/>
                  <a:gd name="T11" fmla="*/ 16 h 17"/>
                  <a:gd name="T12" fmla="*/ 0 w 17"/>
                  <a:gd name="T13" fmla="*/ 12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2"/>
                    </a:moveTo>
                    <a:lnTo>
                      <a:pt x="0" y="8"/>
                    </a:lnTo>
                    <a:lnTo>
                      <a:pt x="9" y="0"/>
                    </a:lnTo>
                    <a:lnTo>
                      <a:pt x="16" y="8"/>
                    </a:lnTo>
                    <a:lnTo>
                      <a:pt x="16" y="12"/>
                    </a:lnTo>
                    <a:lnTo>
                      <a:pt x="9" y="16"/>
                    </a:lnTo>
                    <a:lnTo>
                      <a:pt x="0" y="12"/>
                    </a:lnTo>
                  </a:path>
                </a:pathLst>
              </a:custGeom>
              <a:solidFill>
                <a:srgbClr val="618FFD"/>
              </a:solidFill>
              <a:ln w="12700" cap="rnd" cmpd="sng">
                <a:solidFill>
                  <a:srgbClr val="000000"/>
                </a:solidFill>
                <a:prstDash val="solid"/>
                <a:round/>
                <a:headEnd/>
                <a:tailEnd/>
              </a:ln>
            </p:spPr>
            <p:txBody>
              <a:bodyPr/>
              <a:lstStyle/>
              <a:p>
                <a:endParaRPr lang="ru-RU" dirty="0">
                  <a:solidFill>
                    <a:srgbClr val="475B79"/>
                  </a:solidFill>
                </a:endParaRPr>
              </a:p>
            </p:txBody>
          </p:sp>
          <p:sp>
            <p:nvSpPr>
              <p:cNvPr id="342" name="Freeform 695"/>
              <p:cNvSpPr>
                <a:spLocks noChangeAspect="1"/>
              </p:cNvSpPr>
              <p:nvPr/>
            </p:nvSpPr>
            <p:spPr bwMode="auto">
              <a:xfrm>
                <a:off x="563" y="3327"/>
                <a:ext cx="82" cy="49"/>
              </a:xfrm>
              <a:custGeom>
                <a:avLst/>
                <a:gdLst>
                  <a:gd name="T0" fmla="*/ 81 w 82"/>
                  <a:gd name="T1" fmla="*/ 10 h 49"/>
                  <a:gd name="T2" fmla="*/ 68 w 82"/>
                  <a:gd name="T3" fmla="*/ 5 h 49"/>
                  <a:gd name="T4" fmla="*/ 55 w 82"/>
                  <a:gd name="T5" fmla="*/ 0 h 49"/>
                  <a:gd name="T6" fmla="*/ 45 w 82"/>
                  <a:gd name="T7" fmla="*/ 2 h 49"/>
                  <a:gd name="T8" fmla="*/ 38 w 82"/>
                  <a:gd name="T9" fmla="*/ 6 h 49"/>
                  <a:gd name="T10" fmla="*/ 32 w 82"/>
                  <a:gd name="T11" fmla="*/ 12 h 49"/>
                  <a:gd name="T12" fmla="*/ 22 w 82"/>
                  <a:gd name="T13" fmla="*/ 27 h 49"/>
                  <a:gd name="T14" fmla="*/ 16 w 82"/>
                  <a:gd name="T15" fmla="*/ 39 h 49"/>
                  <a:gd name="T16" fmla="*/ 15 w 82"/>
                  <a:gd name="T17" fmla="*/ 43 h 49"/>
                  <a:gd name="T18" fmla="*/ 12 w 82"/>
                  <a:gd name="T19" fmla="*/ 45 h 49"/>
                  <a:gd name="T20" fmla="*/ 6 w 82"/>
                  <a:gd name="T21" fmla="*/ 48 h 49"/>
                  <a:gd name="T22" fmla="*/ 0 w 82"/>
                  <a:gd name="T23" fmla="*/ 48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9"/>
                  <a:gd name="T38" fmla="*/ 82 w 82"/>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9">
                    <a:moveTo>
                      <a:pt x="81" y="10"/>
                    </a:moveTo>
                    <a:lnTo>
                      <a:pt x="68" y="5"/>
                    </a:lnTo>
                    <a:lnTo>
                      <a:pt x="55" y="0"/>
                    </a:lnTo>
                    <a:lnTo>
                      <a:pt x="45" y="2"/>
                    </a:lnTo>
                    <a:lnTo>
                      <a:pt x="38" y="6"/>
                    </a:lnTo>
                    <a:lnTo>
                      <a:pt x="32" y="12"/>
                    </a:lnTo>
                    <a:lnTo>
                      <a:pt x="22" y="27"/>
                    </a:lnTo>
                    <a:lnTo>
                      <a:pt x="16" y="39"/>
                    </a:lnTo>
                    <a:lnTo>
                      <a:pt x="15" y="43"/>
                    </a:lnTo>
                    <a:lnTo>
                      <a:pt x="12" y="45"/>
                    </a:lnTo>
                    <a:lnTo>
                      <a:pt x="6" y="48"/>
                    </a:lnTo>
                    <a:lnTo>
                      <a:pt x="0" y="48"/>
                    </a:lnTo>
                  </a:path>
                </a:pathLst>
              </a:custGeom>
              <a:solidFill>
                <a:srgbClr val="618FFD"/>
              </a:solidFill>
              <a:ln w="12700" cap="rnd" cmpd="sng">
                <a:solidFill>
                  <a:srgbClr val="000000"/>
                </a:solidFill>
                <a:prstDash val="solid"/>
                <a:round/>
                <a:headEnd type="none" w="sm" len="sm"/>
                <a:tailEnd type="none" w="sm" len="sm"/>
              </a:ln>
            </p:spPr>
            <p:txBody>
              <a:bodyPr/>
              <a:lstStyle/>
              <a:p>
                <a:endParaRPr lang="ru-RU" dirty="0">
                  <a:solidFill>
                    <a:srgbClr val="475B79"/>
                  </a:solidFill>
                </a:endParaRPr>
              </a:p>
            </p:txBody>
          </p:sp>
        </p:grpSp>
        <p:sp>
          <p:nvSpPr>
            <p:cNvPr id="19" name="Text Box 696"/>
            <p:cNvSpPr txBox="1">
              <a:spLocks noChangeArrowheads="1"/>
            </p:cNvSpPr>
            <p:nvPr/>
          </p:nvSpPr>
          <p:spPr bwMode="auto">
            <a:xfrm>
              <a:off x="720" y="3456"/>
              <a:ext cx="1200"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ru-RU" altLang="ru-RU" sz="1400" b="1" dirty="0">
                  <a:solidFill>
                    <a:srgbClr val="000000"/>
                  </a:solidFill>
                </a:rPr>
                <a:t>Уровень датчиков</a:t>
              </a:r>
            </a:p>
            <a:p>
              <a:pPr algn="r"/>
              <a:r>
                <a:rPr lang="ru-RU" altLang="ru-RU" sz="1400" b="1" dirty="0">
                  <a:solidFill>
                    <a:srgbClr val="000000"/>
                  </a:solidFill>
                </a:rPr>
                <a:t>и исполнительных</a:t>
              </a:r>
            </a:p>
            <a:p>
              <a:pPr algn="r"/>
              <a:r>
                <a:rPr lang="ru-RU" altLang="ru-RU" sz="1400" b="1" dirty="0">
                  <a:solidFill>
                    <a:srgbClr val="000000"/>
                  </a:solidFill>
                </a:rPr>
                <a:t>механизмов</a:t>
              </a:r>
            </a:p>
          </p:txBody>
        </p:sp>
        <p:pic>
          <p:nvPicPr>
            <p:cNvPr id="20" name="Picture 697" descr="GE_Fanuc90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0" y="3168"/>
              <a:ext cx="62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 name="Object 3"/>
            <p:cNvGraphicFramePr>
              <a:graphicFrameLocks noChangeAspect="1"/>
            </p:cNvGraphicFramePr>
            <p:nvPr/>
          </p:nvGraphicFramePr>
          <p:xfrm>
            <a:off x="2208" y="2640"/>
            <a:ext cx="528" cy="486"/>
          </p:xfrm>
          <a:graphic>
            <a:graphicData uri="http://schemas.openxmlformats.org/presentationml/2006/ole">
              <mc:AlternateContent xmlns:mc="http://schemas.openxmlformats.org/markup-compatibility/2006">
                <mc:Choice xmlns:v="urn:schemas-microsoft-com:vml" Requires="v">
                  <p:oleObj spid="_x0000_s29885" name="Clip" r:id="rId5" imgW="2501280" imgH="2615760" progId="MS_ClipArt_Gallery.2">
                    <p:embed/>
                  </p:oleObj>
                </mc:Choice>
                <mc:Fallback>
                  <p:oleObj name="Clip" r:id="rId5"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2640"/>
                          <a:ext cx="528"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2" name="Picture 69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80" y="3216"/>
              <a:ext cx="110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70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68" y="2832"/>
              <a:ext cx="576"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701"/>
            <p:cNvSpPr>
              <a:spLocks noChangeArrowheads="1"/>
            </p:cNvSpPr>
            <p:nvPr/>
          </p:nvSpPr>
          <p:spPr bwMode="auto">
            <a:xfrm>
              <a:off x="4032" y="3120"/>
              <a:ext cx="528" cy="384"/>
            </a:xfrm>
            <a:prstGeom prst="rect">
              <a:avLst/>
            </a:prstGeom>
            <a:solidFill>
              <a:srgbClr val="F99D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ru-RU" altLang="ru-RU" sz="1200" b="1" dirty="0">
                  <a:solidFill>
                    <a:srgbClr val="475B79"/>
                  </a:solidFill>
                </a:rPr>
                <a:t>Лаб.</a:t>
              </a:r>
            </a:p>
            <a:p>
              <a:pPr algn="ctr"/>
              <a:r>
                <a:rPr lang="ru-RU" altLang="ru-RU" sz="1200" b="1" dirty="0">
                  <a:solidFill>
                    <a:srgbClr val="475B79"/>
                  </a:solidFill>
                </a:rPr>
                <a:t>данные</a:t>
              </a:r>
            </a:p>
          </p:txBody>
        </p:sp>
        <p:sp>
          <p:nvSpPr>
            <p:cNvPr id="25" name="Rectangle 702"/>
            <p:cNvSpPr>
              <a:spLocks noChangeArrowheads="1"/>
            </p:cNvSpPr>
            <p:nvPr/>
          </p:nvSpPr>
          <p:spPr bwMode="auto">
            <a:xfrm>
              <a:off x="4656" y="3120"/>
              <a:ext cx="528" cy="384"/>
            </a:xfrm>
            <a:prstGeom prst="rect">
              <a:avLst/>
            </a:prstGeom>
            <a:solidFill>
              <a:srgbClr val="F99D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ru-RU" altLang="ru-RU" sz="1200" b="1" dirty="0">
                  <a:solidFill>
                    <a:srgbClr val="475B79"/>
                  </a:solidFill>
                </a:rPr>
                <a:t>Ручной</a:t>
              </a:r>
            </a:p>
            <a:p>
              <a:pPr algn="ctr"/>
              <a:r>
                <a:rPr lang="ru-RU" altLang="ru-RU" sz="1200" b="1" dirty="0">
                  <a:solidFill>
                    <a:srgbClr val="475B79"/>
                  </a:solidFill>
                </a:rPr>
                <a:t>ввод</a:t>
              </a:r>
            </a:p>
          </p:txBody>
        </p:sp>
        <p:sp>
          <p:nvSpPr>
            <p:cNvPr id="26" name="Rectangle 703"/>
            <p:cNvSpPr>
              <a:spLocks noChangeArrowheads="1"/>
            </p:cNvSpPr>
            <p:nvPr/>
          </p:nvSpPr>
          <p:spPr bwMode="auto">
            <a:xfrm>
              <a:off x="5280" y="3120"/>
              <a:ext cx="480" cy="384"/>
            </a:xfrm>
            <a:prstGeom prst="rect">
              <a:avLst/>
            </a:prstGeom>
            <a:solidFill>
              <a:srgbClr val="F99D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ru-RU" altLang="ru-RU" sz="1200" b="1" dirty="0">
                  <a:solidFill>
                    <a:srgbClr val="475B79"/>
                  </a:solidFill>
                </a:rPr>
                <a:t>Рел</a:t>
              </a:r>
            </a:p>
            <a:p>
              <a:pPr algn="ctr"/>
              <a:r>
                <a:rPr lang="ru-RU" altLang="ru-RU" sz="1200" b="1" dirty="0">
                  <a:solidFill>
                    <a:srgbClr val="475B79"/>
                  </a:solidFill>
                </a:rPr>
                <a:t>БД</a:t>
              </a:r>
            </a:p>
          </p:txBody>
        </p:sp>
        <p:sp>
          <p:nvSpPr>
            <p:cNvPr id="27" name="Text Box 704"/>
            <p:cNvSpPr txBox="1">
              <a:spLocks noChangeArrowheads="1"/>
            </p:cNvSpPr>
            <p:nvPr/>
          </p:nvSpPr>
          <p:spPr bwMode="auto">
            <a:xfrm>
              <a:off x="3138" y="2688"/>
              <a:ext cx="3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ru-RU" sz="1200" b="1" dirty="0">
                  <a:solidFill>
                    <a:srgbClr val="475B79"/>
                  </a:solidFill>
                </a:rPr>
                <a:t>DCS</a:t>
              </a:r>
              <a:endParaRPr lang="ru-RU" altLang="ru-RU" sz="1200" b="1" dirty="0">
                <a:solidFill>
                  <a:srgbClr val="475B79"/>
                </a:solidFill>
              </a:endParaRPr>
            </a:p>
          </p:txBody>
        </p:sp>
        <p:sp>
          <p:nvSpPr>
            <p:cNvPr id="28" name="Text Box 705"/>
            <p:cNvSpPr txBox="1">
              <a:spLocks noChangeArrowheads="1"/>
            </p:cNvSpPr>
            <p:nvPr/>
          </p:nvSpPr>
          <p:spPr bwMode="auto">
            <a:xfrm>
              <a:off x="1824" y="3264"/>
              <a:ext cx="3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ru-RU" sz="1200" b="1" dirty="0">
                  <a:solidFill>
                    <a:srgbClr val="475B79"/>
                  </a:solidFill>
                </a:rPr>
                <a:t>PLC</a:t>
              </a:r>
              <a:endParaRPr lang="ru-RU" altLang="ru-RU" sz="1200" b="1" dirty="0">
                <a:solidFill>
                  <a:srgbClr val="475B79"/>
                </a:solidFill>
              </a:endParaRPr>
            </a:p>
          </p:txBody>
        </p:sp>
        <p:sp>
          <p:nvSpPr>
            <p:cNvPr id="29" name="Text Box 706"/>
            <p:cNvSpPr txBox="1">
              <a:spLocks noChangeArrowheads="1"/>
            </p:cNvSpPr>
            <p:nvPr/>
          </p:nvSpPr>
          <p:spPr bwMode="auto">
            <a:xfrm>
              <a:off x="2102" y="2467"/>
              <a:ext cx="6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SCADA</a:t>
              </a:r>
            </a:p>
          </p:txBody>
        </p:sp>
        <p:sp>
          <p:nvSpPr>
            <p:cNvPr id="30" name="Text Box 707"/>
            <p:cNvSpPr txBox="1">
              <a:spLocks noChangeArrowheads="1"/>
            </p:cNvSpPr>
            <p:nvPr/>
          </p:nvSpPr>
          <p:spPr bwMode="auto">
            <a:xfrm>
              <a:off x="720" y="2815"/>
              <a:ext cx="120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ru-RU" altLang="ru-RU" sz="1400" b="1" dirty="0">
                  <a:solidFill>
                    <a:srgbClr val="000000"/>
                  </a:solidFill>
                </a:rPr>
                <a:t>Уровень АСУТП</a:t>
              </a:r>
            </a:p>
          </p:txBody>
        </p:sp>
        <p:graphicFrame>
          <p:nvGraphicFramePr>
            <p:cNvPr id="31" name="Object 4"/>
            <p:cNvGraphicFramePr>
              <a:graphicFrameLocks noChangeAspect="1"/>
            </p:cNvGraphicFramePr>
            <p:nvPr/>
          </p:nvGraphicFramePr>
          <p:xfrm>
            <a:off x="3216" y="1920"/>
            <a:ext cx="528" cy="486"/>
          </p:xfrm>
          <a:graphic>
            <a:graphicData uri="http://schemas.openxmlformats.org/presentationml/2006/ole">
              <mc:AlternateContent xmlns:mc="http://schemas.openxmlformats.org/markup-compatibility/2006">
                <mc:Choice xmlns:v="urn:schemas-microsoft-com:vml" Requires="v">
                  <p:oleObj spid="_x0000_s29886" name="Clip" r:id="rId9" imgW="2501280" imgH="2615760" progId="MS_ClipArt_Gallery.2">
                    <p:embed/>
                  </p:oleObj>
                </mc:Choice>
                <mc:Fallback>
                  <p:oleObj name="Clip" r:id="rId9"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6" y="1920"/>
                          <a:ext cx="528"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5"/>
            <p:cNvGraphicFramePr>
              <a:graphicFrameLocks noChangeAspect="1"/>
            </p:cNvGraphicFramePr>
            <p:nvPr/>
          </p:nvGraphicFramePr>
          <p:xfrm>
            <a:off x="4416" y="1872"/>
            <a:ext cx="288" cy="265"/>
          </p:xfrm>
          <a:graphic>
            <a:graphicData uri="http://schemas.openxmlformats.org/presentationml/2006/ole">
              <mc:AlternateContent xmlns:mc="http://schemas.openxmlformats.org/markup-compatibility/2006">
                <mc:Choice xmlns:v="urn:schemas-microsoft-com:vml" Requires="v">
                  <p:oleObj spid="_x0000_s29887" name="Clip" r:id="rId10" imgW="2501280" imgH="2615760" progId="MS_ClipArt_Gallery.2">
                    <p:embed/>
                  </p:oleObj>
                </mc:Choice>
                <mc:Fallback>
                  <p:oleObj name="Clip" r:id="rId10"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6" y="1872"/>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6"/>
            <p:cNvGraphicFramePr>
              <a:graphicFrameLocks noChangeAspect="1"/>
            </p:cNvGraphicFramePr>
            <p:nvPr/>
          </p:nvGraphicFramePr>
          <p:xfrm>
            <a:off x="4224" y="1440"/>
            <a:ext cx="288" cy="265"/>
          </p:xfrm>
          <a:graphic>
            <a:graphicData uri="http://schemas.openxmlformats.org/presentationml/2006/ole">
              <mc:AlternateContent xmlns:mc="http://schemas.openxmlformats.org/markup-compatibility/2006">
                <mc:Choice xmlns:v="urn:schemas-microsoft-com:vml" Requires="v">
                  <p:oleObj spid="_x0000_s29888" name="Clip" r:id="rId11" imgW="2501280" imgH="2615760" progId="MS_ClipArt_Gallery.2">
                    <p:embed/>
                  </p:oleObj>
                </mc:Choice>
                <mc:Fallback>
                  <p:oleObj name="Clip" r:id="rId11"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4" y="1440"/>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7"/>
            <p:cNvGraphicFramePr>
              <a:graphicFrameLocks noChangeAspect="1"/>
            </p:cNvGraphicFramePr>
            <p:nvPr/>
          </p:nvGraphicFramePr>
          <p:xfrm>
            <a:off x="2640" y="1440"/>
            <a:ext cx="288" cy="265"/>
          </p:xfrm>
          <a:graphic>
            <a:graphicData uri="http://schemas.openxmlformats.org/presentationml/2006/ole">
              <mc:AlternateContent xmlns:mc="http://schemas.openxmlformats.org/markup-compatibility/2006">
                <mc:Choice xmlns:v="urn:schemas-microsoft-com:vml" Requires="v">
                  <p:oleObj spid="_x0000_s29889" name="Clip" r:id="rId12" imgW="2501280" imgH="2615760" progId="MS_ClipArt_Gallery.2">
                    <p:embed/>
                  </p:oleObj>
                </mc:Choice>
                <mc:Fallback>
                  <p:oleObj name="Clip" r:id="rId12"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0" y="1440"/>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ct 8"/>
            <p:cNvGraphicFramePr>
              <a:graphicFrameLocks noChangeAspect="1"/>
            </p:cNvGraphicFramePr>
            <p:nvPr/>
          </p:nvGraphicFramePr>
          <p:xfrm>
            <a:off x="2208" y="1872"/>
            <a:ext cx="288" cy="265"/>
          </p:xfrm>
          <a:graphic>
            <a:graphicData uri="http://schemas.openxmlformats.org/presentationml/2006/ole">
              <mc:AlternateContent xmlns:mc="http://schemas.openxmlformats.org/markup-compatibility/2006">
                <mc:Choice xmlns:v="urn:schemas-microsoft-com:vml" Requires="v">
                  <p:oleObj spid="_x0000_s29890" name="Clip" r:id="rId13" imgW="2501280" imgH="2615760" progId="MS_ClipArt_Gallery.2">
                    <p:embed/>
                  </p:oleObj>
                </mc:Choice>
                <mc:Fallback>
                  <p:oleObj name="Clip" r:id="rId13"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1872"/>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Line 713"/>
            <p:cNvSpPr>
              <a:spLocks noChangeShapeType="1"/>
            </p:cNvSpPr>
            <p:nvPr/>
          </p:nvSpPr>
          <p:spPr bwMode="auto">
            <a:xfrm flipV="1">
              <a:off x="2448" y="2208"/>
              <a:ext cx="816"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7" name="Line 714"/>
            <p:cNvSpPr>
              <a:spLocks noChangeShapeType="1"/>
            </p:cNvSpPr>
            <p:nvPr/>
          </p:nvSpPr>
          <p:spPr bwMode="auto">
            <a:xfrm flipV="1">
              <a:off x="3456" y="24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8" name="Line 715"/>
            <p:cNvSpPr>
              <a:spLocks noChangeShapeType="1"/>
            </p:cNvSpPr>
            <p:nvPr/>
          </p:nvSpPr>
          <p:spPr bwMode="auto">
            <a:xfrm flipH="1" flipV="1">
              <a:off x="3744" y="2400"/>
              <a:ext cx="576"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39" name="Line 716"/>
            <p:cNvSpPr>
              <a:spLocks noChangeShapeType="1"/>
            </p:cNvSpPr>
            <p:nvPr/>
          </p:nvSpPr>
          <p:spPr bwMode="auto">
            <a:xfrm flipH="1" flipV="1">
              <a:off x="3792" y="2304"/>
              <a:ext cx="1152"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0" name="Line 717"/>
            <p:cNvSpPr>
              <a:spLocks noChangeShapeType="1"/>
            </p:cNvSpPr>
            <p:nvPr/>
          </p:nvSpPr>
          <p:spPr bwMode="auto">
            <a:xfrm flipH="1" flipV="1">
              <a:off x="3792" y="2304"/>
              <a:ext cx="1824"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1" name="Text Box 718"/>
            <p:cNvSpPr txBox="1">
              <a:spLocks noChangeArrowheads="1"/>
            </p:cNvSpPr>
            <p:nvPr/>
          </p:nvSpPr>
          <p:spPr bwMode="auto">
            <a:xfrm>
              <a:off x="2688" y="2016"/>
              <a:ext cx="50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Сервер БДРВ</a:t>
              </a:r>
            </a:p>
          </p:txBody>
        </p:sp>
        <p:sp>
          <p:nvSpPr>
            <p:cNvPr id="42" name="Line 719"/>
            <p:cNvSpPr>
              <a:spLocks noChangeShapeType="1"/>
            </p:cNvSpPr>
            <p:nvPr/>
          </p:nvSpPr>
          <p:spPr bwMode="auto">
            <a:xfrm flipH="1" flipV="1">
              <a:off x="2496" y="2016"/>
              <a:ext cx="768" cy="0"/>
            </a:xfrm>
            <a:prstGeom prst="line">
              <a:avLst/>
            </a:prstGeom>
            <a:noFill/>
            <a:ln w="9525">
              <a:solidFill>
                <a:srgbClr val="33CC33"/>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3" name="Line 720"/>
            <p:cNvSpPr>
              <a:spLocks noChangeShapeType="1"/>
            </p:cNvSpPr>
            <p:nvPr/>
          </p:nvSpPr>
          <p:spPr bwMode="auto">
            <a:xfrm flipH="1" flipV="1">
              <a:off x="2928" y="1728"/>
              <a:ext cx="384" cy="240"/>
            </a:xfrm>
            <a:prstGeom prst="line">
              <a:avLst/>
            </a:prstGeom>
            <a:noFill/>
            <a:ln w="9525">
              <a:solidFill>
                <a:srgbClr val="33CC33"/>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4" name="Line 721"/>
            <p:cNvSpPr>
              <a:spLocks noChangeShapeType="1"/>
            </p:cNvSpPr>
            <p:nvPr/>
          </p:nvSpPr>
          <p:spPr bwMode="auto">
            <a:xfrm flipV="1">
              <a:off x="3648" y="1680"/>
              <a:ext cx="528" cy="288"/>
            </a:xfrm>
            <a:prstGeom prst="line">
              <a:avLst/>
            </a:prstGeom>
            <a:noFill/>
            <a:ln w="9525">
              <a:solidFill>
                <a:srgbClr val="33CC33"/>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5" name="Line 722"/>
            <p:cNvSpPr>
              <a:spLocks noChangeShapeType="1"/>
            </p:cNvSpPr>
            <p:nvPr/>
          </p:nvSpPr>
          <p:spPr bwMode="auto">
            <a:xfrm flipV="1">
              <a:off x="3600" y="2016"/>
              <a:ext cx="816" cy="0"/>
            </a:xfrm>
            <a:prstGeom prst="line">
              <a:avLst/>
            </a:prstGeom>
            <a:noFill/>
            <a:ln w="9525">
              <a:solidFill>
                <a:srgbClr val="33CC33"/>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sp>
          <p:nvSpPr>
            <p:cNvPr id="46" name="Text Box 723"/>
            <p:cNvSpPr txBox="1">
              <a:spLocks noChangeArrowheads="1"/>
            </p:cNvSpPr>
            <p:nvPr/>
          </p:nvSpPr>
          <p:spPr bwMode="auto">
            <a:xfrm>
              <a:off x="4224" y="1267"/>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47" name="Text Box 724"/>
            <p:cNvSpPr txBox="1">
              <a:spLocks noChangeArrowheads="1"/>
            </p:cNvSpPr>
            <p:nvPr/>
          </p:nvSpPr>
          <p:spPr bwMode="auto">
            <a:xfrm>
              <a:off x="4416" y="1699"/>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48" name="Text Box 725"/>
            <p:cNvSpPr txBox="1">
              <a:spLocks noChangeArrowheads="1"/>
            </p:cNvSpPr>
            <p:nvPr/>
          </p:nvSpPr>
          <p:spPr bwMode="auto">
            <a:xfrm>
              <a:off x="2043" y="1680"/>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49" name="Text Box 726"/>
            <p:cNvSpPr txBox="1">
              <a:spLocks noChangeArrowheads="1"/>
            </p:cNvSpPr>
            <p:nvPr/>
          </p:nvSpPr>
          <p:spPr bwMode="auto">
            <a:xfrm>
              <a:off x="2475" y="1248"/>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ru-RU" altLang="ru-RU" sz="1200" b="1" dirty="0">
                  <a:solidFill>
                    <a:srgbClr val="475B79"/>
                  </a:solidFill>
                </a:rPr>
                <a:t>Клиент</a:t>
              </a:r>
            </a:p>
          </p:txBody>
        </p:sp>
        <p:sp>
          <p:nvSpPr>
            <p:cNvPr id="50" name="Text Box 727"/>
            <p:cNvSpPr txBox="1">
              <a:spLocks noChangeArrowheads="1"/>
            </p:cNvSpPr>
            <p:nvPr/>
          </p:nvSpPr>
          <p:spPr bwMode="auto">
            <a:xfrm>
              <a:off x="720" y="1804"/>
              <a:ext cx="12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ru-RU" altLang="ru-RU" sz="1400" b="1" dirty="0">
                  <a:solidFill>
                    <a:srgbClr val="000000"/>
                  </a:solidFill>
                </a:rPr>
                <a:t>Уровень ИС производства</a:t>
              </a:r>
            </a:p>
          </p:txBody>
        </p:sp>
        <p:sp>
          <p:nvSpPr>
            <p:cNvPr id="51" name="Text Box 728"/>
            <p:cNvSpPr txBox="1">
              <a:spLocks noChangeArrowheads="1"/>
            </p:cNvSpPr>
            <p:nvPr/>
          </p:nvSpPr>
          <p:spPr bwMode="auto">
            <a:xfrm>
              <a:off x="720" y="816"/>
              <a:ext cx="12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ru-RU" altLang="ru-RU" sz="1400" b="1" dirty="0">
                  <a:solidFill>
                    <a:srgbClr val="000000"/>
                  </a:solidFill>
                </a:rPr>
                <a:t>Уровень</a:t>
              </a:r>
            </a:p>
            <a:p>
              <a:pPr algn="r"/>
              <a:r>
                <a:rPr lang="ru-RU" altLang="ru-RU" sz="1400" b="1" dirty="0">
                  <a:solidFill>
                    <a:srgbClr val="000000"/>
                  </a:solidFill>
                </a:rPr>
                <a:t>бизнес-систем</a:t>
              </a:r>
            </a:p>
          </p:txBody>
        </p:sp>
        <p:graphicFrame>
          <p:nvGraphicFramePr>
            <p:cNvPr id="52" name="Object 9"/>
            <p:cNvGraphicFramePr>
              <a:graphicFrameLocks noChangeAspect="1"/>
            </p:cNvGraphicFramePr>
            <p:nvPr/>
          </p:nvGraphicFramePr>
          <p:xfrm>
            <a:off x="3216" y="960"/>
            <a:ext cx="528" cy="486"/>
          </p:xfrm>
          <a:graphic>
            <a:graphicData uri="http://schemas.openxmlformats.org/presentationml/2006/ole">
              <mc:AlternateContent xmlns:mc="http://schemas.openxmlformats.org/markup-compatibility/2006">
                <mc:Choice xmlns:v="urn:schemas-microsoft-com:vml" Requires="v">
                  <p:oleObj spid="_x0000_s29891" name="Clip" r:id="rId14" imgW="2501280" imgH="2615760" progId="MS_ClipArt_Gallery.2">
                    <p:embed/>
                  </p:oleObj>
                </mc:Choice>
                <mc:Fallback>
                  <p:oleObj name="Clip" r:id="rId14"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6" y="960"/>
                          <a:ext cx="528"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 name="Object 10"/>
            <p:cNvGraphicFramePr>
              <a:graphicFrameLocks noChangeAspect="1"/>
            </p:cNvGraphicFramePr>
            <p:nvPr/>
          </p:nvGraphicFramePr>
          <p:xfrm>
            <a:off x="2160" y="912"/>
            <a:ext cx="288" cy="265"/>
          </p:xfrm>
          <a:graphic>
            <a:graphicData uri="http://schemas.openxmlformats.org/presentationml/2006/ole">
              <mc:AlternateContent xmlns:mc="http://schemas.openxmlformats.org/markup-compatibility/2006">
                <mc:Choice xmlns:v="urn:schemas-microsoft-com:vml" Requires="v">
                  <p:oleObj spid="_x0000_s29892" name="Clip" r:id="rId15" imgW="2501280" imgH="2615760" progId="MS_ClipArt_Gallery.2">
                    <p:embed/>
                  </p:oleObj>
                </mc:Choice>
                <mc:Fallback>
                  <p:oleObj name="Clip" r:id="rId15"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0" y="912"/>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11"/>
            <p:cNvGraphicFramePr>
              <a:graphicFrameLocks noChangeAspect="1"/>
            </p:cNvGraphicFramePr>
            <p:nvPr/>
          </p:nvGraphicFramePr>
          <p:xfrm>
            <a:off x="2688" y="912"/>
            <a:ext cx="288" cy="265"/>
          </p:xfrm>
          <a:graphic>
            <a:graphicData uri="http://schemas.openxmlformats.org/presentationml/2006/ole">
              <mc:AlternateContent xmlns:mc="http://schemas.openxmlformats.org/markup-compatibility/2006">
                <mc:Choice xmlns:v="urn:schemas-microsoft-com:vml" Requires="v">
                  <p:oleObj spid="_x0000_s29893" name="Clip" r:id="rId16" imgW="2501280" imgH="2615760" progId="MS_ClipArt_Gallery.2">
                    <p:embed/>
                  </p:oleObj>
                </mc:Choice>
                <mc:Fallback>
                  <p:oleObj name="Clip" r:id="rId16"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8" y="912"/>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12"/>
            <p:cNvGraphicFramePr>
              <a:graphicFrameLocks noChangeAspect="1"/>
            </p:cNvGraphicFramePr>
            <p:nvPr/>
          </p:nvGraphicFramePr>
          <p:xfrm>
            <a:off x="3936" y="912"/>
            <a:ext cx="288" cy="265"/>
          </p:xfrm>
          <a:graphic>
            <a:graphicData uri="http://schemas.openxmlformats.org/presentationml/2006/ole">
              <mc:AlternateContent xmlns:mc="http://schemas.openxmlformats.org/markup-compatibility/2006">
                <mc:Choice xmlns:v="urn:schemas-microsoft-com:vml" Requires="v">
                  <p:oleObj spid="_x0000_s29894" name="Clip" r:id="rId17" imgW="2501280" imgH="2615760" progId="MS_ClipArt_Gallery.2">
                    <p:embed/>
                  </p:oleObj>
                </mc:Choice>
                <mc:Fallback>
                  <p:oleObj name="Clip" r:id="rId17"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6" y="912"/>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13"/>
            <p:cNvGraphicFramePr>
              <a:graphicFrameLocks noChangeAspect="1"/>
            </p:cNvGraphicFramePr>
            <p:nvPr/>
          </p:nvGraphicFramePr>
          <p:xfrm>
            <a:off x="4464" y="912"/>
            <a:ext cx="288" cy="265"/>
          </p:xfrm>
          <a:graphic>
            <a:graphicData uri="http://schemas.openxmlformats.org/presentationml/2006/ole">
              <mc:AlternateContent xmlns:mc="http://schemas.openxmlformats.org/markup-compatibility/2006">
                <mc:Choice xmlns:v="urn:schemas-microsoft-com:vml" Requires="v">
                  <p:oleObj spid="_x0000_s29895" name="Clip" r:id="rId18" imgW="2501280" imgH="2615760" progId="MS_ClipArt_Gallery.2">
                    <p:embed/>
                  </p:oleObj>
                </mc:Choice>
                <mc:Fallback>
                  <p:oleObj name="Clip" r:id="rId18" imgW="2501280" imgH="2615760"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4" y="912"/>
                          <a:ext cx="2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Line 734"/>
            <p:cNvSpPr>
              <a:spLocks noChangeShapeType="1"/>
            </p:cNvSpPr>
            <p:nvPr/>
          </p:nvSpPr>
          <p:spPr bwMode="auto">
            <a:xfrm>
              <a:off x="3456" y="1440"/>
              <a:ext cx="0" cy="480"/>
            </a:xfrm>
            <a:prstGeom prst="line">
              <a:avLst/>
            </a:prstGeom>
            <a:noFill/>
            <a:ln w="28575">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ru-RU" dirty="0">
                <a:solidFill>
                  <a:srgbClr val="475B79"/>
                </a:solidFill>
              </a:endParaRPr>
            </a:p>
          </p:txBody>
        </p:sp>
      </p:grpSp>
    </p:spTree>
    <p:extLst>
      <p:ext uri="{BB962C8B-B14F-4D97-AF65-F5344CB8AC3E}">
        <p14:creationId xmlns:p14="http://schemas.microsoft.com/office/powerpoint/2010/main" val="336652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Представление информации реального времени на </a:t>
            </a:r>
            <a:r>
              <a:rPr lang="ru-RU" dirty="0" smtClean="0"/>
              <a:t>производстве</a:t>
            </a:r>
            <a:endParaRPr lang="ru-RU" dirty="0"/>
          </a:p>
        </p:txBody>
      </p:sp>
      <p:sp>
        <p:nvSpPr>
          <p:cNvPr id="3" name="Номер слайда 2"/>
          <p:cNvSpPr>
            <a:spLocks noGrp="1"/>
          </p:cNvSpPr>
          <p:nvPr>
            <p:ph type="sldNum" sz="quarter" idx="12"/>
          </p:nvPr>
        </p:nvSpPr>
        <p:spPr/>
        <p:txBody>
          <a:bodyPr/>
          <a:lstStyle/>
          <a:p>
            <a:fld id="{5100B139-BD82-4293-9FDA-44725340297B}" type="slidenum">
              <a:rPr lang="ru-RU" smtClean="0"/>
              <a:pPr/>
              <a:t>7</a:t>
            </a:fld>
            <a:endParaRPr lang="ru-RU"/>
          </a:p>
        </p:txBody>
      </p:sp>
      <p:grpSp>
        <p:nvGrpSpPr>
          <p:cNvPr id="4" name="Группа 3"/>
          <p:cNvGrpSpPr/>
          <p:nvPr/>
        </p:nvGrpSpPr>
        <p:grpSpPr>
          <a:xfrm>
            <a:off x="776536" y="1196752"/>
            <a:ext cx="8645758" cy="5339528"/>
            <a:chOff x="990600" y="1560513"/>
            <a:chExt cx="8153400" cy="4972186"/>
          </a:xfrm>
        </p:grpSpPr>
        <p:grpSp>
          <p:nvGrpSpPr>
            <p:cNvPr id="5" name="Group 7"/>
            <p:cNvGrpSpPr>
              <a:grpSpLocks/>
            </p:cNvGrpSpPr>
            <p:nvPr/>
          </p:nvGrpSpPr>
          <p:grpSpPr bwMode="auto">
            <a:xfrm>
              <a:off x="2667000" y="1828800"/>
              <a:ext cx="4968875" cy="3973513"/>
              <a:chOff x="1063" y="771"/>
              <a:chExt cx="3611" cy="3010"/>
            </a:xfrm>
          </p:grpSpPr>
          <p:sp>
            <p:nvSpPr>
              <p:cNvPr id="525" name="Line 8"/>
              <p:cNvSpPr>
                <a:spLocks noChangeShapeType="1"/>
              </p:cNvSpPr>
              <p:nvPr/>
            </p:nvSpPr>
            <p:spPr bwMode="auto">
              <a:xfrm>
                <a:off x="3072" y="2736"/>
                <a:ext cx="0" cy="1008"/>
              </a:xfrm>
              <a:prstGeom prst="line">
                <a:avLst/>
              </a:prstGeom>
              <a:noFill/>
              <a:ln w="38100">
                <a:solidFill>
                  <a:srgbClr val="F99D1C"/>
                </a:solidFill>
                <a:round/>
                <a:headEnd/>
                <a:tailEnd/>
              </a:ln>
              <a:extLst/>
            </p:spPr>
            <p:txBody>
              <a:bodyPr wrap="none" anchor="ctr"/>
              <a:lstStyle/>
              <a:p>
                <a:endParaRPr lang="ru-RU" dirty="0">
                  <a:solidFill>
                    <a:srgbClr val="000000"/>
                  </a:solidFill>
                </a:endParaRPr>
              </a:p>
            </p:txBody>
          </p:sp>
          <p:sp>
            <p:nvSpPr>
              <p:cNvPr id="526" name="Freeform 9"/>
              <p:cNvSpPr>
                <a:spLocks/>
              </p:cNvSpPr>
              <p:nvPr/>
            </p:nvSpPr>
            <p:spPr bwMode="auto">
              <a:xfrm>
                <a:off x="1063" y="771"/>
                <a:ext cx="3611" cy="3010"/>
              </a:xfrm>
              <a:custGeom>
                <a:avLst/>
                <a:gdLst>
                  <a:gd name="T0" fmla="*/ 697 w 3611"/>
                  <a:gd name="T1" fmla="*/ 225 h 3010"/>
                  <a:gd name="T2" fmla="*/ 27 w 3611"/>
                  <a:gd name="T3" fmla="*/ 577 h 3010"/>
                  <a:gd name="T4" fmla="*/ 537 w 3611"/>
                  <a:gd name="T5" fmla="*/ 1036 h 3010"/>
                  <a:gd name="T6" fmla="*/ 27 w 3611"/>
                  <a:gd name="T7" fmla="*/ 1860 h 3010"/>
                  <a:gd name="T8" fmla="*/ 442 w 3611"/>
                  <a:gd name="T9" fmla="*/ 2662 h 3010"/>
                  <a:gd name="T10" fmla="*/ 1046 w 3611"/>
                  <a:gd name="T11" fmla="*/ 2960 h 3010"/>
                  <a:gd name="T12" fmla="*/ 2474 w 3611"/>
                  <a:gd name="T13" fmla="*/ 2960 h 3010"/>
                  <a:gd name="T14" fmla="*/ 3009 w 3611"/>
                  <a:gd name="T15" fmla="*/ 2778 h 3010"/>
                  <a:gd name="T16" fmla="*/ 3547 w 3611"/>
                  <a:gd name="T17" fmla="*/ 2269 h 3010"/>
                  <a:gd name="T18" fmla="*/ 3391 w 3611"/>
                  <a:gd name="T19" fmla="*/ 1677 h 3010"/>
                  <a:gd name="T20" fmla="*/ 2944 w 3611"/>
                  <a:gd name="T21" fmla="*/ 1607 h 3010"/>
                  <a:gd name="T22" fmla="*/ 2922 w 3611"/>
                  <a:gd name="T23" fmla="*/ 1062 h 3010"/>
                  <a:gd name="T24" fmla="*/ 3187 w 3611"/>
                  <a:gd name="T25" fmla="*/ 394 h 3010"/>
                  <a:gd name="T26" fmla="*/ 1862 w 3611"/>
                  <a:gd name="T27" fmla="*/ 28 h 3010"/>
                  <a:gd name="T28" fmla="*/ 697 w 3611"/>
                  <a:gd name="T29" fmla="*/ 225 h 30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611"/>
                  <a:gd name="T46" fmla="*/ 0 h 3010"/>
                  <a:gd name="T47" fmla="*/ 3611 w 3611"/>
                  <a:gd name="T48" fmla="*/ 3010 h 30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611" h="3010">
                    <a:moveTo>
                      <a:pt x="697" y="225"/>
                    </a:moveTo>
                    <a:cubicBezTo>
                      <a:pt x="391" y="316"/>
                      <a:pt x="54" y="442"/>
                      <a:pt x="27" y="577"/>
                    </a:cubicBezTo>
                    <a:cubicBezTo>
                      <a:pt x="0" y="712"/>
                      <a:pt x="537" y="822"/>
                      <a:pt x="537" y="1036"/>
                    </a:cubicBezTo>
                    <a:cubicBezTo>
                      <a:pt x="537" y="1249"/>
                      <a:pt x="43" y="1589"/>
                      <a:pt x="27" y="1860"/>
                    </a:cubicBezTo>
                    <a:cubicBezTo>
                      <a:pt x="11" y="2131"/>
                      <a:pt x="272" y="2479"/>
                      <a:pt x="442" y="2662"/>
                    </a:cubicBezTo>
                    <a:cubicBezTo>
                      <a:pt x="612" y="2845"/>
                      <a:pt x="707" y="2910"/>
                      <a:pt x="1046" y="2960"/>
                    </a:cubicBezTo>
                    <a:cubicBezTo>
                      <a:pt x="1385" y="3010"/>
                      <a:pt x="2147" y="2990"/>
                      <a:pt x="2474" y="2960"/>
                    </a:cubicBezTo>
                    <a:cubicBezTo>
                      <a:pt x="2801" y="2930"/>
                      <a:pt x="2830" y="2893"/>
                      <a:pt x="3009" y="2778"/>
                    </a:cubicBezTo>
                    <a:cubicBezTo>
                      <a:pt x="3188" y="2663"/>
                      <a:pt x="3483" y="2453"/>
                      <a:pt x="3547" y="2269"/>
                    </a:cubicBezTo>
                    <a:cubicBezTo>
                      <a:pt x="3611" y="2085"/>
                      <a:pt x="3491" y="1787"/>
                      <a:pt x="3391" y="1677"/>
                    </a:cubicBezTo>
                    <a:cubicBezTo>
                      <a:pt x="3291" y="1567"/>
                      <a:pt x="3022" y="1709"/>
                      <a:pt x="2944" y="1607"/>
                    </a:cubicBezTo>
                    <a:cubicBezTo>
                      <a:pt x="2866" y="1505"/>
                      <a:pt x="2882" y="1264"/>
                      <a:pt x="2922" y="1062"/>
                    </a:cubicBezTo>
                    <a:cubicBezTo>
                      <a:pt x="2962" y="860"/>
                      <a:pt x="3364" y="566"/>
                      <a:pt x="3187" y="394"/>
                    </a:cubicBezTo>
                    <a:cubicBezTo>
                      <a:pt x="3010" y="222"/>
                      <a:pt x="2277" y="56"/>
                      <a:pt x="1862" y="28"/>
                    </a:cubicBezTo>
                    <a:cubicBezTo>
                      <a:pt x="1447" y="0"/>
                      <a:pt x="1003" y="134"/>
                      <a:pt x="697" y="225"/>
                    </a:cubicBezTo>
                    <a:close/>
                  </a:path>
                </a:pathLst>
              </a:custGeom>
              <a:solidFill>
                <a:srgbClr val="FFFFFF"/>
              </a:solidFill>
              <a:ln w="38100" cap="flat" cmpd="sng">
                <a:solidFill>
                  <a:srgbClr val="F99D1C"/>
                </a:solidFill>
                <a:prstDash val="solid"/>
                <a:round/>
                <a:headEnd type="none" w="sm" len="sm"/>
                <a:tailEnd type="none" w="sm" len="sm"/>
              </a:ln>
              <a:extLst/>
            </p:spPr>
            <p:txBody>
              <a:bodyPr wrap="none" anchor="ctr"/>
              <a:lstStyle/>
              <a:p>
                <a:endParaRPr lang="ru-RU" dirty="0">
                  <a:solidFill>
                    <a:srgbClr val="000000"/>
                  </a:solidFill>
                </a:endParaRPr>
              </a:p>
            </p:txBody>
          </p:sp>
        </p:grpSp>
        <p:grpSp>
          <p:nvGrpSpPr>
            <p:cNvPr id="6" name="Group 10"/>
            <p:cNvGrpSpPr>
              <a:grpSpLocks/>
            </p:cNvGrpSpPr>
            <p:nvPr/>
          </p:nvGrpSpPr>
          <p:grpSpPr bwMode="auto">
            <a:xfrm>
              <a:off x="5181600" y="3238500"/>
              <a:ext cx="593725" cy="1204913"/>
              <a:chOff x="2880" y="1830"/>
              <a:chExt cx="432" cy="912"/>
            </a:xfrm>
          </p:grpSpPr>
          <p:sp>
            <p:nvSpPr>
              <p:cNvPr id="374" name="Rectangle 11"/>
              <p:cNvSpPr>
                <a:spLocks noChangeArrowheads="1"/>
              </p:cNvSpPr>
              <p:nvPr/>
            </p:nvSpPr>
            <p:spPr bwMode="auto">
              <a:xfrm>
                <a:off x="2880" y="1830"/>
                <a:ext cx="432" cy="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grpSp>
            <p:nvGrpSpPr>
              <p:cNvPr id="375" name="Group 12"/>
              <p:cNvGrpSpPr>
                <a:grpSpLocks/>
              </p:cNvGrpSpPr>
              <p:nvPr/>
            </p:nvGrpSpPr>
            <p:grpSpPr bwMode="auto">
              <a:xfrm>
                <a:off x="2880" y="2615"/>
                <a:ext cx="430" cy="126"/>
                <a:chOff x="2880" y="2615"/>
                <a:chExt cx="430" cy="126"/>
              </a:xfrm>
            </p:grpSpPr>
            <p:sp>
              <p:nvSpPr>
                <p:cNvPr id="521" name="Freeform 13"/>
                <p:cNvSpPr>
                  <a:spLocks/>
                </p:cNvSpPr>
                <p:nvPr/>
              </p:nvSpPr>
              <p:spPr bwMode="auto">
                <a:xfrm>
                  <a:off x="2880" y="2615"/>
                  <a:ext cx="65" cy="126"/>
                </a:xfrm>
                <a:custGeom>
                  <a:avLst/>
                  <a:gdLst>
                    <a:gd name="T0" fmla="*/ 58 w 131"/>
                    <a:gd name="T1" fmla="*/ 94 h 380"/>
                    <a:gd name="T2" fmla="*/ 0 w 131"/>
                    <a:gd name="T3" fmla="*/ 126 h 380"/>
                    <a:gd name="T4" fmla="*/ 24 w 131"/>
                    <a:gd name="T5" fmla="*/ 18 h 380"/>
                    <a:gd name="T6" fmla="*/ 65 w 131"/>
                    <a:gd name="T7" fmla="*/ 0 h 380"/>
                    <a:gd name="T8" fmla="*/ 58 w 131"/>
                    <a:gd name="T9" fmla="*/ 94 h 380"/>
                    <a:gd name="T10" fmla="*/ 0 60000 65536"/>
                    <a:gd name="T11" fmla="*/ 0 60000 65536"/>
                    <a:gd name="T12" fmla="*/ 0 60000 65536"/>
                    <a:gd name="T13" fmla="*/ 0 60000 65536"/>
                    <a:gd name="T14" fmla="*/ 0 60000 65536"/>
                    <a:gd name="T15" fmla="*/ 0 w 131"/>
                    <a:gd name="T16" fmla="*/ 0 h 380"/>
                    <a:gd name="T17" fmla="*/ 131 w 131"/>
                    <a:gd name="T18" fmla="*/ 380 h 380"/>
                  </a:gdLst>
                  <a:ahLst/>
                  <a:cxnLst>
                    <a:cxn ang="T10">
                      <a:pos x="T0" y="T1"/>
                    </a:cxn>
                    <a:cxn ang="T11">
                      <a:pos x="T2" y="T3"/>
                    </a:cxn>
                    <a:cxn ang="T12">
                      <a:pos x="T4" y="T5"/>
                    </a:cxn>
                    <a:cxn ang="T13">
                      <a:pos x="T6" y="T7"/>
                    </a:cxn>
                    <a:cxn ang="T14">
                      <a:pos x="T8" y="T9"/>
                    </a:cxn>
                  </a:cxnLst>
                  <a:rect l="T15" t="T16" r="T17" b="T18"/>
                  <a:pathLst>
                    <a:path w="131" h="380">
                      <a:moveTo>
                        <a:pt x="116" y="284"/>
                      </a:moveTo>
                      <a:lnTo>
                        <a:pt x="0" y="380"/>
                      </a:lnTo>
                      <a:lnTo>
                        <a:pt x="49" y="54"/>
                      </a:lnTo>
                      <a:lnTo>
                        <a:pt x="131" y="0"/>
                      </a:lnTo>
                      <a:lnTo>
                        <a:pt x="116" y="28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522" name="Freeform 14"/>
                <p:cNvSpPr>
                  <a:spLocks/>
                </p:cNvSpPr>
                <p:nvPr/>
              </p:nvSpPr>
              <p:spPr bwMode="auto">
                <a:xfrm>
                  <a:off x="3245" y="2617"/>
                  <a:ext cx="64" cy="124"/>
                </a:xfrm>
                <a:custGeom>
                  <a:avLst/>
                  <a:gdLst>
                    <a:gd name="T0" fmla="*/ 0 w 129"/>
                    <a:gd name="T1" fmla="*/ 84 h 370"/>
                    <a:gd name="T2" fmla="*/ 64 w 129"/>
                    <a:gd name="T3" fmla="*/ 124 h 370"/>
                    <a:gd name="T4" fmla="*/ 43 w 129"/>
                    <a:gd name="T5" fmla="*/ 17 h 370"/>
                    <a:gd name="T6" fmla="*/ 3 w 129"/>
                    <a:gd name="T7" fmla="*/ 0 h 370"/>
                    <a:gd name="T8" fmla="*/ 0 w 129"/>
                    <a:gd name="T9" fmla="*/ 84 h 370"/>
                    <a:gd name="T10" fmla="*/ 0 60000 65536"/>
                    <a:gd name="T11" fmla="*/ 0 60000 65536"/>
                    <a:gd name="T12" fmla="*/ 0 60000 65536"/>
                    <a:gd name="T13" fmla="*/ 0 60000 65536"/>
                    <a:gd name="T14" fmla="*/ 0 60000 65536"/>
                    <a:gd name="T15" fmla="*/ 0 w 129"/>
                    <a:gd name="T16" fmla="*/ 0 h 370"/>
                    <a:gd name="T17" fmla="*/ 129 w 129"/>
                    <a:gd name="T18" fmla="*/ 370 h 370"/>
                  </a:gdLst>
                  <a:ahLst/>
                  <a:cxnLst>
                    <a:cxn ang="T10">
                      <a:pos x="T0" y="T1"/>
                    </a:cxn>
                    <a:cxn ang="T11">
                      <a:pos x="T2" y="T3"/>
                    </a:cxn>
                    <a:cxn ang="T12">
                      <a:pos x="T4" y="T5"/>
                    </a:cxn>
                    <a:cxn ang="T13">
                      <a:pos x="T6" y="T7"/>
                    </a:cxn>
                    <a:cxn ang="T14">
                      <a:pos x="T8" y="T9"/>
                    </a:cxn>
                  </a:cxnLst>
                  <a:rect l="T15" t="T16" r="T17" b="T18"/>
                  <a:pathLst>
                    <a:path w="129" h="370">
                      <a:moveTo>
                        <a:pt x="0" y="252"/>
                      </a:moveTo>
                      <a:lnTo>
                        <a:pt x="129" y="370"/>
                      </a:lnTo>
                      <a:lnTo>
                        <a:pt x="86" y="52"/>
                      </a:lnTo>
                      <a:lnTo>
                        <a:pt x="6" y="0"/>
                      </a:lnTo>
                      <a:lnTo>
                        <a:pt x="0" y="252"/>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523" name="Freeform 15"/>
                <p:cNvSpPr>
                  <a:spLocks/>
                </p:cNvSpPr>
                <p:nvPr/>
              </p:nvSpPr>
              <p:spPr bwMode="auto">
                <a:xfrm>
                  <a:off x="2881" y="2709"/>
                  <a:ext cx="429" cy="32"/>
                </a:xfrm>
                <a:custGeom>
                  <a:avLst/>
                  <a:gdLst>
                    <a:gd name="T0" fmla="*/ 0 w 860"/>
                    <a:gd name="T1" fmla="*/ 31 h 96"/>
                    <a:gd name="T2" fmla="*/ 429 w 860"/>
                    <a:gd name="T3" fmla="*/ 32 h 96"/>
                    <a:gd name="T4" fmla="*/ 374 w 860"/>
                    <a:gd name="T5" fmla="*/ 0 h 96"/>
                    <a:gd name="T6" fmla="*/ 60 w 860"/>
                    <a:gd name="T7" fmla="*/ 0 h 96"/>
                    <a:gd name="T8" fmla="*/ 0 w 860"/>
                    <a:gd name="T9" fmla="*/ 31 h 96"/>
                    <a:gd name="T10" fmla="*/ 0 60000 65536"/>
                    <a:gd name="T11" fmla="*/ 0 60000 65536"/>
                    <a:gd name="T12" fmla="*/ 0 60000 65536"/>
                    <a:gd name="T13" fmla="*/ 0 60000 65536"/>
                    <a:gd name="T14" fmla="*/ 0 60000 65536"/>
                    <a:gd name="T15" fmla="*/ 0 w 860"/>
                    <a:gd name="T16" fmla="*/ 0 h 96"/>
                    <a:gd name="T17" fmla="*/ 860 w 860"/>
                    <a:gd name="T18" fmla="*/ 96 h 96"/>
                  </a:gdLst>
                  <a:ahLst/>
                  <a:cxnLst>
                    <a:cxn ang="T10">
                      <a:pos x="T0" y="T1"/>
                    </a:cxn>
                    <a:cxn ang="T11">
                      <a:pos x="T2" y="T3"/>
                    </a:cxn>
                    <a:cxn ang="T12">
                      <a:pos x="T4" y="T5"/>
                    </a:cxn>
                    <a:cxn ang="T13">
                      <a:pos x="T6" y="T7"/>
                    </a:cxn>
                    <a:cxn ang="T14">
                      <a:pos x="T8" y="T9"/>
                    </a:cxn>
                  </a:cxnLst>
                  <a:rect l="T15" t="T16" r="T17" b="T18"/>
                  <a:pathLst>
                    <a:path w="860" h="96">
                      <a:moveTo>
                        <a:pt x="0" y="94"/>
                      </a:moveTo>
                      <a:lnTo>
                        <a:pt x="860" y="96"/>
                      </a:lnTo>
                      <a:lnTo>
                        <a:pt x="750" y="0"/>
                      </a:lnTo>
                      <a:lnTo>
                        <a:pt x="120" y="0"/>
                      </a:lnTo>
                      <a:lnTo>
                        <a:pt x="0" y="9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524" name="Freeform 16"/>
                <p:cNvSpPr>
                  <a:spLocks/>
                </p:cNvSpPr>
                <p:nvPr/>
              </p:nvSpPr>
              <p:spPr bwMode="auto">
                <a:xfrm>
                  <a:off x="2930" y="2702"/>
                  <a:ext cx="340" cy="8"/>
                </a:xfrm>
                <a:custGeom>
                  <a:avLst/>
                  <a:gdLst>
                    <a:gd name="T0" fmla="*/ 0 w 681"/>
                    <a:gd name="T1" fmla="*/ 1 h 24"/>
                    <a:gd name="T2" fmla="*/ 9 w 681"/>
                    <a:gd name="T3" fmla="*/ 8 h 24"/>
                    <a:gd name="T4" fmla="*/ 331 w 681"/>
                    <a:gd name="T5" fmla="*/ 8 h 24"/>
                    <a:gd name="T6" fmla="*/ 340 w 681"/>
                    <a:gd name="T7" fmla="*/ 0 h 24"/>
                    <a:gd name="T8" fmla="*/ 0 w 681"/>
                    <a:gd name="T9" fmla="*/ 1 h 24"/>
                    <a:gd name="T10" fmla="*/ 0 60000 65536"/>
                    <a:gd name="T11" fmla="*/ 0 60000 65536"/>
                    <a:gd name="T12" fmla="*/ 0 60000 65536"/>
                    <a:gd name="T13" fmla="*/ 0 60000 65536"/>
                    <a:gd name="T14" fmla="*/ 0 60000 65536"/>
                    <a:gd name="T15" fmla="*/ 0 w 681"/>
                    <a:gd name="T16" fmla="*/ 0 h 24"/>
                    <a:gd name="T17" fmla="*/ 681 w 681"/>
                    <a:gd name="T18" fmla="*/ 24 h 24"/>
                  </a:gdLst>
                  <a:ahLst/>
                  <a:cxnLst>
                    <a:cxn ang="T10">
                      <a:pos x="T0" y="T1"/>
                    </a:cxn>
                    <a:cxn ang="T11">
                      <a:pos x="T2" y="T3"/>
                    </a:cxn>
                    <a:cxn ang="T12">
                      <a:pos x="T4" y="T5"/>
                    </a:cxn>
                    <a:cxn ang="T13">
                      <a:pos x="T6" y="T7"/>
                    </a:cxn>
                    <a:cxn ang="T14">
                      <a:pos x="T8" y="T9"/>
                    </a:cxn>
                  </a:cxnLst>
                  <a:rect l="T15" t="T16" r="T17" b="T18"/>
                  <a:pathLst>
                    <a:path w="681" h="24">
                      <a:moveTo>
                        <a:pt x="0" y="3"/>
                      </a:moveTo>
                      <a:lnTo>
                        <a:pt x="18" y="24"/>
                      </a:lnTo>
                      <a:lnTo>
                        <a:pt x="662" y="24"/>
                      </a:lnTo>
                      <a:lnTo>
                        <a:pt x="681" y="0"/>
                      </a:lnTo>
                      <a:lnTo>
                        <a:pt x="0" y="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grpSp>
          <p:sp>
            <p:nvSpPr>
              <p:cNvPr id="376" name="Rectangle 17"/>
              <p:cNvSpPr>
                <a:spLocks noChangeArrowheads="1"/>
              </p:cNvSpPr>
              <p:nvPr/>
            </p:nvSpPr>
            <p:spPr bwMode="auto">
              <a:xfrm>
                <a:off x="2931" y="1835"/>
                <a:ext cx="337" cy="868"/>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77" name="Rectangle 18"/>
              <p:cNvSpPr>
                <a:spLocks noChangeArrowheads="1"/>
              </p:cNvSpPr>
              <p:nvPr/>
            </p:nvSpPr>
            <p:spPr bwMode="auto">
              <a:xfrm>
                <a:off x="2971" y="1863"/>
                <a:ext cx="251" cy="34"/>
              </a:xfrm>
              <a:prstGeom prst="rect">
                <a:avLst/>
              </a:prstGeom>
              <a:solidFill>
                <a:srgbClr val="E0E0E0"/>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78" name="Rectangle 19"/>
              <p:cNvSpPr>
                <a:spLocks noChangeArrowheads="1"/>
              </p:cNvSpPr>
              <p:nvPr/>
            </p:nvSpPr>
            <p:spPr bwMode="auto">
              <a:xfrm>
                <a:off x="2973" y="1953"/>
                <a:ext cx="251" cy="34"/>
              </a:xfrm>
              <a:prstGeom prst="rect">
                <a:avLst/>
              </a:prstGeom>
              <a:solidFill>
                <a:srgbClr val="E0E0E0"/>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grpSp>
            <p:nvGrpSpPr>
              <p:cNvPr id="379" name="Group 20"/>
              <p:cNvGrpSpPr>
                <a:grpSpLocks/>
              </p:cNvGrpSpPr>
              <p:nvPr/>
            </p:nvGrpSpPr>
            <p:grpSpPr bwMode="auto">
              <a:xfrm>
                <a:off x="2973" y="1899"/>
                <a:ext cx="250" cy="50"/>
                <a:chOff x="2973" y="1899"/>
                <a:chExt cx="250" cy="50"/>
              </a:xfrm>
            </p:grpSpPr>
            <p:sp>
              <p:nvSpPr>
                <p:cNvPr id="502" name="Rectangle 21"/>
                <p:cNvSpPr>
                  <a:spLocks noChangeArrowheads="1"/>
                </p:cNvSpPr>
                <p:nvPr/>
              </p:nvSpPr>
              <p:spPr bwMode="auto">
                <a:xfrm>
                  <a:off x="2973" y="1899"/>
                  <a:ext cx="250" cy="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3" name="AutoShape 22"/>
                <p:cNvSpPr>
                  <a:spLocks noChangeArrowheads="1"/>
                </p:cNvSpPr>
                <p:nvPr/>
              </p:nvSpPr>
              <p:spPr bwMode="auto">
                <a:xfrm>
                  <a:off x="3162" y="1901"/>
                  <a:ext cx="56" cy="46"/>
                </a:xfrm>
                <a:prstGeom prst="roundRect">
                  <a:avLst>
                    <a:gd name="adj" fmla="val 22074"/>
                  </a:avLst>
                </a:pr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4" name="Rectangle 23"/>
                <p:cNvSpPr>
                  <a:spLocks noChangeArrowheads="1"/>
                </p:cNvSpPr>
                <p:nvPr/>
              </p:nvSpPr>
              <p:spPr bwMode="auto">
                <a:xfrm>
                  <a:off x="3169" y="1907"/>
                  <a:ext cx="42" cy="33"/>
                </a:xfrm>
                <a:prstGeom prst="rect">
                  <a:avLst/>
                </a:prstGeom>
                <a:solidFill>
                  <a:srgbClr val="A0A0A0"/>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5" name="Oval 24"/>
                <p:cNvSpPr>
                  <a:spLocks noChangeArrowheads="1"/>
                </p:cNvSpPr>
                <p:nvPr/>
              </p:nvSpPr>
              <p:spPr bwMode="auto">
                <a:xfrm>
                  <a:off x="3189" y="1931"/>
                  <a:ext cx="5" cy="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6" name="Rectangle 25"/>
                <p:cNvSpPr>
                  <a:spLocks noChangeArrowheads="1"/>
                </p:cNvSpPr>
                <p:nvPr/>
              </p:nvSpPr>
              <p:spPr bwMode="auto">
                <a:xfrm>
                  <a:off x="3171" y="1907"/>
                  <a:ext cx="40" cy="7"/>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7" name="Rectangle 26"/>
                <p:cNvSpPr>
                  <a:spLocks noChangeArrowheads="1"/>
                </p:cNvSpPr>
                <p:nvPr/>
              </p:nvSpPr>
              <p:spPr bwMode="auto">
                <a:xfrm>
                  <a:off x="2979" y="1902"/>
                  <a:ext cx="46" cy="45"/>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8" name="Rectangle 27"/>
                <p:cNvSpPr>
                  <a:spLocks noChangeArrowheads="1"/>
                </p:cNvSpPr>
                <p:nvPr/>
              </p:nvSpPr>
              <p:spPr bwMode="auto">
                <a:xfrm>
                  <a:off x="3027" y="1902"/>
                  <a:ext cx="47" cy="44"/>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09" name="Rectangle 28"/>
                <p:cNvSpPr>
                  <a:spLocks noChangeArrowheads="1"/>
                </p:cNvSpPr>
                <p:nvPr/>
              </p:nvSpPr>
              <p:spPr bwMode="auto">
                <a:xfrm>
                  <a:off x="3076" y="1901"/>
                  <a:ext cx="39" cy="45"/>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0" name="Rectangle 29"/>
                <p:cNvSpPr>
                  <a:spLocks noChangeArrowheads="1"/>
                </p:cNvSpPr>
                <p:nvPr/>
              </p:nvSpPr>
              <p:spPr bwMode="auto">
                <a:xfrm>
                  <a:off x="3117" y="1901"/>
                  <a:ext cx="39" cy="45"/>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1" name="Oval 30"/>
                <p:cNvSpPr>
                  <a:spLocks noChangeArrowheads="1"/>
                </p:cNvSpPr>
                <p:nvPr/>
              </p:nvSpPr>
              <p:spPr bwMode="auto">
                <a:xfrm>
                  <a:off x="2991" y="1924"/>
                  <a:ext cx="21" cy="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2" name="Rectangle 31"/>
                <p:cNvSpPr>
                  <a:spLocks noChangeArrowheads="1"/>
                </p:cNvSpPr>
                <p:nvPr/>
              </p:nvSpPr>
              <p:spPr bwMode="auto">
                <a:xfrm>
                  <a:off x="2979" y="1902"/>
                  <a:ext cx="46" cy="9"/>
                </a:xfrm>
                <a:prstGeom prst="rect">
                  <a:avLst/>
                </a:prstGeom>
                <a:solidFill>
                  <a:srgbClr val="6060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3" name="Rectangle 32"/>
                <p:cNvSpPr>
                  <a:spLocks noChangeArrowheads="1"/>
                </p:cNvSpPr>
                <p:nvPr/>
              </p:nvSpPr>
              <p:spPr bwMode="auto">
                <a:xfrm>
                  <a:off x="3027" y="1902"/>
                  <a:ext cx="47" cy="9"/>
                </a:xfrm>
                <a:prstGeom prst="rect">
                  <a:avLst/>
                </a:prstGeom>
                <a:solidFill>
                  <a:srgbClr val="6060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4" name="Rectangle 33"/>
                <p:cNvSpPr>
                  <a:spLocks noChangeArrowheads="1"/>
                </p:cNvSpPr>
                <p:nvPr/>
              </p:nvSpPr>
              <p:spPr bwMode="auto">
                <a:xfrm>
                  <a:off x="3076" y="1901"/>
                  <a:ext cx="39" cy="10"/>
                </a:xfrm>
                <a:prstGeom prst="rect">
                  <a:avLst/>
                </a:prstGeom>
                <a:solidFill>
                  <a:srgbClr val="6060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5" name="Rectangle 34"/>
                <p:cNvSpPr>
                  <a:spLocks noChangeArrowheads="1"/>
                </p:cNvSpPr>
                <p:nvPr/>
              </p:nvSpPr>
              <p:spPr bwMode="auto">
                <a:xfrm>
                  <a:off x="3117" y="1901"/>
                  <a:ext cx="39" cy="10"/>
                </a:xfrm>
                <a:prstGeom prst="rect">
                  <a:avLst/>
                </a:prstGeom>
                <a:solidFill>
                  <a:srgbClr val="6060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6" name="Rectangle 35"/>
                <p:cNvSpPr>
                  <a:spLocks noChangeArrowheads="1"/>
                </p:cNvSpPr>
                <p:nvPr/>
              </p:nvSpPr>
              <p:spPr bwMode="auto">
                <a:xfrm>
                  <a:off x="3062" y="1914"/>
                  <a:ext cx="9" cy="3"/>
                </a:xfrm>
                <a:prstGeom prst="rect">
                  <a:avLst/>
                </a:prstGeom>
                <a:solidFill>
                  <a:srgbClr val="20202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7" name="Rectangle 36"/>
                <p:cNvSpPr>
                  <a:spLocks noChangeArrowheads="1"/>
                </p:cNvSpPr>
                <p:nvPr/>
              </p:nvSpPr>
              <p:spPr bwMode="auto">
                <a:xfrm>
                  <a:off x="3062" y="1926"/>
                  <a:ext cx="9" cy="2"/>
                </a:xfrm>
                <a:prstGeom prst="rect">
                  <a:avLst/>
                </a:prstGeom>
                <a:solidFill>
                  <a:srgbClr val="20202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8" name="Rectangle 37"/>
                <p:cNvSpPr>
                  <a:spLocks noChangeArrowheads="1"/>
                </p:cNvSpPr>
                <p:nvPr/>
              </p:nvSpPr>
              <p:spPr bwMode="auto">
                <a:xfrm>
                  <a:off x="3062" y="1938"/>
                  <a:ext cx="9" cy="3"/>
                </a:xfrm>
                <a:prstGeom prst="rect">
                  <a:avLst/>
                </a:prstGeom>
                <a:solidFill>
                  <a:srgbClr val="20202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19" name="Rectangle 38"/>
                <p:cNvSpPr>
                  <a:spLocks noChangeArrowheads="1"/>
                </p:cNvSpPr>
                <p:nvPr/>
              </p:nvSpPr>
              <p:spPr bwMode="auto">
                <a:xfrm>
                  <a:off x="3082" y="1925"/>
                  <a:ext cx="28" cy="17"/>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20" name="Rectangle 39"/>
                <p:cNvSpPr>
                  <a:spLocks noChangeArrowheads="1"/>
                </p:cNvSpPr>
                <p:nvPr/>
              </p:nvSpPr>
              <p:spPr bwMode="auto">
                <a:xfrm>
                  <a:off x="3122" y="1925"/>
                  <a:ext cx="29" cy="17"/>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grpSp>
          <p:grpSp>
            <p:nvGrpSpPr>
              <p:cNvPr id="380" name="Group 40"/>
              <p:cNvGrpSpPr>
                <a:grpSpLocks/>
              </p:cNvGrpSpPr>
              <p:nvPr/>
            </p:nvGrpSpPr>
            <p:grpSpPr bwMode="auto">
              <a:xfrm>
                <a:off x="2970" y="2255"/>
                <a:ext cx="258" cy="27"/>
                <a:chOff x="2970" y="2255"/>
                <a:chExt cx="258" cy="27"/>
              </a:xfrm>
            </p:grpSpPr>
            <p:sp>
              <p:nvSpPr>
                <p:cNvPr id="465" name="Freeform 41"/>
                <p:cNvSpPr>
                  <a:spLocks/>
                </p:cNvSpPr>
                <p:nvPr/>
              </p:nvSpPr>
              <p:spPr bwMode="auto">
                <a:xfrm>
                  <a:off x="2970"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66" name="Freeform 42"/>
                <p:cNvSpPr>
                  <a:spLocks/>
                </p:cNvSpPr>
                <p:nvPr/>
              </p:nvSpPr>
              <p:spPr bwMode="auto">
                <a:xfrm>
                  <a:off x="2978"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67" name="Freeform 43"/>
                <p:cNvSpPr>
                  <a:spLocks/>
                </p:cNvSpPr>
                <p:nvPr/>
              </p:nvSpPr>
              <p:spPr bwMode="auto">
                <a:xfrm>
                  <a:off x="2987"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68" name="Freeform 44"/>
                <p:cNvSpPr>
                  <a:spLocks/>
                </p:cNvSpPr>
                <p:nvPr/>
              </p:nvSpPr>
              <p:spPr bwMode="auto">
                <a:xfrm>
                  <a:off x="2996" y="2255"/>
                  <a:ext cx="9" cy="26"/>
                </a:xfrm>
                <a:custGeom>
                  <a:avLst/>
                  <a:gdLst>
                    <a:gd name="T0" fmla="*/ 0 w 17"/>
                    <a:gd name="T1" fmla="*/ 1 h 79"/>
                    <a:gd name="T2" fmla="*/ 0 w 17"/>
                    <a:gd name="T3" fmla="*/ 26 h 79"/>
                    <a:gd name="T4" fmla="*/ 9 w 17"/>
                    <a:gd name="T5" fmla="*/ 26 h 79"/>
                    <a:gd name="T6" fmla="*/ 9 w 17"/>
                    <a:gd name="T7" fmla="*/ 0 h 79"/>
                    <a:gd name="T8" fmla="*/ 0 w 17"/>
                    <a:gd name="T9" fmla="*/ 1 h 79"/>
                    <a:gd name="T10" fmla="*/ 0 60000 65536"/>
                    <a:gd name="T11" fmla="*/ 0 60000 65536"/>
                    <a:gd name="T12" fmla="*/ 0 60000 65536"/>
                    <a:gd name="T13" fmla="*/ 0 60000 65536"/>
                    <a:gd name="T14" fmla="*/ 0 60000 65536"/>
                    <a:gd name="T15" fmla="*/ 0 w 17"/>
                    <a:gd name="T16" fmla="*/ 0 h 79"/>
                    <a:gd name="T17" fmla="*/ 17 w 17"/>
                    <a:gd name="T18" fmla="*/ 79 h 79"/>
                  </a:gdLst>
                  <a:ahLst/>
                  <a:cxnLst>
                    <a:cxn ang="T10">
                      <a:pos x="T0" y="T1"/>
                    </a:cxn>
                    <a:cxn ang="T11">
                      <a:pos x="T2" y="T3"/>
                    </a:cxn>
                    <a:cxn ang="T12">
                      <a:pos x="T4" y="T5"/>
                    </a:cxn>
                    <a:cxn ang="T13">
                      <a:pos x="T6" y="T7"/>
                    </a:cxn>
                    <a:cxn ang="T14">
                      <a:pos x="T8" y="T9"/>
                    </a:cxn>
                  </a:cxnLst>
                  <a:rect l="T15" t="T16" r="T17" b="T18"/>
                  <a:pathLst>
                    <a:path w="17" h="79">
                      <a:moveTo>
                        <a:pt x="0" y="2"/>
                      </a:moveTo>
                      <a:lnTo>
                        <a:pt x="0" y="79"/>
                      </a:lnTo>
                      <a:lnTo>
                        <a:pt x="17" y="78"/>
                      </a:lnTo>
                      <a:lnTo>
                        <a:pt x="17"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grpSp>
              <p:nvGrpSpPr>
                <p:cNvPr id="469" name="Group 45"/>
                <p:cNvGrpSpPr>
                  <a:grpSpLocks/>
                </p:cNvGrpSpPr>
                <p:nvPr/>
              </p:nvGrpSpPr>
              <p:grpSpPr bwMode="auto">
                <a:xfrm>
                  <a:off x="3005" y="2256"/>
                  <a:ext cx="35" cy="26"/>
                  <a:chOff x="3005" y="2256"/>
                  <a:chExt cx="35" cy="26"/>
                </a:xfrm>
              </p:grpSpPr>
              <p:sp>
                <p:nvSpPr>
                  <p:cNvPr id="498" name="Freeform 46"/>
                  <p:cNvSpPr>
                    <a:spLocks/>
                  </p:cNvSpPr>
                  <p:nvPr/>
                </p:nvSpPr>
                <p:spPr bwMode="auto">
                  <a:xfrm>
                    <a:off x="3005" y="2256"/>
                    <a:ext cx="9" cy="26"/>
                  </a:xfrm>
                  <a:custGeom>
                    <a:avLst/>
                    <a:gdLst>
                      <a:gd name="T0" fmla="*/ 0 w 19"/>
                      <a:gd name="T1" fmla="*/ 0 h 78"/>
                      <a:gd name="T2" fmla="*/ 0 w 19"/>
                      <a:gd name="T3" fmla="*/ 26 h 78"/>
                      <a:gd name="T4" fmla="*/ 9 w 19"/>
                      <a:gd name="T5" fmla="*/ 26 h 78"/>
                      <a:gd name="T6" fmla="*/ 9 w 19"/>
                      <a:gd name="T7" fmla="*/ 0 h 78"/>
                      <a:gd name="T8" fmla="*/ 0 w 19"/>
                      <a:gd name="T9" fmla="*/ 0 h 78"/>
                      <a:gd name="T10" fmla="*/ 0 60000 65536"/>
                      <a:gd name="T11" fmla="*/ 0 60000 65536"/>
                      <a:gd name="T12" fmla="*/ 0 60000 65536"/>
                      <a:gd name="T13" fmla="*/ 0 60000 65536"/>
                      <a:gd name="T14" fmla="*/ 0 60000 65536"/>
                      <a:gd name="T15" fmla="*/ 0 w 19"/>
                      <a:gd name="T16" fmla="*/ 0 h 78"/>
                      <a:gd name="T17" fmla="*/ 19 w 19"/>
                      <a:gd name="T18" fmla="*/ 78 h 78"/>
                    </a:gdLst>
                    <a:ahLst/>
                    <a:cxnLst>
                      <a:cxn ang="T10">
                        <a:pos x="T0" y="T1"/>
                      </a:cxn>
                      <a:cxn ang="T11">
                        <a:pos x="T2" y="T3"/>
                      </a:cxn>
                      <a:cxn ang="T12">
                        <a:pos x="T4" y="T5"/>
                      </a:cxn>
                      <a:cxn ang="T13">
                        <a:pos x="T6" y="T7"/>
                      </a:cxn>
                      <a:cxn ang="T14">
                        <a:pos x="T8" y="T9"/>
                      </a:cxn>
                    </a:cxnLst>
                    <a:rect l="T15" t="T16" r="T17" b="T18"/>
                    <a:pathLst>
                      <a:path w="19" h="78">
                        <a:moveTo>
                          <a:pt x="0" y="1"/>
                        </a:moveTo>
                        <a:lnTo>
                          <a:pt x="0" y="78"/>
                        </a:lnTo>
                        <a:lnTo>
                          <a:pt x="19" y="77"/>
                        </a:lnTo>
                        <a:lnTo>
                          <a:pt x="19"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9" name="Freeform 47"/>
                  <p:cNvSpPr>
                    <a:spLocks/>
                  </p:cNvSpPr>
                  <p:nvPr/>
                </p:nvSpPr>
                <p:spPr bwMode="auto">
                  <a:xfrm>
                    <a:off x="3014"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500" name="Freeform 48"/>
                  <p:cNvSpPr>
                    <a:spLocks/>
                  </p:cNvSpPr>
                  <p:nvPr/>
                </p:nvSpPr>
                <p:spPr bwMode="auto">
                  <a:xfrm>
                    <a:off x="3023"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501" name="Freeform 49"/>
                  <p:cNvSpPr>
                    <a:spLocks/>
                  </p:cNvSpPr>
                  <p:nvPr/>
                </p:nvSpPr>
                <p:spPr bwMode="auto">
                  <a:xfrm>
                    <a:off x="3032" y="2256"/>
                    <a:ext cx="8" cy="26"/>
                  </a:xfrm>
                  <a:custGeom>
                    <a:avLst/>
                    <a:gdLst>
                      <a:gd name="T0" fmla="*/ 0 w 17"/>
                      <a:gd name="T1" fmla="*/ 0 h 78"/>
                      <a:gd name="T2" fmla="*/ 0 w 17"/>
                      <a:gd name="T3" fmla="*/ 26 h 78"/>
                      <a:gd name="T4" fmla="*/ 8 w 17"/>
                      <a:gd name="T5" fmla="*/ 26 h 78"/>
                      <a:gd name="T6" fmla="*/ 8 w 17"/>
                      <a:gd name="T7" fmla="*/ 0 h 78"/>
                      <a:gd name="T8" fmla="*/ 0 w 17"/>
                      <a:gd name="T9" fmla="*/ 0 h 78"/>
                      <a:gd name="T10" fmla="*/ 0 60000 65536"/>
                      <a:gd name="T11" fmla="*/ 0 60000 65536"/>
                      <a:gd name="T12" fmla="*/ 0 60000 65536"/>
                      <a:gd name="T13" fmla="*/ 0 60000 65536"/>
                      <a:gd name="T14" fmla="*/ 0 60000 65536"/>
                      <a:gd name="T15" fmla="*/ 0 w 17"/>
                      <a:gd name="T16" fmla="*/ 0 h 78"/>
                      <a:gd name="T17" fmla="*/ 17 w 17"/>
                      <a:gd name="T18" fmla="*/ 78 h 78"/>
                    </a:gdLst>
                    <a:ahLst/>
                    <a:cxnLst>
                      <a:cxn ang="T10">
                        <a:pos x="T0" y="T1"/>
                      </a:cxn>
                      <a:cxn ang="T11">
                        <a:pos x="T2" y="T3"/>
                      </a:cxn>
                      <a:cxn ang="T12">
                        <a:pos x="T4" y="T5"/>
                      </a:cxn>
                      <a:cxn ang="T13">
                        <a:pos x="T6" y="T7"/>
                      </a:cxn>
                      <a:cxn ang="T14">
                        <a:pos x="T8" y="T9"/>
                      </a:cxn>
                    </a:cxnLst>
                    <a:rect l="T15" t="T16" r="T17" b="T18"/>
                    <a:pathLst>
                      <a:path w="17" h="78">
                        <a:moveTo>
                          <a:pt x="0" y="1"/>
                        </a:moveTo>
                        <a:lnTo>
                          <a:pt x="0" y="78"/>
                        </a:lnTo>
                        <a:lnTo>
                          <a:pt x="17" y="77"/>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70" name="Group 50"/>
                <p:cNvGrpSpPr>
                  <a:grpSpLocks/>
                </p:cNvGrpSpPr>
                <p:nvPr/>
              </p:nvGrpSpPr>
              <p:grpSpPr bwMode="auto">
                <a:xfrm>
                  <a:off x="3040" y="2255"/>
                  <a:ext cx="71" cy="27"/>
                  <a:chOff x="3040" y="2255"/>
                  <a:chExt cx="71" cy="27"/>
                </a:xfrm>
              </p:grpSpPr>
              <p:grpSp>
                <p:nvGrpSpPr>
                  <p:cNvPr id="488" name="Group 51"/>
                  <p:cNvGrpSpPr>
                    <a:grpSpLocks/>
                  </p:cNvGrpSpPr>
                  <p:nvPr/>
                </p:nvGrpSpPr>
                <p:grpSpPr bwMode="auto">
                  <a:xfrm>
                    <a:off x="3040" y="2255"/>
                    <a:ext cx="36" cy="26"/>
                    <a:chOff x="3040" y="2255"/>
                    <a:chExt cx="36" cy="26"/>
                  </a:xfrm>
                </p:grpSpPr>
                <p:sp>
                  <p:nvSpPr>
                    <p:cNvPr id="494" name="Freeform 52"/>
                    <p:cNvSpPr>
                      <a:spLocks/>
                    </p:cNvSpPr>
                    <p:nvPr/>
                  </p:nvSpPr>
                  <p:spPr bwMode="auto">
                    <a:xfrm>
                      <a:off x="3040"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5" name="Freeform 53"/>
                    <p:cNvSpPr>
                      <a:spLocks/>
                    </p:cNvSpPr>
                    <p:nvPr/>
                  </p:nvSpPr>
                  <p:spPr bwMode="auto">
                    <a:xfrm>
                      <a:off x="3049"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6" name="Freeform 54"/>
                    <p:cNvSpPr>
                      <a:spLocks/>
                    </p:cNvSpPr>
                    <p:nvPr/>
                  </p:nvSpPr>
                  <p:spPr bwMode="auto">
                    <a:xfrm>
                      <a:off x="3058"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7" name="Freeform 55"/>
                    <p:cNvSpPr>
                      <a:spLocks/>
                    </p:cNvSpPr>
                    <p:nvPr/>
                  </p:nvSpPr>
                  <p:spPr bwMode="auto">
                    <a:xfrm>
                      <a:off x="3067" y="2255"/>
                      <a:ext cx="9" cy="26"/>
                    </a:xfrm>
                    <a:custGeom>
                      <a:avLst/>
                      <a:gdLst>
                        <a:gd name="T0" fmla="*/ 0 w 17"/>
                        <a:gd name="T1" fmla="*/ 1 h 79"/>
                        <a:gd name="T2" fmla="*/ 0 w 17"/>
                        <a:gd name="T3" fmla="*/ 26 h 79"/>
                        <a:gd name="T4" fmla="*/ 9 w 17"/>
                        <a:gd name="T5" fmla="*/ 26 h 79"/>
                        <a:gd name="T6" fmla="*/ 9 w 17"/>
                        <a:gd name="T7" fmla="*/ 0 h 79"/>
                        <a:gd name="T8" fmla="*/ 0 w 17"/>
                        <a:gd name="T9" fmla="*/ 1 h 79"/>
                        <a:gd name="T10" fmla="*/ 0 60000 65536"/>
                        <a:gd name="T11" fmla="*/ 0 60000 65536"/>
                        <a:gd name="T12" fmla="*/ 0 60000 65536"/>
                        <a:gd name="T13" fmla="*/ 0 60000 65536"/>
                        <a:gd name="T14" fmla="*/ 0 60000 65536"/>
                        <a:gd name="T15" fmla="*/ 0 w 17"/>
                        <a:gd name="T16" fmla="*/ 0 h 79"/>
                        <a:gd name="T17" fmla="*/ 17 w 17"/>
                        <a:gd name="T18" fmla="*/ 79 h 79"/>
                      </a:gdLst>
                      <a:ahLst/>
                      <a:cxnLst>
                        <a:cxn ang="T10">
                          <a:pos x="T0" y="T1"/>
                        </a:cxn>
                        <a:cxn ang="T11">
                          <a:pos x="T2" y="T3"/>
                        </a:cxn>
                        <a:cxn ang="T12">
                          <a:pos x="T4" y="T5"/>
                        </a:cxn>
                        <a:cxn ang="T13">
                          <a:pos x="T6" y="T7"/>
                        </a:cxn>
                        <a:cxn ang="T14">
                          <a:pos x="T8" y="T9"/>
                        </a:cxn>
                      </a:cxnLst>
                      <a:rect l="T15" t="T16" r="T17" b="T18"/>
                      <a:pathLst>
                        <a:path w="17" h="79">
                          <a:moveTo>
                            <a:pt x="0" y="2"/>
                          </a:moveTo>
                          <a:lnTo>
                            <a:pt x="0" y="79"/>
                          </a:lnTo>
                          <a:lnTo>
                            <a:pt x="17" y="78"/>
                          </a:lnTo>
                          <a:lnTo>
                            <a:pt x="17"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89" name="Group 56"/>
                  <p:cNvGrpSpPr>
                    <a:grpSpLocks/>
                  </p:cNvGrpSpPr>
                  <p:nvPr/>
                </p:nvGrpSpPr>
                <p:grpSpPr bwMode="auto">
                  <a:xfrm>
                    <a:off x="3076" y="2256"/>
                    <a:ext cx="35" cy="26"/>
                    <a:chOff x="3076" y="2256"/>
                    <a:chExt cx="35" cy="26"/>
                  </a:xfrm>
                </p:grpSpPr>
                <p:sp>
                  <p:nvSpPr>
                    <p:cNvPr id="490" name="Freeform 57"/>
                    <p:cNvSpPr>
                      <a:spLocks/>
                    </p:cNvSpPr>
                    <p:nvPr/>
                  </p:nvSpPr>
                  <p:spPr bwMode="auto">
                    <a:xfrm>
                      <a:off x="3076"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1" name="Freeform 58"/>
                    <p:cNvSpPr>
                      <a:spLocks/>
                    </p:cNvSpPr>
                    <p:nvPr/>
                  </p:nvSpPr>
                  <p:spPr bwMode="auto">
                    <a:xfrm>
                      <a:off x="3085"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2" name="Freeform 59"/>
                    <p:cNvSpPr>
                      <a:spLocks/>
                    </p:cNvSpPr>
                    <p:nvPr/>
                  </p:nvSpPr>
                  <p:spPr bwMode="auto">
                    <a:xfrm>
                      <a:off x="3094" y="2256"/>
                      <a:ext cx="9" cy="26"/>
                    </a:xfrm>
                    <a:custGeom>
                      <a:avLst/>
                      <a:gdLst>
                        <a:gd name="T0" fmla="*/ 0 w 19"/>
                        <a:gd name="T1" fmla="*/ 0 h 78"/>
                        <a:gd name="T2" fmla="*/ 0 w 19"/>
                        <a:gd name="T3" fmla="*/ 26 h 78"/>
                        <a:gd name="T4" fmla="*/ 9 w 19"/>
                        <a:gd name="T5" fmla="*/ 26 h 78"/>
                        <a:gd name="T6" fmla="*/ 9 w 19"/>
                        <a:gd name="T7" fmla="*/ 0 h 78"/>
                        <a:gd name="T8" fmla="*/ 0 w 19"/>
                        <a:gd name="T9" fmla="*/ 0 h 78"/>
                        <a:gd name="T10" fmla="*/ 0 60000 65536"/>
                        <a:gd name="T11" fmla="*/ 0 60000 65536"/>
                        <a:gd name="T12" fmla="*/ 0 60000 65536"/>
                        <a:gd name="T13" fmla="*/ 0 60000 65536"/>
                        <a:gd name="T14" fmla="*/ 0 60000 65536"/>
                        <a:gd name="T15" fmla="*/ 0 w 19"/>
                        <a:gd name="T16" fmla="*/ 0 h 78"/>
                        <a:gd name="T17" fmla="*/ 19 w 19"/>
                        <a:gd name="T18" fmla="*/ 78 h 78"/>
                      </a:gdLst>
                      <a:ahLst/>
                      <a:cxnLst>
                        <a:cxn ang="T10">
                          <a:pos x="T0" y="T1"/>
                        </a:cxn>
                        <a:cxn ang="T11">
                          <a:pos x="T2" y="T3"/>
                        </a:cxn>
                        <a:cxn ang="T12">
                          <a:pos x="T4" y="T5"/>
                        </a:cxn>
                        <a:cxn ang="T13">
                          <a:pos x="T6" y="T7"/>
                        </a:cxn>
                        <a:cxn ang="T14">
                          <a:pos x="T8" y="T9"/>
                        </a:cxn>
                      </a:cxnLst>
                      <a:rect l="T15" t="T16" r="T17" b="T18"/>
                      <a:pathLst>
                        <a:path w="19" h="78">
                          <a:moveTo>
                            <a:pt x="0" y="1"/>
                          </a:moveTo>
                          <a:lnTo>
                            <a:pt x="0" y="78"/>
                          </a:lnTo>
                          <a:lnTo>
                            <a:pt x="19" y="77"/>
                          </a:lnTo>
                          <a:lnTo>
                            <a:pt x="19"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93" name="Freeform 60"/>
                    <p:cNvSpPr>
                      <a:spLocks/>
                    </p:cNvSpPr>
                    <p:nvPr/>
                  </p:nvSpPr>
                  <p:spPr bwMode="auto">
                    <a:xfrm>
                      <a:off x="3103" y="2256"/>
                      <a:ext cx="8" cy="26"/>
                    </a:xfrm>
                    <a:custGeom>
                      <a:avLst/>
                      <a:gdLst>
                        <a:gd name="T0" fmla="*/ 0 w 17"/>
                        <a:gd name="T1" fmla="*/ 0 h 78"/>
                        <a:gd name="T2" fmla="*/ 0 w 17"/>
                        <a:gd name="T3" fmla="*/ 26 h 78"/>
                        <a:gd name="T4" fmla="*/ 8 w 17"/>
                        <a:gd name="T5" fmla="*/ 26 h 78"/>
                        <a:gd name="T6" fmla="*/ 8 w 17"/>
                        <a:gd name="T7" fmla="*/ 0 h 78"/>
                        <a:gd name="T8" fmla="*/ 0 w 17"/>
                        <a:gd name="T9" fmla="*/ 0 h 78"/>
                        <a:gd name="T10" fmla="*/ 0 60000 65536"/>
                        <a:gd name="T11" fmla="*/ 0 60000 65536"/>
                        <a:gd name="T12" fmla="*/ 0 60000 65536"/>
                        <a:gd name="T13" fmla="*/ 0 60000 65536"/>
                        <a:gd name="T14" fmla="*/ 0 60000 65536"/>
                        <a:gd name="T15" fmla="*/ 0 w 17"/>
                        <a:gd name="T16" fmla="*/ 0 h 78"/>
                        <a:gd name="T17" fmla="*/ 17 w 17"/>
                        <a:gd name="T18" fmla="*/ 78 h 78"/>
                      </a:gdLst>
                      <a:ahLst/>
                      <a:cxnLst>
                        <a:cxn ang="T10">
                          <a:pos x="T0" y="T1"/>
                        </a:cxn>
                        <a:cxn ang="T11">
                          <a:pos x="T2" y="T3"/>
                        </a:cxn>
                        <a:cxn ang="T12">
                          <a:pos x="T4" y="T5"/>
                        </a:cxn>
                        <a:cxn ang="T13">
                          <a:pos x="T6" y="T7"/>
                        </a:cxn>
                        <a:cxn ang="T14">
                          <a:pos x="T8" y="T9"/>
                        </a:cxn>
                      </a:cxnLst>
                      <a:rect l="T15" t="T16" r="T17" b="T18"/>
                      <a:pathLst>
                        <a:path w="17" h="78">
                          <a:moveTo>
                            <a:pt x="0" y="1"/>
                          </a:moveTo>
                          <a:lnTo>
                            <a:pt x="0" y="78"/>
                          </a:lnTo>
                          <a:lnTo>
                            <a:pt x="17" y="77"/>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grpSp>
              <p:nvGrpSpPr>
                <p:cNvPr id="471" name="Group 61"/>
                <p:cNvGrpSpPr>
                  <a:grpSpLocks/>
                </p:cNvGrpSpPr>
                <p:nvPr/>
              </p:nvGrpSpPr>
              <p:grpSpPr bwMode="auto">
                <a:xfrm>
                  <a:off x="3111" y="2255"/>
                  <a:ext cx="71" cy="27"/>
                  <a:chOff x="3111" y="2255"/>
                  <a:chExt cx="71" cy="27"/>
                </a:xfrm>
              </p:grpSpPr>
              <p:grpSp>
                <p:nvGrpSpPr>
                  <p:cNvPr id="478" name="Group 62"/>
                  <p:cNvGrpSpPr>
                    <a:grpSpLocks/>
                  </p:cNvGrpSpPr>
                  <p:nvPr/>
                </p:nvGrpSpPr>
                <p:grpSpPr bwMode="auto">
                  <a:xfrm>
                    <a:off x="3111" y="2255"/>
                    <a:ext cx="36" cy="26"/>
                    <a:chOff x="3111" y="2255"/>
                    <a:chExt cx="36" cy="26"/>
                  </a:xfrm>
                </p:grpSpPr>
                <p:sp>
                  <p:nvSpPr>
                    <p:cNvPr id="484" name="Freeform 63"/>
                    <p:cNvSpPr>
                      <a:spLocks/>
                    </p:cNvSpPr>
                    <p:nvPr/>
                  </p:nvSpPr>
                  <p:spPr bwMode="auto">
                    <a:xfrm>
                      <a:off x="3111"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85" name="Freeform 64"/>
                    <p:cNvSpPr>
                      <a:spLocks/>
                    </p:cNvSpPr>
                    <p:nvPr/>
                  </p:nvSpPr>
                  <p:spPr bwMode="auto">
                    <a:xfrm>
                      <a:off x="3120"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86" name="Freeform 65"/>
                    <p:cNvSpPr>
                      <a:spLocks/>
                    </p:cNvSpPr>
                    <p:nvPr/>
                  </p:nvSpPr>
                  <p:spPr bwMode="auto">
                    <a:xfrm>
                      <a:off x="3129"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87" name="Freeform 66"/>
                    <p:cNvSpPr>
                      <a:spLocks/>
                    </p:cNvSpPr>
                    <p:nvPr/>
                  </p:nvSpPr>
                  <p:spPr bwMode="auto">
                    <a:xfrm>
                      <a:off x="3138" y="2255"/>
                      <a:ext cx="9" cy="26"/>
                    </a:xfrm>
                    <a:custGeom>
                      <a:avLst/>
                      <a:gdLst>
                        <a:gd name="T0" fmla="*/ 0 w 17"/>
                        <a:gd name="T1" fmla="*/ 1 h 79"/>
                        <a:gd name="T2" fmla="*/ 0 w 17"/>
                        <a:gd name="T3" fmla="*/ 26 h 79"/>
                        <a:gd name="T4" fmla="*/ 9 w 17"/>
                        <a:gd name="T5" fmla="*/ 26 h 79"/>
                        <a:gd name="T6" fmla="*/ 9 w 17"/>
                        <a:gd name="T7" fmla="*/ 0 h 79"/>
                        <a:gd name="T8" fmla="*/ 0 w 17"/>
                        <a:gd name="T9" fmla="*/ 1 h 79"/>
                        <a:gd name="T10" fmla="*/ 0 60000 65536"/>
                        <a:gd name="T11" fmla="*/ 0 60000 65536"/>
                        <a:gd name="T12" fmla="*/ 0 60000 65536"/>
                        <a:gd name="T13" fmla="*/ 0 60000 65536"/>
                        <a:gd name="T14" fmla="*/ 0 60000 65536"/>
                        <a:gd name="T15" fmla="*/ 0 w 17"/>
                        <a:gd name="T16" fmla="*/ 0 h 79"/>
                        <a:gd name="T17" fmla="*/ 17 w 17"/>
                        <a:gd name="T18" fmla="*/ 79 h 79"/>
                      </a:gdLst>
                      <a:ahLst/>
                      <a:cxnLst>
                        <a:cxn ang="T10">
                          <a:pos x="T0" y="T1"/>
                        </a:cxn>
                        <a:cxn ang="T11">
                          <a:pos x="T2" y="T3"/>
                        </a:cxn>
                        <a:cxn ang="T12">
                          <a:pos x="T4" y="T5"/>
                        </a:cxn>
                        <a:cxn ang="T13">
                          <a:pos x="T6" y="T7"/>
                        </a:cxn>
                        <a:cxn ang="T14">
                          <a:pos x="T8" y="T9"/>
                        </a:cxn>
                      </a:cxnLst>
                      <a:rect l="T15" t="T16" r="T17" b="T18"/>
                      <a:pathLst>
                        <a:path w="17" h="79">
                          <a:moveTo>
                            <a:pt x="0" y="2"/>
                          </a:moveTo>
                          <a:lnTo>
                            <a:pt x="0" y="79"/>
                          </a:lnTo>
                          <a:lnTo>
                            <a:pt x="17" y="78"/>
                          </a:lnTo>
                          <a:lnTo>
                            <a:pt x="17"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79" name="Group 67"/>
                  <p:cNvGrpSpPr>
                    <a:grpSpLocks/>
                  </p:cNvGrpSpPr>
                  <p:nvPr/>
                </p:nvGrpSpPr>
                <p:grpSpPr bwMode="auto">
                  <a:xfrm>
                    <a:off x="3147" y="2256"/>
                    <a:ext cx="35" cy="26"/>
                    <a:chOff x="3147" y="2256"/>
                    <a:chExt cx="35" cy="26"/>
                  </a:xfrm>
                </p:grpSpPr>
                <p:sp>
                  <p:nvSpPr>
                    <p:cNvPr id="480" name="Freeform 68"/>
                    <p:cNvSpPr>
                      <a:spLocks/>
                    </p:cNvSpPr>
                    <p:nvPr/>
                  </p:nvSpPr>
                  <p:spPr bwMode="auto">
                    <a:xfrm>
                      <a:off x="3147"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81" name="Freeform 69"/>
                    <p:cNvSpPr>
                      <a:spLocks/>
                    </p:cNvSpPr>
                    <p:nvPr/>
                  </p:nvSpPr>
                  <p:spPr bwMode="auto">
                    <a:xfrm>
                      <a:off x="3156"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82" name="Freeform 70"/>
                    <p:cNvSpPr>
                      <a:spLocks/>
                    </p:cNvSpPr>
                    <p:nvPr/>
                  </p:nvSpPr>
                  <p:spPr bwMode="auto">
                    <a:xfrm>
                      <a:off x="3165" y="2256"/>
                      <a:ext cx="8" cy="26"/>
                    </a:xfrm>
                    <a:custGeom>
                      <a:avLst/>
                      <a:gdLst>
                        <a:gd name="T0" fmla="*/ 0 w 17"/>
                        <a:gd name="T1" fmla="*/ 0 h 78"/>
                        <a:gd name="T2" fmla="*/ 0 w 17"/>
                        <a:gd name="T3" fmla="*/ 26 h 78"/>
                        <a:gd name="T4" fmla="*/ 8 w 17"/>
                        <a:gd name="T5" fmla="*/ 26 h 78"/>
                        <a:gd name="T6" fmla="*/ 8 w 17"/>
                        <a:gd name="T7" fmla="*/ 0 h 78"/>
                        <a:gd name="T8" fmla="*/ 0 w 17"/>
                        <a:gd name="T9" fmla="*/ 0 h 78"/>
                        <a:gd name="T10" fmla="*/ 0 60000 65536"/>
                        <a:gd name="T11" fmla="*/ 0 60000 65536"/>
                        <a:gd name="T12" fmla="*/ 0 60000 65536"/>
                        <a:gd name="T13" fmla="*/ 0 60000 65536"/>
                        <a:gd name="T14" fmla="*/ 0 60000 65536"/>
                        <a:gd name="T15" fmla="*/ 0 w 17"/>
                        <a:gd name="T16" fmla="*/ 0 h 78"/>
                        <a:gd name="T17" fmla="*/ 17 w 17"/>
                        <a:gd name="T18" fmla="*/ 78 h 78"/>
                      </a:gdLst>
                      <a:ahLst/>
                      <a:cxnLst>
                        <a:cxn ang="T10">
                          <a:pos x="T0" y="T1"/>
                        </a:cxn>
                        <a:cxn ang="T11">
                          <a:pos x="T2" y="T3"/>
                        </a:cxn>
                        <a:cxn ang="T12">
                          <a:pos x="T4" y="T5"/>
                        </a:cxn>
                        <a:cxn ang="T13">
                          <a:pos x="T6" y="T7"/>
                        </a:cxn>
                        <a:cxn ang="T14">
                          <a:pos x="T8" y="T9"/>
                        </a:cxn>
                      </a:cxnLst>
                      <a:rect l="T15" t="T16" r="T17" b="T18"/>
                      <a:pathLst>
                        <a:path w="17" h="78">
                          <a:moveTo>
                            <a:pt x="0" y="1"/>
                          </a:moveTo>
                          <a:lnTo>
                            <a:pt x="0" y="78"/>
                          </a:lnTo>
                          <a:lnTo>
                            <a:pt x="17" y="77"/>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83" name="Freeform 71"/>
                    <p:cNvSpPr>
                      <a:spLocks/>
                    </p:cNvSpPr>
                    <p:nvPr/>
                  </p:nvSpPr>
                  <p:spPr bwMode="auto">
                    <a:xfrm>
                      <a:off x="3173" y="2256"/>
                      <a:ext cx="9" cy="26"/>
                    </a:xfrm>
                    <a:custGeom>
                      <a:avLst/>
                      <a:gdLst>
                        <a:gd name="T0" fmla="*/ 0 w 18"/>
                        <a:gd name="T1" fmla="*/ 0 h 78"/>
                        <a:gd name="T2" fmla="*/ 0 w 18"/>
                        <a:gd name="T3" fmla="*/ 26 h 78"/>
                        <a:gd name="T4" fmla="*/ 9 w 18"/>
                        <a:gd name="T5" fmla="*/ 26 h 78"/>
                        <a:gd name="T6" fmla="*/ 9 w 18"/>
                        <a:gd name="T7" fmla="*/ 0 h 78"/>
                        <a:gd name="T8" fmla="*/ 0 w 18"/>
                        <a:gd name="T9" fmla="*/ 0 h 78"/>
                        <a:gd name="T10" fmla="*/ 0 60000 65536"/>
                        <a:gd name="T11" fmla="*/ 0 60000 65536"/>
                        <a:gd name="T12" fmla="*/ 0 60000 65536"/>
                        <a:gd name="T13" fmla="*/ 0 60000 65536"/>
                        <a:gd name="T14" fmla="*/ 0 60000 65536"/>
                        <a:gd name="T15" fmla="*/ 0 w 18"/>
                        <a:gd name="T16" fmla="*/ 0 h 78"/>
                        <a:gd name="T17" fmla="*/ 18 w 18"/>
                        <a:gd name="T18" fmla="*/ 78 h 78"/>
                      </a:gdLst>
                      <a:ahLst/>
                      <a:cxnLst>
                        <a:cxn ang="T10">
                          <a:pos x="T0" y="T1"/>
                        </a:cxn>
                        <a:cxn ang="T11">
                          <a:pos x="T2" y="T3"/>
                        </a:cxn>
                        <a:cxn ang="T12">
                          <a:pos x="T4" y="T5"/>
                        </a:cxn>
                        <a:cxn ang="T13">
                          <a:pos x="T6" y="T7"/>
                        </a:cxn>
                        <a:cxn ang="T14">
                          <a:pos x="T8" y="T9"/>
                        </a:cxn>
                      </a:cxnLst>
                      <a:rect l="T15" t="T16" r="T17" b="T18"/>
                      <a:pathLst>
                        <a:path w="18" h="78">
                          <a:moveTo>
                            <a:pt x="0" y="1"/>
                          </a:moveTo>
                          <a:lnTo>
                            <a:pt x="0" y="78"/>
                          </a:lnTo>
                          <a:lnTo>
                            <a:pt x="18" y="77"/>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grpSp>
              <p:nvGrpSpPr>
                <p:cNvPr id="472" name="Group 72"/>
                <p:cNvGrpSpPr>
                  <a:grpSpLocks/>
                </p:cNvGrpSpPr>
                <p:nvPr/>
              </p:nvGrpSpPr>
              <p:grpSpPr bwMode="auto">
                <a:xfrm>
                  <a:off x="3182" y="2255"/>
                  <a:ext cx="35" cy="26"/>
                  <a:chOff x="3182" y="2255"/>
                  <a:chExt cx="35" cy="26"/>
                </a:xfrm>
              </p:grpSpPr>
              <p:sp>
                <p:nvSpPr>
                  <p:cNvPr id="474" name="Freeform 73"/>
                  <p:cNvSpPr>
                    <a:spLocks/>
                  </p:cNvSpPr>
                  <p:nvPr/>
                </p:nvSpPr>
                <p:spPr bwMode="auto">
                  <a:xfrm>
                    <a:off x="3182" y="2255"/>
                    <a:ext cx="9" cy="26"/>
                  </a:xfrm>
                  <a:custGeom>
                    <a:avLst/>
                    <a:gdLst>
                      <a:gd name="T0" fmla="*/ 0 w 19"/>
                      <a:gd name="T1" fmla="*/ 1 h 79"/>
                      <a:gd name="T2" fmla="*/ 0 w 19"/>
                      <a:gd name="T3" fmla="*/ 26 h 79"/>
                      <a:gd name="T4" fmla="*/ 9 w 19"/>
                      <a:gd name="T5" fmla="*/ 26 h 79"/>
                      <a:gd name="T6" fmla="*/ 9 w 19"/>
                      <a:gd name="T7" fmla="*/ 0 h 79"/>
                      <a:gd name="T8" fmla="*/ 0 w 19"/>
                      <a:gd name="T9" fmla="*/ 1 h 79"/>
                      <a:gd name="T10" fmla="*/ 0 60000 65536"/>
                      <a:gd name="T11" fmla="*/ 0 60000 65536"/>
                      <a:gd name="T12" fmla="*/ 0 60000 65536"/>
                      <a:gd name="T13" fmla="*/ 0 60000 65536"/>
                      <a:gd name="T14" fmla="*/ 0 60000 65536"/>
                      <a:gd name="T15" fmla="*/ 0 w 19"/>
                      <a:gd name="T16" fmla="*/ 0 h 79"/>
                      <a:gd name="T17" fmla="*/ 19 w 19"/>
                      <a:gd name="T18" fmla="*/ 79 h 79"/>
                    </a:gdLst>
                    <a:ahLst/>
                    <a:cxnLst>
                      <a:cxn ang="T10">
                        <a:pos x="T0" y="T1"/>
                      </a:cxn>
                      <a:cxn ang="T11">
                        <a:pos x="T2" y="T3"/>
                      </a:cxn>
                      <a:cxn ang="T12">
                        <a:pos x="T4" y="T5"/>
                      </a:cxn>
                      <a:cxn ang="T13">
                        <a:pos x="T6" y="T7"/>
                      </a:cxn>
                      <a:cxn ang="T14">
                        <a:pos x="T8" y="T9"/>
                      </a:cxn>
                    </a:cxnLst>
                    <a:rect l="T15" t="T16" r="T17" b="T18"/>
                    <a:pathLst>
                      <a:path w="19" h="79">
                        <a:moveTo>
                          <a:pt x="0" y="2"/>
                        </a:moveTo>
                        <a:lnTo>
                          <a:pt x="0" y="79"/>
                        </a:lnTo>
                        <a:lnTo>
                          <a:pt x="19" y="78"/>
                        </a:lnTo>
                        <a:lnTo>
                          <a:pt x="19"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75" name="Freeform 74"/>
                  <p:cNvSpPr>
                    <a:spLocks/>
                  </p:cNvSpPr>
                  <p:nvPr/>
                </p:nvSpPr>
                <p:spPr bwMode="auto">
                  <a:xfrm>
                    <a:off x="3191"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76" name="Freeform 75"/>
                  <p:cNvSpPr>
                    <a:spLocks/>
                  </p:cNvSpPr>
                  <p:nvPr/>
                </p:nvSpPr>
                <p:spPr bwMode="auto">
                  <a:xfrm>
                    <a:off x="3200" y="2255"/>
                    <a:ext cx="8" cy="26"/>
                  </a:xfrm>
                  <a:custGeom>
                    <a:avLst/>
                    <a:gdLst>
                      <a:gd name="T0" fmla="*/ 0 w 17"/>
                      <a:gd name="T1" fmla="*/ 1 h 79"/>
                      <a:gd name="T2" fmla="*/ 0 w 17"/>
                      <a:gd name="T3" fmla="*/ 26 h 79"/>
                      <a:gd name="T4" fmla="*/ 8 w 17"/>
                      <a:gd name="T5" fmla="*/ 26 h 79"/>
                      <a:gd name="T6" fmla="*/ 8 w 17"/>
                      <a:gd name="T7" fmla="*/ 0 h 79"/>
                      <a:gd name="T8" fmla="*/ 0 w 17"/>
                      <a:gd name="T9" fmla="*/ 1 h 79"/>
                      <a:gd name="T10" fmla="*/ 0 60000 65536"/>
                      <a:gd name="T11" fmla="*/ 0 60000 65536"/>
                      <a:gd name="T12" fmla="*/ 0 60000 65536"/>
                      <a:gd name="T13" fmla="*/ 0 60000 65536"/>
                      <a:gd name="T14" fmla="*/ 0 60000 65536"/>
                      <a:gd name="T15" fmla="*/ 0 w 17"/>
                      <a:gd name="T16" fmla="*/ 0 h 79"/>
                      <a:gd name="T17" fmla="*/ 17 w 17"/>
                      <a:gd name="T18" fmla="*/ 79 h 79"/>
                    </a:gdLst>
                    <a:ahLst/>
                    <a:cxnLst>
                      <a:cxn ang="T10">
                        <a:pos x="T0" y="T1"/>
                      </a:cxn>
                      <a:cxn ang="T11">
                        <a:pos x="T2" y="T3"/>
                      </a:cxn>
                      <a:cxn ang="T12">
                        <a:pos x="T4" y="T5"/>
                      </a:cxn>
                      <a:cxn ang="T13">
                        <a:pos x="T6" y="T7"/>
                      </a:cxn>
                      <a:cxn ang="T14">
                        <a:pos x="T8" y="T9"/>
                      </a:cxn>
                    </a:cxnLst>
                    <a:rect l="T15" t="T16" r="T17" b="T18"/>
                    <a:pathLst>
                      <a:path w="17" h="79">
                        <a:moveTo>
                          <a:pt x="0" y="2"/>
                        </a:moveTo>
                        <a:lnTo>
                          <a:pt x="0" y="79"/>
                        </a:lnTo>
                        <a:lnTo>
                          <a:pt x="17" y="78"/>
                        </a:lnTo>
                        <a:lnTo>
                          <a:pt x="17"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sp>
                <p:nvSpPr>
                  <p:cNvPr id="477" name="Freeform 76"/>
                  <p:cNvSpPr>
                    <a:spLocks/>
                  </p:cNvSpPr>
                  <p:nvPr/>
                </p:nvSpPr>
                <p:spPr bwMode="auto">
                  <a:xfrm>
                    <a:off x="3208" y="2255"/>
                    <a:ext cx="9" cy="26"/>
                  </a:xfrm>
                  <a:custGeom>
                    <a:avLst/>
                    <a:gdLst>
                      <a:gd name="T0" fmla="*/ 0 w 18"/>
                      <a:gd name="T1" fmla="*/ 1 h 79"/>
                      <a:gd name="T2" fmla="*/ 0 w 18"/>
                      <a:gd name="T3" fmla="*/ 26 h 79"/>
                      <a:gd name="T4" fmla="*/ 9 w 18"/>
                      <a:gd name="T5" fmla="*/ 26 h 79"/>
                      <a:gd name="T6" fmla="*/ 9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grpSp>
            <p:sp>
              <p:nvSpPr>
                <p:cNvPr id="473" name="Freeform 77"/>
                <p:cNvSpPr>
                  <a:spLocks/>
                </p:cNvSpPr>
                <p:nvPr/>
              </p:nvSpPr>
              <p:spPr bwMode="auto">
                <a:xfrm>
                  <a:off x="3218" y="2255"/>
                  <a:ext cx="10" cy="26"/>
                </a:xfrm>
                <a:custGeom>
                  <a:avLst/>
                  <a:gdLst>
                    <a:gd name="T0" fmla="*/ 0 w 18"/>
                    <a:gd name="T1" fmla="*/ 1 h 79"/>
                    <a:gd name="T2" fmla="*/ 0 w 18"/>
                    <a:gd name="T3" fmla="*/ 26 h 79"/>
                    <a:gd name="T4" fmla="*/ 10 w 18"/>
                    <a:gd name="T5" fmla="*/ 26 h 79"/>
                    <a:gd name="T6" fmla="*/ 10 w 18"/>
                    <a:gd name="T7" fmla="*/ 0 h 79"/>
                    <a:gd name="T8" fmla="*/ 0 w 18"/>
                    <a:gd name="T9" fmla="*/ 1 h 79"/>
                    <a:gd name="T10" fmla="*/ 0 60000 65536"/>
                    <a:gd name="T11" fmla="*/ 0 60000 65536"/>
                    <a:gd name="T12" fmla="*/ 0 60000 65536"/>
                    <a:gd name="T13" fmla="*/ 0 60000 65536"/>
                    <a:gd name="T14" fmla="*/ 0 60000 65536"/>
                    <a:gd name="T15" fmla="*/ 0 w 18"/>
                    <a:gd name="T16" fmla="*/ 0 h 79"/>
                    <a:gd name="T17" fmla="*/ 18 w 18"/>
                    <a:gd name="T18" fmla="*/ 79 h 79"/>
                  </a:gdLst>
                  <a:ahLst/>
                  <a:cxnLst>
                    <a:cxn ang="T10">
                      <a:pos x="T0" y="T1"/>
                    </a:cxn>
                    <a:cxn ang="T11">
                      <a:pos x="T2" y="T3"/>
                    </a:cxn>
                    <a:cxn ang="T12">
                      <a:pos x="T4" y="T5"/>
                    </a:cxn>
                    <a:cxn ang="T13">
                      <a:pos x="T6" y="T7"/>
                    </a:cxn>
                    <a:cxn ang="T14">
                      <a:pos x="T8" y="T9"/>
                    </a:cxn>
                  </a:cxnLst>
                  <a:rect l="T15" t="T16" r="T17" b="T18"/>
                  <a:pathLst>
                    <a:path w="18" h="79">
                      <a:moveTo>
                        <a:pt x="0" y="2"/>
                      </a:moveTo>
                      <a:lnTo>
                        <a:pt x="0" y="79"/>
                      </a:lnTo>
                      <a:lnTo>
                        <a:pt x="18" y="78"/>
                      </a:lnTo>
                      <a:lnTo>
                        <a:pt x="18" y="0"/>
                      </a:lnTo>
                      <a:lnTo>
                        <a:pt x="0" y="2"/>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381" name="Group 78"/>
              <p:cNvGrpSpPr>
                <a:grpSpLocks/>
              </p:cNvGrpSpPr>
              <p:nvPr/>
            </p:nvGrpSpPr>
            <p:grpSpPr bwMode="auto">
              <a:xfrm>
                <a:off x="2969" y="2284"/>
                <a:ext cx="259" cy="261"/>
                <a:chOff x="2969" y="2284"/>
                <a:chExt cx="259" cy="261"/>
              </a:xfrm>
            </p:grpSpPr>
            <p:sp>
              <p:nvSpPr>
                <p:cNvPr id="463" name="Rectangle 79"/>
                <p:cNvSpPr>
                  <a:spLocks noChangeArrowheads="1"/>
                </p:cNvSpPr>
                <p:nvPr/>
              </p:nvSpPr>
              <p:spPr bwMode="auto">
                <a:xfrm>
                  <a:off x="2969" y="2284"/>
                  <a:ext cx="259" cy="261"/>
                </a:xfrm>
                <a:prstGeom prst="rect">
                  <a:avLst/>
                </a:prstGeom>
                <a:solidFill>
                  <a:srgbClr val="E0E0E0"/>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464" name="Rectangle 80"/>
                <p:cNvSpPr>
                  <a:spLocks noChangeArrowheads="1"/>
                </p:cNvSpPr>
                <p:nvPr/>
              </p:nvSpPr>
              <p:spPr bwMode="auto">
                <a:xfrm>
                  <a:off x="2998" y="2310"/>
                  <a:ext cx="54" cy="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grpSp>
          <p:grpSp>
            <p:nvGrpSpPr>
              <p:cNvPr id="382" name="Group 81"/>
              <p:cNvGrpSpPr>
                <a:grpSpLocks/>
              </p:cNvGrpSpPr>
              <p:nvPr/>
            </p:nvGrpSpPr>
            <p:grpSpPr bwMode="auto">
              <a:xfrm>
                <a:off x="2971" y="2123"/>
                <a:ext cx="259" cy="129"/>
                <a:chOff x="2971" y="2123"/>
                <a:chExt cx="259" cy="129"/>
              </a:xfrm>
            </p:grpSpPr>
            <p:sp>
              <p:nvSpPr>
                <p:cNvPr id="461" name="Rectangle 82"/>
                <p:cNvSpPr>
                  <a:spLocks noChangeArrowheads="1"/>
                </p:cNvSpPr>
                <p:nvPr/>
              </p:nvSpPr>
              <p:spPr bwMode="auto">
                <a:xfrm>
                  <a:off x="2971" y="2123"/>
                  <a:ext cx="255" cy="129"/>
                </a:xfrm>
                <a:prstGeom prst="rect">
                  <a:avLst/>
                </a:prstGeom>
                <a:solidFill>
                  <a:srgbClr val="E0E0E0"/>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462" name="Line 83"/>
                <p:cNvSpPr>
                  <a:spLocks noChangeShapeType="1"/>
                </p:cNvSpPr>
                <p:nvPr/>
              </p:nvSpPr>
              <p:spPr bwMode="auto">
                <a:xfrm>
                  <a:off x="2973" y="2186"/>
                  <a:ext cx="257"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ru-RU" dirty="0"/>
                </a:p>
              </p:txBody>
            </p:sp>
          </p:grpSp>
          <p:grpSp>
            <p:nvGrpSpPr>
              <p:cNvPr id="383" name="Group 84"/>
              <p:cNvGrpSpPr>
                <a:grpSpLocks/>
              </p:cNvGrpSpPr>
              <p:nvPr/>
            </p:nvGrpSpPr>
            <p:grpSpPr bwMode="auto">
              <a:xfrm>
                <a:off x="2963" y="2546"/>
                <a:ext cx="272" cy="156"/>
                <a:chOff x="2963" y="2546"/>
                <a:chExt cx="272" cy="156"/>
              </a:xfrm>
            </p:grpSpPr>
            <p:grpSp>
              <p:nvGrpSpPr>
                <p:cNvPr id="404" name="Group 85"/>
                <p:cNvGrpSpPr>
                  <a:grpSpLocks/>
                </p:cNvGrpSpPr>
                <p:nvPr/>
              </p:nvGrpSpPr>
              <p:grpSpPr bwMode="auto">
                <a:xfrm>
                  <a:off x="2972" y="2677"/>
                  <a:ext cx="253" cy="25"/>
                  <a:chOff x="2972" y="2677"/>
                  <a:chExt cx="253" cy="25"/>
                </a:xfrm>
              </p:grpSpPr>
              <p:sp>
                <p:nvSpPr>
                  <p:cNvPr id="424" name="Freeform 86"/>
                  <p:cNvSpPr>
                    <a:spLocks/>
                  </p:cNvSpPr>
                  <p:nvPr/>
                </p:nvSpPr>
                <p:spPr bwMode="auto">
                  <a:xfrm>
                    <a:off x="2972" y="2677"/>
                    <a:ext cx="8" cy="24"/>
                  </a:xfrm>
                  <a:custGeom>
                    <a:avLst/>
                    <a:gdLst>
                      <a:gd name="T0" fmla="*/ 0 w 16"/>
                      <a:gd name="T1" fmla="*/ 0 h 74"/>
                      <a:gd name="T2" fmla="*/ 0 w 16"/>
                      <a:gd name="T3" fmla="*/ 24 h 74"/>
                      <a:gd name="T4" fmla="*/ 8 w 16"/>
                      <a:gd name="T5" fmla="*/ 24 h 74"/>
                      <a:gd name="T6" fmla="*/ 8 w 16"/>
                      <a:gd name="T7" fmla="*/ 0 h 74"/>
                      <a:gd name="T8" fmla="*/ 0 w 16"/>
                      <a:gd name="T9" fmla="*/ 0 h 74"/>
                      <a:gd name="T10" fmla="*/ 0 60000 65536"/>
                      <a:gd name="T11" fmla="*/ 0 60000 65536"/>
                      <a:gd name="T12" fmla="*/ 0 60000 65536"/>
                      <a:gd name="T13" fmla="*/ 0 60000 65536"/>
                      <a:gd name="T14" fmla="*/ 0 60000 65536"/>
                      <a:gd name="T15" fmla="*/ 0 w 16"/>
                      <a:gd name="T16" fmla="*/ 0 h 74"/>
                      <a:gd name="T17" fmla="*/ 16 w 16"/>
                      <a:gd name="T18" fmla="*/ 74 h 74"/>
                    </a:gdLst>
                    <a:ahLst/>
                    <a:cxnLst>
                      <a:cxn ang="T10">
                        <a:pos x="T0" y="T1"/>
                      </a:cxn>
                      <a:cxn ang="T11">
                        <a:pos x="T2" y="T3"/>
                      </a:cxn>
                      <a:cxn ang="T12">
                        <a:pos x="T4" y="T5"/>
                      </a:cxn>
                      <a:cxn ang="T13">
                        <a:pos x="T6" y="T7"/>
                      </a:cxn>
                      <a:cxn ang="T14">
                        <a:pos x="T8" y="T9"/>
                      </a:cxn>
                    </a:cxnLst>
                    <a:rect l="T15" t="T16" r="T17" b="T18"/>
                    <a:pathLst>
                      <a:path w="16" h="74">
                        <a:moveTo>
                          <a:pt x="0" y="1"/>
                        </a:moveTo>
                        <a:lnTo>
                          <a:pt x="0" y="74"/>
                        </a:lnTo>
                        <a:lnTo>
                          <a:pt x="16" y="73"/>
                        </a:lnTo>
                        <a:lnTo>
                          <a:pt x="16"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25" name="Freeform 87"/>
                  <p:cNvSpPr>
                    <a:spLocks/>
                  </p:cNvSpPr>
                  <p:nvPr/>
                </p:nvSpPr>
                <p:spPr bwMode="auto">
                  <a:xfrm>
                    <a:off x="2979"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26" name="Freeform 88"/>
                  <p:cNvSpPr>
                    <a:spLocks/>
                  </p:cNvSpPr>
                  <p:nvPr/>
                </p:nvSpPr>
                <p:spPr bwMode="auto">
                  <a:xfrm>
                    <a:off x="2988"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27" name="Freeform 89"/>
                  <p:cNvSpPr>
                    <a:spLocks/>
                  </p:cNvSpPr>
                  <p:nvPr/>
                </p:nvSpPr>
                <p:spPr bwMode="auto">
                  <a:xfrm>
                    <a:off x="2997"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nvGrpSpPr>
                  <p:cNvPr id="428" name="Group 90"/>
                  <p:cNvGrpSpPr>
                    <a:grpSpLocks/>
                  </p:cNvGrpSpPr>
                  <p:nvPr/>
                </p:nvGrpSpPr>
                <p:grpSpPr bwMode="auto">
                  <a:xfrm>
                    <a:off x="3007" y="2677"/>
                    <a:ext cx="34" cy="25"/>
                    <a:chOff x="3007" y="2677"/>
                    <a:chExt cx="34" cy="25"/>
                  </a:xfrm>
                </p:grpSpPr>
                <p:sp>
                  <p:nvSpPr>
                    <p:cNvPr id="457" name="Freeform 91"/>
                    <p:cNvSpPr>
                      <a:spLocks/>
                    </p:cNvSpPr>
                    <p:nvPr/>
                  </p:nvSpPr>
                  <p:spPr bwMode="auto">
                    <a:xfrm>
                      <a:off x="3007" y="2677"/>
                      <a:ext cx="8" cy="25"/>
                    </a:xfrm>
                    <a:custGeom>
                      <a:avLst/>
                      <a:gdLst>
                        <a:gd name="T0" fmla="*/ 0 w 17"/>
                        <a:gd name="T1" fmla="*/ 0 h 74"/>
                        <a:gd name="T2" fmla="*/ 0 w 17"/>
                        <a:gd name="T3" fmla="*/ 25 h 74"/>
                        <a:gd name="T4" fmla="*/ 8 w 17"/>
                        <a:gd name="T5" fmla="*/ 25 h 74"/>
                        <a:gd name="T6" fmla="*/ 8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8" name="Freeform 92"/>
                    <p:cNvSpPr>
                      <a:spLocks/>
                    </p:cNvSpPr>
                    <p:nvPr/>
                  </p:nvSpPr>
                  <p:spPr bwMode="auto">
                    <a:xfrm>
                      <a:off x="3014" y="2677"/>
                      <a:ext cx="9" cy="25"/>
                    </a:xfrm>
                    <a:custGeom>
                      <a:avLst/>
                      <a:gdLst>
                        <a:gd name="T0" fmla="*/ 0 w 18"/>
                        <a:gd name="T1" fmla="*/ 0 h 74"/>
                        <a:gd name="T2" fmla="*/ 0 w 18"/>
                        <a:gd name="T3" fmla="*/ 25 h 74"/>
                        <a:gd name="T4" fmla="*/ 9 w 18"/>
                        <a:gd name="T5" fmla="*/ 25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9" name="Freeform 93"/>
                    <p:cNvSpPr>
                      <a:spLocks/>
                    </p:cNvSpPr>
                    <p:nvPr/>
                  </p:nvSpPr>
                  <p:spPr bwMode="auto">
                    <a:xfrm>
                      <a:off x="3023" y="2677"/>
                      <a:ext cx="9" cy="25"/>
                    </a:xfrm>
                    <a:custGeom>
                      <a:avLst/>
                      <a:gdLst>
                        <a:gd name="T0" fmla="*/ 0 w 18"/>
                        <a:gd name="T1" fmla="*/ 0 h 74"/>
                        <a:gd name="T2" fmla="*/ 0 w 18"/>
                        <a:gd name="T3" fmla="*/ 25 h 74"/>
                        <a:gd name="T4" fmla="*/ 9 w 18"/>
                        <a:gd name="T5" fmla="*/ 25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60" name="Freeform 94"/>
                    <p:cNvSpPr>
                      <a:spLocks/>
                    </p:cNvSpPr>
                    <p:nvPr/>
                  </p:nvSpPr>
                  <p:spPr bwMode="auto">
                    <a:xfrm>
                      <a:off x="3032" y="2677"/>
                      <a:ext cx="9" cy="25"/>
                    </a:xfrm>
                    <a:custGeom>
                      <a:avLst/>
                      <a:gdLst>
                        <a:gd name="T0" fmla="*/ 0 w 17"/>
                        <a:gd name="T1" fmla="*/ 0 h 74"/>
                        <a:gd name="T2" fmla="*/ 0 w 17"/>
                        <a:gd name="T3" fmla="*/ 25 h 74"/>
                        <a:gd name="T4" fmla="*/ 9 w 17"/>
                        <a:gd name="T5" fmla="*/ 25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29" name="Group 95"/>
                  <p:cNvGrpSpPr>
                    <a:grpSpLocks/>
                  </p:cNvGrpSpPr>
                  <p:nvPr/>
                </p:nvGrpSpPr>
                <p:grpSpPr bwMode="auto">
                  <a:xfrm>
                    <a:off x="3041" y="2677"/>
                    <a:ext cx="70" cy="25"/>
                    <a:chOff x="3041" y="2677"/>
                    <a:chExt cx="70" cy="25"/>
                  </a:xfrm>
                </p:grpSpPr>
                <p:grpSp>
                  <p:nvGrpSpPr>
                    <p:cNvPr id="447" name="Group 96"/>
                    <p:cNvGrpSpPr>
                      <a:grpSpLocks/>
                    </p:cNvGrpSpPr>
                    <p:nvPr/>
                  </p:nvGrpSpPr>
                  <p:grpSpPr bwMode="auto">
                    <a:xfrm>
                      <a:off x="3041" y="2677"/>
                      <a:ext cx="35" cy="24"/>
                      <a:chOff x="3041" y="2677"/>
                      <a:chExt cx="35" cy="24"/>
                    </a:xfrm>
                  </p:grpSpPr>
                  <p:sp>
                    <p:nvSpPr>
                      <p:cNvPr id="453" name="Freeform 97"/>
                      <p:cNvSpPr>
                        <a:spLocks/>
                      </p:cNvSpPr>
                      <p:nvPr/>
                    </p:nvSpPr>
                    <p:spPr bwMode="auto">
                      <a:xfrm>
                        <a:off x="3041" y="2677"/>
                        <a:ext cx="8" cy="24"/>
                      </a:xfrm>
                      <a:custGeom>
                        <a:avLst/>
                        <a:gdLst>
                          <a:gd name="T0" fmla="*/ 0 w 17"/>
                          <a:gd name="T1" fmla="*/ 0 h 74"/>
                          <a:gd name="T2" fmla="*/ 0 w 17"/>
                          <a:gd name="T3" fmla="*/ 24 h 74"/>
                          <a:gd name="T4" fmla="*/ 8 w 17"/>
                          <a:gd name="T5" fmla="*/ 24 h 74"/>
                          <a:gd name="T6" fmla="*/ 8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4" name="Freeform 98"/>
                      <p:cNvSpPr>
                        <a:spLocks/>
                      </p:cNvSpPr>
                      <p:nvPr/>
                    </p:nvSpPr>
                    <p:spPr bwMode="auto">
                      <a:xfrm>
                        <a:off x="3049"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5" name="Freeform 99"/>
                      <p:cNvSpPr>
                        <a:spLocks/>
                      </p:cNvSpPr>
                      <p:nvPr/>
                    </p:nvSpPr>
                    <p:spPr bwMode="auto">
                      <a:xfrm>
                        <a:off x="3058"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6" name="Freeform 100"/>
                      <p:cNvSpPr>
                        <a:spLocks/>
                      </p:cNvSpPr>
                      <p:nvPr/>
                    </p:nvSpPr>
                    <p:spPr bwMode="auto">
                      <a:xfrm>
                        <a:off x="3067" y="2677"/>
                        <a:ext cx="9" cy="24"/>
                      </a:xfrm>
                      <a:custGeom>
                        <a:avLst/>
                        <a:gdLst>
                          <a:gd name="T0" fmla="*/ 0 w 17"/>
                          <a:gd name="T1" fmla="*/ 0 h 74"/>
                          <a:gd name="T2" fmla="*/ 0 w 17"/>
                          <a:gd name="T3" fmla="*/ 24 h 74"/>
                          <a:gd name="T4" fmla="*/ 9 w 17"/>
                          <a:gd name="T5" fmla="*/ 24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48" name="Group 101"/>
                    <p:cNvGrpSpPr>
                      <a:grpSpLocks/>
                    </p:cNvGrpSpPr>
                    <p:nvPr/>
                  </p:nvGrpSpPr>
                  <p:grpSpPr bwMode="auto">
                    <a:xfrm>
                      <a:off x="3076" y="2677"/>
                      <a:ext cx="35" cy="25"/>
                      <a:chOff x="3076" y="2677"/>
                      <a:chExt cx="35" cy="25"/>
                    </a:xfrm>
                  </p:grpSpPr>
                  <p:sp>
                    <p:nvSpPr>
                      <p:cNvPr id="449" name="Freeform 102"/>
                      <p:cNvSpPr>
                        <a:spLocks/>
                      </p:cNvSpPr>
                      <p:nvPr/>
                    </p:nvSpPr>
                    <p:spPr bwMode="auto">
                      <a:xfrm>
                        <a:off x="3076" y="2677"/>
                        <a:ext cx="9" cy="25"/>
                      </a:xfrm>
                      <a:custGeom>
                        <a:avLst/>
                        <a:gdLst>
                          <a:gd name="T0" fmla="*/ 0 w 17"/>
                          <a:gd name="T1" fmla="*/ 0 h 74"/>
                          <a:gd name="T2" fmla="*/ 0 w 17"/>
                          <a:gd name="T3" fmla="*/ 25 h 74"/>
                          <a:gd name="T4" fmla="*/ 9 w 17"/>
                          <a:gd name="T5" fmla="*/ 25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0" name="Freeform 103"/>
                      <p:cNvSpPr>
                        <a:spLocks/>
                      </p:cNvSpPr>
                      <p:nvPr/>
                    </p:nvSpPr>
                    <p:spPr bwMode="auto">
                      <a:xfrm>
                        <a:off x="3084" y="2677"/>
                        <a:ext cx="9" cy="25"/>
                      </a:xfrm>
                      <a:custGeom>
                        <a:avLst/>
                        <a:gdLst>
                          <a:gd name="T0" fmla="*/ 0 w 18"/>
                          <a:gd name="T1" fmla="*/ 0 h 74"/>
                          <a:gd name="T2" fmla="*/ 0 w 18"/>
                          <a:gd name="T3" fmla="*/ 25 h 74"/>
                          <a:gd name="T4" fmla="*/ 9 w 18"/>
                          <a:gd name="T5" fmla="*/ 25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1" name="Freeform 104"/>
                      <p:cNvSpPr>
                        <a:spLocks/>
                      </p:cNvSpPr>
                      <p:nvPr/>
                    </p:nvSpPr>
                    <p:spPr bwMode="auto">
                      <a:xfrm>
                        <a:off x="3093" y="2677"/>
                        <a:ext cx="9" cy="25"/>
                      </a:xfrm>
                      <a:custGeom>
                        <a:avLst/>
                        <a:gdLst>
                          <a:gd name="T0" fmla="*/ 0 w 19"/>
                          <a:gd name="T1" fmla="*/ 0 h 74"/>
                          <a:gd name="T2" fmla="*/ 0 w 19"/>
                          <a:gd name="T3" fmla="*/ 25 h 74"/>
                          <a:gd name="T4" fmla="*/ 9 w 19"/>
                          <a:gd name="T5" fmla="*/ 25 h 74"/>
                          <a:gd name="T6" fmla="*/ 9 w 19"/>
                          <a:gd name="T7" fmla="*/ 0 h 74"/>
                          <a:gd name="T8" fmla="*/ 0 w 19"/>
                          <a:gd name="T9" fmla="*/ 0 h 74"/>
                          <a:gd name="T10" fmla="*/ 0 60000 65536"/>
                          <a:gd name="T11" fmla="*/ 0 60000 65536"/>
                          <a:gd name="T12" fmla="*/ 0 60000 65536"/>
                          <a:gd name="T13" fmla="*/ 0 60000 65536"/>
                          <a:gd name="T14" fmla="*/ 0 60000 65536"/>
                          <a:gd name="T15" fmla="*/ 0 w 19"/>
                          <a:gd name="T16" fmla="*/ 0 h 74"/>
                          <a:gd name="T17" fmla="*/ 19 w 19"/>
                          <a:gd name="T18" fmla="*/ 74 h 74"/>
                        </a:gdLst>
                        <a:ahLst/>
                        <a:cxnLst>
                          <a:cxn ang="T10">
                            <a:pos x="T0" y="T1"/>
                          </a:cxn>
                          <a:cxn ang="T11">
                            <a:pos x="T2" y="T3"/>
                          </a:cxn>
                          <a:cxn ang="T12">
                            <a:pos x="T4" y="T5"/>
                          </a:cxn>
                          <a:cxn ang="T13">
                            <a:pos x="T6" y="T7"/>
                          </a:cxn>
                          <a:cxn ang="T14">
                            <a:pos x="T8" y="T9"/>
                          </a:cxn>
                        </a:cxnLst>
                        <a:rect l="T15" t="T16" r="T17" b="T18"/>
                        <a:pathLst>
                          <a:path w="19" h="74">
                            <a:moveTo>
                              <a:pt x="0" y="1"/>
                            </a:moveTo>
                            <a:lnTo>
                              <a:pt x="0" y="74"/>
                            </a:lnTo>
                            <a:lnTo>
                              <a:pt x="19" y="73"/>
                            </a:lnTo>
                            <a:lnTo>
                              <a:pt x="19"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52" name="Freeform 105"/>
                      <p:cNvSpPr>
                        <a:spLocks/>
                      </p:cNvSpPr>
                      <p:nvPr/>
                    </p:nvSpPr>
                    <p:spPr bwMode="auto">
                      <a:xfrm>
                        <a:off x="3102" y="2677"/>
                        <a:ext cx="9" cy="25"/>
                      </a:xfrm>
                      <a:custGeom>
                        <a:avLst/>
                        <a:gdLst>
                          <a:gd name="T0" fmla="*/ 0 w 17"/>
                          <a:gd name="T1" fmla="*/ 0 h 74"/>
                          <a:gd name="T2" fmla="*/ 0 w 17"/>
                          <a:gd name="T3" fmla="*/ 25 h 74"/>
                          <a:gd name="T4" fmla="*/ 9 w 17"/>
                          <a:gd name="T5" fmla="*/ 25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grpSp>
                <p:nvGrpSpPr>
                  <p:cNvPr id="430" name="Group 106"/>
                  <p:cNvGrpSpPr>
                    <a:grpSpLocks/>
                  </p:cNvGrpSpPr>
                  <p:nvPr/>
                </p:nvGrpSpPr>
                <p:grpSpPr bwMode="auto">
                  <a:xfrm>
                    <a:off x="3111" y="2677"/>
                    <a:ext cx="70" cy="25"/>
                    <a:chOff x="3111" y="2677"/>
                    <a:chExt cx="70" cy="25"/>
                  </a:xfrm>
                </p:grpSpPr>
                <p:grpSp>
                  <p:nvGrpSpPr>
                    <p:cNvPr id="437" name="Group 107"/>
                    <p:cNvGrpSpPr>
                      <a:grpSpLocks/>
                    </p:cNvGrpSpPr>
                    <p:nvPr/>
                  </p:nvGrpSpPr>
                  <p:grpSpPr bwMode="auto">
                    <a:xfrm>
                      <a:off x="3111" y="2677"/>
                      <a:ext cx="35" cy="24"/>
                      <a:chOff x="3111" y="2677"/>
                      <a:chExt cx="35" cy="24"/>
                    </a:xfrm>
                  </p:grpSpPr>
                  <p:sp>
                    <p:nvSpPr>
                      <p:cNvPr id="443" name="Freeform 108"/>
                      <p:cNvSpPr>
                        <a:spLocks/>
                      </p:cNvSpPr>
                      <p:nvPr/>
                    </p:nvSpPr>
                    <p:spPr bwMode="auto">
                      <a:xfrm>
                        <a:off x="3111" y="2677"/>
                        <a:ext cx="8" cy="24"/>
                      </a:xfrm>
                      <a:custGeom>
                        <a:avLst/>
                        <a:gdLst>
                          <a:gd name="T0" fmla="*/ 0 w 17"/>
                          <a:gd name="T1" fmla="*/ 0 h 74"/>
                          <a:gd name="T2" fmla="*/ 0 w 17"/>
                          <a:gd name="T3" fmla="*/ 24 h 74"/>
                          <a:gd name="T4" fmla="*/ 8 w 17"/>
                          <a:gd name="T5" fmla="*/ 24 h 74"/>
                          <a:gd name="T6" fmla="*/ 8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44" name="Freeform 109"/>
                      <p:cNvSpPr>
                        <a:spLocks/>
                      </p:cNvSpPr>
                      <p:nvPr/>
                    </p:nvSpPr>
                    <p:spPr bwMode="auto">
                      <a:xfrm>
                        <a:off x="3119"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45" name="Freeform 110"/>
                      <p:cNvSpPr>
                        <a:spLocks/>
                      </p:cNvSpPr>
                      <p:nvPr/>
                    </p:nvSpPr>
                    <p:spPr bwMode="auto">
                      <a:xfrm>
                        <a:off x="3128" y="2677"/>
                        <a:ext cx="8" cy="24"/>
                      </a:xfrm>
                      <a:custGeom>
                        <a:avLst/>
                        <a:gdLst>
                          <a:gd name="T0" fmla="*/ 0 w 17"/>
                          <a:gd name="T1" fmla="*/ 0 h 74"/>
                          <a:gd name="T2" fmla="*/ 0 w 17"/>
                          <a:gd name="T3" fmla="*/ 24 h 74"/>
                          <a:gd name="T4" fmla="*/ 8 w 17"/>
                          <a:gd name="T5" fmla="*/ 24 h 74"/>
                          <a:gd name="T6" fmla="*/ 8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46" name="Freeform 111"/>
                      <p:cNvSpPr>
                        <a:spLocks/>
                      </p:cNvSpPr>
                      <p:nvPr/>
                    </p:nvSpPr>
                    <p:spPr bwMode="auto">
                      <a:xfrm>
                        <a:off x="3136" y="2677"/>
                        <a:ext cx="10" cy="24"/>
                      </a:xfrm>
                      <a:custGeom>
                        <a:avLst/>
                        <a:gdLst>
                          <a:gd name="T0" fmla="*/ 0 w 18"/>
                          <a:gd name="T1" fmla="*/ 0 h 74"/>
                          <a:gd name="T2" fmla="*/ 0 w 18"/>
                          <a:gd name="T3" fmla="*/ 24 h 74"/>
                          <a:gd name="T4" fmla="*/ 10 w 18"/>
                          <a:gd name="T5" fmla="*/ 24 h 74"/>
                          <a:gd name="T6" fmla="*/ 10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38" name="Group 112"/>
                    <p:cNvGrpSpPr>
                      <a:grpSpLocks/>
                    </p:cNvGrpSpPr>
                    <p:nvPr/>
                  </p:nvGrpSpPr>
                  <p:grpSpPr bwMode="auto">
                    <a:xfrm>
                      <a:off x="3146" y="2677"/>
                      <a:ext cx="35" cy="25"/>
                      <a:chOff x="3146" y="2677"/>
                      <a:chExt cx="35" cy="25"/>
                    </a:xfrm>
                  </p:grpSpPr>
                  <p:sp>
                    <p:nvSpPr>
                      <p:cNvPr id="439" name="Freeform 113"/>
                      <p:cNvSpPr>
                        <a:spLocks/>
                      </p:cNvSpPr>
                      <p:nvPr/>
                    </p:nvSpPr>
                    <p:spPr bwMode="auto">
                      <a:xfrm>
                        <a:off x="3146" y="2677"/>
                        <a:ext cx="9" cy="25"/>
                      </a:xfrm>
                      <a:custGeom>
                        <a:avLst/>
                        <a:gdLst>
                          <a:gd name="T0" fmla="*/ 0 w 17"/>
                          <a:gd name="T1" fmla="*/ 0 h 74"/>
                          <a:gd name="T2" fmla="*/ 0 w 17"/>
                          <a:gd name="T3" fmla="*/ 25 h 74"/>
                          <a:gd name="T4" fmla="*/ 9 w 17"/>
                          <a:gd name="T5" fmla="*/ 25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40" name="Freeform 114"/>
                      <p:cNvSpPr>
                        <a:spLocks/>
                      </p:cNvSpPr>
                      <p:nvPr/>
                    </p:nvSpPr>
                    <p:spPr bwMode="auto">
                      <a:xfrm>
                        <a:off x="3154" y="2677"/>
                        <a:ext cx="9" cy="25"/>
                      </a:xfrm>
                      <a:custGeom>
                        <a:avLst/>
                        <a:gdLst>
                          <a:gd name="T0" fmla="*/ 0 w 18"/>
                          <a:gd name="T1" fmla="*/ 0 h 74"/>
                          <a:gd name="T2" fmla="*/ 0 w 18"/>
                          <a:gd name="T3" fmla="*/ 25 h 74"/>
                          <a:gd name="T4" fmla="*/ 9 w 18"/>
                          <a:gd name="T5" fmla="*/ 25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41" name="Freeform 115"/>
                      <p:cNvSpPr>
                        <a:spLocks/>
                      </p:cNvSpPr>
                      <p:nvPr/>
                    </p:nvSpPr>
                    <p:spPr bwMode="auto">
                      <a:xfrm>
                        <a:off x="3163" y="2677"/>
                        <a:ext cx="9" cy="25"/>
                      </a:xfrm>
                      <a:custGeom>
                        <a:avLst/>
                        <a:gdLst>
                          <a:gd name="T0" fmla="*/ 0 w 17"/>
                          <a:gd name="T1" fmla="*/ 0 h 74"/>
                          <a:gd name="T2" fmla="*/ 0 w 17"/>
                          <a:gd name="T3" fmla="*/ 25 h 74"/>
                          <a:gd name="T4" fmla="*/ 9 w 17"/>
                          <a:gd name="T5" fmla="*/ 25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42" name="Freeform 116"/>
                      <p:cNvSpPr>
                        <a:spLocks/>
                      </p:cNvSpPr>
                      <p:nvPr/>
                    </p:nvSpPr>
                    <p:spPr bwMode="auto">
                      <a:xfrm>
                        <a:off x="3172" y="2677"/>
                        <a:ext cx="9" cy="25"/>
                      </a:xfrm>
                      <a:custGeom>
                        <a:avLst/>
                        <a:gdLst>
                          <a:gd name="T0" fmla="*/ 0 w 18"/>
                          <a:gd name="T1" fmla="*/ 0 h 74"/>
                          <a:gd name="T2" fmla="*/ 0 w 18"/>
                          <a:gd name="T3" fmla="*/ 25 h 74"/>
                          <a:gd name="T4" fmla="*/ 9 w 18"/>
                          <a:gd name="T5" fmla="*/ 25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grpSp>
                <p:nvGrpSpPr>
                  <p:cNvPr id="431" name="Group 117"/>
                  <p:cNvGrpSpPr>
                    <a:grpSpLocks/>
                  </p:cNvGrpSpPr>
                  <p:nvPr/>
                </p:nvGrpSpPr>
                <p:grpSpPr bwMode="auto">
                  <a:xfrm>
                    <a:off x="3181" y="2677"/>
                    <a:ext cx="34" cy="24"/>
                    <a:chOff x="3181" y="2677"/>
                    <a:chExt cx="34" cy="24"/>
                  </a:xfrm>
                </p:grpSpPr>
                <p:sp>
                  <p:nvSpPr>
                    <p:cNvPr id="433" name="Freeform 118"/>
                    <p:cNvSpPr>
                      <a:spLocks/>
                    </p:cNvSpPr>
                    <p:nvPr/>
                  </p:nvSpPr>
                  <p:spPr bwMode="auto">
                    <a:xfrm>
                      <a:off x="3181" y="2677"/>
                      <a:ext cx="8" cy="24"/>
                    </a:xfrm>
                    <a:custGeom>
                      <a:avLst/>
                      <a:gdLst>
                        <a:gd name="T0" fmla="*/ 0 w 18"/>
                        <a:gd name="T1" fmla="*/ 0 h 74"/>
                        <a:gd name="T2" fmla="*/ 0 w 18"/>
                        <a:gd name="T3" fmla="*/ 24 h 74"/>
                        <a:gd name="T4" fmla="*/ 8 w 18"/>
                        <a:gd name="T5" fmla="*/ 24 h 74"/>
                        <a:gd name="T6" fmla="*/ 8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34" name="Freeform 119"/>
                    <p:cNvSpPr>
                      <a:spLocks/>
                    </p:cNvSpPr>
                    <p:nvPr/>
                  </p:nvSpPr>
                  <p:spPr bwMode="auto">
                    <a:xfrm>
                      <a:off x="3189" y="2677"/>
                      <a:ext cx="8" cy="24"/>
                    </a:xfrm>
                    <a:custGeom>
                      <a:avLst/>
                      <a:gdLst>
                        <a:gd name="T0" fmla="*/ 0 w 17"/>
                        <a:gd name="T1" fmla="*/ 0 h 74"/>
                        <a:gd name="T2" fmla="*/ 0 w 17"/>
                        <a:gd name="T3" fmla="*/ 24 h 74"/>
                        <a:gd name="T4" fmla="*/ 8 w 17"/>
                        <a:gd name="T5" fmla="*/ 24 h 74"/>
                        <a:gd name="T6" fmla="*/ 8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35" name="Freeform 120"/>
                    <p:cNvSpPr>
                      <a:spLocks/>
                    </p:cNvSpPr>
                    <p:nvPr/>
                  </p:nvSpPr>
                  <p:spPr bwMode="auto">
                    <a:xfrm>
                      <a:off x="3197"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sp>
                  <p:nvSpPr>
                    <p:cNvPr id="436" name="Freeform 121"/>
                    <p:cNvSpPr>
                      <a:spLocks/>
                    </p:cNvSpPr>
                    <p:nvPr/>
                  </p:nvSpPr>
                  <p:spPr bwMode="auto">
                    <a:xfrm>
                      <a:off x="3206" y="2677"/>
                      <a:ext cx="9" cy="24"/>
                    </a:xfrm>
                    <a:custGeom>
                      <a:avLst/>
                      <a:gdLst>
                        <a:gd name="T0" fmla="*/ 0 w 18"/>
                        <a:gd name="T1" fmla="*/ 0 h 74"/>
                        <a:gd name="T2" fmla="*/ 0 w 18"/>
                        <a:gd name="T3" fmla="*/ 24 h 74"/>
                        <a:gd name="T4" fmla="*/ 9 w 18"/>
                        <a:gd name="T5" fmla="*/ 24 h 74"/>
                        <a:gd name="T6" fmla="*/ 9 w 18"/>
                        <a:gd name="T7" fmla="*/ 0 h 74"/>
                        <a:gd name="T8" fmla="*/ 0 w 18"/>
                        <a:gd name="T9" fmla="*/ 0 h 74"/>
                        <a:gd name="T10" fmla="*/ 0 60000 65536"/>
                        <a:gd name="T11" fmla="*/ 0 60000 65536"/>
                        <a:gd name="T12" fmla="*/ 0 60000 65536"/>
                        <a:gd name="T13" fmla="*/ 0 60000 65536"/>
                        <a:gd name="T14" fmla="*/ 0 60000 65536"/>
                        <a:gd name="T15" fmla="*/ 0 w 18"/>
                        <a:gd name="T16" fmla="*/ 0 h 74"/>
                        <a:gd name="T17" fmla="*/ 18 w 18"/>
                        <a:gd name="T18" fmla="*/ 74 h 74"/>
                      </a:gdLst>
                      <a:ahLst/>
                      <a:cxnLst>
                        <a:cxn ang="T10">
                          <a:pos x="T0" y="T1"/>
                        </a:cxn>
                        <a:cxn ang="T11">
                          <a:pos x="T2" y="T3"/>
                        </a:cxn>
                        <a:cxn ang="T12">
                          <a:pos x="T4" y="T5"/>
                        </a:cxn>
                        <a:cxn ang="T13">
                          <a:pos x="T6" y="T7"/>
                        </a:cxn>
                        <a:cxn ang="T14">
                          <a:pos x="T8" y="T9"/>
                        </a:cxn>
                      </a:cxnLst>
                      <a:rect l="T15" t="T16" r="T17" b="T18"/>
                      <a:pathLst>
                        <a:path w="18" h="74">
                          <a:moveTo>
                            <a:pt x="0" y="1"/>
                          </a:moveTo>
                          <a:lnTo>
                            <a:pt x="0" y="74"/>
                          </a:lnTo>
                          <a:lnTo>
                            <a:pt x="18" y="73"/>
                          </a:lnTo>
                          <a:lnTo>
                            <a:pt x="18"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sp>
                <p:nvSpPr>
                  <p:cNvPr id="432" name="Freeform 122"/>
                  <p:cNvSpPr>
                    <a:spLocks/>
                  </p:cNvSpPr>
                  <p:nvPr/>
                </p:nvSpPr>
                <p:spPr bwMode="auto">
                  <a:xfrm>
                    <a:off x="3216" y="2677"/>
                    <a:ext cx="9" cy="24"/>
                  </a:xfrm>
                  <a:custGeom>
                    <a:avLst/>
                    <a:gdLst>
                      <a:gd name="T0" fmla="*/ 0 w 17"/>
                      <a:gd name="T1" fmla="*/ 0 h 74"/>
                      <a:gd name="T2" fmla="*/ 0 w 17"/>
                      <a:gd name="T3" fmla="*/ 24 h 74"/>
                      <a:gd name="T4" fmla="*/ 9 w 17"/>
                      <a:gd name="T5" fmla="*/ 24 h 74"/>
                      <a:gd name="T6" fmla="*/ 9 w 17"/>
                      <a:gd name="T7" fmla="*/ 0 h 74"/>
                      <a:gd name="T8" fmla="*/ 0 w 17"/>
                      <a:gd name="T9" fmla="*/ 0 h 74"/>
                      <a:gd name="T10" fmla="*/ 0 60000 65536"/>
                      <a:gd name="T11" fmla="*/ 0 60000 65536"/>
                      <a:gd name="T12" fmla="*/ 0 60000 65536"/>
                      <a:gd name="T13" fmla="*/ 0 60000 65536"/>
                      <a:gd name="T14" fmla="*/ 0 60000 65536"/>
                      <a:gd name="T15" fmla="*/ 0 w 17"/>
                      <a:gd name="T16" fmla="*/ 0 h 74"/>
                      <a:gd name="T17" fmla="*/ 17 w 17"/>
                      <a:gd name="T18" fmla="*/ 74 h 74"/>
                    </a:gdLst>
                    <a:ahLst/>
                    <a:cxnLst>
                      <a:cxn ang="T10">
                        <a:pos x="T0" y="T1"/>
                      </a:cxn>
                      <a:cxn ang="T11">
                        <a:pos x="T2" y="T3"/>
                      </a:cxn>
                      <a:cxn ang="T12">
                        <a:pos x="T4" y="T5"/>
                      </a:cxn>
                      <a:cxn ang="T13">
                        <a:pos x="T6" y="T7"/>
                      </a:cxn>
                      <a:cxn ang="T14">
                        <a:pos x="T8" y="T9"/>
                      </a:cxn>
                    </a:cxnLst>
                    <a:rect l="T15" t="T16" r="T17" b="T18"/>
                    <a:pathLst>
                      <a:path w="17" h="74">
                        <a:moveTo>
                          <a:pt x="0" y="1"/>
                        </a:moveTo>
                        <a:lnTo>
                          <a:pt x="0" y="74"/>
                        </a:lnTo>
                        <a:lnTo>
                          <a:pt x="17" y="73"/>
                        </a:lnTo>
                        <a:lnTo>
                          <a:pt x="17" y="0"/>
                        </a:lnTo>
                        <a:lnTo>
                          <a:pt x="0" y="1"/>
                        </a:lnTo>
                        <a:close/>
                      </a:path>
                    </a:pathLst>
                  </a:custGeom>
                  <a:solidFill>
                    <a:srgbClr val="A0A0A0"/>
                  </a:solidFill>
                  <a:ln w="6350">
                    <a:solidFill>
                      <a:srgbClr val="202020"/>
                    </a:solidFill>
                    <a:prstDash val="solid"/>
                    <a:round/>
                    <a:headEnd/>
                    <a:tailEnd/>
                  </a:ln>
                </p:spPr>
                <p:txBody>
                  <a:bodyPr/>
                  <a:lstStyle/>
                  <a:p>
                    <a:endParaRPr lang="ru-RU" dirty="0"/>
                  </a:p>
                </p:txBody>
              </p:sp>
            </p:grpSp>
            <p:grpSp>
              <p:nvGrpSpPr>
                <p:cNvPr id="405" name="Group 123"/>
                <p:cNvGrpSpPr>
                  <a:grpSpLocks/>
                </p:cNvGrpSpPr>
                <p:nvPr/>
              </p:nvGrpSpPr>
              <p:grpSpPr bwMode="auto">
                <a:xfrm>
                  <a:off x="2963" y="2546"/>
                  <a:ext cx="272" cy="130"/>
                  <a:chOff x="2963" y="2546"/>
                  <a:chExt cx="272" cy="130"/>
                </a:xfrm>
              </p:grpSpPr>
              <p:sp>
                <p:nvSpPr>
                  <p:cNvPr id="406" name="Freeform 124"/>
                  <p:cNvSpPr>
                    <a:spLocks/>
                  </p:cNvSpPr>
                  <p:nvPr/>
                </p:nvSpPr>
                <p:spPr bwMode="auto">
                  <a:xfrm>
                    <a:off x="2964" y="2560"/>
                    <a:ext cx="270" cy="12"/>
                  </a:xfrm>
                  <a:custGeom>
                    <a:avLst/>
                    <a:gdLst>
                      <a:gd name="T0" fmla="*/ 0 w 538"/>
                      <a:gd name="T1" fmla="*/ 6 h 37"/>
                      <a:gd name="T2" fmla="*/ 4 w 538"/>
                      <a:gd name="T3" fmla="*/ 12 h 37"/>
                      <a:gd name="T4" fmla="*/ 265 w 538"/>
                      <a:gd name="T5" fmla="*/ 12 h 37"/>
                      <a:gd name="T6" fmla="*/ 270 w 538"/>
                      <a:gd name="T7" fmla="*/ 6 h 37"/>
                      <a:gd name="T8" fmla="*/ 265 w 538"/>
                      <a:gd name="T9" fmla="*/ 0 h 37"/>
                      <a:gd name="T10" fmla="*/ 3 w 538"/>
                      <a:gd name="T11" fmla="*/ 0 h 37"/>
                      <a:gd name="T12" fmla="*/ 0 w 538"/>
                      <a:gd name="T13" fmla="*/ 6 h 37"/>
                      <a:gd name="T14" fmla="*/ 0 60000 65536"/>
                      <a:gd name="T15" fmla="*/ 0 60000 65536"/>
                      <a:gd name="T16" fmla="*/ 0 60000 65536"/>
                      <a:gd name="T17" fmla="*/ 0 60000 65536"/>
                      <a:gd name="T18" fmla="*/ 0 60000 65536"/>
                      <a:gd name="T19" fmla="*/ 0 60000 65536"/>
                      <a:gd name="T20" fmla="*/ 0 60000 65536"/>
                      <a:gd name="T21" fmla="*/ 0 w 538"/>
                      <a:gd name="T22" fmla="*/ 0 h 37"/>
                      <a:gd name="T23" fmla="*/ 538 w 538"/>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8" h="37">
                        <a:moveTo>
                          <a:pt x="0" y="17"/>
                        </a:moveTo>
                        <a:lnTo>
                          <a:pt x="8" y="37"/>
                        </a:lnTo>
                        <a:lnTo>
                          <a:pt x="528" y="37"/>
                        </a:lnTo>
                        <a:lnTo>
                          <a:pt x="538" y="17"/>
                        </a:lnTo>
                        <a:lnTo>
                          <a:pt x="528" y="0"/>
                        </a:lnTo>
                        <a:lnTo>
                          <a:pt x="6" y="0"/>
                        </a:lnTo>
                        <a:lnTo>
                          <a:pt x="0" y="1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07" name="Freeform 125"/>
                  <p:cNvSpPr>
                    <a:spLocks/>
                  </p:cNvSpPr>
                  <p:nvPr/>
                </p:nvSpPr>
                <p:spPr bwMode="auto">
                  <a:xfrm>
                    <a:off x="2965" y="2590"/>
                    <a:ext cx="269" cy="12"/>
                  </a:xfrm>
                  <a:custGeom>
                    <a:avLst/>
                    <a:gdLst>
                      <a:gd name="T0" fmla="*/ 0 w 538"/>
                      <a:gd name="T1" fmla="*/ 6 h 37"/>
                      <a:gd name="T2" fmla="*/ 4 w 538"/>
                      <a:gd name="T3" fmla="*/ 12 h 37"/>
                      <a:gd name="T4" fmla="*/ 264 w 538"/>
                      <a:gd name="T5" fmla="*/ 12 h 37"/>
                      <a:gd name="T6" fmla="*/ 269 w 538"/>
                      <a:gd name="T7" fmla="*/ 6 h 37"/>
                      <a:gd name="T8" fmla="*/ 264 w 538"/>
                      <a:gd name="T9" fmla="*/ 0 h 37"/>
                      <a:gd name="T10" fmla="*/ 3 w 538"/>
                      <a:gd name="T11" fmla="*/ 0 h 37"/>
                      <a:gd name="T12" fmla="*/ 0 w 538"/>
                      <a:gd name="T13" fmla="*/ 6 h 37"/>
                      <a:gd name="T14" fmla="*/ 0 60000 65536"/>
                      <a:gd name="T15" fmla="*/ 0 60000 65536"/>
                      <a:gd name="T16" fmla="*/ 0 60000 65536"/>
                      <a:gd name="T17" fmla="*/ 0 60000 65536"/>
                      <a:gd name="T18" fmla="*/ 0 60000 65536"/>
                      <a:gd name="T19" fmla="*/ 0 60000 65536"/>
                      <a:gd name="T20" fmla="*/ 0 60000 65536"/>
                      <a:gd name="T21" fmla="*/ 0 w 538"/>
                      <a:gd name="T22" fmla="*/ 0 h 37"/>
                      <a:gd name="T23" fmla="*/ 538 w 538"/>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8" h="37">
                        <a:moveTo>
                          <a:pt x="0" y="18"/>
                        </a:moveTo>
                        <a:lnTo>
                          <a:pt x="8" y="37"/>
                        </a:lnTo>
                        <a:lnTo>
                          <a:pt x="528" y="37"/>
                        </a:lnTo>
                        <a:lnTo>
                          <a:pt x="538" y="18"/>
                        </a:lnTo>
                        <a:lnTo>
                          <a:pt x="528" y="0"/>
                        </a:lnTo>
                        <a:lnTo>
                          <a:pt x="6" y="0"/>
                        </a:lnTo>
                        <a:lnTo>
                          <a:pt x="0" y="1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08" name="Freeform 126"/>
                  <p:cNvSpPr>
                    <a:spLocks/>
                  </p:cNvSpPr>
                  <p:nvPr/>
                </p:nvSpPr>
                <p:spPr bwMode="auto">
                  <a:xfrm>
                    <a:off x="2964" y="2619"/>
                    <a:ext cx="270" cy="13"/>
                  </a:xfrm>
                  <a:custGeom>
                    <a:avLst/>
                    <a:gdLst>
                      <a:gd name="T0" fmla="*/ 0 w 538"/>
                      <a:gd name="T1" fmla="*/ 7 h 38"/>
                      <a:gd name="T2" fmla="*/ 4 w 538"/>
                      <a:gd name="T3" fmla="*/ 13 h 38"/>
                      <a:gd name="T4" fmla="*/ 265 w 538"/>
                      <a:gd name="T5" fmla="*/ 13 h 38"/>
                      <a:gd name="T6" fmla="*/ 270 w 538"/>
                      <a:gd name="T7" fmla="*/ 7 h 38"/>
                      <a:gd name="T8" fmla="*/ 265 w 538"/>
                      <a:gd name="T9" fmla="*/ 0 h 38"/>
                      <a:gd name="T10" fmla="*/ 3 w 538"/>
                      <a:gd name="T11" fmla="*/ 0 h 38"/>
                      <a:gd name="T12" fmla="*/ 0 w 538"/>
                      <a:gd name="T13" fmla="*/ 7 h 38"/>
                      <a:gd name="T14" fmla="*/ 0 60000 65536"/>
                      <a:gd name="T15" fmla="*/ 0 60000 65536"/>
                      <a:gd name="T16" fmla="*/ 0 60000 65536"/>
                      <a:gd name="T17" fmla="*/ 0 60000 65536"/>
                      <a:gd name="T18" fmla="*/ 0 60000 65536"/>
                      <a:gd name="T19" fmla="*/ 0 60000 65536"/>
                      <a:gd name="T20" fmla="*/ 0 60000 65536"/>
                      <a:gd name="T21" fmla="*/ 0 w 538"/>
                      <a:gd name="T22" fmla="*/ 0 h 38"/>
                      <a:gd name="T23" fmla="*/ 538 w 538"/>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8" h="38">
                        <a:moveTo>
                          <a:pt x="0" y="19"/>
                        </a:moveTo>
                        <a:lnTo>
                          <a:pt x="8" y="38"/>
                        </a:lnTo>
                        <a:lnTo>
                          <a:pt x="528" y="38"/>
                        </a:lnTo>
                        <a:lnTo>
                          <a:pt x="538" y="19"/>
                        </a:lnTo>
                        <a:lnTo>
                          <a:pt x="528" y="0"/>
                        </a:lnTo>
                        <a:lnTo>
                          <a:pt x="6" y="0"/>
                        </a:lnTo>
                        <a:lnTo>
                          <a:pt x="0" y="1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09" name="Freeform 127"/>
                  <p:cNvSpPr>
                    <a:spLocks/>
                  </p:cNvSpPr>
                  <p:nvPr/>
                </p:nvSpPr>
                <p:spPr bwMode="auto">
                  <a:xfrm>
                    <a:off x="2964" y="2649"/>
                    <a:ext cx="270" cy="12"/>
                  </a:xfrm>
                  <a:custGeom>
                    <a:avLst/>
                    <a:gdLst>
                      <a:gd name="T0" fmla="*/ 0 w 538"/>
                      <a:gd name="T1" fmla="*/ 6 h 36"/>
                      <a:gd name="T2" fmla="*/ 4 w 538"/>
                      <a:gd name="T3" fmla="*/ 12 h 36"/>
                      <a:gd name="T4" fmla="*/ 265 w 538"/>
                      <a:gd name="T5" fmla="*/ 12 h 36"/>
                      <a:gd name="T6" fmla="*/ 270 w 538"/>
                      <a:gd name="T7" fmla="*/ 6 h 36"/>
                      <a:gd name="T8" fmla="*/ 265 w 538"/>
                      <a:gd name="T9" fmla="*/ 0 h 36"/>
                      <a:gd name="T10" fmla="*/ 3 w 538"/>
                      <a:gd name="T11" fmla="*/ 0 h 36"/>
                      <a:gd name="T12" fmla="*/ 0 w 538"/>
                      <a:gd name="T13" fmla="*/ 6 h 36"/>
                      <a:gd name="T14" fmla="*/ 0 60000 65536"/>
                      <a:gd name="T15" fmla="*/ 0 60000 65536"/>
                      <a:gd name="T16" fmla="*/ 0 60000 65536"/>
                      <a:gd name="T17" fmla="*/ 0 60000 65536"/>
                      <a:gd name="T18" fmla="*/ 0 60000 65536"/>
                      <a:gd name="T19" fmla="*/ 0 60000 65536"/>
                      <a:gd name="T20" fmla="*/ 0 60000 65536"/>
                      <a:gd name="T21" fmla="*/ 0 w 538"/>
                      <a:gd name="T22" fmla="*/ 0 h 36"/>
                      <a:gd name="T23" fmla="*/ 538 w 538"/>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8" h="36">
                        <a:moveTo>
                          <a:pt x="0" y="18"/>
                        </a:moveTo>
                        <a:lnTo>
                          <a:pt x="8" y="36"/>
                        </a:lnTo>
                        <a:lnTo>
                          <a:pt x="528" y="36"/>
                        </a:lnTo>
                        <a:lnTo>
                          <a:pt x="538" y="18"/>
                        </a:lnTo>
                        <a:lnTo>
                          <a:pt x="528" y="0"/>
                        </a:lnTo>
                        <a:lnTo>
                          <a:pt x="6" y="0"/>
                        </a:lnTo>
                        <a:lnTo>
                          <a:pt x="0" y="1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0" name="Freeform 128"/>
                  <p:cNvSpPr>
                    <a:spLocks/>
                  </p:cNvSpPr>
                  <p:nvPr/>
                </p:nvSpPr>
                <p:spPr bwMode="auto">
                  <a:xfrm>
                    <a:off x="2964" y="2566"/>
                    <a:ext cx="269" cy="6"/>
                  </a:xfrm>
                  <a:custGeom>
                    <a:avLst/>
                    <a:gdLst>
                      <a:gd name="T0" fmla="*/ 4 w 538"/>
                      <a:gd name="T1" fmla="*/ 6 h 19"/>
                      <a:gd name="T2" fmla="*/ 0 w 538"/>
                      <a:gd name="T3" fmla="*/ 0 h 19"/>
                      <a:gd name="T4" fmla="*/ 269 w 538"/>
                      <a:gd name="T5" fmla="*/ 0 h 19"/>
                      <a:gd name="T6" fmla="*/ 265 w 538"/>
                      <a:gd name="T7" fmla="*/ 6 h 19"/>
                      <a:gd name="T8" fmla="*/ 4 w 538"/>
                      <a:gd name="T9" fmla="*/ 6 h 19"/>
                      <a:gd name="T10" fmla="*/ 0 60000 65536"/>
                      <a:gd name="T11" fmla="*/ 0 60000 65536"/>
                      <a:gd name="T12" fmla="*/ 0 60000 65536"/>
                      <a:gd name="T13" fmla="*/ 0 60000 65536"/>
                      <a:gd name="T14" fmla="*/ 0 60000 65536"/>
                      <a:gd name="T15" fmla="*/ 0 w 538"/>
                      <a:gd name="T16" fmla="*/ 0 h 19"/>
                      <a:gd name="T17" fmla="*/ 538 w 538"/>
                      <a:gd name="T18" fmla="*/ 19 h 19"/>
                    </a:gdLst>
                    <a:ahLst/>
                    <a:cxnLst>
                      <a:cxn ang="T10">
                        <a:pos x="T0" y="T1"/>
                      </a:cxn>
                      <a:cxn ang="T11">
                        <a:pos x="T2" y="T3"/>
                      </a:cxn>
                      <a:cxn ang="T12">
                        <a:pos x="T4" y="T5"/>
                      </a:cxn>
                      <a:cxn ang="T13">
                        <a:pos x="T6" y="T7"/>
                      </a:cxn>
                      <a:cxn ang="T14">
                        <a:pos x="T8" y="T9"/>
                      </a:cxn>
                    </a:cxnLst>
                    <a:rect l="T15" t="T16" r="T17" b="T18"/>
                    <a:pathLst>
                      <a:path w="538" h="19">
                        <a:moveTo>
                          <a:pt x="9" y="19"/>
                        </a:moveTo>
                        <a:lnTo>
                          <a:pt x="0" y="0"/>
                        </a:lnTo>
                        <a:lnTo>
                          <a:pt x="538" y="0"/>
                        </a:lnTo>
                        <a:lnTo>
                          <a:pt x="529" y="19"/>
                        </a:lnTo>
                        <a:lnTo>
                          <a:pt x="9" y="1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1" name="Freeform 129"/>
                  <p:cNvSpPr>
                    <a:spLocks/>
                  </p:cNvSpPr>
                  <p:nvPr/>
                </p:nvSpPr>
                <p:spPr bwMode="auto">
                  <a:xfrm>
                    <a:off x="2964" y="2596"/>
                    <a:ext cx="271" cy="6"/>
                  </a:xfrm>
                  <a:custGeom>
                    <a:avLst/>
                    <a:gdLst>
                      <a:gd name="T0" fmla="*/ 5 w 541"/>
                      <a:gd name="T1" fmla="*/ 6 h 19"/>
                      <a:gd name="T2" fmla="*/ 0 w 541"/>
                      <a:gd name="T3" fmla="*/ 0 h 19"/>
                      <a:gd name="T4" fmla="*/ 271 w 541"/>
                      <a:gd name="T5" fmla="*/ 0 h 19"/>
                      <a:gd name="T6" fmla="*/ 266 w 541"/>
                      <a:gd name="T7" fmla="*/ 6 h 19"/>
                      <a:gd name="T8" fmla="*/ 5 w 541"/>
                      <a:gd name="T9" fmla="*/ 6 h 19"/>
                      <a:gd name="T10" fmla="*/ 0 60000 65536"/>
                      <a:gd name="T11" fmla="*/ 0 60000 65536"/>
                      <a:gd name="T12" fmla="*/ 0 60000 65536"/>
                      <a:gd name="T13" fmla="*/ 0 60000 65536"/>
                      <a:gd name="T14" fmla="*/ 0 60000 65536"/>
                      <a:gd name="T15" fmla="*/ 0 w 541"/>
                      <a:gd name="T16" fmla="*/ 0 h 19"/>
                      <a:gd name="T17" fmla="*/ 541 w 541"/>
                      <a:gd name="T18" fmla="*/ 19 h 19"/>
                    </a:gdLst>
                    <a:ahLst/>
                    <a:cxnLst>
                      <a:cxn ang="T10">
                        <a:pos x="T0" y="T1"/>
                      </a:cxn>
                      <a:cxn ang="T11">
                        <a:pos x="T2" y="T3"/>
                      </a:cxn>
                      <a:cxn ang="T12">
                        <a:pos x="T4" y="T5"/>
                      </a:cxn>
                      <a:cxn ang="T13">
                        <a:pos x="T6" y="T7"/>
                      </a:cxn>
                      <a:cxn ang="T14">
                        <a:pos x="T8" y="T9"/>
                      </a:cxn>
                    </a:cxnLst>
                    <a:rect l="T15" t="T16" r="T17" b="T18"/>
                    <a:pathLst>
                      <a:path w="541" h="19">
                        <a:moveTo>
                          <a:pt x="9" y="19"/>
                        </a:moveTo>
                        <a:lnTo>
                          <a:pt x="0" y="0"/>
                        </a:lnTo>
                        <a:lnTo>
                          <a:pt x="541" y="0"/>
                        </a:lnTo>
                        <a:lnTo>
                          <a:pt x="531" y="19"/>
                        </a:lnTo>
                        <a:lnTo>
                          <a:pt x="9" y="1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2" name="Freeform 130"/>
                  <p:cNvSpPr>
                    <a:spLocks/>
                  </p:cNvSpPr>
                  <p:nvPr/>
                </p:nvSpPr>
                <p:spPr bwMode="auto">
                  <a:xfrm>
                    <a:off x="2964" y="2626"/>
                    <a:ext cx="269" cy="6"/>
                  </a:xfrm>
                  <a:custGeom>
                    <a:avLst/>
                    <a:gdLst>
                      <a:gd name="T0" fmla="*/ 4 w 538"/>
                      <a:gd name="T1" fmla="*/ 6 h 17"/>
                      <a:gd name="T2" fmla="*/ 0 w 538"/>
                      <a:gd name="T3" fmla="*/ 0 h 17"/>
                      <a:gd name="T4" fmla="*/ 269 w 538"/>
                      <a:gd name="T5" fmla="*/ 0 h 17"/>
                      <a:gd name="T6" fmla="*/ 265 w 538"/>
                      <a:gd name="T7" fmla="*/ 6 h 17"/>
                      <a:gd name="T8" fmla="*/ 4 w 538"/>
                      <a:gd name="T9" fmla="*/ 6 h 17"/>
                      <a:gd name="T10" fmla="*/ 0 60000 65536"/>
                      <a:gd name="T11" fmla="*/ 0 60000 65536"/>
                      <a:gd name="T12" fmla="*/ 0 60000 65536"/>
                      <a:gd name="T13" fmla="*/ 0 60000 65536"/>
                      <a:gd name="T14" fmla="*/ 0 60000 65536"/>
                      <a:gd name="T15" fmla="*/ 0 w 538"/>
                      <a:gd name="T16" fmla="*/ 0 h 17"/>
                      <a:gd name="T17" fmla="*/ 538 w 538"/>
                      <a:gd name="T18" fmla="*/ 17 h 17"/>
                    </a:gdLst>
                    <a:ahLst/>
                    <a:cxnLst>
                      <a:cxn ang="T10">
                        <a:pos x="T0" y="T1"/>
                      </a:cxn>
                      <a:cxn ang="T11">
                        <a:pos x="T2" y="T3"/>
                      </a:cxn>
                      <a:cxn ang="T12">
                        <a:pos x="T4" y="T5"/>
                      </a:cxn>
                      <a:cxn ang="T13">
                        <a:pos x="T6" y="T7"/>
                      </a:cxn>
                      <a:cxn ang="T14">
                        <a:pos x="T8" y="T9"/>
                      </a:cxn>
                    </a:cxnLst>
                    <a:rect l="T15" t="T16" r="T17" b="T18"/>
                    <a:pathLst>
                      <a:path w="538" h="17">
                        <a:moveTo>
                          <a:pt x="9" y="17"/>
                        </a:moveTo>
                        <a:lnTo>
                          <a:pt x="0" y="0"/>
                        </a:lnTo>
                        <a:lnTo>
                          <a:pt x="538" y="0"/>
                        </a:lnTo>
                        <a:lnTo>
                          <a:pt x="529" y="17"/>
                        </a:lnTo>
                        <a:lnTo>
                          <a:pt x="9" y="1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3" name="Freeform 131"/>
                  <p:cNvSpPr>
                    <a:spLocks/>
                  </p:cNvSpPr>
                  <p:nvPr/>
                </p:nvSpPr>
                <p:spPr bwMode="auto">
                  <a:xfrm>
                    <a:off x="2964" y="2656"/>
                    <a:ext cx="269" cy="5"/>
                  </a:xfrm>
                  <a:custGeom>
                    <a:avLst/>
                    <a:gdLst>
                      <a:gd name="T0" fmla="*/ 4 w 537"/>
                      <a:gd name="T1" fmla="*/ 5 h 17"/>
                      <a:gd name="T2" fmla="*/ 0 w 537"/>
                      <a:gd name="T3" fmla="*/ 0 h 17"/>
                      <a:gd name="T4" fmla="*/ 269 w 537"/>
                      <a:gd name="T5" fmla="*/ 0 h 17"/>
                      <a:gd name="T6" fmla="*/ 264 w 537"/>
                      <a:gd name="T7" fmla="*/ 5 h 17"/>
                      <a:gd name="T8" fmla="*/ 4 w 537"/>
                      <a:gd name="T9" fmla="*/ 5 h 17"/>
                      <a:gd name="T10" fmla="*/ 0 60000 65536"/>
                      <a:gd name="T11" fmla="*/ 0 60000 65536"/>
                      <a:gd name="T12" fmla="*/ 0 60000 65536"/>
                      <a:gd name="T13" fmla="*/ 0 60000 65536"/>
                      <a:gd name="T14" fmla="*/ 0 60000 65536"/>
                      <a:gd name="T15" fmla="*/ 0 w 537"/>
                      <a:gd name="T16" fmla="*/ 0 h 17"/>
                      <a:gd name="T17" fmla="*/ 537 w 537"/>
                      <a:gd name="T18" fmla="*/ 17 h 17"/>
                    </a:gdLst>
                    <a:ahLst/>
                    <a:cxnLst>
                      <a:cxn ang="T10">
                        <a:pos x="T0" y="T1"/>
                      </a:cxn>
                      <a:cxn ang="T11">
                        <a:pos x="T2" y="T3"/>
                      </a:cxn>
                      <a:cxn ang="T12">
                        <a:pos x="T4" y="T5"/>
                      </a:cxn>
                      <a:cxn ang="T13">
                        <a:pos x="T6" y="T7"/>
                      </a:cxn>
                      <a:cxn ang="T14">
                        <a:pos x="T8" y="T9"/>
                      </a:cxn>
                    </a:cxnLst>
                    <a:rect l="T15" t="T16" r="T17" b="T18"/>
                    <a:pathLst>
                      <a:path w="537" h="17">
                        <a:moveTo>
                          <a:pt x="8" y="17"/>
                        </a:moveTo>
                        <a:lnTo>
                          <a:pt x="0" y="0"/>
                        </a:lnTo>
                        <a:lnTo>
                          <a:pt x="537" y="0"/>
                        </a:lnTo>
                        <a:lnTo>
                          <a:pt x="528" y="17"/>
                        </a:lnTo>
                        <a:lnTo>
                          <a:pt x="8" y="1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4" name="Freeform 132"/>
                  <p:cNvSpPr>
                    <a:spLocks/>
                  </p:cNvSpPr>
                  <p:nvPr/>
                </p:nvSpPr>
                <p:spPr bwMode="auto">
                  <a:xfrm>
                    <a:off x="2963" y="2546"/>
                    <a:ext cx="271" cy="6"/>
                  </a:xfrm>
                  <a:custGeom>
                    <a:avLst/>
                    <a:gdLst>
                      <a:gd name="T0" fmla="*/ 4 w 540"/>
                      <a:gd name="T1" fmla="*/ 0 h 17"/>
                      <a:gd name="T2" fmla="*/ 0 w 540"/>
                      <a:gd name="T3" fmla="*/ 6 h 17"/>
                      <a:gd name="T4" fmla="*/ 271 w 540"/>
                      <a:gd name="T5" fmla="*/ 6 h 17"/>
                      <a:gd name="T6" fmla="*/ 266 w 540"/>
                      <a:gd name="T7" fmla="*/ 0 h 17"/>
                      <a:gd name="T8" fmla="*/ 4 w 540"/>
                      <a:gd name="T9" fmla="*/ 0 h 17"/>
                      <a:gd name="T10" fmla="*/ 0 60000 65536"/>
                      <a:gd name="T11" fmla="*/ 0 60000 65536"/>
                      <a:gd name="T12" fmla="*/ 0 60000 65536"/>
                      <a:gd name="T13" fmla="*/ 0 60000 65536"/>
                      <a:gd name="T14" fmla="*/ 0 60000 65536"/>
                      <a:gd name="T15" fmla="*/ 0 w 540"/>
                      <a:gd name="T16" fmla="*/ 0 h 17"/>
                      <a:gd name="T17" fmla="*/ 540 w 540"/>
                      <a:gd name="T18" fmla="*/ 17 h 17"/>
                    </a:gdLst>
                    <a:ahLst/>
                    <a:cxnLst>
                      <a:cxn ang="T10">
                        <a:pos x="T0" y="T1"/>
                      </a:cxn>
                      <a:cxn ang="T11">
                        <a:pos x="T2" y="T3"/>
                      </a:cxn>
                      <a:cxn ang="T12">
                        <a:pos x="T4" y="T5"/>
                      </a:cxn>
                      <a:cxn ang="T13">
                        <a:pos x="T6" y="T7"/>
                      </a:cxn>
                      <a:cxn ang="T14">
                        <a:pos x="T8" y="T9"/>
                      </a:cxn>
                    </a:cxnLst>
                    <a:rect l="T15" t="T16" r="T17" b="T18"/>
                    <a:pathLst>
                      <a:path w="540" h="17">
                        <a:moveTo>
                          <a:pt x="7" y="0"/>
                        </a:moveTo>
                        <a:lnTo>
                          <a:pt x="0" y="17"/>
                        </a:lnTo>
                        <a:lnTo>
                          <a:pt x="540" y="17"/>
                        </a:lnTo>
                        <a:lnTo>
                          <a:pt x="531" y="0"/>
                        </a:lnTo>
                        <a:lnTo>
                          <a:pt x="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5" name="Freeform 133"/>
                  <p:cNvSpPr>
                    <a:spLocks/>
                  </p:cNvSpPr>
                  <p:nvPr/>
                </p:nvSpPr>
                <p:spPr bwMode="auto">
                  <a:xfrm>
                    <a:off x="2963" y="2671"/>
                    <a:ext cx="268" cy="5"/>
                  </a:xfrm>
                  <a:custGeom>
                    <a:avLst/>
                    <a:gdLst>
                      <a:gd name="T0" fmla="*/ 4 w 535"/>
                      <a:gd name="T1" fmla="*/ 5 h 17"/>
                      <a:gd name="T2" fmla="*/ 0 w 535"/>
                      <a:gd name="T3" fmla="*/ 0 h 17"/>
                      <a:gd name="T4" fmla="*/ 268 w 535"/>
                      <a:gd name="T5" fmla="*/ 0 h 17"/>
                      <a:gd name="T6" fmla="*/ 264 w 535"/>
                      <a:gd name="T7" fmla="*/ 5 h 17"/>
                      <a:gd name="T8" fmla="*/ 4 w 535"/>
                      <a:gd name="T9" fmla="*/ 5 h 17"/>
                      <a:gd name="T10" fmla="*/ 0 60000 65536"/>
                      <a:gd name="T11" fmla="*/ 0 60000 65536"/>
                      <a:gd name="T12" fmla="*/ 0 60000 65536"/>
                      <a:gd name="T13" fmla="*/ 0 60000 65536"/>
                      <a:gd name="T14" fmla="*/ 0 60000 65536"/>
                      <a:gd name="T15" fmla="*/ 0 w 535"/>
                      <a:gd name="T16" fmla="*/ 0 h 17"/>
                      <a:gd name="T17" fmla="*/ 535 w 535"/>
                      <a:gd name="T18" fmla="*/ 17 h 17"/>
                    </a:gdLst>
                    <a:ahLst/>
                    <a:cxnLst>
                      <a:cxn ang="T10">
                        <a:pos x="T0" y="T1"/>
                      </a:cxn>
                      <a:cxn ang="T11">
                        <a:pos x="T2" y="T3"/>
                      </a:cxn>
                      <a:cxn ang="T12">
                        <a:pos x="T4" y="T5"/>
                      </a:cxn>
                      <a:cxn ang="T13">
                        <a:pos x="T6" y="T7"/>
                      </a:cxn>
                      <a:cxn ang="T14">
                        <a:pos x="T8" y="T9"/>
                      </a:cxn>
                    </a:cxnLst>
                    <a:rect l="T15" t="T16" r="T17" b="T18"/>
                    <a:pathLst>
                      <a:path w="535" h="17">
                        <a:moveTo>
                          <a:pt x="7" y="17"/>
                        </a:moveTo>
                        <a:lnTo>
                          <a:pt x="0" y="0"/>
                        </a:lnTo>
                        <a:lnTo>
                          <a:pt x="535" y="0"/>
                        </a:lnTo>
                        <a:lnTo>
                          <a:pt x="527" y="17"/>
                        </a:lnTo>
                        <a:lnTo>
                          <a:pt x="7" y="1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6" name="Freeform 134"/>
                  <p:cNvSpPr>
                    <a:spLocks/>
                  </p:cNvSpPr>
                  <p:nvPr/>
                </p:nvSpPr>
                <p:spPr bwMode="auto">
                  <a:xfrm>
                    <a:off x="2965" y="2574"/>
                    <a:ext cx="268" cy="5"/>
                  </a:xfrm>
                  <a:custGeom>
                    <a:avLst/>
                    <a:gdLst>
                      <a:gd name="T0" fmla="*/ 3 w 536"/>
                      <a:gd name="T1" fmla="*/ 0 h 17"/>
                      <a:gd name="T2" fmla="*/ 0 w 536"/>
                      <a:gd name="T3" fmla="*/ 5 h 17"/>
                      <a:gd name="T4" fmla="*/ 268 w 536"/>
                      <a:gd name="T5" fmla="*/ 5 h 17"/>
                      <a:gd name="T6" fmla="*/ 264 w 536"/>
                      <a:gd name="T7" fmla="*/ 0 h 17"/>
                      <a:gd name="T8" fmla="*/ 3 w 536"/>
                      <a:gd name="T9" fmla="*/ 0 h 17"/>
                      <a:gd name="T10" fmla="*/ 0 60000 65536"/>
                      <a:gd name="T11" fmla="*/ 0 60000 65536"/>
                      <a:gd name="T12" fmla="*/ 0 60000 65536"/>
                      <a:gd name="T13" fmla="*/ 0 60000 65536"/>
                      <a:gd name="T14" fmla="*/ 0 60000 65536"/>
                      <a:gd name="T15" fmla="*/ 0 w 536"/>
                      <a:gd name="T16" fmla="*/ 0 h 17"/>
                      <a:gd name="T17" fmla="*/ 536 w 536"/>
                      <a:gd name="T18" fmla="*/ 17 h 17"/>
                    </a:gdLst>
                    <a:ahLst/>
                    <a:cxnLst>
                      <a:cxn ang="T10">
                        <a:pos x="T0" y="T1"/>
                      </a:cxn>
                      <a:cxn ang="T11">
                        <a:pos x="T2" y="T3"/>
                      </a:cxn>
                      <a:cxn ang="T12">
                        <a:pos x="T4" y="T5"/>
                      </a:cxn>
                      <a:cxn ang="T13">
                        <a:pos x="T6" y="T7"/>
                      </a:cxn>
                      <a:cxn ang="T14">
                        <a:pos x="T8" y="T9"/>
                      </a:cxn>
                    </a:cxnLst>
                    <a:rect l="T15" t="T16" r="T17" b="T18"/>
                    <a:pathLst>
                      <a:path w="536" h="17">
                        <a:moveTo>
                          <a:pt x="7" y="0"/>
                        </a:moveTo>
                        <a:lnTo>
                          <a:pt x="0" y="17"/>
                        </a:lnTo>
                        <a:lnTo>
                          <a:pt x="536" y="17"/>
                        </a:lnTo>
                        <a:lnTo>
                          <a:pt x="527" y="0"/>
                        </a:lnTo>
                        <a:lnTo>
                          <a:pt x="7"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7" name="Freeform 135"/>
                  <p:cNvSpPr>
                    <a:spLocks/>
                  </p:cNvSpPr>
                  <p:nvPr/>
                </p:nvSpPr>
                <p:spPr bwMode="auto">
                  <a:xfrm>
                    <a:off x="2966" y="2604"/>
                    <a:ext cx="268" cy="5"/>
                  </a:xfrm>
                  <a:custGeom>
                    <a:avLst/>
                    <a:gdLst>
                      <a:gd name="T0" fmla="*/ 3 w 536"/>
                      <a:gd name="T1" fmla="*/ 0 h 17"/>
                      <a:gd name="T2" fmla="*/ 0 w 536"/>
                      <a:gd name="T3" fmla="*/ 5 h 17"/>
                      <a:gd name="T4" fmla="*/ 268 w 536"/>
                      <a:gd name="T5" fmla="*/ 5 h 17"/>
                      <a:gd name="T6" fmla="*/ 264 w 536"/>
                      <a:gd name="T7" fmla="*/ 0 h 17"/>
                      <a:gd name="T8" fmla="*/ 3 w 536"/>
                      <a:gd name="T9" fmla="*/ 0 h 17"/>
                      <a:gd name="T10" fmla="*/ 0 60000 65536"/>
                      <a:gd name="T11" fmla="*/ 0 60000 65536"/>
                      <a:gd name="T12" fmla="*/ 0 60000 65536"/>
                      <a:gd name="T13" fmla="*/ 0 60000 65536"/>
                      <a:gd name="T14" fmla="*/ 0 60000 65536"/>
                      <a:gd name="T15" fmla="*/ 0 w 536"/>
                      <a:gd name="T16" fmla="*/ 0 h 17"/>
                      <a:gd name="T17" fmla="*/ 536 w 536"/>
                      <a:gd name="T18" fmla="*/ 17 h 17"/>
                    </a:gdLst>
                    <a:ahLst/>
                    <a:cxnLst>
                      <a:cxn ang="T10">
                        <a:pos x="T0" y="T1"/>
                      </a:cxn>
                      <a:cxn ang="T11">
                        <a:pos x="T2" y="T3"/>
                      </a:cxn>
                      <a:cxn ang="T12">
                        <a:pos x="T4" y="T5"/>
                      </a:cxn>
                      <a:cxn ang="T13">
                        <a:pos x="T6" y="T7"/>
                      </a:cxn>
                      <a:cxn ang="T14">
                        <a:pos x="T8" y="T9"/>
                      </a:cxn>
                    </a:cxnLst>
                    <a:rect l="T15" t="T16" r="T17" b="T18"/>
                    <a:pathLst>
                      <a:path w="536" h="17">
                        <a:moveTo>
                          <a:pt x="7" y="0"/>
                        </a:moveTo>
                        <a:lnTo>
                          <a:pt x="0" y="17"/>
                        </a:lnTo>
                        <a:lnTo>
                          <a:pt x="536" y="17"/>
                        </a:lnTo>
                        <a:lnTo>
                          <a:pt x="527" y="0"/>
                        </a:lnTo>
                        <a:lnTo>
                          <a:pt x="7"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8" name="Freeform 136"/>
                  <p:cNvSpPr>
                    <a:spLocks/>
                  </p:cNvSpPr>
                  <p:nvPr/>
                </p:nvSpPr>
                <p:spPr bwMode="auto">
                  <a:xfrm>
                    <a:off x="2964" y="2633"/>
                    <a:ext cx="269" cy="7"/>
                  </a:xfrm>
                  <a:custGeom>
                    <a:avLst/>
                    <a:gdLst>
                      <a:gd name="T0" fmla="*/ 4 w 538"/>
                      <a:gd name="T1" fmla="*/ 0 h 21"/>
                      <a:gd name="T2" fmla="*/ 0 w 538"/>
                      <a:gd name="T3" fmla="*/ 7 h 21"/>
                      <a:gd name="T4" fmla="*/ 269 w 538"/>
                      <a:gd name="T5" fmla="*/ 6 h 21"/>
                      <a:gd name="T6" fmla="*/ 265 w 538"/>
                      <a:gd name="T7" fmla="*/ 0 h 21"/>
                      <a:gd name="T8" fmla="*/ 4 w 538"/>
                      <a:gd name="T9" fmla="*/ 0 h 21"/>
                      <a:gd name="T10" fmla="*/ 0 60000 65536"/>
                      <a:gd name="T11" fmla="*/ 0 60000 65536"/>
                      <a:gd name="T12" fmla="*/ 0 60000 65536"/>
                      <a:gd name="T13" fmla="*/ 0 60000 65536"/>
                      <a:gd name="T14" fmla="*/ 0 60000 65536"/>
                      <a:gd name="T15" fmla="*/ 0 w 538"/>
                      <a:gd name="T16" fmla="*/ 0 h 21"/>
                      <a:gd name="T17" fmla="*/ 538 w 538"/>
                      <a:gd name="T18" fmla="*/ 21 h 21"/>
                    </a:gdLst>
                    <a:ahLst/>
                    <a:cxnLst>
                      <a:cxn ang="T10">
                        <a:pos x="T0" y="T1"/>
                      </a:cxn>
                      <a:cxn ang="T11">
                        <a:pos x="T2" y="T3"/>
                      </a:cxn>
                      <a:cxn ang="T12">
                        <a:pos x="T4" y="T5"/>
                      </a:cxn>
                      <a:cxn ang="T13">
                        <a:pos x="T6" y="T7"/>
                      </a:cxn>
                      <a:cxn ang="T14">
                        <a:pos x="T8" y="T9"/>
                      </a:cxn>
                    </a:cxnLst>
                    <a:rect l="T15" t="T16" r="T17" b="T18"/>
                    <a:pathLst>
                      <a:path w="538" h="21">
                        <a:moveTo>
                          <a:pt x="9" y="0"/>
                        </a:moveTo>
                        <a:lnTo>
                          <a:pt x="0" y="21"/>
                        </a:lnTo>
                        <a:lnTo>
                          <a:pt x="538" y="18"/>
                        </a:lnTo>
                        <a:lnTo>
                          <a:pt x="529" y="0"/>
                        </a:lnTo>
                        <a:lnTo>
                          <a:pt x="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19" name="Freeform 137"/>
                  <p:cNvSpPr>
                    <a:spLocks/>
                  </p:cNvSpPr>
                  <p:nvPr/>
                </p:nvSpPr>
                <p:spPr bwMode="auto">
                  <a:xfrm>
                    <a:off x="2964" y="2663"/>
                    <a:ext cx="268" cy="6"/>
                  </a:xfrm>
                  <a:custGeom>
                    <a:avLst/>
                    <a:gdLst>
                      <a:gd name="T0" fmla="*/ 4 w 535"/>
                      <a:gd name="T1" fmla="*/ 0 h 17"/>
                      <a:gd name="T2" fmla="*/ 0 w 535"/>
                      <a:gd name="T3" fmla="*/ 6 h 17"/>
                      <a:gd name="T4" fmla="*/ 268 w 535"/>
                      <a:gd name="T5" fmla="*/ 6 h 17"/>
                      <a:gd name="T6" fmla="*/ 264 w 535"/>
                      <a:gd name="T7" fmla="*/ 0 h 17"/>
                      <a:gd name="T8" fmla="*/ 4 w 535"/>
                      <a:gd name="T9" fmla="*/ 0 h 17"/>
                      <a:gd name="T10" fmla="*/ 0 60000 65536"/>
                      <a:gd name="T11" fmla="*/ 0 60000 65536"/>
                      <a:gd name="T12" fmla="*/ 0 60000 65536"/>
                      <a:gd name="T13" fmla="*/ 0 60000 65536"/>
                      <a:gd name="T14" fmla="*/ 0 60000 65536"/>
                      <a:gd name="T15" fmla="*/ 0 w 535"/>
                      <a:gd name="T16" fmla="*/ 0 h 17"/>
                      <a:gd name="T17" fmla="*/ 535 w 535"/>
                      <a:gd name="T18" fmla="*/ 17 h 17"/>
                    </a:gdLst>
                    <a:ahLst/>
                    <a:cxnLst>
                      <a:cxn ang="T10">
                        <a:pos x="T0" y="T1"/>
                      </a:cxn>
                      <a:cxn ang="T11">
                        <a:pos x="T2" y="T3"/>
                      </a:cxn>
                      <a:cxn ang="T12">
                        <a:pos x="T4" y="T5"/>
                      </a:cxn>
                      <a:cxn ang="T13">
                        <a:pos x="T6" y="T7"/>
                      </a:cxn>
                      <a:cxn ang="T14">
                        <a:pos x="T8" y="T9"/>
                      </a:cxn>
                    </a:cxnLst>
                    <a:rect l="T15" t="T16" r="T17" b="T18"/>
                    <a:pathLst>
                      <a:path w="535" h="17">
                        <a:moveTo>
                          <a:pt x="7" y="0"/>
                        </a:moveTo>
                        <a:lnTo>
                          <a:pt x="0" y="17"/>
                        </a:lnTo>
                        <a:lnTo>
                          <a:pt x="535" y="17"/>
                        </a:lnTo>
                        <a:lnTo>
                          <a:pt x="527" y="0"/>
                        </a:lnTo>
                        <a:lnTo>
                          <a:pt x="7"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20" name="Freeform 138"/>
                  <p:cNvSpPr>
                    <a:spLocks/>
                  </p:cNvSpPr>
                  <p:nvPr/>
                </p:nvSpPr>
                <p:spPr bwMode="auto">
                  <a:xfrm>
                    <a:off x="2966" y="2611"/>
                    <a:ext cx="268" cy="8"/>
                  </a:xfrm>
                  <a:custGeom>
                    <a:avLst/>
                    <a:gdLst>
                      <a:gd name="T0" fmla="*/ 4 w 535"/>
                      <a:gd name="T1" fmla="*/ 8 h 24"/>
                      <a:gd name="T2" fmla="*/ 0 w 535"/>
                      <a:gd name="T3" fmla="*/ 0 h 24"/>
                      <a:gd name="T4" fmla="*/ 268 w 535"/>
                      <a:gd name="T5" fmla="*/ 0 h 24"/>
                      <a:gd name="T6" fmla="*/ 263 w 535"/>
                      <a:gd name="T7" fmla="*/ 8 h 24"/>
                      <a:gd name="T8" fmla="*/ 4 w 535"/>
                      <a:gd name="T9" fmla="*/ 8 h 24"/>
                      <a:gd name="T10" fmla="*/ 0 60000 65536"/>
                      <a:gd name="T11" fmla="*/ 0 60000 65536"/>
                      <a:gd name="T12" fmla="*/ 0 60000 65536"/>
                      <a:gd name="T13" fmla="*/ 0 60000 65536"/>
                      <a:gd name="T14" fmla="*/ 0 60000 65536"/>
                      <a:gd name="T15" fmla="*/ 0 w 535"/>
                      <a:gd name="T16" fmla="*/ 0 h 24"/>
                      <a:gd name="T17" fmla="*/ 535 w 535"/>
                      <a:gd name="T18" fmla="*/ 24 h 24"/>
                    </a:gdLst>
                    <a:ahLst/>
                    <a:cxnLst>
                      <a:cxn ang="T10">
                        <a:pos x="T0" y="T1"/>
                      </a:cxn>
                      <a:cxn ang="T11">
                        <a:pos x="T2" y="T3"/>
                      </a:cxn>
                      <a:cxn ang="T12">
                        <a:pos x="T4" y="T5"/>
                      </a:cxn>
                      <a:cxn ang="T13">
                        <a:pos x="T6" y="T7"/>
                      </a:cxn>
                      <a:cxn ang="T14">
                        <a:pos x="T8" y="T9"/>
                      </a:cxn>
                    </a:cxnLst>
                    <a:rect l="T15" t="T16" r="T17" b="T18"/>
                    <a:pathLst>
                      <a:path w="535" h="24">
                        <a:moveTo>
                          <a:pt x="7" y="24"/>
                        </a:moveTo>
                        <a:lnTo>
                          <a:pt x="0" y="0"/>
                        </a:lnTo>
                        <a:lnTo>
                          <a:pt x="535" y="0"/>
                        </a:lnTo>
                        <a:lnTo>
                          <a:pt x="526" y="24"/>
                        </a:lnTo>
                        <a:lnTo>
                          <a:pt x="7" y="2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21" name="Freeform 139"/>
                  <p:cNvSpPr>
                    <a:spLocks/>
                  </p:cNvSpPr>
                  <p:nvPr/>
                </p:nvSpPr>
                <p:spPr bwMode="auto">
                  <a:xfrm>
                    <a:off x="2964" y="2641"/>
                    <a:ext cx="269" cy="8"/>
                  </a:xfrm>
                  <a:custGeom>
                    <a:avLst/>
                    <a:gdLst>
                      <a:gd name="T0" fmla="*/ 3 w 538"/>
                      <a:gd name="T1" fmla="*/ 8 h 25"/>
                      <a:gd name="T2" fmla="*/ 0 w 538"/>
                      <a:gd name="T3" fmla="*/ 0 h 25"/>
                      <a:gd name="T4" fmla="*/ 269 w 538"/>
                      <a:gd name="T5" fmla="*/ 0 h 25"/>
                      <a:gd name="T6" fmla="*/ 264 w 538"/>
                      <a:gd name="T7" fmla="*/ 8 h 25"/>
                      <a:gd name="T8" fmla="*/ 3 w 538"/>
                      <a:gd name="T9" fmla="*/ 8 h 25"/>
                      <a:gd name="T10" fmla="*/ 0 60000 65536"/>
                      <a:gd name="T11" fmla="*/ 0 60000 65536"/>
                      <a:gd name="T12" fmla="*/ 0 60000 65536"/>
                      <a:gd name="T13" fmla="*/ 0 60000 65536"/>
                      <a:gd name="T14" fmla="*/ 0 60000 65536"/>
                      <a:gd name="T15" fmla="*/ 0 w 538"/>
                      <a:gd name="T16" fmla="*/ 0 h 25"/>
                      <a:gd name="T17" fmla="*/ 538 w 538"/>
                      <a:gd name="T18" fmla="*/ 25 h 25"/>
                    </a:gdLst>
                    <a:ahLst/>
                    <a:cxnLst>
                      <a:cxn ang="T10">
                        <a:pos x="T0" y="T1"/>
                      </a:cxn>
                      <a:cxn ang="T11">
                        <a:pos x="T2" y="T3"/>
                      </a:cxn>
                      <a:cxn ang="T12">
                        <a:pos x="T4" y="T5"/>
                      </a:cxn>
                      <a:cxn ang="T13">
                        <a:pos x="T6" y="T7"/>
                      </a:cxn>
                      <a:cxn ang="T14">
                        <a:pos x="T8" y="T9"/>
                      </a:cxn>
                    </a:cxnLst>
                    <a:rect l="T15" t="T16" r="T17" b="T18"/>
                    <a:pathLst>
                      <a:path w="538" h="25">
                        <a:moveTo>
                          <a:pt x="7" y="25"/>
                        </a:moveTo>
                        <a:lnTo>
                          <a:pt x="0" y="0"/>
                        </a:lnTo>
                        <a:lnTo>
                          <a:pt x="538" y="0"/>
                        </a:lnTo>
                        <a:lnTo>
                          <a:pt x="528" y="25"/>
                        </a:lnTo>
                        <a:lnTo>
                          <a:pt x="7"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22" name="Freeform 140"/>
                  <p:cNvSpPr>
                    <a:spLocks/>
                  </p:cNvSpPr>
                  <p:nvPr/>
                </p:nvSpPr>
                <p:spPr bwMode="auto">
                  <a:xfrm>
                    <a:off x="2965" y="2580"/>
                    <a:ext cx="268" cy="9"/>
                  </a:xfrm>
                  <a:custGeom>
                    <a:avLst/>
                    <a:gdLst>
                      <a:gd name="T0" fmla="*/ 3 w 535"/>
                      <a:gd name="T1" fmla="*/ 9 h 27"/>
                      <a:gd name="T2" fmla="*/ 0 w 535"/>
                      <a:gd name="T3" fmla="*/ 0 h 27"/>
                      <a:gd name="T4" fmla="*/ 268 w 535"/>
                      <a:gd name="T5" fmla="*/ 0 h 27"/>
                      <a:gd name="T6" fmla="*/ 264 w 535"/>
                      <a:gd name="T7" fmla="*/ 9 h 27"/>
                      <a:gd name="T8" fmla="*/ 3 w 535"/>
                      <a:gd name="T9" fmla="*/ 9 h 27"/>
                      <a:gd name="T10" fmla="*/ 0 60000 65536"/>
                      <a:gd name="T11" fmla="*/ 0 60000 65536"/>
                      <a:gd name="T12" fmla="*/ 0 60000 65536"/>
                      <a:gd name="T13" fmla="*/ 0 60000 65536"/>
                      <a:gd name="T14" fmla="*/ 0 60000 65536"/>
                      <a:gd name="T15" fmla="*/ 0 w 535"/>
                      <a:gd name="T16" fmla="*/ 0 h 27"/>
                      <a:gd name="T17" fmla="*/ 535 w 535"/>
                      <a:gd name="T18" fmla="*/ 27 h 27"/>
                    </a:gdLst>
                    <a:ahLst/>
                    <a:cxnLst>
                      <a:cxn ang="T10">
                        <a:pos x="T0" y="T1"/>
                      </a:cxn>
                      <a:cxn ang="T11">
                        <a:pos x="T2" y="T3"/>
                      </a:cxn>
                      <a:cxn ang="T12">
                        <a:pos x="T4" y="T5"/>
                      </a:cxn>
                      <a:cxn ang="T13">
                        <a:pos x="T6" y="T7"/>
                      </a:cxn>
                      <a:cxn ang="T14">
                        <a:pos x="T8" y="T9"/>
                      </a:cxn>
                    </a:cxnLst>
                    <a:rect l="T15" t="T16" r="T17" b="T18"/>
                    <a:pathLst>
                      <a:path w="535" h="27">
                        <a:moveTo>
                          <a:pt x="6" y="27"/>
                        </a:moveTo>
                        <a:lnTo>
                          <a:pt x="0" y="0"/>
                        </a:lnTo>
                        <a:lnTo>
                          <a:pt x="535" y="0"/>
                        </a:lnTo>
                        <a:lnTo>
                          <a:pt x="527" y="27"/>
                        </a:lnTo>
                        <a:lnTo>
                          <a:pt x="6" y="2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423" name="Freeform 141"/>
                  <p:cNvSpPr>
                    <a:spLocks/>
                  </p:cNvSpPr>
                  <p:nvPr/>
                </p:nvSpPr>
                <p:spPr bwMode="auto">
                  <a:xfrm>
                    <a:off x="2965" y="2553"/>
                    <a:ext cx="267" cy="7"/>
                  </a:xfrm>
                  <a:custGeom>
                    <a:avLst/>
                    <a:gdLst>
                      <a:gd name="T0" fmla="*/ 3 w 533"/>
                      <a:gd name="T1" fmla="*/ 7 h 22"/>
                      <a:gd name="T2" fmla="*/ 0 w 533"/>
                      <a:gd name="T3" fmla="*/ 0 h 22"/>
                      <a:gd name="T4" fmla="*/ 267 w 533"/>
                      <a:gd name="T5" fmla="*/ 0 h 22"/>
                      <a:gd name="T6" fmla="*/ 263 w 533"/>
                      <a:gd name="T7" fmla="*/ 7 h 22"/>
                      <a:gd name="T8" fmla="*/ 3 w 533"/>
                      <a:gd name="T9" fmla="*/ 7 h 22"/>
                      <a:gd name="T10" fmla="*/ 0 60000 65536"/>
                      <a:gd name="T11" fmla="*/ 0 60000 65536"/>
                      <a:gd name="T12" fmla="*/ 0 60000 65536"/>
                      <a:gd name="T13" fmla="*/ 0 60000 65536"/>
                      <a:gd name="T14" fmla="*/ 0 60000 65536"/>
                      <a:gd name="T15" fmla="*/ 0 w 533"/>
                      <a:gd name="T16" fmla="*/ 0 h 22"/>
                      <a:gd name="T17" fmla="*/ 533 w 533"/>
                      <a:gd name="T18" fmla="*/ 22 h 22"/>
                    </a:gdLst>
                    <a:ahLst/>
                    <a:cxnLst>
                      <a:cxn ang="T10">
                        <a:pos x="T0" y="T1"/>
                      </a:cxn>
                      <a:cxn ang="T11">
                        <a:pos x="T2" y="T3"/>
                      </a:cxn>
                      <a:cxn ang="T12">
                        <a:pos x="T4" y="T5"/>
                      </a:cxn>
                      <a:cxn ang="T13">
                        <a:pos x="T6" y="T7"/>
                      </a:cxn>
                      <a:cxn ang="T14">
                        <a:pos x="T8" y="T9"/>
                      </a:cxn>
                    </a:cxnLst>
                    <a:rect l="T15" t="T16" r="T17" b="T18"/>
                    <a:pathLst>
                      <a:path w="533" h="22">
                        <a:moveTo>
                          <a:pt x="6" y="22"/>
                        </a:moveTo>
                        <a:lnTo>
                          <a:pt x="0" y="0"/>
                        </a:lnTo>
                        <a:lnTo>
                          <a:pt x="533" y="0"/>
                        </a:lnTo>
                        <a:lnTo>
                          <a:pt x="526" y="22"/>
                        </a:lnTo>
                        <a:lnTo>
                          <a:pt x="6" y="22"/>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grpSp>
          </p:grpSp>
          <p:grpSp>
            <p:nvGrpSpPr>
              <p:cNvPr id="384" name="Group 142"/>
              <p:cNvGrpSpPr>
                <a:grpSpLocks/>
              </p:cNvGrpSpPr>
              <p:nvPr/>
            </p:nvGrpSpPr>
            <p:grpSpPr bwMode="auto">
              <a:xfrm>
                <a:off x="2971" y="1991"/>
                <a:ext cx="258" cy="129"/>
                <a:chOff x="2971" y="1991"/>
                <a:chExt cx="258" cy="129"/>
              </a:xfrm>
            </p:grpSpPr>
            <p:grpSp>
              <p:nvGrpSpPr>
                <p:cNvPr id="385" name="Group 143"/>
                <p:cNvGrpSpPr>
                  <a:grpSpLocks/>
                </p:cNvGrpSpPr>
                <p:nvPr/>
              </p:nvGrpSpPr>
              <p:grpSpPr bwMode="auto">
                <a:xfrm>
                  <a:off x="2971" y="1991"/>
                  <a:ext cx="258" cy="129"/>
                  <a:chOff x="2971" y="1991"/>
                  <a:chExt cx="258" cy="129"/>
                </a:xfrm>
              </p:grpSpPr>
              <p:sp>
                <p:nvSpPr>
                  <p:cNvPr id="402" name="Rectangle 144"/>
                  <p:cNvSpPr>
                    <a:spLocks noChangeArrowheads="1"/>
                  </p:cNvSpPr>
                  <p:nvPr/>
                </p:nvSpPr>
                <p:spPr bwMode="auto">
                  <a:xfrm>
                    <a:off x="2971" y="1991"/>
                    <a:ext cx="255" cy="129"/>
                  </a:xfrm>
                  <a:prstGeom prst="rect">
                    <a:avLst/>
                  </a:prstGeom>
                  <a:solidFill>
                    <a:srgbClr val="C0C0C0"/>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403" name="Line 145"/>
                  <p:cNvSpPr>
                    <a:spLocks noChangeShapeType="1"/>
                  </p:cNvSpPr>
                  <p:nvPr/>
                </p:nvSpPr>
                <p:spPr bwMode="auto">
                  <a:xfrm>
                    <a:off x="2971" y="2054"/>
                    <a:ext cx="258"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ru-RU" dirty="0"/>
                  </a:p>
                </p:txBody>
              </p:sp>
            </p:grpSp>
            <p:grpSp>
              <p:nvGrpSpPr>
                <p:cNvPr id="386" name="Group 146"/>
                <p:cNvGrpSpPr>
                  <a:grpSpLocks/>
                </p:cNvGrpSpPr>
                <p:nvPr/>
              </p:nvGrpSpPr>
              <p:grpSpPr bwMode="auto">
                <a:xfrm>
                  <a:off x="2977" y="1997"/>
                  <a:ext cx="244" cy="108"/>
                  <a:chOff x="2977" y="1997"/>
                  <a:chExt cx="244" cy="108"/>
                </a:xfrm>
              </p:grpSpPr>
              <p:sp>
                <p:nvSpPr>
                  <p:cNvPr id="387" name="Rectangle 147"/>
                  <p:cNvSpPr>
                    <a:spLocks noChangeArrowheads="1"/>
                  </p:cNvSpPr>
                  <p:nvPr/>
                </p:nvSpPr>
                <p:spPr bwMode="auto">
                  <a:xfrm>
                    <a:off x="3074" y="1997"/>
                    <a:ext cx="77" cy="49"/>
                  </a:xfrm>
                  <a:prstGeom prst="rect">
                    <a:avLst/>
                  </a:prstGeom>
                  <a:solidFill>
                    <a:srgbClr val="60606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88" name="Rectangle 148"/>
                  <p:cNvSpPr>
                    <a:spLocks noChangeArrowheads="1"/>
                  </p:cNvSpPr>
                  <p:nvPr/>
                </p:nvSpPr>
                <p:spPr bwMode="auto">
                  <a:xfrm>
                    <a:off x="2977" y="2012"/>
                    <a:ext cx="244" cy="5"/>
                  </a:xfrm>
                  <a:prstGeom prst="rect">
                    <a:avLst/>
                  </a:prstGeom>
                  <a:solidFill>
                    <a:srgbClr val="20202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89" name="Freeform 149"/>
                  <p:cNvSpPr>
                    <a:spLocks/>
                  </p:cNvSpPr>
                  <p:nvPr/>
                </p:nvSpPr>
                <p:spPr bwMode="auto">
                  <a:xfrm>
                    <a:off x="3074" y="1997"/>
                    <a:ext cx="76" cy="12"/>
                  </a:xfrm>
                  <a:custGeom>
                    <a:avLst/>
                    <a:gdLst>
                      <a:gd name="T0" fmla="*/ 0 w 153"/>
                      <a:gd name="T1" fmla="*/ 10 h 34"/>
                      <a:gd name="T2" fmla="*/ 8 w 153"/>
                      <a:gd name="T3" fmla="*/ 4 h 34"/>
                      <a:gd name="T4" fmla="*/ 68 w 153"/>
                      <a:gd name="T5" fmla="*/ 4 h 34"/>
                      <a:gd name="T6" fmla="*/ 76 w 153"/>
                      <a:gd name="T7" fmla="*/ 12 h 34"/>
                      <a:gd name="T8" fmla="*/ 76 w 153"/>
                      <a:gd name="T9" fmla="*/ 0 h 34"/>
                      <a:gd name="T10" fmla="*/ 0 w 153"/>
                      <a:gd name="T11" fmla="*/ 0 h 34"/>
                      <a:gd name="T12" fmla="*/ 0 w 153"/>
                      <a:gd name="T13" fmla="*/ 10 h 34"/>
                      <a:gd name="T14" fmla="*/ 0 60000 65536"/>
                      <a:gd name="T15" fmla="*/ 0 60000 65536"/>
                      <a:gd name="T16" fmla="*/ 0 60000 65536"/>
                      <a:gd name="T17" fmla="*/ 0 60000 65536"/>
                      <a:gd name="T18" fmla="*/ 0 60000 65536"/>
                      <a:gd name="T19" fmla="*/ 0 60000 65536"/>
                      <a:gd name="T20" fmla="*/ 0 60000 65536"/>
                      <a:gd name="T21" fmla="*/ 0 w 153"/>
                      <a:gd name="T22" fmla="*/ 0 h 34"/>
                      <a:gd name="T23" fmla="*/ 153 w 153"/>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34">
                        <a:moveTo>
                          <a:pt x="0" y="29"/>
                        </a:moveTo>
                        <a:lnTo>
                          <a:pt x="16" y="12"/>
                        </a:lnTo>
                        <a:lnTo>
                          <a:pt x="137" y="12"/>
                        </a:lnTo>
                        <a:lnTo>
                          <a:pt x="153" y="34"/>
                        </a:lnTo>
                        <a:lnTo>
                          <a:pt x="153" y="0"/>
                        </a:lnTo>
                        <a:lnTo>
                          <a:pt x="0" y="0"/>
                        </a:lnTo>
                        <a:lnTo>
                          <a:pt x="0" y="2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390" name="Rectangle 150"/>
                  <p:cNvSpPr>
                    <a:spLocks noChangeArrowheads="1"/>
                  </p:cNvSpPr>
                  <p:nvPr/>
                </p:nvSpPr>
                <p:spPr bwMode="auto">
                  <a:xfrm>
                    <a:off x="2989" y="2000"/>
                    <a:ext cx="22" cy="6"/>
                  </a:xfrm>
                  <a:prstGeom prst="rect">
                    <a:avLst/>
                  </a:prstGeom>
                  <a:solidFill>
                    <a:srgbClr val="20202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91" name="Rectangle 151"/>
                  <p:cNvSpPr>
                    <a:spLocks noChangeArrowheads="1"/>
                  </p:cNvSpPr>
                  <p:nvPr/>
                </p:nvSpPr>
                <p:spPr bwMode="auto">
                  <a:xfrm>
                    <a:off x="3008" y="2066"/>
                    <a:ext cx="178" cy="39"/>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92" name="Freeform 152"/>
                  <p:cNvSpPr>
                    <a:spLocks/>
                  </p:cNvSpPr>
                  <p:nvPr/>
                </p:nvSpPr>
                <p:spPr bwMode="auto">
                  <a:xfrm>
                    <a:off x="3015" y="2066"/>
                    <a:ext cx="162" cy="14"/>
                  </a:xfrm>
                  <a:custGeom>
                    <a:avLst/>
                    <a:gdLst>
                      <a:gd name="T0" fmla="*/ 48 w 322"/>
                      <a:gd name="T1" fmla="*/ 0 h 40"/>
                      <a:gd name="T2" fmla="*/ 108 w 322"/>
                      <a:gd name="T3" fmla="*/ 0 h 40"/>
                      <a:gd name="T4" fmla="*/ 110 w 322"/>
                      <a:gd name="T5" fmla="*/ 7 h 40"/>
                      <a:gd name="T6" fmla="*/ 162 w 322"/>
                      <a:gd name="T7" fmla="*/ 7 h 40"/>
                      <a:gd name="T8" fmla="*/ 162 w 322"/>
                      <a:gd name="T9" fmla="*/ 14 h 40"/>
                      <a:gd name="T10" fmla="*/ 0 w 322"/>
                      <a:gd name="T11" fmla="*/ 14 h 40"/>
                      <a:gd name="T12" fmla="*/ 0 w 322"/>
                      <a:gd name="T13" fmla="*/ 7 h 40"/>
                      <a:gd name="T14" fmla="*/ 46 w 322"/>
                      <a:gd name="T15" fmla="*/ 7 h 40"/>
                      <a:gd name="T16" fmla="*/ 48 w 322"/>
                      <a:gd name="T17" fmla="*/ 0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2"/>
                      <a:gd name="T28" fmla="*/ 0 h 40"/>
                      <a:gd name="T29" fmla="*/ 322 w 322"/>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2" h="40">
                        <a:moveTo>
                          <a:pt x="95" y="0"/>
                        </a:moveTo>
                        <a:lnTo>
                          <a:pt x="215" y="0"/>
                        </a:lnTo>
                        <a:lnTo>
                          <a:pt x="219" y="21"/>
                        </a:lnTo>
                        <a:lnTo>
                          <a:pt x="322" y="21"/>
                        </a:lnTo>
                        <a:lnTo>
                          <a:pt x="322" y="40"/>
                        </a:lnTo>
                        <a:lnTo>
                          <a:pt x="0" y="40"/>
                        </a:lnTo>
                        <a:lnTo>
                          <a:pt x="0" y="19"/>
                        </a:lnTo>
                        <a:lnTo>
                          <a:pt x="91" y="19"/>
                        </a:lnTo>
                        <a:lnTo>
                          <a:pt x="95"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393" name="Rectangle 153"/>
                  <p:cNvSpPr>
                    <a:spLocks noChangeArrowheads="1"/>
                  </p:cNvSpPr>
                  <p:nvPr/>
                </p:nvSpPr>
                <p:spPr bwMode="auto">
                  <a:xfrm>
                    <a:off x="3036" y="2097"/>
                    <a:ext cx="10" cy="2"/>
                  </a:xfrm>
                  <a:prstGeom prst="rect">
                    <a:avLst/>
                  </a:prstGeom>
                  <a:solidFill>
                    <a:srgbClr val="20202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94" name="Freeform 154"/>
                  <p:cNvSpPr>
                    <a:spLocks/>
                  </p:cNvSpPr>
                  <p:nvPr/>
                </p:nvSpPr>
                <p:spPr bwMode="auto">
                  <a:xfrm>
                    <a:off x="3055" y="2085"/>
                    <a:ext cx="85" cy="17"/>
                  </a:xfrm>
                  <a:custGeom>
                    <a:avLst/>
                    <a:gdLst>
                      <a:gd name="T0" fmla="*/ 18 w 169"/>
                      <a:gd name="T1" fmla="*/ 0 h 52"/>
                      <a:gd name="T2" fmla="*/ 66 w 169"/>
                      <a:gd name="T3" fmla="*/ 0 h 52"/>
                      <a:gd name="T4" fmla="*/ 85 w 169"/>
                      <a:gd name="T5" fmla="*/ 17 h 52"/>
                      <a:gd name="T6" fmla="*/ 0 w 169"/>
                      <a:gd name="T7" fmla="*/ 17 h 52"/>
                      <a:gd name="T8" fmla="*/ 18 w 169"/>
                      <a:gd name="T9" fmla="*/ 0 h 52"/>
                      <a:gd name="T10" fmla="*/ 0 60000 65536"/>
                      <a:gd name="T11" fmla="*/ 0 60000 65536"/>
                      <a:gd name="T12" fmla="*/ 0 60000 65536"/>
                      <a:gd name="T13" fmla="*/ 0 60000 65536"/>
                      <a:gd name="T14" fmla="*/ 0 60000 65536"/>
                      <a:gd name="T15" fmla="*/ 0 w 169"/>
                      <a:gd name="T16" fmla="*/ 0 h 52"/>
                      <a:gd name="T17" fmla="*/ 169 w 169"/>
                      <a:gd name="T18" fmla="*/ 52 h 52"/>
                    </a:gdLst>
                    <a:ahLst/>
                    <a:cxnLst>
                      <a:cxn ang="T10">
                        <a:pos x="T0" y="T1"/>
                      </a:cxn>
                      <a:cxn ang="T11">
                        <a:pos x="T2" y="T3"/>
                      </a:cxn>
                      <a:cxn ang="T12">
                        <a:pos x="T4" y="T5"/>
                      </a:cxn>
                      <a:cxn ang="T13">
                        <a:pos x="T6" y="T7"/>
                      </a:cxn>
                      <a:cxn ang="T14">
                        <a:pos x="T8" y="T9"/>
                      </a:cxn>
                    </a:cxnLst>
                    <a:rect l="T15" t="T16" r="T17" b="T18"/>
                    <a:pathLst>
                      <a:path w="169" h="52">
                        <a:moveTo>
                          <a:pt x="35" y="0"/>
                        </a:moveTo>
                        <a:lnTo>
                          <a:pt x="132" y="0"/>
                        </a:lnTo>
                        <a:lnTo>
                          <a:pt x="169" y="52"/>
                        </a:lnTo>
                        <a:lnTo>
                          <a:pt x="0" y="52"/>
                        </a:lnTo>
                        <a:lnTo>
                          <a:pt x="35"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395" name="Rectangle 155"/>
                  <p:cNvSpPr>
                    <a:spLocks noChangeArrowheads="1"/>
                  </p:cNvSpPr>
                  <p:nvPr/>
                </p:nvSpPr>
                <p:spPr bwMode="auto">
                  <a:xfrm>
                    <a:off x="3144" y="2089"/>
                    <a:ext cx="18" cy="10"/>
                  </a:xfrm>
                  <a:prstGeom prst="rect">
                    <a:avLst/>
                  </a:prstGeom>
                  <a:solidFill>
                    <a:srgbClr val="A0A0A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grpSp>
                <p:nvGrpSpPr>
                  <p:cNvPr id="396" name="Group 156"/>
                  <p:cNvGrpSpPr>
                    <a:grpSpLocks/>
                  </p:cNvGrpSpPr>
                  <p:nvPr/>
                </p:nvGrpSpPr>
                <p:grpSpPr bwMode="auto">
                  <a:xfrm>
                    <a:off x="3154" y="2000"/>
                    <a:ext cx="59" cy="9"/>
                    <a:chOff x="3154" y="2000"/>
                    <a:chExt cx="59" cy="9"/>
                  </a:xfrm>
                </p:grpSpPr>
                <p:sp>
                  <p:nvSpPr>
                    <p:cNvPr id="400" name="Oval 157"/>
                    <p:cNvSpPr>
                      <a:spLocks noChangeArrowheads="1"/>
                    </p:cNvSpPr>
                    <p:nvPr/>
                  </p:nvSpPr>
                  <p:spPr bwMode="auto">
                    <a:xfrm>
                      <a:off x="3154" y="2000"/>
                      <a:ext cx="23" cy="9"/>
                    </a:xfrm>
                    <a:prstGeom prst="ellipse">
                      <a:avLst/>
                    </a:prstGeom>
                    <a:solidFill>
                      <a:srgbClr val="202020"/>
                    </a:solidFill>
                    <a:ln w="6350">
                      <a:solidFill>
                        <a:srgbClr val="202020"/>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401" name="Freeform 158"/>
                    <p:cNvSpPr>
                      <a:spLocks/>
                    </p:cNvSpPr>
                    <p:nvPr/>
                  </p:nvSpPr>
                  <p:spPr bwMode="auto">
                    <a:xfrm>
                      <a:off x="3165" y="2000"/>
                      <a:ext cx="48" cy="9"/>
                    </a:xfrm>
                    <a:custGeom>
                      <a:avLst/>
                      <a:gdLst>
                        <a:gd name="T0" fmla="*/ 3 w 96"/>
                        <a:gd name="T1" fmla="*/ 4 h 27"/>
                        <a:gd name="T2" fmla="*/ 48 w 96"/>
                        <a:gd name="T3" fmla="*/ 0 h 27"/>
                        <a:gd name="T4" fmla="*/ 48 w 96"/>
                        <a:gd name="T5" fmla="*/ 5 h 27"/>
                        <a:gd name="T6" fmla="*/ 0 w 96"/>
                        <a:gd name="T7" fmla="*/ 9 h 27"/>
                        <a:gd name="T8" fmla="*/ 3 w 96"/>
                        <a:gd name="T9" fmla="*/ 4 h 27"/>
                        <a:gd name="T10" fmla="*/ 0 60000 65536"/>
                        <a:gd name="T11" fmla="*/ 0 60000 65536"/>
                        <a:gd name="T12" fmla="*/ 0 60000 65536"/>
                        <a:gd name="T13" fmla="*/ 0 60000 65536"/>
                        <a:gd name="T14" fmla="*/ 0 60000 65536"/>
                        <a:gd name="T15" fmla="*/ 0 w 96"/>
                        <a:gd name="T16" fmla="*/ 0 h 27"/>
                        <a:gd name="T17" fmla="*/ 96 w 96"/>
                        <a:gd name="T18" fmla="*/ 27 h 27"/>
                      </a:gdLst>
                      <a:ahLst/>
                      <a:cxnLst>
                        <a:cxn ang="T10">
                          <a:pos x="T0" y="T1"/>
                        </a:cxn>
                        <a:cxn ang="T11">
                          <a:pos x="T2" y="T3"/>
                        </a:cxn>
                        <a:cxn ang="T12">
                          <a:pos x="T4" y="T5"/>
                        </a:cxn>
                        <a:cxn ang="T13">
                          <a:pos x="T6" y="T7"/>
                        </a:cxn>
                        <a:cxn ang="T14">
                          <a:pos x="T8" y="T9"/>
                        </a:cxn>
                      </a:cxnLst>
                      <a:rect l="T15" t="T16" r="T17" b="T18"/>
                      <a:pathLst>
                        <a:path w="96" h="27">
                          <a:moveTo>
                            <a:pt x="6" y="11"/>
                          </a:moveTo>
                          <a:lnTo>
                            <a:pt x="96" y="0"/>
                          </a:lnTo>
                          <a:lnTo>
                            <a:pt x="96" y="14"/>
                          </a:lnTo>
                          <a:lnTo>
                            <a:pt x="0" y="27"/>
                          </a:lnTo>
                          <a:lnTo>
                            <a:pt x="6" y="11"/>
                          </a:lnTo>
                          <a:close/>
                        </a:path>
                      </a:pathLst>
                    </a:custGeom>
                    <a:solidFill>
                      <a:srgbClr val="202020"/>
                    </a:solidFill>
                    <a:ln w="6350">
                      <a:solidFill>
                        <a:srgbClr val="202020"/>
                      </a:solidFill>
                      <a:prstDash val="solid"/>
                      <a:round/>
                      <a:headEnd/>
                      <a:tailEnd/>
                    </a:ln>
                  </p:spPr>
                  <p:txBody>
                    <a:bodyPr/>
                    <a:lstStyle/>
                    <a:p>
                      <a:endParaRPr lang="ru-RU" dirty="0"/>
                    </a:p>
                  </p:txBody>
                </p:sp>
              </p:grpSp>
              <p:grpSp>
                <p:nvGrpSpPr>
                  <p:cNvPr id="397" name="Group 159"/>
                  <p:cNvGrpSpPr>
                    <a:grpSpLocks/>
                  </p:cNvGrpSpPr>
                  <p:nvPr/>
                </p:nvGrpSpPr>
                <p:grpSpPr bwMode="auto">
                  <a:xfrm>
                    <a:off x="3154" y="1997"/>
                    <a:ext cx="58" cy="12"/>
                    <a:chOff x="3154" y="1997"/>
                    <a:chExt cx="58" cy="12"/>
                  </a:xfrm>
                </p:grpSpPr>
                <p:sp>
                  <p:nvSpPr>
                    <p:cNvPr id="398" name="Oval 160"/>
                    <p:cNvSpPr>
                      <a:spLocks noChangeArrowheads="1"/>
                    </p:cNvSpPr>
                    <p:nvPr/>
                  </p:nvSpPr>
                  <p:spPr bwMode="auto">
                    <a:xfrm>
                      <a:off x="3154" y="1997"/>
                      <a:ext cx="23" cy="12"/>
                    </a:xfrm>
                    <a:prstGeom prst="ellipse">
                      <a:avLst/>
                    </a:pr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99" name="Freeform 161"/>
                    <p:cNvSpPr>
                      <a:spLocks/>
                    </p:cNvSpPr>
                    <p:nvPr/>
                  </p:nvSpPr>
                  <p:spPr bwMode="auto">
                    <a:xfrm>
                      <a:off x="3165" y="1998"/>
                      <a:ext cx="47" cy="9"/>
                    </a:xfrm>
                    <a:custGeom>
                      <a:avLst/>
                      <a:gdLst>
                        <a:gd name="T0" fmla="*/ 3 w 94"/>
                        <a:gd name="T1" fmla="*/ 4 h 28"/>
                        <a:gd name="T2" fmla="*/ 47 w 94"/>
                        <a:gd name="T3" fmla="*/ 0 h 28"/>
                        <a:gd name="T4" fmla="*/ 47 w 94"/>
                        <a:gd name="T5" fmla="*/ 5 h 28"/>
                        <a:gd name="T6" fmla="*/ 0 w 94"/>
                        <a:gd name="T7" fmla="*/ 9 h 28"/>
                        <a:gd name="T8" fmla="*/ 3 w 94"/>
                        <a:gd name="T9" fmla="*/ 4 h 28"/>
                        <a:gd name="T10" fmla="*/ 0 60000 65536"/>
                        <a:gd name="T11" fmla="*/ 0 60000 65536"/>
                        <a:gd name="T12" fmla="*/ 0 60000 65536"/>
                        <a:gd name="T13" fmla="*/ 0 60000 65536"/>
                        <a:gd name="T14" fmla="*/ 0 60000 65536"/>
                        <a:gd name="T15" fmla="*/ 0 w 94"/>
                        <a:gd name="T16" fmla="*/ 0 h 28"/>
                        <a:gd name="T17" fmla="*/ 94 w 94"/>
                        <a:gd name="T18" fmla="*/ 28 h 28"/>
                      </a:gdLst>
                      <a:ahLst/>
                      <a:cxnLst>
                        <a:cxn ang="T10">
                          <a:pos x="T0" y="T1"/>
                        </a:cxn>
                        <a:cxn ang="T11">
                          <a:pos x="T2" y="T3"/>
                        </a:cxn>
                        <a:cxn ang="T12">
                          <a:pos x="T4" y="T5"/>
                        </a:cxn>
                        <a:cxn ang="T13">
                          <a:pos x="T6" y="T7"/>
                        </a:cxn>
                        <a:cxn ang="T14">
                          <a:pos x="T8" y="T9"/>
                        </a:cxn>
                      </a:cxnLst>
                      <a:rect l="T15" t="T16" r="T17" b="T18"/>
                      <a:pathLst>
                        <a:path w="94" h="28">
                          <a:moveTo>
                            <a:pt x="6" y="12"/>
                          </a:moveTo>
                          <a:lnTo>
                            <a:pt x="94" y="0"/>
                          </a:lnTo>
                          <a:lnTo>
                            <a:pt x="94" y="15"/>
                          </a:lnTo>
                          <a:lnTo>
                            <a:pt x="0" y="28"/>
                          </a:lnTo>
                          <a:lnTo>
                            <a:pt x="6" y="12"/>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grpSp>
            </p:grpSp>
          </p:grpSp>
        </p:grpSp>
        <p:sp>
          <p:nvSpPr>
            <p:cNvPr id="7" name="Rectangle 162"/>
            <p:cNvSpPr>
              <a:spLocks noChangeArrowheads="1"/>
            </p:cNvSpPr>
            <p:nvPr/>
          </p:nvSpPr>
          <p:spPr bwMode="auto">
            <a:xfrm>
              <a:off x="6899275" y="1900238"/>
              <a:ext cx="2244725" cy="31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Главный инженер </a:t>
              </a:r>
              <a:endParaRPr kumimoji="1" lang="en-US" altLang="ja-JP" sz="1600" b="1" dirty="0">
                <a:ea typeface="ＭＳ Ｐゴシック" panose="020B0600070205080204" pitchFamily="34" charset="-128"/>
              </a:endParaRPr>
            </a:p>
          </p:txBody>
        </p:sp>
        <p:sp>
          <p:nvSpPr>
            <p:cNvPr id="8" name="Rectangle 163"/>
            <p:cNvSpPr>
              <a:spLocks noChangeArrowheads="1"/>
            </p:cNvSpPr>
            <p:nvPr/>
          </p:nvSpPr>
          <p:spPr bwMode="auto">
            <a:xfrm>
              <a:off x="5248275" y="1560513"/>
              <a:ext cx="1879600" cy="31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Руководитель</a:t>
              </a:r>
              <a:endParaRPr kumimoji="1" lang="en-US" altLang="ja-JP" sz="1600" b="1" dirty="0">
                <a:ea typeface="ＭＳ Ｐゴシック" panose="020B0600070205080204" pitchFamily="34" charset="-128"/>
              </a:endParaRPr>
            </a:p>
          </p:txBody>
        </p:sp>
        <p:sp>
          <p:nvSpPr>
            <p:cNvPr id="9" name="Rectangle 164"/>
            <p:cNvSpPr>
              <a:spLocks noChangeArrowheads="1"/>
            </p:cNvSpPr>
            <p:nvPr/>
          </p:nvSpPr>
          <p:spPr bwMode="auto">
            <a:xfrm>
              <a:off x="7086600" y="3581400"/>
              <a:ext cx="2057400" cy="54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kumimoji="1" lang="ru-RU" altLang="ja-JP" sz="1600" b="1" dirty="0"/>
                <a:t>Отдел главного энергетика</a:t>
              </a:r>
              <a:endParaRPr kumimoji="1" lang="en-US" altLang="ja-JP" sz="1600" b="1" dirty="0">
                <a:ea typeface="ＭＳ Ｐゴシック" panose="020B0600070205080204" pitchFamily="34" charset="-128"/>
              </a:endParaRPr>
            </a:p>
          </p:txBody>
        </p:sp>
        <p:sp>
          <p:nvSpPr>
            <p:cNvPr id="10" name="Rectangle 165"/>
            <p:cNvSpPr>
              <a:spLocks noChangeArrowheads="1"/>
            </p:cNvSpPr>
            <p:nvPr/>
          </p:nvSpPr>
          <p:spPr bwMode="auto">
            <a:xfrm>
              <a:off x="990600" y="3841750"/>
              <a:ext cx="2809875" cy="54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Экономический  </a:t>
              </a:r>
              <a:endParaRPr kumimoji="1" lang="en-US" altLang="ja-JP" sz="1600" b="1" dirty="0">
                <a:ea typeface="ＭＳ Ｐゴシック" panose="020B0600070205080204" pitchFamily="34" charset="-128"/>
              </a:endParaRPr>
            </a:p>
            <a:p>
              <a:pPr eaLnBrk="1" hangingPunct="1"/>
              <a:r>
                <a:rPr kumimoji="1" lang="ru-RU" altLang="ja-JP" sz="1600" b="1" dirty="0"/>
                <a:t>отдел</a:t>
              </a:r>
              <a:endParaRPr kumimoji="1" lang="en-US" altLang="ja-JP" sz="1600" b="1" dirty="0">
                <a:ea typeface="ＭＳ Ｐゴシック" panose="020B0600070205080204" pitchFamily="34" charset="-128"/>
              </a:endParaRPr>
            </a:p>
          </p:txBody>
        </p:sp>
        <p:sp>
          <p:nvSpPr>
            <p:cNvPr id="11" name="Rectangle 166"/>
            <p:cNvSpPr>
              <a:spLocks noChangeArrowheads="1"/>
            </p:cNvSpPr>
            <p:nvPr/>
          </p:nvSpPr>
          <p:spPr bwMode="auto">
            <a:xfrm>
              <a:off x="7197725" y="5518150"/>
              <a:ext cx="1870075" cy="54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kumimoji="1" lang="ru-RU" altLang="ja-JP" sz="1600" b="1" dirty="0"/>
                <a:t>Отдел главного механика</a:t>
              </a:r>
              <a:endParaRPr kumimoji="1" lang="en-US" altLang="ja-JP" sz="1600" b="1" dirty="0">
                <a:ea typeface="ＭＳ Ｐゴシック" panose="020B0600070205080204" pitchFamily="34" charset="-128"/>
              </a:endParaRPr>
            </a:p>
          </p:txBody>
        </p:sp>
        <p:sp>
          <p:nvSpPr>
            <p:cNvPr id="12" name="Rectangle 167"/>
            <p:cNvSpPr>
              <a:spLocks noChangeArrowheads="1"/>
            </p:cNvSpPr>
            <p:nvPr/>
          </p:nvSpPr>
          <p:spPr bwMode="auto">
            <a:xfrm>
              <a:off x="3992563" y="6083300"/>
              <a:ext cx="858837" cy="31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kumimoji="1" lang="en-US" altLang="ja-JP" sz="1600" dirty="0">
                <a:latin typeface="Arial Black" panose="020B0A04020102020204" pitchFamily="34" charset="0"/>
                <a:ea typeface="ＭＳ Ｐゴシック" panose="020B0600070205080204" pitchFamily="34" charset="-128"/>
              </a:endParaRPr>
            </a:p>
          </p:txBody>
        </p:sp>
        <p:sp>
          <p:nvSpPr>
            <p:cNvPr id="13" name="Freeform 168"/>
            <p:cNvSpPr>
              <a:spLocks/>
            </p:cNvSpPr>
            <p:nvPr/>
          </p:nvSpPr>
          <p:spPr bwMode="auto">
            <a:xfrm>
              <a:off x="5465763" y="2025650"/>
              <a:ext cx="233362" cy="385763"/>
            </a:xfrm>
            <a:custGeom>
              <a:avLst/>
              <a:gdLst>
                <a:gd name="T0" fmla="*/ 43257 w 205"/>
                <a:gd name="T1" fmla="*/ 175151 h 359"/>
                <a:gd name="T2" fmla="*/ 43257 w 205"/>
                <a:gd name="T3" fmla="*/ 51578 h 359"/>
                <a:gd name="T4" fmla="*/ 87653 w 205"/>
                <a:gd name="T5" fmla="*/ 0 h 359"/>
                <a:gd name="T6" fmla="*/ 185551 w 205"/>
                <a:gd name="T7" fmla="*/ 71995 h 359"/>
                <a:gd name="T8" fmla="*/ 175306 w 205"/>
                <a:gd name="T9" fmla="*/ 123573 h 359"/>
                <a:gd name="T10" fmla="*/ 120665 w 205"/>
                <a:gd name="T11" fmla="*/ 175151 h 359"/>
                <a:gd name="T12" fmla="*/ 109282 w 205"/>
                <a:gd name="T13" fmla="*/ 206313 h 359"/>
                <a:gd name="T14" fmla="*/ 175306 w 205"/>
                <a:gd name="T15" fmla="*/ 226730 h 359"/>
                <a:gd name="T16" fmla="*/ 185551 w 205"/>
                <a:gd name="T17" fmla="*/ 371794 h 359"/>
                <a:gd name="T18" fmla="*/ 142294 w 205"/>
                <a:gd name="T19" fmla="*/ 361048 h 359"/>
                <a:gd name="T20" fmla="*/ 21629 w 205"/>
                <a:gd name="T21" fmla="*/ 371794 h 359"/>
                <a:gd name="T22" fmla="*/ 0 w 205"/>
                <a:gd name="T23" fmla="*/ 309470 h 359"/>
                <a:gd name="T24" fmla="*/ 11384 w 205"/>
                <a:gd name="T25" fmla="*/ 226730 h 359"/>
                <a:gd name="T26" fmla="*/ 43257 w 205"/>
                <a:gd name="T27" fmla="*/ 206313 h 359"/>
                <a:gd name="T28" fmla="*/ 43257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14" name="Freeform 169"/>
            <p:cNvSpPr>
              <a:spLocks/>
            </p:cNvSpPr>
            <p:nvPr/>
          </p:nvSpPr>
          <p:spPr bwMode="auto">
            <a:xfrm>
              <a:off x="2778125" y="2698750"/>
              <a:ext cx="231775" cy="385763"/>
            </a:xfrm>
            <a:custGeom>
              <a:avLst/>
              <a:gdLst>
                <a:gd name="T0" fmla="*/ 42963 w 205"/>
                <a:gd name="T1" fmla="*/ 175151 h 359"/>
                <a:gd name="T2" fmla="*/ 42963 w 205"/>
                <a:gd name="T3" fmla="*/ 51578 h 359"/>
                <a:gd name="T4" fmla="*/ 87057 w 205"/>
                <a:gd name="T5" fmla="*/ 0 h 359"/>
                <a:gd name="T6" fmla="*/ 184289 w 205"/>
                <a:gd name="T7" fmla="*/ 71995 h 359"/>
                <a:gd name="T8" fmla="*/ 174114 w 205"/>
                <a:gd name="T9" fmla="*/ 123573 h 359"/>
                <a:gd name="T10" fmla="*/ 119845 w 205"/>
                <a:gd name="T11" fmla="*/ 175151 h 359"/>
                <a:gd name="T12" fmla="*/ 108539 w 205"/>
                <a:gd name="T13" fmla="*/ 206313 h 359"/>
                <a:gd name="T14" fmla="*/ 174114 w 205"/>
                <a:gd name="T15" fmla="*/ 226730 h 359"/>
                <a:gd name="T16" fmla="*/ 184289 w 205"/>
                <a:gd name="T17" fmla="*/ 371794 h 359"/>
                <a:gd name="T18" fmla="*/ 141326 w 205"/>
                <a:gd name="T19" fmla="*/ 361048 h 359"/>
                <a:gd name="T20" fmla="*/ 21482 w 205"/>
                <a:gd name="T21" fmla="*/ 371794 h 359"/>
                <a:gd name="T22" fmla="*/ 0 w 205"/>
                <a:gd name="T23" fmla="*/ 309470 h 359"/>
                <a:gd name="T24" fmla="*/ 11306 w 205"/>
                <a:gd name="T25" fmla="*/ 226730 h 359"/>
                <a:gd name="T26" fmla="*/ 42963 w 205"/>
                <a:gd name="T27" fmla="*/ 206313 h 359"/>
                <a:gd name="T28" fmla="*/ 42963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15" name="Freeform 170"/>
            <p:cNvSpPr>
              <a:spLocks/>
            </p:cNvSpPr>
            <p:nvPr/>
          </p:nvSpPr>
          <p:spPr bwMode="auto">
            <a:xfrm>
              <a:off x="7753350" y="4527550"/>
              <a:ext cx="233363" cy="385763"/>
            </a:xfrm>
            <a:custGeom>
              <a:avLst/>
              <a:gdLst>
                <a:gd name="T0" fmla="*/ 43258 w 205"/>
                <a:gd name="T1" fmla="*/ 175151 h 359"/>
                <a:gd name="T2" fmla="*/ 43258 w 205"/>
                <a:gd name="T3" fmla="*/ 51578 h 359"/>
                <a:gd name="T4" fmla="*/ 87653 w 205"/>
                <a:gd name="T5" fmla="*/ 0 h 359"/>
                <a:gd name="T6" fmla="*/ 185552 w 205"/>
                <a:gd name="T7" fmla="*/ 71995 h 359"/>
                <a:gd name="T8" fmla="*/ 175307 w 205"/>
                <a:gd name="T9" fmla="*/ 123573 h 359"/>
                <a:gd name="T10" fmla="*/ 120666 w 205"/>
                <a:gd name="T11" fmla="*/ 175151 h 359"/>
                <a:gd name="T12" fmla="*/ 109282 w 205"/>
                <a:gd name="T13" fmla="*/ 206313 h 359"/>
                <a:gd name="T14" fmla="*/ 175307 w 205"/>
                <a:gd name="T15" fmla="*/ 226730 h 359"/>
                <a:gd name="T16" fmla="*/ 185552 w 205"/>
                <a:gd name="T17" fmla="*/ 371794 h 359"/>
                <a:gd name="T18" fmla="*/ 142295 w 205"/>
                <a:gd name="T19" fmla="*/ 361048 h 359"/>
                <a:gd name="T20" fmla="*/ 21629 w 205"/>
                <a:gd name="T21" fmla="*/ 371794 h 359"/>
                <a:gd name="T22" fmla="*/ 0 w 205"/>
                <a:gd name="T23" fmla="*/ 309470 h 359"/>
                <a:gd name="T24" fmla="*/ 11384 w 205"/>
                <a:gd name="T25" fmla="*/ 226730 h 359"/>
                <a:gd name="T26" fmla="*/ 43258 w 205"/>
                <a:gd name="T27" fmla="*/ 206313 h 359"/>
                <a:gd name="T28" fmla="*/ 43258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16" name="Freeform 171"/>
            <p:cNvSpPr>
              <a:spLocks/>
            </p:cNvSpPr>
            <p:nvPr/>
          </p:nvSpPr>
          <p:spPr bwMode="auto">
            <a:xfrm>
              <a:off x="6924675" y="5221288"/>
              <a:ext cx="1355725" cy="303212"/>
            </a:xfrm>
            <a:custGeom>
              <a:avLst/>
              <a:gdLst>
                <a:gd name="T0" fmla="*/ 218037 w 2226"/>
                <a:gd name="T1" fmla="*/ 127853 h 517"/>
                <a:gd name="T2" fmla="*/ 216209 w 2226"/>
                <a:gd name="T3" fmla="*/ 112605 h 517"/>
                <a:gd name="T4" fmla="*/ 212555 w 2226"/>
                <a:gd name="T5" fmla="*/ 89145 h 517"/>
                <a:gd name="T6" fmla="*/ 207683 w 2226"/>
                <a:gd name="T7" fmla="*/ 56889 h 517"/>
                <a:gd name="T8" fmla="*/ 171750 w 2226"/>
                <a:gd name="T9" fmla="*/ 23459 h 517"/>
                <a:gd name="T10" fmla="*/ 107800 w 2226"/>
                <a:gd name="T11" fmla="*/ 31670 h 517"/>
                <a:gd name="T12" fmla="*/ 98665 w 2226"/>
                <a:gd name="T13" fmla="*/ 117297 h 517"/>
                <a:gd name="T14" fmla="*/ 110236 w 2226"/>
                <a:gd name="T15" fmla="*/ 151899 h 517"/>
                <a:gd name="T16" fmla="*/ 52378 w 2226"/>
                <a:gd name="T17" fmla="*/ 186502 h 517"/>
                <a:gd name="T18" fmla="*/ 18880 w 2226"/>
                <a:gd name="T19" fmla="*/ 218172 h 517"/>
                <a:gd name="T20" fmla="*/ 1355725 w 2226"/>
                <a:gd name="T21" fmla="*/ 230488 h 517"/>
                <a:gd name="T22" fmla="*/ 1314919 w 2226"/>
                <a:gd name="T23" fmla="*/ 143102 h 517"/>
                <a:gd name="T24" fmla="*/ 1296039 w 2226"/>
                <a:gd name="T25" fmla="*/ 124334 h 517"/>
                <a:gd name="T26" fmla="*/ 1317964 w 2226"/>
                <a:gd name="T27" fmla="*/ 40467 h 517"/>
                <a:gd name="T28" fmla="*/ 1278986 w 2226"/>
                <a:gd name="T29" fmla="*/ 586 h 517"/>
                <a:gd name="T30" fmla="*/ 1227217 w 2226"/>
                <a:gd name="T31" fmla="*/ 5865 h 517"/>
                <a:gd name="T32" fmla="*/ 1193111 w 2226"/>
                <a:gd name="T33" fmla="*/ 48092 h 517"/>
                <a:gd name="T34" fmla="*/ 1189457 w 2226"/>
                <a:gd name="T35" fmla="*/ 71551 h 517"/>
                <a:gd name="T36" fmla="*/ 1184584 w 2226"/>
                <a:gd name="T37" fmla="*/ 98529 h 517"/>
                <a:gd name="T38" fmla="*/ 1187629 w 2226"/>
                <a:gd name="T39" fmla="*/ 117883 h 517"/>
                <a:gd name="T40" fmla="*/ 1203465 w 2226"/>
                <a:gd name="T41" fmla="*/ 139583 h 517"/>
                <a:gd name="T42" fmla="*/ 1174840 w 2226"/>
                <a:gd name="T43" fmla="*/ 170667 h 517"/>
                <a:gd name="T44" fmla="*/ 1123071 w 2226"/>
                <a:gd name="T45" fmla="*/ 190021 h 517"/>
                <a:gd name="T46" fmla="*/ 1060340 w 2226"/>
                <a:gd name="T47" fmla="*/ 166561 h 517"/>
                <a:gd name="T48" fmla="*/ 1026843 w 2226"/>
                <a:gd name="T49" fmla="*/ 155418 h 517"/>
                <a:gd name="T50" fmla="*/ 1027452 w 2226"/>
                <a:gd name="T51" fmla="*/ 121989 h 517"/>
                <a:gd name="T52" fmla="*/ 976901 w 2226"/>
                <a:gd name="T53" fmla="*/ 52197 h 517"/>
                <a:gd name="T54" fmla="*/ 902598 w 2226"/>
                <a:gd name="T55" fmla="*/ 113191 h 517"/>
                <a:gd name="T56" fmla="*/ 915997 w 2226"/>
                <a:gd name="T57" fmla="*/ 160110 h 517"/>
                <a:gd name="T58" fmla="*/ 911125 w 2226"/>
                <a:gd name="T59" fmla="*/ 175359 h 517"/>
                <a:gd name="T60" fmla="*/ 831341 w 2226"/>
                <a:gd name="T61" fmla="*/ 219931 h 517"/>
                <a:gd name="T62" fmla="*/ 796016 w 2226"/>
                <a:gd name="T63" fmla="*/ 181810 h 517"/>
                <a:gd name="T64" fmla="*/ 718059 w 2226"/>
                <a:gd name="T65" fmla="*/ 164215 h 517"/>
                <a:gd name="T66" fmla="*/ 707096 w 2226"/>
                <a:gd name="T67" fmla="*/ 144275 h 517"/>
                <a:gd name="T68" fmla="*/ 725368 w 2226"/>
                <a:gd name="T69" fmla="*/ 119643 h 517"/>
                <a:gd name="T70" fmla="*/ 697961 w 2226"/>
                <a:gd name="T71" fmla="*/ 32843 h 517"/>
                <a:gd name="T72" fmla="*/ 618176 w 2226"/>
                <a:gd name="T73" fmla="*/ 59821 h 517"/>
                <a:gd name="T74" fmla="*/ 612086 w 2226"/>
                <a:gd name="T75" fmla="*/ 92664 h 517"/>
                <a:gd name="T76" fmla="*/ 614522 w 2226"/>
                <a:gd name="T77" fmla="*/ 120229 h 517"/>
                <a:gd name="T78" fmla="*/ 618785 w 2226"/>
                <a:gd name="T79" fmla="*/ 134305 h 517"/>
                <a:gd name="T80" fmla="*/ 621222 w 2226"/>
                <a:gd name="T81" fmla="*/ 144275 h 517"/>
                <a:gd name="T82" fmla="*/ 638275 w 2226"/>
                <a:gd name="T83" fmla="*/ 164802 h 517"/>
                <a:gd name="T84" fmla="*/ 614522 w 2226"/>
                <a:gd name="T85" fmla="*/ 188848 h 517"/>
                <a:gd name="T86" fmla="*/ 559099 w 2226"/>
                <a:gd name="T87" fmla="*/ 219931 h 517"/>
                <a:gd name="T88" fmla="*/ 531693 w 2226"/>
                <a:gd name="T89" fmla="*/ 232247 h 517"/>
                <a:gd name="T90" fmla="*/ 491496 w 2226"/>
                <a:gd name="T91" fmla="*/ 202337 h 517"/>
                <a:gd name="T92" fmla="*/ 468961 w 2226"/>
                <a:gd name="T93" fmla="*/ 177118 h 517"/>
                <a:gd name="T94" fmla="*/ 454344 w 2226"/>
                <a:gd name="T95" fmla="*/ 117883 h 517"/>
                <a:gd name="T96" fmla="*/ 448863 w 2226"/>
                <a:gd name="T97" fmla="*/ 83281 h 517"/>
                <a:gd name="T98" fmla="*/ 428765 w 2226"/>
                <a:gd name="T99" fmla="*/ 32843 h 517"/>
                <a:gd name="T100" fmla="*/ 362379 w 2226"/>
                <a:gd name="T101" fmla="*/ 42227 h 517"/>
                <a:gd name="T102" fmla="*/ 341672 w 2226"/>
                <a:gd name="T103" fmla="*/ 93837 h 517"/>
                <a:gd name="T104" fmla="*/ 331927 w 2226"/>
                <a:gd name="T105" fmla="*/ 180050 h 517"/>
                <a:gd name="T106" fmla="*/ 331318 w 2226"/>
                <a:gd name="T107" fmla="*/ 195299 h 517"/>
                <a:gd name="T108" fmla="*/ 294776 w 2226"/>
                <a:gd name="T109" fmla="*/ 212894 h 517"/>
                <a:gd name="T110" fmla="*/ 252752 w 2226"/>
                <a:gd name="T111" fmla="*/ 195299 h 517"/>
                <a:gd name="T112" fmla="*/ 186367 w 2226"/>
                <a:gd name="T113" fmla="*/ 168907 h 517"/>
                <a:gd name="T114" fmla="*/ 213164 w 2226"/>
                <a:gd name="T115" fmla="*/ 148380 h 51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26"/>
                <a:gd name="T175" fmla="*/ 0 h 517"/>
                <a:gd name="T176" fmla="*/ 2226 w 2226"/>
                <a:gd name="T177" fmla="*/ 517 h 51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26" h="517">
                  <a:moveTo>
                    <a:pt x="351" y="252"/>
                  </a:moveTo>
                  <a:lnTo>
                    <a:pt x="355" y="249"/>
                  </a:lnTo>
                  <a:lnTo>
                    <a:pt x="357" y="244"/>
                  </a:lnTo>
                  <a:lnTo>
                    <a:pt x="357" y="239"/>
                  </a:lnTo>
                  <a:lnTo>
                    <a:pt x="356" y="236"/>
                  </a:lnTo>
                  <a:lnTo>
                    <a:pt x="355" y="233"/>
                  </a:lnTo>
                  <a:lnTo>
                    <a:pt x="355" y="228"/>
                  </a:lnTo>
                  <a:lnTo>
                    <a:pt x="355" y="224"/>
                  </a:lnTo>
                  <a:lnTo>
                    <a:pt x="356" y="222"/>
                  </a:lnTo>
                  <a:lnTo>
                    <a:pt x="358" y="220"/>
                  </a:lnTo>
                  <a:lnTo>
                    <a:pt x="358" y="218"/>
                  </a:lnTo>
                  <a:lnTo>
                    <a:pt x="358" y="214"/>
                  </a:lnTo>
                  <a:lnTo>
                    <a:pt x="357" y="213"/>
                  </a:lnTo>
                  <a:lnTo>
                    <a:pt x="357" y="212"/>
                  </a:lnTo>
                  <a:lnTo>
                    <a:pt x="357" y="211"/>
                  </a:lnTo>
                  <a:lnTo>
                    <a:pt x="357" y="210"/>
                  </a:lnTo>
                  <a:lnTo>
                    <a:pt x="357" y="207"/>
                  </a:lnTo>
                  <a:lnTo>
                    <a:pt x="356" y="206"/>
                  </a:lnTo>
                  <a:lnTo>
                    <a:pt x="355" y="203"/>
                  </a:lnTo>
                  <a:lnTo>
                    <a:pt x="352" y="199"/>
                  </a:lnTo>
                  <a:lnTo>
                    <a:pt x="352" y="196"/>
                  </a:lnTo>
                  <a:lnTo>
                    <a:pt x="355" y="192"/>
                  </a:lnTo>
                  <a:lnTo>
                    <a:pt x="358" y="190"/>
                  </a:lnTo>
                  <a:lnTo>
                    <a:pt x="362" y="189"/>
                  </a:lnTo>
                  <a:lnTo>
                    <a:pt x="363" y="189"/>
                  </a:lnTo>
                  <a:lnTo>
                    <a:pt x="364" y="188"/>
                  </a:lnTo>
                  <a:lnTo>
                    <a:pt x="365" y="185"/>
                  </a:lnTo>
                  <a:lnTo>
                    <a:pt x="365" y="182"/>
                  </a:lnTo>
                  <a:lnTo>
                    <a:pt x="363" y="177"/>
                  </a:lnTo>
                  <a:lnTo>
                    <a:pt x="359" y="170"/>
                  </a:lnTo>
                  <a:lnTo>
                    <a:pt x="355" y="162"/>
                  </a:lnTo>
                  <a:lnTo>
                    <a:pt x="350" y="155"/>
                  </a:lnTo>
                  <a:lnTo>
                    <a:pt x="349" y="152"/>
                  </a:lnTo>
                  <a:lnTo>
                    <a:pt x="350" y="150"/>
                  </a:lnTo>
                  <a:lnTo>
                    <a:pt x="354" y="144"/>
                  </a:lnTo>
                  <a:lnTo>
                    <a:pt x="357" y="136"/>
                  </a:lnTo>
                  <a:lnTo>
                    <a:pt x="357" y="130"/>
                  </a:lnTo>
                  <a:lnTo>
                    <a:pt x="354" y="122"/>
                  </a:lnTo>
                  <a:lnTo>
                    <a:pt x="348" y="112"/>
                  </a:lnTo>
                  <a:lnTo>
                    <a:pt x="342" y="101"/>
                  </a:lnTo>
                  <a:lnTo>
                    <a:pt x="340" y="97"/>
                  </a:lnTo>
                  <a:lnTo>
                    <a:pt x="340" y="98"/>
                  </a:lnTo>
                  <a:lnTo>
                    <a:pt x="340" y="99"/>
                  </a:lnTo>
                  <a:lnTo>
                    <a:pt x="341" y="97"/>
                  </a:lnTo>
                  <a:lnTo>
                    <a:pt x="342" y="91"/>
                  </a:lnTo>
                  <a:lnTo>
                    <a:pt x="340" y="81"/>
                  </a:lnTo>
                  <a:lnTo>
                    <a:pt x="334" y="71"/>
                  </a:lnTo>
                  <a:lnTo>
                    <a:pt x="326" y="62"/>
                  </a:lnTo>
                  <a:lnTo>
                    <a:pt x="319" y="54"/>
                  </a:lnTo>
                  <a:lnTo>
                    <a:pt x="313" y="49"/>
                  </a:lnTo>
                  <a:lnTo>
                    <a:pt x="306" y="47"/>
                  </a:lnTo>
                  <a:lnTo>
                    <a:pt x="299" y="46"/>
                  </a:lnTo>
                  <a:lnTo>
                    <a:pt x="291" y="44"/>
                  </a:lnTo>
                  <a:lnTo>
                    <a:pt x="287" y="43"/>
                  </a:lnTo>
                  <a:lnTo>
                    <a:pt x="282" y="40"/>
                  </a:lnTo>
                  <a:lnTo>
                    <a:pt x="276" y="38"/>
                  </a:lnTo>
                  <a:lnTo>
                    <a:pt x="269" y="34"/>
                  </a:lnTo>
                  <a:lnTo>
                    <a:pt x="261" y="32"/>
                  </a:lnTo>
                  <a:lnTo>
                    <a:pt x="251" y="31"/>
                  </a:lnTo>
                  <a:lnTo>
                    <a:pt x="241" y="29"/>
                  </a:lnTo>
                  <a:lnTo>
                    <a:pt x="228" y="29"/>
                  </a:lnTo>
                  <a:lnTo>
                    <a:pt x="215" y="30"/>
                  </a:lnTo>
                  <a:lnTo>
                    <a:pt x="204" y="33"/>
                  </a:lnTo>
                  <a:lnTo>
                    <a:pt x="195" y="39"/>
                  </a:lnTo>
                  <a:lnTo>
                    <a:pt x="185" y="46"/>
                  </a:lnTo>
                  <a:lnTo>
                    <a:pt x="177" y="54"/>
                  </a:lnTo>
                  <a:lnTo>
                    <a:pt x="169" y="64"/>
                  </a:lnTo>
                  <a:lnTo>
                    <a:pt x="162" y="76"/>
                  </a:lnTo>
                  <a:lnTo>
                    <a:pt x="154" y="89"/>
                  </a:lnTo>
                  <a:lnTo>
                    <a:pt x="144" y="108"/>
                  </a:lnTo>
                  <a:lnTo>
                    <a:pt x="142" y="121"/>
                  </a:lnTo>
                  <a:lnTo>
                    <a:pt x="144" y="136"/>
                  </a:lnTo>
                  <a:lnTo>
                    <a:pt x="146" y="158"/>
                  </a:lnTo>
                  <a:lnTo>
                    <a:pt x="149" y="180"/>
                  </a:lnTo>
                  <a:lnTo>
                    <a:pt x="153" y="190"/>
                  </a:lnTo>
                  <a:lnTo>
                    <a:pt x="158" y="196"/>
                  </a:lnTo>
                  <a:lnTo>
                    <a:pt x="162" y="200"/>
                  </a:lnTo>
                  <a:lnTo>
                    <a:pt x="167" y="205"/>
                  </a:lnTo>
                  <a:lnTo>
                    <a:pt x="169" y="208"/>
                  </a:lnTo>
                  <a:lnTo>
                    <a:pt x="169" y="212"/>
                  </a:lnTo>
                  <a:lnTo>
                    <a:pt x="167" y="218"/>
                  </a:lnTo>
                  <a:lnTo>
                    <a:pt x="167" y="224"/>
                  </a:lnTo>
                  <a:lnTo>
                    <a:pt x="173" y="230"/>
                  </a:lnTo>
                  <a:lnTo>
                    <a:pt x="181" y="237"/>
                  </a:lnTo>
                  <a:lnTo>
                    <a:pt x="185" y="244"/>
                  </a:lnTo>
                  <a:lnTo>
                    <a:pt x="184" y="250"/>
                  </a:lnTo>
                  <a:lnTo>
                    <a:pt x="183" y="254"/>
                  </a:lnTo>
                  <a:lnTo>
                    <a:pt x="181" y="259"/>
                  </a:lnTo>
                  <a:lnTo>
                    <a:pt x="177" y="264"/>
                  </a:lnTo>
                  <a:lnTo>
                    <a:pt x="168" y="265"/>
                  </a:lnTo>
                  <a:lnTo>
                    <a:pt x="165" y="272"/>
                  </a:lnTo>
                  <a:lnTo>
                    <a:pt x="164" y="280"/>
                  </a:lnTo>
                  <a:lnTo>
                    <a:pt x="162" y="287"/>
                  </a:lnTo>
                  <a:lnTo>
                    <a:pt x="157" y="289"/>
                  </a:lnTo>
                  <a:lnTo>
                    <a:pt x="146" y="294"/>
                  </a:lnTo>
                  <a:lnTo>
                    <a:pt x="131" y="299"/>
                  </a:lnTo>
                  <a:lnTo>
                    <a:pt x="116" y="305"/>
                  </a:lnTo>
                  <a:lnTo>
                    <a:pt x="100" y="312"/>
                  </a:lnTo>
                  <a:lnTo>
                    <a:pt x="86" y="318"/>
                  </a:lnTo>
                  <a:lnTo>
                    <a:pt x="75" y="322"/>
                  </a:lnTo>
                  <a:lnTo>
                    <a:pt x="68" y="325"/>
                  </a:lnTo>
                  <a:lnTo>
                    <a:pt x="60" y="328"/>
                  </a:lnTo>
                  <a:lnTo>
                    <a:pt x="53" y="333"/>
                  </a:lnTo>
                  <a:lnTo>
                    <a:pt x="47" y="338"/>
                  </a:lnTo>
                  <a:lnTo>
                    <a:pt x="45" y="344"/>
                  </a:lnTo>
                  <a:lnTo>
                    <a:pt x="45" y="351"/>
                  </a:lnTo>
                  <a:lnTo>
                    <a:pt x="44" y="358"/>
                  </a:lnTo>
                  <a:lnTo>
                    <a:pt x="41" y="363"/>
                  </a:lnTo>
                  <a:lnTo>
                    <a:pt x="36" y="366"/>
                  </a:lnTo>
                  <a:lnTo>
                    <a:pt x="31" y="372"/>
                  </a:lnTo>
                  <a:lnTo>
                    <a:pt x="26" y="387"/>
                  </a:lnTo>
                  <a:lnTo>
                    <a:pt x="21" y="409"/>
                  </a:lnTo>
                  <a:lnTo>
                    <a:pt x="15" y="434"/>
                  </a:lnTo>
                  <a:lnTo>
                    <a:pt x="9" y="459"/>
                  </a:lnTo>
                  <a:lnTo>
                    <a:pt x="5" y="484"/>
                  </a:lnTo>
                  <a:lnTo>
                    <a:pt x="2" y="504"/>
                  </a:lnTo>
                  <a:lnTo>
                    <a:pt x="0" y="517"/>
                  </a:lnTo>
                  <a:lnTo>
                    <a:pt x="2226" y="517"/>
                  </a:lnTo>
                  <a:lnTo>
                    <a:pt x="2226" y="478"/>
                  </a:lnTo>
                  <a:lnTo>
                    <a:pt x="2226" y="393"/>
                  </a:lnTo>
                  <a:lnTo>
                    <a:pt x="2226" y="305"/>
                  </a:lnTo>
                  <a:lnTo>
                    <a:pt x="2226" y="261"/>
                  </a:lnTo>
                  <a:lnTo>
                    <a:pt x="2221" y="260"/>
                  </a:lnTo>
                  <a:lnTo>
                    <a:pt x="2213" y="258"/>
                  </a:lnTo>
                  <a:lnTo>
                    <a:pt x="2202" y="254"/>
                  </a:lnTo>
                  <a:lnTo>
                    <a:pt x="2193" y="251"/>
                  </a:lnTo>
                  <a:lnTo>
                    <a:pt x="2188" y="250"/>
                  </a:lnTo>
                  <a:lnTo>
                    <a:pt x="2181" y="248"/>
                  </a:lnTo>
                  <a:lnTo>
                    <a:pt x="2174" y="246"/>
                  </a:lnTo>
                  <a:lnTo>
                    <a:pt x="2166" y="245"/>
                  </a:lnTo>
                  <a:lnTo>
                    <a:pt x="2159" y="244"/>
                  </a:lnTo>
                  <a:lnTo>
                    <a:pt x="2152" y="244"/>
                  </a:lnTo>
                  <a:lnTo>
                    <a:pt x="2148" y="244"/>
                  </a:lnTo>
                  <a:lnTo>
                    <a:pt x="2144" y="244"/>
                  </a:lnTo>
                  <a:lnTo>
                    <a:pt x="2142" y="244"/>
                  </a:lnTo>
                  <a:lnTo>
                    <a:pt x="2143" y="243"/>
                  </a:lnTo>
                  <a:lnTo>
                    <a:pt x="2142" y="239"/>
                  </a:lnTo>
                  <a:lnTo>
                    <a:pt x="2140" y="234"/>
                  </a:lnTo>
                  <a:lnTo>
                    <a:pt x="2136" y="226"/>
                  </a:lnTo>
                  <a:lnTo>
                    <a:pt x="2132" y="216"/>
                  </a:lnTo>
                  <a:lnTo>
                    <a:pt x="2128" y="212"/>
                  </a:lnTo>
                  <a:lnTo>
                    <a:pt x="2141" y="203"/>
                  </a:lnTo>
                  <a:lnTo>
                    <a:pt x="2149" y="183"/>
                  </a:lnTo>
                  <a:lnTo>
                    <a:pt x="2153" y="162"/>
                  </a:lnTo>
                  <a:lnTo>
                    <a:pt x="2155" y="151"/>
                  </a:lnTo>
                  <a:lnTo>
                    <a:pt x="2157" y="142"/>
                  </a:lnTo>
                  <a:lnTo>
                    <a:pt x="2160" y="127"/>
                  </a:lnTo>
                  <a:lnTo>
                    <a:pt x="2166" y="112"/>
                  </a:lnTo>
                  <a:lnTo>
                    <a:pt x="2170" y="104"/>
                  </a:lnTo>
                  <a:lnTo>
                    <a:pt x="2170" y="95"/>
                  </a:lnTo>
                  <a:lnTo>
                    <a:pt x="2167" y="82"/>
                  </a:lnTo>
                  <a:lnTo>
                    <a:pt x="2164" y="69"/>
                  </a:lnTo>
                  <a:lnTo>
                    <a:pt x="2160" y="62"/>
                  </a:lnTo>
                  <a:lnTo>
                    <a:pt x="2160" y="55"/>
                  </a:lnTo>
                  <a:lnTo>
                    <a:pt x="2157" y="48"/>
                  </a:lnTo>
                  <a:lnTo>
                    <a:pt x="2152" y="40"/>
                  </a:lnTo>
                  <a:lnTo>
                    <a:pt x="2145" y="33"/>
                  </a:lnTo>
                  <a:lnTo>
                    <a:pt x="2138" y="26"/>
                  </a:lnTo>
                  <a:lnTo>
                    <a:pt x="2130" y="19"/>
                  </a:lnTo>
                  <a:lnTo>
                    <a:pt x="2124" y="13"/>
                  </a:lnTo>
                  <a:lnTo>
                    <a:pt x="2117" y="7"/>
                  </a:lnTo>
                  <a:lnTo>
                    <a:pt x="2109" y="2"/>
                  </a:lnTo>
                  <a:lnTo>
                    <a:pt x="2100" y="1"/>
                  </a:lnTo>
                  <a:lnTo>
                    <a:pt x="2090" y="0"/>
                  </a:lnTo>
                  <a:lnTo>
                    <a:pt x="2080" y="1"/>
                  </a:lnTo>
                  <a:lnTo>
                    <a:pt x="2071" y="2"/>
                  </a:lnTo>
                  <a:lnTo>
                    <a:pt x="2061" y="5"/>
                  </a:lnTo>
                  <a:lnTo>
                    <a:pt x="2056" y="7"/>
                  </a:lnTo>
                  <a:lnTo>
                    <a:pt x="2051" y="8"/>
                  </a:lnTo>
                  <a:lnTo>
                    <a:pt x="2048" y="9"/>
                  </a:lnTo>
                  <a:lnTo>
                    <a:pt x="2041" y="9"/>
                  </a:lnTo>
                  <a:lnTo>
                    <a:pt x="2034" y="9"/>
                  </a:lnTo>
                  <a:lnTo>
                    <a:pt x="2024" y="10"/>
                  </a:lnTo>
                  <a:lnTo>
                    <a:pt x="2015" y="10"/>
                  </a:lnTo>
                  <a:lnTo>
                    <a:pt x="2005" y="11"/>
                  </a:lnTo>
                  <a:lnTo>
                    <a:pt x="1996" y="13"/>
                  </a:lnTo>
                  <a:lnTo>
                    <a:pt x="1988" y="14"/>
                  </a:lnTo>
                  <a:lnTo>
                    <a:pt x="1977" y="19"/>
                  </a:lnTo>
                  <a:lnTo>
                    <a:pt x="1975" y="30"/>
                  </a:lnTo>
                  <a:lnTo>
                    <a:pt x="1976" y="40"/>
                  </a:lnTo>
                  <a:lnTo>
                    <a:pt x="1978" y="47"/>
                  </a:lnTo>
                  <a:lnTo>
                    <a:pt x="1969" y="54"/>
                  </a:lnTo>
                  <a:lnTo>
                    <a:pt x="1963" y="64"/>
                  </a:lnTo>
                  <a:lnTo>
                    <a:pt x="1960" y="75"/>
                  </a:lnTo>
                  <a:lnTo>
                    <a:pt x="1959" y="82"/>
                  </a:lnTo>
                  <a:lnTo>
                    <a:pt x="1957" y="87"/>
                  </a:lnTo>
                  <a:lnTo>
                    <a:pt x="1953" y="94"/>
                  </a:lnTo>
                  <a:lnTo>
                    <a:pt x="1950" y="100"/>
                  </a:lnTo>
                  <a:lnTo>
                    <a:pt x="1946" y="104"/>
                  </a:lnTo>
                  <a:lnTo>
                    <a:pt x="1946" y="106"/>
                  </a:lnTo>
                  <a:lnTo>
                    <a:pt x="1948" y="109"/>
                  </a:lnTo>
                  <a:lnTo>
                    <a:pt x="1951" y="114"/>
                  </a:lnTo>
                  <a:lnTo>
                    <a:pt x="1953" y="116"/>
                  </a:lnTo>
                  <a:lnTo>
                    <a:pt x="1953" y="119"/>
                  </a:lnTo>
                  <a:lnTo>
                    <a:pt x="1953" y="120"/>
                  </a:lnTo>
                  <a:lnTo>
                    <a:pt x="1953" y="122"/>
                  </a:lnTo>
                  <a:lnTo>
                    <a:pt x="1952" y="125"/>
                  </a:lnTo>
                  <a:lnTo>
                    <a:pt x="1950" y="131"/>
                  </a:lnTo>
                  <a:lnTo>
                    <a:pt x="1947" y="139"/>
                  </a:lnTo>
                  <a:lnTo>
                    <a:pt x="1943" y="147"/>
                  </a:lnTo>
                  <a:lnTo>
                    <a:pt x="1939" y="153"/>
                  </a:lnTo>
                  <a:lnTo>
                    <a:pt x="1937" y="157"/>
                  </a:lnTo>
                  <a:lnTo>
                    <a:pt x="1937" y="159"/>
                  </a:lnTo>
                  <a:lnTo>
                    <a:pt x="1938" y="161"/>
                  </a:lnTo>
                  <a:lnTo>
                    <a:pt x="1939" y="163"/>
                  </a:lnTo>
                  <a:lnTo>
                    <a:pt x="1942" y="165"/>
                  </a:lnTo>
                  <a:lnTo>
                    <a:pt x="1945" y="168"/>
                  </a:lnTo>
                  <a:lnTo>
                    <a:pt x="1950" y="170"/>
                  </a:lnTo>
                  <a:lnTo>
                    <a:pt x="1951" y="174"/>
                  </a:lnTo>
                  <a:lnTo>
                    <a:pt x="1951" y="177"/>
                  </a:lnTo>
                  <a:lnTo>
                    <a:pt x="1950" y="182"/>
                  </a:lnTo>
                  <a:lnTo>
                    <a:pt x="1948" y="188"/>
                  </a:lnTo>
                  <a:lnTo>
                    <a:pt x="1946" y="191"/>
                  </a:lnTo>
                  <a:lnTo>
                    <a:pt x="1946" y="193"/>
                  </a:lnTo>
                  <a:lnTo>
                    <a:pt x="1947" y="196"/>
                  </a:lnTo>
                  <a:lnTo>
                    <a:pt x="1950" y="199"/>
                  </a:lnTo>
                  <a:lnTo>
                    <a:pt x="1951" y="200"/>
                  </a:lnTo>
                  <a:lnTo>
                    <a:pt x="1950" y="201"/>
                  </a:lnTo>
                  <a:lnTo>
                    <a:pt x="1948" y="203"/>
                  </a:lnTo>
                  <a:lnTo>
                    <a:pt x="1948" y="205"/>
                  </a:lnTo>
                  <a:lnTo>
                    <a:pt x="1951" y="206"/>
                  </a:lnTo>
                  <a:lnTo>
                    <a:pt x="1952" y="210"/>
                  </a:lnTo>
                  <a:lnTo>
                    <a:pt x="1953" y="215"/>
                  </a:lnTo>
                  <a:lnTo>
                    <a:pt x="1953" y="222"/>
                  </a:lnTo>
                  <a:lnTo>
                    <a:pt x="1952" y="228"/>
                  </a:lnTo>
                  <a:lnTo>
                    <a:pt x="1954" y="233"/>
                  </a:lnTo>
                  <a:lnTo>
                    <a:pt x="1961" y="236"/>
                  </a:lnTo>
                  <a:lnTo>
                    <a:pt x="1969" y="237"/>
                  </a:lnTo>
                  <a:lnTo>
                    <a:pt x="1976" y="238"/>
                  </a:lnTo>
                  <a:lnTo>
                    <a:pt x="1982" y="238"/>
                  </a:lnTo>
                  <a:lnTo>
                    <a:pt x="1989" y="241"/>
                  </a:lnTo>
                  <a:lnTo>
                    <a:pt x="1995" y="243"/>
                  </a:lnTo>
                  <a:lnTo>
                    <a:pt x="1997" y="246"/>
                  </a:lnTo>
                  <a:lnTo>
                    <a:pt x="1989" y="254"/>
                  </a:lnTo>
                  <a:lnTo>
                    <a:pt x="1978" y="266"/>
                  </a:lnTo>
                  <a:lnTo>
                    <a:pt x="1969" y="276"/>
                  </a:lnTo>
                  <a:lnTo>
                    <a:pt x="1965" y="282"/>
                  </a:lnTo>
                  <a:lnTo>
                    <a:pt x="1959" y="284"/>
                  </a:lnTo>
                  <a:lnTo>
                    <a:pt x="1946" y="288"/>
                  </a:lnTo>
                  <a:lnTo>
                    <a:pt x="1929" y="291"/>
                  </a:lnTo>
                  <a:lnTo>
                    <a:pt x="1910" y="295"/>
                  </a:lnTo>
                  <a:lnTo>
                    <a:pt x="1892" y="298"/>
                  </a:lnTo>
                  <a:lnTo>
                    <a:pt x="1875" y="300"/>
                  </a:lnTo>
                  <a:lnTo>
                    <a:pt x="1862" y="302"/>
                  </a:lnTo>
                  <a:lnTo>
                    <a:pt x="1856" y="303"/>
                  </a:lnTo>
                  <a:lnTo>
                    <a:pt x="1853" y="303"/>
                  </a:lnTo>
                  <a:lnTo>
                    <a:pt x="1852" y="303"/>
                  </a:lnTo>
                  <a:lnTo>
                    <a:pt x="1851" y="306"/>
                  </a:lnTo>
                  <a:lnTo>
                    <a:pt x="1851" y="311"/>
                  </a:lnTo>
                  <a:lnTo>
                    <a:pt x="1848" y="317"/>
                  </a:lnTo>
                  <a:lnTo>
                    <a:pt x="1844" y="324"/>
                  </a:lnTo>
                  <a:lnTo>
                    <a:pt x="1838" y="328"/>
                  </a:lnTo>
                  <a:lnTo>
                    <a:pt x="1833" y="332"/>
                  </a:lnTo>
                  <a:lnTo>
                    <a:pt x="1817" y="317"/>
                  </a:lnTo>
                  <a:lnTo>
                    <a:pt x="1803" y="306"/>
                  </a:lnTo>
                  <a:lnTo>
                    <a:pt x="1792" y="299"/>
                  </a:lnTo>
                  <a:lnTo>
                    <a:pt x="1781" y="295"/>
                  </a:lnTo>
                  <a:lnTo>
                    <a:pt x="1772" y="291"/>
                  </a:lnTo>
                  <a:lnTo>
                    <a:pt x="1763" y="290"/>
                  </a:lnTo>
                  <a:lnTo>
                    <a:pt x="1755" y="289"/>
                  </a:lnTo>
                  <a:lnTo>
                    <a:pt x="1748" y="287"/>
                  </a:lnTo>
                  <a:lnTo>
                    <a:pt x="1741" y="284"/>
                  </a:lnTo>
                  <a:lnTo>
                    <a:pt x="1733" y="282"/>
                  </a:lnTo>
                  <a:lnTo>
                    <a:pt x="1724" y="281"/>
                  </a:lnTo>
                  <a:lnTo>
                    <a:pt x="1716" y="280"/>
                  </a:lnTo>
                  <a:lnTo>
                    <a:pt x="1709" y="279"/>
                  </a:lnTo>
                  <a:lnTo>
                    <a:pt x="1703" y="277"/>
                  </a:lnTo>
                  <a:lnTo>
                    <a:pt x="1700" y="276"/>
                  </a:lnTo>
                  <a:lnTo>
                    <a:pt x="1697" y="275"/>
                  </a:lnTo>
                  <a:lnTo>
                    <a:pt x="1696" y="272"/>
                  </a:lnTo>
                  <a:lnTo>
                    <a:pt x="1693" y="269"/>
                  </a:lnTo>
                  <a:lnTo>
                    <a:pt x="1689" y="266"/>
                  </a:lnTo>
                  <a:lnTo>
                    <a:pt x="1686" y="265"/>
                  </a:lnTo>
                  <a:lnTo>
                    <a:pt x="1686" y="262"/>
                  </a:lnTo>
                  <a:lnTo>
                    <a:pt x="1685" y="261"/>
                  </a:lnTo>
                  <a:lnTo>
                    <a:pt x="1684" y="259"/>
                  </a:lnTo>
                  <a:lnTo>
                    <a:pt x="1684" y="257"/>
                  </a:lnTo>
                  <a:lnTo>
                    <a:pt x="1685" y="257"/>
                  </a:lnTo>
                  <a:lnTo>
                    <a:pt x="1687" y="256"/>
                  </a:lnTo>
                  <a:lnTo>
                    <a:pt x="1689" y="251"/>
                  </a:lnTo>
                  <a:lnTo>
                    <a:pt x="1693" y="237"/>
                  </a:lnTo>
                  <a:lnTo>
                    <a:pt x="1693" y="222"/>
                  </a:lnTo>
                  <a:lnTo>
                    <a:pt x="1691" y="213"/>
                  </a:lnTo>
                  <a:lnTo>
                    <a:pt x="1687" y="208"/>
                  </a:lnTo>
                  <a:lnTo>
                    <a:pt x="1684" y="207"/>
                  </a:lnTo>
                  <a:lnTo>
                    <a:pt x="1684" y="200"/>
                  </a:lnTo>
                  <a:lnTo>
                    <a:pt x="1685" y="190"/>
                  </a:lnTo>
                  <a:lnTo>
                    <a:pt x="1684" y="178"/>
                  </a:lnTo>
                  <a:lnTo>
                    <a:pt x="1681" y="163"/>
                  </a:lnTo>
                  <a:lnTo>
                    <a:pt x="1678" y="150"/>
                  </a:lnTo>
                  <a:lnTo>
                    <a:pt x="1671" y="135"/>
                  </a:lnTo>
                  <a:lnTo>
                    <a:pt x="1662" y="121"/>
                  </a:lnTo>
                  <a:lnTo>
                    <a:pt x="1649" y="109"/>
                  </a:lnTo>
                  <a:lnTo>
                    <a:pt x="1626" y="95"/>
                  </a:lnTo>
                  <a:lnTo>
                    <a:pt x="1604" y="89"/>
                  </a:lnTo>
                  <a:lnTo>
                    <a:pt x="1583" y="86"/>
                  </a:lnTo>
                  <a:lnTo>
                    <a:pt x="1564" y="89"/>
                  </a:lnTo>
                  <a:lnTo>
                    <a:pt x="1545" y="94"/>
                  </a:lnTo>
                  <a:lnTo>
                    <a:pt x="1528" y="102"/>
                  </a:lnTo>
                  <a:lnTo>
                    <a:pt x="1513" y="113"/>
                  </a:lnTo>
                  <a:lnTo>
                    <a:pt x="1499" y="123"/>
                  </a:lnTo>
                  <a:lnTo>
                    <a:pt x="1489" y="136"/>
                  </a:lnTo>
                  <a:lnTo>
                    <a:pt x="1483" y="150"/>
                  </a:lnTo>
                  <a:lnTo>
                    <a:pt x="1480" y="165"/>
                  </a:lnTo>
                  <a:lnTo>
                    <a:pt x="1481" y="180"/>
                  </a:lnTo>
                  <a:lnTo>
                    <a:pt x="1482" y="193"/>
                  </a:lnTo>
                  <a:lnTo>
                    <a:pt x="1486" y="206"/>
                  </a:lnTo>
                  <a:lnTo>
                    <a:pt x="1488" y="215"/>
                  </a:lnTo>
                  <a:lnTo>
                    <a:pt x="1490" y="221"/>
                  </a:lnTo>
                  <a:lnTo>
                    <a:pt x="1487" y="224"/>
                  </a:lnTo>
                  <a:lnTo>
                    <a:pt x="1486" y="233"/>
                  </a:lnTo>
                  <a:lnTo>
                    <a:pt x="1487" y="241"/>
                  </a:lnTo>
                  <a:lnTo>
                    <a:pt x="1488" y="249"/>
                  </a:lnTo>
                  <a:lnTo>
                    <a:pt x="1490" y="256"/>
                  </a:lnTo>
                  <a:lnTo>
                    <a:pt x="1495" y="264"/>
                  </a:lnTo>
                  <a:lnTo>
                    <a:pt x="1501" y="269"/>
                  </a:lnTo>
                  <a:lnTo>
                    <a:pt x="1504" y="273"/>
                  </a:lnTo>
                  <a:lnTo>
                    <a:pt x="1504" y="275"/>
                  </a:lnTo>
                  <a:lnTo>
                    <a:pt x="1506" y="279"/>
                  </a:lnTo>
                  <a:lnTo>
                    <a:pt x="1507" y="282"/>
                  </a:lnTo>
                  <a:lnTo>
                    <a:pt x="1509" y="284"/>
                  </a:lnTo>
                  <a:lnTo>
                    <a:pt x="1507" y="286"/>
                  </a:lnTo>
                  <a:lnTo>
                    <a:pt x="1506" y="287"/>
                  </a:lnTo>
                  <a:lnTo>
                    <a:pt x="1503" y="288"/>
                  </a:lnTo>
                  <a:lnTo>
                    <a:pt x="1499" y="289"/>
                  </a:lnTo>
                  <a:lnTo>
                    <a:pt x="1497" y="291"/>
                  </a:lnTo>
                  <a:lnTo>
                    <a:pt x="1496" y="295"/>
                  </a:lnTo>
                  <a:lnTo>
                    <a:pt x="1496" y="299"/>
                  </a:lnTo>
                  <a:lnTo>
                    <a:pt x="1495" y="303"/>
                  </a:lnTo>
                  <a:lnTo>
                    <a:pt x="1491" y="305"/>
                  </a:lnTo>
                  <a:lnTo>
                    <a:pt x="1487" y="307"/>
                  </a:lnTo>
                  <a:lnTo>
                    <a:pt x="1480" y="311"/>
                  </a:lnTo>
                  <a:lnTo>
                    <a:pt x="1471" y="313"/>
                  </a:lnTo>
                  <a:lnTo>
                    <a:pt x="1461" y="318"/>
                  </a:lnTo>
                  <a:lnTo>
                    <a:pt x="1445" y="326"/>
                  </a:lnTo>
                  <a:lnTo>
                    <a:pt x="1426" y="337"/>
                  </a:lnTo>
                  <a:lnTo>
                    <a:pt x="1404" y="351"/>
                  </a:lnTo>
                  <a:lnTo>
                    <a:pt x="1383" y="364"/>
                  </a:lnTo>
                  <a:lnTo>
                    <a:pt x="1365" y="375"/>
                  </a:lnTo>
                  <a:lnTo>
                    <a:pt x="1351" y="385"/>
                  </a:lnTo>
                  <a:lnTo>
                    <a:pt x="1344" y="389"/>
                  </a:lnTo>
                  <a:lnTo>
                    <a:pt x="1339" y="388"/>
                  </a:lnTo>
                  <a:lnTo>
                    <a:pt x="1336" y="379"/>
                  </a:lnTo>
                  <a:lnTo>
                    <a:pt x="1332" y="363"/>
                  </a:lnTo>
                  <a:lnTo>
                    <a:pt x="1330" y="344"/>
                  </a:lnTo>
                  <a:lnTo>
                    <a:pt x="1329" y="335"/>
                  </a:lnTo>
                  <a:lnTo>
                    <a:pt x="1325" y="327"/>
                  </a:lnTo>
                  <a:lnTo>
                    <a:pt x="1321" y="320"/>
                  </a:lnTo>
                  <a:lnTo>
                    <a:pt x="1314" y="314"/>
                  </a:lnTo>
                  <a:lnTo>
                    <a:pt x="1307" y="310"/>
                  </a:lnTo>
                  <a:lnTo>
                    <a:pt x="1301" y="306"/>
                  </a:lnTo>
                  <a:lnTo>
                    <a:pt x="1294" y="304"/>
                  </a:lnTo>
                  <a:lnTo>
                    <a:pt x="1290" y="303"/>
                  </a:lnTo>
                  <a:lnTo>
                    <a:pt x="1282" y="302"/>
                  </a:lnTo>
                  <a:lnTo>
                    <a:pt x="1269" y="298"/>
                  </a:lnTo>
                  <a:lnTo>
                    <a:pt x="1252" y="295"/>
                  </a:lnTo>
                  <a:lnTo>
                    <a:pt x="1233" y="291"/>
                  </a:lnTo>
                  <a:lnTo>
                    <a:pt x="1215" y="287"/>
                  </a:lnTo>
                  <a:lnTo>
                    <a:pt x="1199" y="283"/>
                  </a:lnTo>
                  <a:lnTo>
                    <a:pt x="1186" y="281"/>
                  </a:lnTo>
                  <a:lnTo>
                    <a:pt x="1179" y="280"/>
                  </a:lnTo>
                  <a:lnTo>
                    <a:pt x="1180" y="280"/>
                  </a:lnTo>
                  <a:lnTo>
                    <a:pt x="1182" y="279"/>
                  </a:lnTo>
                  <a:lnTo>
                    <a:pt x="1182" y="277"/>
                  </a:lnTo>
                  <a:lnTo>
                    <a:pt x="1183" y="275"/>
                  </a:lnTo>
                  <a:lnTo>
                    <a:pt x="1182" y="269"/>
                  </a:lnTo>
                  <a:lnTo>
                    <a:pt x="1178" y="261"/>
                  </a:lnTo>
                  <a:lnTo>
                    <a:pt x="1173" y="253"/>
                  </a:lnTo>
                  <a:lnTo>
                    <a:pt x="1170" y="249"/>
                  </a:lnTo>
                  <a:lnTo>
                    <a:pt x="1168" y="248"/>
                  </a:lnTo>
                  <a:lnTo>
                    <a:pt x="1164" y="246"/>
                  </a:lnTo>
                  <a:lnTo>
                    <a:pt x="1161" y="246"/>
                  </a:lnTo>
                  <a:lnTo>
                    <a:pt x="1156" y="246"/>
                  </a:lnTo>
                  <a:lnTo>
                    <a:pt x="1154" y="246"/>
                  </a:lnTo>
                  <a:lnTo>
                    <a:pt x="1154" y="248"/>
                  </a:lnTo>
                  <a:lnTo>
                    <a:pt x="1155" y="248"/>
                  </a:lnTo>
                  <a:lnTo>
                    <a:pt x="1158" y="246"/>
                  </a:lnTo>
                  <a:lnTo>
                    <a:pt x="1163" y="242"/>
                  </a:lnTo>
                  <a:lnTo>
                    <a:pt x="1169" y="234"/>
                  </a:lnTo>
                  <a:lnTo>
                    <a:pt x="1176" y="226"/>
                  </a:lnTo>
                  <a:lnTo>
                    <a:pt x="1183" y="219"/>
                  </a:lnTo>
                  <a:lnTo>
                    <a:pt x="1188" y="213"/>
                  </a:lnTo>
                  <a:lnTo>
                    <a:pt x="1191" y="204"/>
                  </a:lnTo>
                  <a:lnTo>
                    <a:pt x="1192" y="195"/>
                  </a:lnTo>
                  <a:lnTo>
                    <a:pt x="1192" y="188"/>
                  </a:lnTo>
                  <a:lnTo>
                    <a:pt x="1191" y="182"/>
                  </a:lnTo>
                  <a:lnTo>
                    <a:pt x="1188" y="172"/>
                  </a:lnTo>
                  <a:lnTo>
                    <a:pt x="1185" y="153"/>
                  </a:lnTo>
                  <a:lnTo>
                    <a:pt x="1183" y="121"/>
                  </a:lnTo>
                  <a:lnTo>
                    <a:pt x="1180" y="102"/>
                  </a:lnTo>
                  <a:lnTo>
                    <a:pt x="1176" y="87"/>
                  </a:lnTo>
                  <a:lnTo>
                    <a:pt x="1169" y="75"/>
                  </a:lnTo>
                  <a:lnTo>
                    <a:pt x="1158" y="64"/>
                  </a:lnTo>
                  <a:lnTo>
                    <a:pt x="1146" y="56"/>
                  </a:lnTo>
                  <a:lnTo>
                    <a:pt x="1130" y="51"/>
                  </a:lnTo>
                  <a:lnTo>
                    <a:pt x="1111" y="47"/>
                  </a:lnTo>
                  <a:lnTo>
                    <a:pt x="1089" y="46"/>
                  </a:lnTo>
                  <a:lnTo>
                    <a:pt x="1069" y="47"/>
                  </a:lnTo>
                  <a:lnTo>
                    <a:pt x="1051" y="53"/>
                  </a:lnTo>
                  <a:lnTo>
                    <a:pt x="1039" y="62"/>
                  </a:lnTo>
                  <a:lnTo>
                    <a:pt x="1028" y="71"/>
                  </a:lnTo>
                  <a:lnTo>
                    <a:pt x="1021" y="82"/>
                  </a:lnTo>
                  <a:lnTo>
                    <a:pt x="1017" y="91"/>
                  </a:lnTo>
                  <a:lnTo>
                    <a:pt x="1015" y="99"/>
                  </a:lnTo>
                  <a:lnTo>
                    <a:pt x="1015" y="102"/>
                  </a:lnTo>
                  <a:lnTo>
                    <a:pt x="1017" y="105"/>
                  </a:lnTo>
                  <a:lnTo>
                    <a:pt x="1020" y="106"/>
                  </a:lnTo>
                  <a:lnTo>
                    <a:pt x="1024" y="107"/>
                  </a:lnTo>
                  <a:lnTo>
                    <a:pt x="1025" y="108"/>
                  </a:lnTo>
                  <a:lnTo>
                    <a:pt x="1017" y="117"/>
                  </a:lnTo>
                  <a:lnTo>
                    <a:pt x="1011" y="130"/>
                  </a:lnTo>
                  <a:lnTo>
                    <a:pt x="1008" y="142"/>
                  </a:lnTo>
                  <a:lnTo>
                    <a:pt x="1006" y="148"/>
                  </a:lnTo>
                  <a:lnTo>
                    <a:pt x="1005" y="152"/>
                  </a:lnTo>
                  <a:lnTo>
                    <a:pt x="1005" y="155"/>
                  </a:lnTo>
                  <a:lnTo>
                    <a:pt x="1005" y="158"/>
                  </a:lnTo>
                  <a:lnTo>
                    <a:pt x="1006" y="160"/>
                  </a:lnTo>
                  <a:lnTo>
                    <a:pt x="1004" y="162"/>
                  </a:lnTo>
                  <a:lnTo>
                    <a:pt x="1002" y="166"/>
                  </a:lnTo>
                  <a:lnTo>
                    <a:pt x="1000" y="170"/>
                  </a:lnTo>
                  <a:lnTo>
                    <a:pt x="998" y="175"/>
                  </a:lnTo>
                  <a:lnTo>
                    <a:pt x="1000" y="182"/>
                  </a:lnTo>
                  <a:lnTo>
                    <a:pt x="1002" y="189"/>
                  </a:lnTo>
                  <a:lnTo>
                    <a:pt x="1005" y="196"/>
                  </a:lnTo>
                  <a:lnTo>
                    <a:pt x="1009" y="199"/>
                  </a:lnTo>
                  <a:lnTo>
                    <a:pt x="1009" y="201"/>
                  </a:lnTo>
                  <a:lnTo>
                    <a:pt x="1009" y="205"/>
                  </a:lnTo>
                  <a:lnTo>
                    <a:pt x="1008" y="210"/>
                  </a:lnTo>
                  <a:lnTo>
                    <a:pt x="1005" y="215"/>
                  </a:lnTo>
                  <a:lnTo>
                    <a:pt x="1004" y="221"/>
                  </a:lnTo>
                  <a:lnTo>
                    <a:pt x="1006" y="223"/>
                  </a:lnTo>
                  <a:lnTo>
                    <a:pt x="1010" y="224"/>
                  </a:lnTo>
                  <a:lnTo>
                    <a:pt x="1012" y="224"/>
                  </a:lnTo>
                  <a:lnTo>
                    <a:pt x="1013" y="224"/>
                  </a:lnTo>
                  <a:lnTo>
                    <a:pt x="1015" y="224"/>
                  </a:lnTo>
                  <a:lnTo>
                    <a:pt x="1016" y="226"/>
                  </a:lnTo>
                  <a:lnTo>
                    <a:pt x="1016" y="227"/>
                  </a:lnTo>
                  <a:lnTo>
                    <a:pt x="1016" y="229"/>
                  </a:lnTo>
                  <a:lnTo>
                    <a:pt x="1016" y="231"/>
                  </a:lnTo>
                  <a:lnTo>
                    <a:pt x="1016" y="234"/>
                  </a:lnTo>
                  <a:lnTo>
                    <a:pt x="1017" y="236"/>
                  </a:lnTo>
                  <a:lnTo>
                    <a:pt x="1018" y="237"/>
                  </a:lnTo>
                  <a:lnTo>
                    <a:pt x="1019" y="238"/>
                  </a:lnTo>
                  <a:lnTo>
                    <a:pt x="1020" y="238"/>
                  </a:lnTo>
                  <a:lnTo>
                    <a:pt x="1019" y="241"/>
                  </a:lnTo>
                  <a:lnTo>
                    <a:pt x="1019" y="242"/>
                  </a:lnTo>
                  <a:lnTo>
                    <a:pt x="1019" y="244"/>
                  </a:lnTo>
                  <a:lnTo>
                    <a:pt x="1019" y="245"/>
                  </a:lnTo>
                  <a:lnTo>
                    <a:pt x="1020" y="246"/>
                  </a:lnTo>
                  <a:lnTo>
                    <a:pt x="1021" y="246"/>
                  </a:lnTo>
                  <a:lnTo>
                    <a:pt x="1021" y="245"/>
                  </a:lnTo>
                  <a:lnTo>
                    <a:pt x="1021" y="246"/>
                  </a:lnTo>
                  <a:lnTo>
                    <a:pt x="1021" y="254"/>
                  </a:lnTo>
                  <a:lnTo>
                    <a:pt x="1023" y="264"/>
                  </a:lnTo>
                  <a:lnTo>
                    <a:pt x="1028" y="269"/>
                  </a:lnTo>
                  <a:lnTo>
                    <a:pt x="1035" y="272"/>
                  </a:lnTo>
                  <a:lnTo>
                    <a:pt x="1041" y="273"/>
                  </a:lnTo>
                  <a:lnTo>
                    <a:pt x="1044" y="274"/>
                  </a:lnTo>
                  <a:lnTo>
                    <a:pt x="1047" y="276"/>
                  </a:lnTo>
                  <a:lnTo>
                    <a:pt x="1048" y="281"/>
                  </a:lnTo>
                  <a:lnTo>
                    <a:pt x="1048" y="284"/>
                  </a:lnTo>
                  <a:lnTo>
                    <a:pt x="1044" y="287"/>
                  </a:lnTo>
                  <a:lnTo>
                    <a:pt x="1038" y="292"/>
                  </a:lnTo>
                  <a:lnTo>
                    <a:pt x="1031" y="297"/>
                  </a:lnTo>
                  <a:lnTo>
                    <a:pt x="1026" y="300"/>
                  </a:lnTo>
                  <a:lnTo>
                    <a:pt x="1021" y="304"/>
                  </a:lnTo>
                  <a:lnTo>
                    <a:pt x="1016" y="307"/>
                  </a:lnTo>
                  <a:lnTo>
                    <a:pt x="1012" y="311"/>
                  </a:lnTo>
                  <a:lnTo>
                    <a:pt x="1011" y="314"/>
                  </a:lnTo>
                  <a:lnTo>
                    <a:pt x="1011" y="318"/>
                  </a:lnTo>
                  <a:lnTo>
                    <a:pt x="1009" y="322"/>
                  </a:lnTo>
                  <a:lnTo>
                    <a:pt x="1005" y="327"/>
                  </a:lnTo>
                  <a:lnTo>
                    <a:pt x="1002" y="332"/>
                  </a:lnTo>
                  <a:lnTo>
                    <a:pt x="997" y="335"/>
                  </a:lnTo>
                  <a:lnTo>
                    <a:pt x="988" y="340"/>
                  </a:lnTo>
                  <a:lnTo>
                    <a:pt x="977" y="348"/>
                  </a:lnTo>
                  <a:lnTo>
                    <a:pt x="963" y="355"/>
                  </a:lnTo>
                  <a:lnTo>
                    <a:pt x="949" y="363"/>
                  </a:lnTo>
                  <a:lnTo>
                    <a:pt x="937" y="368"/>
                  </a:lnTo>
                  <a:lnTo>
                    <a:pt x="928" y="373"/>
                  </a:lnTo>
                  <a:lnTo>
                    <a:pt x="924" y="375"/>
                  </a:lnTo>
                  <a:lnTo>
                    <a:pt x="918" y="375"/>
                  </a:lnTo>
                  <a:lnTo>
                    <a:pt x="912" y="374"/>
                  </a:lnTo>
                  <a:lnTo>
                    <a:pt x="905" y="374"/>
                  </a:lnTo>
                  <a:lnTo>
                    <a:pt x="899" y="375"/>
                  </a:lnTo>
                  <a:lnTo>
                    <a:pt x="896" y="379"/>
                  </a:lnTo>
                  <a:lnTo>
                    <a:pt x="894" y="385"/>
                  </a:lnTo>
                  <a:lnTo>
                    <a:pt x="890" y="390"/>
                  </a:lnTo>
                  <a:lnTo>
                    <a:pt x="887" y="397"/>
                  </a:lnTo>
                  <a:lnTo>
                    <a:pt x="882" y="401"/>
                  </a:lnTo>
                  <a:lnTo>
                    <a:pt x="879" y="401"/>
                  </a:lnTo>
                  <a:lnTo>
                    <a:pt x="875" y="398"/>
                  </a:lnTo>
                  <a:lnTo>
                    <a:pt x="873" y="396"/>
                  </a:lnTo>
                  <a:lnTo>
                    <a:pt x="869" y="390"/>
                  </a:lnTo>
                  <a:lnTo>
                    <a:pt x="863" y="378"/>
                  </a:lnTo>
                  <a:lnTo>
                    <a:pt x="856" y="365"/>
                  </a:lnTo>
                  <a:lnTo>
                    <a:pt x="849" y="357"/>
                  </a:lnTo>
                  <a:lnTo>
                    <a:pt x="842" y="353"/>
                  </a:lnTo>
                  <a:lnTo>
                    <a:pt x="834" y="353"/>
                  </a:lnTo>
                  <a:lnTo>
                    <a:pt x="825" y="353"/>
                  </a:lnTo>
                  <a:lnTo>
                    <a:pt x="819" y="355"/>
                  </a:lnTo>
                  <a:lnTo>
                    <a:pt x="814" y="353"/>
                  </a:lnTo>
                  <a:lnTo>
                    <a:pt x="811" y="350"/>
                  </a:lnTo>
                  <a:lnTo>
                    <a:pt x="807" y="345"/>
                  </a:lnTo>
                  <a:lnTo>
                    <a:pt x="805" y="342"/>
                  </a:lnTo>
                  <a:lnTo>
                    <a:pt x="800" y="340"/>
                  </a:lnTo>
                  <a:lnTo>
                    <a:pt x="793" y="340"/>
                  </a:lnTo>
                  <a:lnTo>
                    <a:pt x="787" y="341"/>
                  </a:lnTo>
                  <a:lnTo>
                    <a:pt x="782" y="341"/>
                  </a:lnTo>
                  <a:lnTo>
                    <a:pt x="780" y="336"/>
                  </a:lnTo>
                  <a:lnTo>
                    <a:pt x="774" y="330"/>
                  </a:lnTo>
                  <a:lnTo>
                    <a:pt x="768" y="325"/>
                  </a:lnTo>
                  <a:lnTo>
                    <a:pt x="763" y="320"/>
                  </a:lnTo>
                  <a:lnTo>
                    <a:pt x="767" y="313"/>
                  </a:lnTo>
                  <a:lnTo>
                    <a:pt x="770" y="302"/>
                  </a:lnTo>
                  <a:lnTo>
                    <a:pt x="773" y="289"/>
                  </a:lnTo>
                  <a:lnTo>
                    <a:pt x="774" y="279"/>
                  </a:lnTo>
                  <a:lnTo>
                    <a:pt x="774" y="266"/>
                  </a:lnTo>
                  <a:lnTo>
                    <a:pt x="770" y="256"/>
                  </a:lnTo>
                  <a:lnTo>
                    <a:pt x="765" y="246"/>
                  </a:lnTo>
                  <a:lnTo>
                    <a:pt x="759" y="237"/>
                  </a:lnTo>
                  <a:lnTo>
                    <a:pt x="752" y="229"/>
                  </a:lnTo>
                  <a:lnTo>
                    <a:pt x="746" y="221"/>
                  </a:lnTo>
                  <a:lnTo>
                    <a:pt x="744" y="213"/>
                  </a:lnTo>
                  <a:lnTo>
                    <a:pt x="744" y="205"/>
                  </a:lnTo>
                  <a:lnTo>
                    <a:pt x="746" y="201"/>
                  </a:lnTo>
                  <a:lnTo>
                    <a:pt x="750" y="198"/>
                  </a:lnTo>
                  <a:lnTo>
                    <a:pt x="752" y="193"/>
                  </a:lnTo>
                  <a:lnTo>
                    <a:pt x="754" y="185"/>
                  </a:lnTo>
                  <a:lnTo>
                    <a:pt x="754" y="177"/>
                  </a:lnTo>
                  <a:lnTo>
                    <a:pt x="752" y="172"/>
                  </a:lnTo>
                  <a:lnTo>
                    <a:pt x="747" y="166"/>
                  </a:lnTo>
                  <a:lnTo>
                    <a:pt x="742" y="160"/>
                  </a:lnTo>
                  <a:lnTo>
                    <a:pt x="738" y="159"/>
                  </a:lnTo>
                  <a:lnTo>
                    <a:pt x="735" y="155"/>
                  </a:lnTo>
                  <a:lnTo>
                    <a:pt x="734" y="150"/>
                  </a:lnTo>
                  <a:lnTo>
                    <a:pt x="737" y="142"/>
                  </a:lnTo>
                  <a:lnTo>
                    <a:pt x="743" y="124"/>
                  </a:lnTo>
                  <a:lnTo>
                    <a:pt x="740" y="105"/>
                  </a:lnTo>
                  <a:lnTo>
                    <a:pt x="735" y="87"/>
                  </a:lnTo>
                  <a:lnTo>
                    <a:pt x="730" y="77"/>
                  </a:lnTo>
                  <a:lnTo>
                    <a:pt x="727" y="72"/>
                  </a:lnTo>
                  <a:lnTo>
                    <a:pt x="722" y="70"/>
                  </a:lnTo>
                  <a:lnTo>
                    <a:pt x="716" y="68"/>
                  </a:lnTo>
                  <a:lnTo>
                    <a:pt x="712" y="67"/>
                  </a:lnTo>
                  <a:lnTo>
                    <a:pt x="711" y="64"/>
                  </a:lnTo>
                  <a:lnTo>
                    <a:pt x="708" y="61"/>
                  </a:lnTo>
                  <a:lnTo>
                    <a:pt x="704" y="56"/>
                  </a:lnTo>
                  <a:lnTo>
                    <a:pt x="698" y="52"/>
                  </a:lnTo>
                  <a:lnTo>
                    <a:pt x="691" y="46"/>
                  </a:lnTo>
                  <a:lnTo>
                    <a:pt x="683" y="41"/>
                  </a:lnTo>
                  <a:lnTo>
                    <a:pt x="673" y="39"/>
                  </a:lnTo>
                  <a:lnTo>
                    <a:pt x="661" y="37"/>
                  </a:lnTo>
                  <a:lnTo>
                    <a:pt x="649" y="38"/>
                  </a:lnTo>
                  <a:lnTo>
                    <a:pt x="637" y="41"/>
                  </a:lnTo>
                  <a:lnTo>
                    <a:pt x="626" y="46"/>
                  </a:lnTo>
                  <a:lnTo>
                    <a:pt x="615" y="54"/>
                  </a:lnTo>
                  <a:lnTo>
                    <a:pt x="606" y="62"/>
                  </a:lnTo>
                  <a:lnTo>
                    <a:pt x="595" y="72"/>
                  </a:lnTo>
                  <a:lnTo>
                    <a:pt x="587" y="82"/>
                  </a:lnTo>
                  <a:lnTo>
                    <a:pt x="579" y="91"/>
                  </a:lnTo>
                  <a:lnTo>
                    <a:pt x="569" y="108"/>
                  </a:lnTo>
                  <a:lnTo>
                    <a:pt x="568" y="124"/>
                  </a:lnTo>
                  <a:lnTo>
                    <a:pt x="569" y="137"/>
                  </a:lnTo>
                  <a:lnTo>
                    <a:pt x="572" y="142"/>
                  </a:lnTo>
                  <a:lnTo>
                    <a:pt x="573" y="144"/>
                  </a:lnTo>
                  <a:lnTo>
                    <a:pt x="575" y="147"/>
                  </a:lnTo>
                  <a:lnTo>
                    <a:pt x="572" y="152"/>
                  </a:lnTo>
                  <a:lnTo>
                    <a:pt x="569" y="154"/>
                  </a:lnTo>
                  <a:lnTo>
                    <a:pt x="561" y="160"/>
                  </a:lnTo>
                  <a:lnTo>
                    <a:pt x="554" y="172"/>
                  </a:lnTo>
                  <a:lnTo>
                    <a:pt x="549" y="184"/>
                  </a:lnTo>
                  <a:lnTo>
                    <a:pt x="550" y="197"/>
                  </a:lnTo>
                  <a:lnTo>
                    <a:pt x="554" y="211"/>
                  </a:lnTo>
                  <a:lnTo>
                    <a:pt x="555" y="227"/>
                  </a:lnTo>
                  <a:lnTo>
                    <a:pt x="550" y="248"/>
                  </a:lnTo>
                  <a:lnTo>
                    <a:pt x="541" y="272"/>
                  </a:lnTo>
                  <a:lnTo>
                    <a:pt x="538" y="284"/>
                  </a:lnTo>
                  <a:lnTo>
                    <a:pt x="538" y="294"/>
                  </a:lnTo>
                  <a:lnTo>
                    <a:pt x="540" y="302"/>
                  </a:lnTo>
                  <a:lnTo>
                    <a:pt x="545" y="307"/>
                  </a:lnTo>
                  <a:lnTo>
                    <a:pt x="550" y="313"/>
                  </a:lnTo>
                  <a:lnTo>
                    <a:pt x="555" y="317"/>
                  </a:lnTo>
                  <a:lnTo>
                    <a:pt x="559" y="319"/>
                  </a:lnTo>
                  <a:lnTo>
                    <a:pt x="561" y="320"/>
                  </a:lnTo>
                  <a:lnTo>
                    <a:pt x="559" y="321"/>
                  </a:lnTo>
                  <a:lnTo>
                    <a:pt x="554" y="321"/>
                  </a:lnTo>
                  <a:lnTo>
                    <a:pt x="547" y="321"/>
                  </a:lnTo>
                  <a:lnTo>
                    <a:pt x="542" y="321"/>
                  </a:lnTo>
                  <a:lnTo>
                    <a:pt x="544" y="325"/>
                  </a:lnTo>
                  <a:lnTo>
                    <a:pt x="545" y="329"/>
                  </a:lnTo>
                  <a:lnTo>
                    <a:pt x="544" y="333"/>
                  </a:lnTo>
                  <a:lnTo>
                    <a:pt x="542" y="335"/>
                  </a:lnTo>
                  <a:lnTo>
                    <a:pt x="540" y="336"/>
                  </a:lnTo>
                  <a:lnTo>
                    <a:pt x="534" y="340"/>
                  </a:lnTo>
                  <a:lnTo>
                    <a:pt x="527" y="344"/>
                  </a:lnTo>
                  <a:lnTo>
                    <a:pt x="519" y="348"/>
                  </a:lnTo>
                  <a:lnTo>
                    <a:pt x="511" y="352"/>
                  </a:lnTo>
                  <a:lnTo>
                    <a:pt x="504" y="357"/>
                  </a:lnTo>
                  <a:lnTo>
                    <a:pt x="497" y="360"/>
                  </a:lnTo>
                  <a:lnTo>
                    <a:pt x="494" y="362"/>
                  </a:lnTo>
                  <a:lnTo>
                    <a:pt x="491" y="363"/>
                  </a:lnTo>
                  <a:lnTo>
                    <a:pt x="484" y="363"/>
                  </a:lnTo>
                  <a:lnTo>
                    <a:pt x="477" y="363"/>
                  </a:lnTo>
                  <a:lnTo>
                    <a:pt x="469" y="363"/>
                  </a:lnTo>
                  <a:lnTo>
                    <a:pt x="461" y="363"/>
                  </a:lnTo>
                  <a:lnTo>
                    <a:pt x="454" y="363"/>
                  </a:lnTo>
                  <a:lnTo>
                    <a:pt x="448" y="363"/>
                  </a:lnTo>
                  <a:lnTo>
                    <a:pt x="446" y="363"/>
                  </a:lnTo>
                  <a:lnTo>
                    <a:pt x="441" y="359"/>
                  </a:lnTo>
                  <a:lnTo>
                    <a:pt x="435" y="353"/>
                  </a:lnTo>
                  <a:lnTo>
                    <a:pt x="427" y="345"/>
                  </a:lnTo>
                  <a:lnTo>
                    <a:pt x="420" y="337"/>
                  </a:lnTo>
                  <a:lnTo>
                    <a:pt x="415" y="333"/>
                  </a:lnTo>
                  <a:lnTo>
                    <a:pt x="409" y="329"/>
                  </a:lnTo>
                  <a:lnTo>
                    <a:pt x="401" y="327"/>
                  </a:lnTo>
                  <a:lnTo>
                    <a:pt x="388" y="325"/>
                  </a:lnTo>
                  <a:lnTo>
                    <a:pt x="379" y="322"/>
                  </a:lnTo>
                  <a:lnTo>
                    <a:pt x="367" y="318"/>
                  </a:lnTo>
                  <a:lnTo>
                    <a:pt x="355" y="312"/>
                  </a:lnTo>
                  <a:lnTo>
                    <a:pt x="341" y="306"/>
                  </a:lnTo>
                  <a:lnTo>
                    <a:pt x="328" y="299"/>
                  </a:lnTo>
                  <a:lnTo>
                    <a:pt x="318" y="294"/>
                  </a:lnTo>
                  <a:lnTo>
                    <a:pt x="310" y="290"/>
                  </a:lnTo>
                  <a:lnTo>
                    <a:pt x="306" y="288"/>
                  </a:lnTo>
                  <a:lnTo>
                    <a:pt x="306" y="284"/>
                  </a:lnTo>
                  <a:lnTo>
                    <a:pt x="307" y="280"/>
                  </a:lnTo>
                  <a:lnTo>
                    <a:pt x="310" y="275"/>
                  </a:lnTo>
                  <a:lnTo>
                    <a:pt x="312" y="272"/>
                  </a:lnTo>
                  <a:lnTo>
                    <a:pt x="314" y="271"/>
                  </a:lnTo>
                  <a:lnTo>
                    <a:pt x="319" y="268"/>
                  </a:lnTo>
                  <a:lnTo>
                    <a:pt x="325" y="265"/>
                  </a:lnTo>
                  <a:lnTo>
                    <a:pt x="332" y="261"/>
                  </a:lnTo>
                  <a:lnTo>
                    <a:pt x="339" y="258"/>
                  </a:lnTo>
                  <a:lnTo>
                    <a:pt x="345" y="256"/>
                  </a:lnTo>
                  <a:lnTo>
                    <a:pt x="350" y="253"/>
                  </a:lnTo>
                  <a:lnTo>
                    <a:pt x="352" y="251"/>
                  </a:lnTo>
                  <a:lnTo>
                    <a:pt x="351" y="25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17" name="Freeform 172"/>
            <p:cNvSpPr>
              <a:spLocks/>
            </p:cNvSpPr>
            <p:nvPr/>
          </p:nvSpPr>
          <p:spPr bwMode="auto">
            <a:xfrm>
              <a:off x="6808788" y="2362200"/>
              <a:ext cx="233362" cy="385763"/>
            </a:xfrm>
            <a:custGeom>
              <a:avLst/>
              <a:gdLst>
                <a:gd name="T0" fmla="*/ 43257 w 205"/>
                <a:gd name="T1" fmla="*/ 175151 h 359"/>
                <a:gd name="T2" fmla="*/ 43257 w 205"/>
                <a:gd name="T3" fmla="*/ 51578 h 359"/>
                <a:gd name="T4" fmla="*/ 87653 w 205"/>
                <a:gd name="T5" fmla="*/ 0 h 359"/>
                <a:gd name="T6" fmla="*/ 185551 w 205"/>
                <a:gd name="T7" fmla="*/ 71995 h 359"/>
                <a:gd name="T8" fmla="*/ 175306 w 205"/>
                <a:gd name="T9" fmla="*/ 123573 h 359"/>
                <a:gd name="T10" fmla="*/ 120665 w 205"/>
                <a:gd name="T11" fmla="*/ 175151 h 359"/>
                <a:gd name="T12" fmla="*/ 109282 w 205"/>
                <a:gd name="T13" fmla="*/ 206313 h 359"/>
                <a:gd name="T14" fmla="*/ 175306 w 205"/>
                <a:gd name="T15" fmla="*/ 226730 h 359"/>
                <a:gd name="T16" fmla="*/ 185551 w 205"/>
                <a:gd name="T17" fmla="*/ 371794 h 359"/>
                <a:gd name="T18" fmla="*/ 142294 w 205"/>
                <a:gd name="T19" fmla="*/ 361048 h 359"/>
                <a:gd name="T20" fmla="*/ 21629 w 205"/>
                <a:gd name="T21" fmla="*/ 371794 h 359"/>
                <a:gd name="T22" fmla="*/ 0 w 205"/>
                <a:gd name="T23" fmla="*/ 309470 h 359"/>
                <a:gd name="T24" fmla="*/ 11384 w 205"/>
                <a:gd name="T25" fmla="*/ 226730 h 359"/>
                <a:gd name="T26" fmla="*/ 43257 w 205"/>
                <a:gd name="T27" fmla="*/ 206313 h 359"/>
                <a:gd name="T28" fmla="*/ 43257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18" name="Freeform 173"/>
            <p:cNvSpPr>
              <a:spLocks/>
            </p:cNvSpPr>
            <p:nvPr/>
          </p:nvSpPr>
          <p:spPr bwMode="auto">
            <a:xfrm>
              <a:off x="2778125" y="4268788"/>
              <a:ext cx="231775" cy="385762"/>
            </a:xfrm>
            <a:custGeom>
              <a:avLst/>
              <a:gdLst>
                <a:gd name="T0" fmla="*/ 42963 w 205"/>
                <a:gd name="T1" fmla="*/ 175151 h 359"/>
                <a:gd name="T2" fmla="*/ 42963 w 205"/>
                <a:gd name="T3" fmla="*/ 51578 h 359"/>
                <a:gd name="T4" fmla="*/ 87057 w 205"/>
                <a:gd name="T5" fmla="*/ 0 h 359"/>
                <a:gd name="T6" fmla="*/ 184289 w 205"/>
                <a:gd name="T7" fmla="*/ 71995 h 359"/>
                <a:gd name="T8" fmla="*/ 174114 w 205"/>
                <a:gd name="T9" fmla="*/ 123573 h 359"/>
                <a:gd name="T10" fmla="*/ 119845 w 205"/>
                <a:gd name="T11" fmla="*/ 175151 h 359"/>
                <a:gd name="T12" fmla="*/ 108539 w 205"/>
                <a:gd name="T13" fmla="*/ 206313 h 359"/>
                <a:gd name="T14" fmla="*/ 174114 w 205"/>
                <a:gd name="T15" fmla="*/ 226729 h 359"/>
                <a:gd name="T16" fmla="*/ 184289 w 205"/>
                <a:gd name="T17" fmla="*/ 371793 h 359"/>
                <a:gd name="T18" fmla="*/ 141326 w 205"/>
                <a:gd name="T19" fmla="*/ 361047 h 359"/>
                <a:gd name="T20" fmla="*/ 21482 w 205"/>
                <a:gd name="T21" fmla="*/ 371793 h 359"/>
                <a:gd name="T22" fmla="*/ 0 w 205"/>
                <a:gd name="T23" fmla="*/ 309469 h 359"/>
                <a:gd name="T24" fmla="*/ 11306 w 205"/>
                <a:gd name="T25" fmla="*/ 226729 h 359"/>
                <a:gd name="T26" fmla="*/ 42963 w 205"/>
                <a:gd name="T27" fmla="*/ 206313 h 359"/>
                <a:gd name="T28" fmla="*/ 42963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19" name="Freeform 174"/>
            <p:cNvSpPr>
              <a:spLocks/>
            </p:cNvSpPr>
            <p:nvPr/>
          </p:nvSpPr>
          <p:spPr bwMode="auto">
            <a:xfrm>
              <a:off x="3594100" y="2193925"/>
              <a:ext cx="234950" cy="384175"/>
            </a:xfrm>
            <a:custGeom>
              <a:avLst/>
              <a:gdLst>
                <a:gd name="T0" fmla="*/ 43552 w 205"/>
                <a:gd name="T1" fmla="*/ 174430 h 359"/>
                <a:gd name="T2" fmla="*/ 43552 w 205"/>
                <a:gd name="T3" fmla="*/ 51366 h 359"/>
                <a:gd name="T4" fmla="*/ 88250 w 205"/>
                <a:gd name="T5" fmla="*/ 0 h 359"/>
                <a:gd name="T6" fmla="*/ 186814 w 205"/>
                <a:gd name="T7" fmla="*/ 71698 h 359"/>
                <a:gd name="T8" fmla="*/ 176499 w 205"/>
                <a:gd name="T9" fmla="*/ 123064 h 359"/>
                <a:gd name="T10" fmla="*/ 121486 w 205"/>
                <a:gd name="T11" fmla="*/ 174430 h 359"/>
                <a:gd name="T12" fmla="*/ 110025 w 205"/>
                <a:gd name="T13" fmla="*/ 205464 h 359"/>
                <a:gd name="T14" fmla="*/ 176499 w 205"/>
                <a:gd name="T15" fmla="*/ 225796 h 359"/>
                <a:gd name="T16" fmla="*/ 186814 w 205"/>
                <a:gd name="T17" fmla="*/ 370263 h 359"/>
                <a:gd name="T18" fmla="*/ 143262 w 205"/>
                <a:gd name="T19" fmla="*/ 359562 h 359"/>
                <a:gd name="T20" fmla="*/ 21776 w 205"/>
                <a:gd name="T21" fmla="*/ 370263 h 359"/>
                <a:gd name="T22" fmla="*/ 0 w 205"/>
                <a:gd name="T23" fmla="*/ 308196 h 359"/>
                <a:gd name="T24" fmla="*/ 11461 w 205"/>
                <a:gd name="T25" fmla="*/ 225796 h 359"/>
                <a:gd name="T26" fmla="*/ 43552 w 205"/>
                <a:gd name="T27" fmla="*/ 205464 h 359"/>
                <a:gd name="T28" fmla="*/ 43552 w 205"/>
                <a:gd name="T29" fmla="*/ 174430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0" name="Freeform 175"/>
            <p:cNvSpPr>
              <a:spLocks/>
            </p:cNvSpPr>
            <p:nvPr/>
          </p:nvSpPr>
          <p:spPr bwMode="auto">
            <a:xfrm>
              <a:off x="5522913" y="5727700"/>
              <a:ext cx="233362" cy="384175"/>
            </a:xfrm>
            <a:custGeom>
              <a:avLst/>
              <a:gdLst>
                <a:gd name="T0" fmla="*/ 43257 w 205"/>
                <a:gd name="T1" fmla="*/ 174430 h 359"/>
                <a:gd name="T2" fmla="*/ 43257 w 205"/>
                <a:gd name="T3" fmla="*/ 51366 h 359"/>
                <a:gd name="T4" fmla="*/ 87653 w 205"/>
                <a:gd name="T5" fmla="*/ 0 h 359"/>
                <a:gd name="T6" fmla="*/ 185551 w 205"/>
                <a:gd name="T7" fmla="*/ 71698 h 359"/>
                <a:gd name="T8" fmla="*/ 175306 w 205"/>
                <a:gd name="T9" fmla="*/ 123064 h 359"/>
                <a:gd name="T10" fmla="*/ 120665 w 205"/>
                <a:gd name="T11" fmla="*/ 174430 h 359"/>
                <a:gd name="T12" fmla="*/ 109282 w 205"/>
                <a:gd name="T13" fmla="*/ 205464 h 359"/>
                <a:gd name="T14" fmla="*/ 175306 w 205"/>
                <a:gd name="T15" fmla="*/ 225796 h 359"/>
                <a:gd name="T16" fmla="*/ 185551 w 205"/>
                <a:gd name="T17" fmla="*/ 370263 h 359"/>
                <a:gd name="T18" fmla="*/ 142294 w 205"/>
                <a:gd name="T19" fmla="*/ 359562 h 359"/>
                <a:gd name="T20" fmla="*/ 21629 w 205"/>
                <a:gd name="T21" fmla="*/ 370263 h 359"/>
                <a:gd name="T22" fmla="*/ 0 w 205"/>
                <a:gd name="T23" fmla="*/ 308196 h 359"/>
                <a:gd name="T24" fmla="*/ 11384 w 205"/>
                <a:gd name="T25" fmla="*/ 225796 h 359"/>
                <a:gd name="T26" fmla="*/ 43257 w 205"/>
                <a:gd name="T27" fmla="*/ 205464 h 359"/>
                <a:gd name="T28" fmla="*/ 43257 w 205"/>
                <a:gd name="T29" fmla="*/ 174430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1" name="Freeform 176"/>
            <p:cNvSpPr>
              <a:spLocks/>
            </p:cNvSpPr>
            <p:nvPr/>
          </p:nvSpPr>
          <p:spPr bwMode="auto">
            <a:xfrm>
              <a:off x="5816600" y="5727700"/>
              <a:ext cx="231775" cy="384175"/>
            </a:xfrm>
            <a:custGeom>
              <a:avLst/>
              <a:gdLst>
                <a:gd name="T0" fmla="*/ 42963 w 205"/>
                <a:gd name="T1" fmla="*/ 174430 h 359"/>
                <a:gd name="T2" fmla="*/ 42963 w 205"/>
                <a:gd name="T3" fmla="*/ 51366 h 359"/>
                <a:gd name="T4" fmla="*/ 87057 w 205"/>
                <a:gd name="T5" fmla="*/ 0 h 359"/>
                <a:gd name="T6" fmla="*/ 184289 w 205"/>
                <a:gd name="T7" fmla="*/ 71698 h 359"/>
                <a:gd name="T8" fmla="*/ 174114 w 205"/>
                <a:gd name="T9" fmla="*/ 123064 h 359"/>
                <a:gd name="T10" fmla="*/ 119845 w 205"/>
                <a:gd name="T11" fmla="*/ 174430 h 359"/>
                <a:gd name="T12" fmla="*/ 108539 w 205"/>
                <a:gd name="T13" fmla="*/ 205464 h 359"/>
                <a:gd name="T14" fmla="*/ 174114 w 205"/>
                <a:gd name="T15" fmla="*/ 225796 h 359"/>
                <a:gd name="T16" fmla="*/ 184289 w 205"/>
                <a:gd name="T17" fmla="*/ 370263 h 359"/>
                <a:gd name="T18" fmla="*/ 141326 w 205"/>
                <a:gd name="T19" fmla="*/ 359562 h 359"/>
                <a:gd name="T20" fmla="*/ 21482 w 205"/>
                <a:gd name="T21" fmla="*/ 370263 h 359"/>
                <a:gd name="T22" fmla="*/ 0 w 205"/>
                <a:gd name="T23" fmla="*/ 308196 h 359"/>
                <a:gd name="T24" fmla="*/ 11306 w 205"/>
                <a:gd name="T25" fmla="*/ 225796 h 359"/>
                <a:gd name="T26" fmla="*/ 42963 w 205"/>
                <a:gd name="T27" fmla="*/ 205464 h 359"/>
                <a:gd name="T28" fmla="*/ 42963 w 205"/>
                <a:gd name="T29" fmla="*/ 174430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2" name="Freeform 177"/>
            <p:cNvSpPr>
              <a:spLocks/>
            </p:cNvSpPr>
            <p:nvPr/>
          </p:nvSpPr>
          <p:spPr bwMode="auto">
            <a:xfrm>
              <a:off x="6107113" y="5727700"/>
              <a:ext cx="234950" cy="384175"/>
            </a:xfrm>
            <a:custGeom>
              <a:avLst/>
              <a:gdLst>
                <a:gd name="T0" fmla="*/ 43552 w 205"/>
                <a:gd name="T1" fmla="*/ 174430 h 359"/>
                <a:gd name="T2" fmla="*/ 43552 w 205"/>
                <a:gd name="T3" fmla="*/ 51366 h 359"/>
                <a:gd name="T4" fmla="*/ 88250 w 205"/>
                <a:gd name="T5" fmla="*/ 0 h 359"/>
                <a:gd name="T6" fmla="*/ 186814 w 205"/>
                <a:gd name="T7" fmla="*/ 71698 h 359"/>
                <a:gd name="T8" fmla="*/ 176499 w 205"/>
                <a:gd name="T9" fmla="*/ 123064 h 359"/>
                <a:gd name="T10" fmla="*/ 121486 w 205"/>
                <a:gd name="T11" fmla="*/ 174430 h 359"/>
                <a:gd name="T12" fmla="*/ 110025 w 205"/>
                <a:gd name="T13" fmla="*/ 205464 h 359"/>
                <a:gd name="T14" fmla="*/ 176499 w 205"/>
                <a:gd name="T15" fmla="*/ 225796 h 359"/>
                <a:gd name="T16" fmla="*/ 186814 w 205"/>
                <a:gd name="T17" fmla="*/ 370263 h 359"/>
                <a:gd name="T18" fmla="*/ 143262 w 205"/>
                <a:gd name="T19" fmla="*/ 359562 h 359"/>
                <a:gd name="T20" fmla="*/ 21776 w 205"/>
                <a:gd name="T21" fmla="*/ 370263 h 359"/>
                <a:gd name="T22" fmla="*/ 0 w 205"/>
                <a:gd name="T23" fmla="*/ 308196 h 359"/>
                <a:gd name="T24" fmla="*/ 11461 w 205"/>
                <a:gd name="T25" fmla="*/ 225796 h 359"/>
                <a:gd name="T26" fmla="*/ 43552 w 205"/>
                <a:gd name="T27" fmla="*/ 205464 h 359"/>
                <a:gd name="T28" fmla="*/ 43552 w 205"/>
                <a:gd name="T29" fmla="*/ 174430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3" name="Freeform 178"/>
            <p:cNvSpPr>
              <a:spLocks/>
            </p:cNvSpPr>
            <p:nvPr/>
          </p:nvSpPr>
          <p:spPr bwMode="auto">
            <a:xfrm>
              <a:off x="7100888" y="3876675"/>
              <a:ext cx="234950" cy="384175"/>
            </a:xfrm>
            <a:custGeom>
              <a:avLst/>
              <a:gdLst>
                <a:gd name="T0" fmla="*/ 43552 w 205"/>
                <a:gd name="T1" fmla="*/ 174430 h 359"/>
                <a:gd name="T2" fmla="*/ 43552 w 205"/>
                <a:gd name="T3" fmla="*/ 51366 h 359"/>
                <a:gd name="T4" fmla="*/ 88250 w 205"/>
                <a:gd name="T5" fmla="*/ 0 h 359"/>
                <a:gd name="T6" fmla="*/ 186814 w 205"/>
                <a:gd name="T7" fmla="*/ 71698 h 359"/>
                <a:gd name="T8" fmla="*/ 176499 w 205"/>
                <a:gd name="T9" fmla="*/ 123064 h 359"/>
                <a:gd name="T10" fmla="*/ 121486 w 205"/>
                <a:gd name="T11" fmla="*/ 174430 h 359"/>
                <a:gd name="T12" fmla="*/ 110025 w 205"/>
                <a:gd name="T13" fmla="*/ 205464 h 359"/>
                <a:gd name="T14" fmla="*/ 176499 w 205"/>
                <a:gd name="T15" fmla="*/ 225796 h 359"/>
                <a:gd name="T16" fmla="*/ 186814 w 205"/>
                <a:gd name="T17" fmla="*/ 370263 h 359"/>
                <a:gd name="T18" fmla="*/ 143262 w 205"/>
                <a:gd name="T19" fmla="*/ 359562 h 359"/>
                <a:gd name="T20" fmla="*/ 21776 w 205"/>
                <a:gd name="T21" fmla="*/ 370263 h 359"/>
                <a:gd name="T22" fmla="*/ 0 w 205"/>
                <a:gd name="T23" fmla="*/ 308196 h 359"/>
                <a:gd name="T24" fmla="*/ 11461 w 205"/>
                <a:gd name="T25" fmla="*/ 225796 h 359"/>
                <a:gd name="T26" fmla="*/ 43552 w 205"/>
                <a:gd name="T27" fmla="*/ 205464 h 359"/>
                <a:gd name="T28" fmla="*/ 43552 w 205"/>
                <a:gd name="T29" fmla="*/ 174430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4" name="Freeform 179"/>
            <p:cNvSpPr>
              <a:spLocks/>
            </p:cNvSpPr>
            <p:nvPr/>
          </p:nvSpPr>
          <p:spPr bwMode="auto">
            <a:xfrm>
              <a:off x="7392988" y="3876675"/>
              <a:ext cx="234950" cy="384175"/>
            </a:xfrm>
            <a:custGeom>
              <a:avLst/>
              <a:gdLst>
                <a:gd name="T0" fmla="*/ 43552 w 205"/>
                <a:gd name="T1" fmla="*/ 174430 h 359"/>
                <a:gd name="T2" fmla="*/ 43552 w 205"/>
                <a:gd name="T3" fmla="*/ 51366 h 359"/>
                <a:gd name="T4" fmla="*/ 88250 w 205"/>
                <a:gd name="T5" fmla="*/ 0 h 359"/>
                <a:gd name="T6" fmla="*/ 186814 w 205"/>
                <a:gd name="T7" fmla="*/ 71698 h 359"/>
                <a:gd name="T8" fmla="*/ 176499 w 205"/>
                <a:gd name="T9" fmla="*/ 123064 h 359"/>
                <a:gd name="T10" fmla="*/ 121486 w 205"/>
                <a:gd name="T11" fmla="*/ 174430 h 359"/>
                <a:gd name="T12" fmla="*/ 110025 w 205"/>
                <a:gd name="T13" fmla="*/ 205464 h 359"/>
                <a:gd name="T14" fmla="*/ 176499 w 205"/>
                <a:gd name="T15" fmla="*/ 225796 h 359"/>
                <a:gd name="T16" fmla="*/ 186814 w 205"/>
                <a:gd name="T17" fmla="*/ 370263 h 359"/>
                <a:gd name="T18" fmla="*/ 143262 w 205"/>
                <a:gd name="T19" fmla="*/ 359562 h 359"/>
                <a:gd name="T20" fmla="*/ 21776 w 205"/>
                <a:gd name="T21" fmla="*/ 370263 h 359"/>
                <a:gd name="T22" fmla="*/ 0 w 205"/>
                <a:gd name="T23" fmla="*/ 308196 h 359"/>
                <a:gd name="T24" fmla="*/ 11461 w 205"/>
                <a:gd name="T25" fmla="*/ 225796 h 359"/>
                <a:gd name="T26" fmla="*/ 43552 w 205"/>
                <a:gd name="T27" fmla="*/ 205464 h 359"/>
                <a:gd name="T28" fmla="*/ 43552 w 205"/>
                <a:gd name="T29" fmla="*/ 174430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5" name="Freeform 180"/>
            <p:cNvSpPr>
              <a:spLocks/>
            </p:cNvSpPr>
            <p:nvPr/>
          </p:nvSpPr>
          <p:spPr bwMode="auto">
            <a:xfrm>
              <a:off x="4062413" y="5783263"/>
              <a:ext cx="234950" cy="385762"/>
            </a:xfrm>
            <a:custGeom>
              <a:avLst/>
              <a:gdLst>
                <a:gd name="T0" fmla="*/ 43552 w 205"/>
                <a:gd name="T1" fmla="*/ 175151 h 359"/>
                <a:gd name="T2" fmla="*/ 43552 w 205"/>
                <a:gd name="T3" fmla="*/ 51578 h 359"/>
                <a:gd name="T4" fmla="*/ 88250 w 205"/>
                <a:gd name="T5" fmla="*/ 0 h 359"/>
                <a:gd name="T6" fmla="*/ 186814 w 205"/>
                <a:gd name="T7" fmla="*/ 71995 h 359"/>
                <a:gd name="T8" fmla="*/ 176499 w 205"/>
                <a:gd name="T9" fmla="*/ 123573 h 359"/>
                <a:gd name="T10" fmla="*/ 121486 w 205"/>
                <a:gd name="T11" fmla="*/ 175151 h 359"/>
                <a:gd name="T12" fmla="*/ 110025 w 205"/>
                <a:gd name="T13" fmla="*/ 206313 h 359"/>
                <a:gd name="T14" fmla="*/ 176499 w 205"/>
                <a:gd name="T15" fmla="*/ 226729 h 359"/>
                <a:gd name="T16" fmla="*/ 186814 w 205"/>
                <a:gd name="T17" fmla="*/ 371793 h 359"/>
                <a:gd name="T18" fmla="*/ 143262 w 205"/>
                <a:gd name="T19" fmla="*/ 361047 h 359"/>
                <a:gd name="T20" fmla="*/ 21776 w 205"/>
                <a:gd name="T21" fmla="*/ 371793 h 359"/>
                <a:gd name="T22" fmla="*/ 0 w 205"/>
                <a:gd name="T23" fmla="*/ 309469 h 359"/>
                <a:gd name="T24" fmla="*/ 11461 w 205"/>
                <a:gd name="T25" fmla="*/ 226729 h 359"/>
                <a:gd name="T26" fmla="*/ 43552 w 205"/>
                <a:gd name="T27" fmla="*/ 206313 h 359"/>
                <a:gd name="T28" fmla="*/ 43552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6" name="Freeform 181"/>
            <p:cNvSpPr>
              <a:spLocks/>
            </p:cNvSpPr>
            <p:nvPr/>
          </p:nvSpPr>
          <p:spPr bwMode="auto">
            <a:xfrm>
              <a:off x="4354513" y="5783263"/>
              <a:ext cx="233362" cy="385762"/>
            </a:xfrm>
            <a:custGeom>
              <a:avLst/>
              <a:gdLst>
                <a:gd name="T0" fmla="*/ 43257 w 205"/>
                <a:gd name="T1" fmla="*/ 175151 h 359"/>
                <a:gd name="T2" fmla="*/ 43257 w 205"/>
                <a:gd name="T3" fmla="*/ 51578 h 359"/>
                <a:gd name="T4" fmla="*/ 87653 w 205"/>
                <a:gd name="T5" fmla="*/ 0 h 359"/>
                <a:gd name="T6" fmla="*/ 185551 w 205"/>
                <a:gd name="T7" fmla="*/ 71995 h 359"/>
                <a:gd name="T8" fmla="*/ 175306 w 205"/>
                <a:gd name="T9" fmla="*/ 123573 h 359"/>
                <a:gd name="T10" fmla="*/ 120665 w 205"/>
                <a:gd name="T11" fmla="*/ 175151 h 359"/>
                <a:gd name="T12" fmla="*/ 109282 w 205"/>
                <a:gd name="T13" fmla="*/ 206313 h 359"/>
                <a:gd name="T14" fmla="*/ 175306 w 205"/>
                <a:gd name="T15" fmla="*/ 226729 h 359"/>
                <a:gd name="T16" fmla="*/ 185551 w 205"/>
                <a:gd name="T17" fmla="*/ 371793 h 359"/>
                <a:gd name="T18" fmla="*/ 142294 w 205"/>
                <a:gd name="T19" fmla="*/ 361047 h 359"/>
                <a:gd name="T20" fmla="*/ 21629 w 205"/>
                <a:gd name="T21" fmla="*/ 371793 h 359"/>
                <a:gd name="T22" fmla="*/ 0 w 205"/>
                <a:gd name="T23" fmla="*/ 309469 h 359"/>
                <a:gd name="T24" fmla="*/ 11384 w 205"/>
                <a:gd name="T25" fmla="*/ 226729 h 359"/>
                <a:gd name="T26" fmla="*/ 43257 w 205"/>
                <a:gd name="T27" fmla="*/ 206313 h 359"/>
                <a:gd name="T28" fmla="*/ 43257 w 205"/>
                <a:gd name="T29" fmla="*/ 175151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5"/>
                <a:gd name="T46" fmla="*/ 0 h 359"/>
                <a:gd name="T47" fmla="*/ 205 w 205"/>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5" h="359">
                  <a:moveTo>
                    <a:pt x="38" y="163"/>
                  </a:moveTo>
                  <a:cubicBezTo>
                    <a:pt x="31" y="118"/>
                    <a:pt x="21" y="93"/>
                    <a:pt x="38" y="48"/>
                  </a:cubicBezTo>
                  <a:cubicBezTo>
                    <a:pt x="45" y="29"/>
                    <a:pt x="66" y="17"/>
                    <a:pt x="77" y="0"/>
                  </a:cubicBezTo>
                  <a:cubicBezTo>
                    <a:pt x="111" y="22"/>
                    <a:pt x="140" y="33"/>
                    <a:pt x="163" y="67"/>
                  </a:cubicBezTo>
                  <a:cubicBezTo>
                    <a:pt x="160" y="83"/>
                    <a:pt x="162" y="101"/>
                    <a:pt x="154" y="115"/>
                  </a:cubicBezTo>
                  <a:cubicBezTo>
                    <a:pt x="142" y="134"/>
                    <a:pt x="106" y="163"/>
                    <a:pt x="106" y="163"/>
                  </a:cubicBezTo>
                  <a:cubicBezTo>
                    <a:pt x="103" y="173"/>
                    <a:pt x="89" y="185"/>
                    <a:pt x="96" y="192"/>
                  </a:cubicBezTo>
                  <a:cubicBezTo>
                    <a:pt x="110" y="206"/>
                    <a:pt x="154" y="211"/>
                    <a:pt x="154" y="211"/>
                  </a:cubicBezTo>
                  <a:cubicBezTo>
                    <a:pt x="192" y="251"/>
                    <a:pt x="205" y="255"/>
                    <a:pt x="163" y="346"/>
                  </a:cubicBezTo>
                  <a:cubicBezTo>
                    <a:pt x="158" y="358"/>
                    <a:pt x="138" y="339"/>
                    <a:pt x="125" y="336"/>
                  </a:cubicBezTo>
                  <a:cubicBezTo>
                    <a:pt x="90" y="339"/>
                    <a:pt x="52" y="359"/>
                    <a:pt x="19" y="346"/>
                  </a:cubicBezTo>
                  <a:cubicBezTo>
                    <a:pt x="0" y="339"/>
                    <a:pt x="0" y="288"/>
                    <a:pt x="0" y="288"/>
                  </a:cubicBezTo>
                  <a:cubicBezTo>
                    <a:pt x="3" y="262"/>
                    <a:pt x="0" y="235"/>
                    <a:pt x="10" y="211"/>
                  </a:cubicBezTo>
                  <a:cubicBezTo>
                    <a:pt x="14" y="201"/>
                    <a:pt x="31" y="201"/>
                    <a:pt x="38" y="192"/>
                  </a:cubicBezTo>
                  <a:cubicBezTo>
                    <a:pt x="63" y="160"/>
                    <a:pt x="54" y="163"/>
                    <a:pt x="38" y="163"/>
                  </a:cubicBezTo>
                  <a:close/>
                </a:path>
              </a:pathLst>
            </a:custGeom>
            <a:solidFill>
              <a:srgbClr val="C0C0C0"/>
            </a:solidFill>
            <a:ln>
              <a:noFill/>
            </a:ln>
            <a:extLst>
              <a:ext uri="{91240B29-F687-4F45-9708-019B960494DF}">
                <a14:hiddenLine xmlns:a14="http://schemas.microsoft.com/office/drawing/2010/main" w="12700" cap="flat" cmpd="sng">
                  <a:solidFill>
                    <a:srgbClr val="000000"/>
                  </a:solidFill>
                  <a:prstDash val="solid"/>
                  <a:round/>
                  <a:headEnd type="none" w="sm" len="sm"/>
                  <a:tailEnd type="none" w="sm" len="sm"/>
                </a14:hiddenLine>
              </a:ext>
            </a:extLst>
          </p:spPr>
          <p:txBody>
            <a:bodyPr wrap="none" anchor="ctr"/>
            <a:lstStyle/>
            <a:p>
              <a:endParaRPr lang="ru-RU" dirty="0"/>
            </a:p>
          </p:txBody>
        </p:sp>
        <p:sp>
          <p:nvSpPr>
            <p:cNvPr id="27" name="Freeform 182"/>
            <p:cNvSpPr>
              <a:spLocks/>
            </p:cNvSpPr>
            <p:nvPr/>
          </p:nvSpPr>
          <p:spPr bwMode="auto">
            <a:xfrm>
              <a:off x="2122488" y="5500688"/>
              <a:ext cx="1355725" cy="303212"/>
            </a:xfrm>
            <a:custGeom>
              <a:avLst/>
              <a:gdLst>
                <a:gd name="T0" fmla="*/ 218037 w 2226"/>
                <a:gd name="T1" fmla="*/ 127853 h 517"/>
                <a:gd name="T2" fmla="*/ 216209 w 2226"/>
                <a:gd name="T3" fmla="*/ 112605 h 517"/>
                <a:gd name="T4" fmla="*/ 212555 w 2226"/>
                <a:gd name="T5" fmla="*/ 89145 h 517"/>
                <a:gd name="T6" fmla="*/ 207683 w 2226"/>
                <a:gd name="T7" fmla="*/ 56889 h 517"/>
                <a:gd name="T8" fmla="*/ 171750 w 2226"/>
                <a:gd name="T9" fmla="*/ 23459 h 517"/>
                <a:gd name="T10" fmla="*/ 107800 w 2226"/>
                <a:gd name="T11" fmla="*/ 31670 h 517"/>
                <a:gd name="T12" fmla="*/ 98665 w 2226"/>
                <a:gd name="T13" fmla="*/ 117297 h 517"/>
                <a:gd name="T14" fmla="*/ 110236 w 2226"/>
                <a:gd name="T15" fmla="*/ 151899 h 517"/>
                <a:gd name="T16" fmla="*/ 52378 w 2226"/>
                <a:gd name="T17" fmla="*/ 186502 h 517"/>
                <a:gd name="T18" fmla="*/ 18880 w 2226"/>
                <a:gd name="T19" fmla="*/ 218172 h 517"/>
                <a:gd name="T20" fmla="*/ 1355725 w 2226"/>
                <a:gd name="T21" fmla="*/ 230488 h 517"/>
                <a:gd name="T22" fmla="*/ 1314919 w 2226"/>
                <a:gd name="T23" fmla="*/ 143102 h 517"/>
                <a:gd name="T24" fmla="*/ 1296039 w 2226"/>
                <a:gd name="T25" fmla="*/ 124334 h 517"/>
                <a:gd name="T26" fmla="*/ 1317964 w 2226"/>
                <a:gd name="T27" fmla="*/ 40467 h 517"/>
                <a:gd name="T28" fmla="*/ 1278986 w 2226"/>
                <a:gd name="T29" fmla="*/ 586 h 517"/>
                <a:gd name="T30" fmla="*/ 1227217 w 2226"/>
                <a:gd name="T31" fmla="*/ 5865 h 517"/>
                <a:gd name="T32" fmla="*/ 1193111 w 2226"/>
                <a:gd name="T33" fmla="*/ 48092 h 517"/>
                <a:gd name="T34" fmla="*/ 1189457 w 2226"/>
                <a:gd name="T35" fmla="*/ 71551 h 517"/>
                <a:gd name="T36" fmla="*/ 1184584 w 2226"/>
                <a:gd name="T37" fmla="*/ 98529 h 517"/>
                <a:gd name="T38" fmla="*/ 1187629 w 2226"/>
                <a:gd name="T39" fmla="*/ 117883 h 517"/>
                <a:gd name="T40" fmla="*/ 1203465 w 2226"/>
                <a:gd name="T41" fmla="*/ 139583 h 517"/>
                <a:gd name="T42" fmla="*/ 1174840 w 2226"/>
                <a:gd name="T43" fmla="*/ 170667 h 517"/>
                <a:gd name="T44" fmla="*/ 1123071 w 2226"/>
                <a:gd name="T45" fmla="*/ 190021 h 517"/>
                <a:gd name="T46" fmla="*/ 1060340 w 2226"/>
                <a:gd name="T47" fmla="*/ 166561 h 517"/>
                <a:gd name="T48" fmla="*/ 1026843 w 2226"/>
                <a:gd name="T49" fmla="*/ 155418 h 517"/>
                <a:gd name="T50" fmla="*/ 1027452 w 2226"/>
                <a:gd name="T51" fmla="*/ 121989 h 517"/>
                <a:gd name="T52" fmla="*/ 976901 w 2226"/>
                <a:gd name="T53" fmla="*/ 52197 h 517"/>
                <a:gd name="T54" fmla="*/ 902598 w 2226"/>
                <a:gd name="T55" fmla="*/ 113191 h 517"/>
                <a:gd name="T56" fmla="*/ 915997 w 2226"/>
                <a:gd name="T57" fmla="*/ 160110 h 517"/>
                <a:gd name="T58" fmla="*/ 911125 w 2226"/>
                <a:gd name="T59" fmla="*/ 175359 h 517"/>
                <a:gd name="T60" fmla="*/ 831341 w 2226"/>
                <a:gd name="T61" fmla="*/ 219931 h 517"/>
                <a:gd name="T62" fmla="*/ 796016 w 2226"/>
                <a:gd name="T63" fmla="*/ 181810 h 517"/>
                <a:gd name="T64" fmla="*/ 718059 w 2226"/>
                <a:gd name="T65" fmla="*/ 164215 h 517"/>
                <a:gd name="T66" fmla="*/ 707096 w 2226"/>
                <a:gd name="T67" fmla="*/ 144275 h 517"/>
                <a:gd name="T68" fmla="*/ 725368 w 2226"/>
                <a:gd name="T69" fmla="*/ 119643 h 517"/>
                <a:gd name="T70" fmla="*/ 697961 w 2226"/>
                <a:gd name="T71" fmla="*/ 32843 h 517"/>
                <a:gd name="T72" fmla="*/ 618176 w 2226"/>
                <a:gd name="T73" fmla="*/ 59821 h 517"/>
                <a:gd name="T74" fmla="*/ 612086 w 2226"/>
                <a:gd name="T75" fmla="*/ 92664 h 517"/>
                <a:gd name="T76" fmla="*/ 614522 w 2226"/>
                <a:gd name="T77" fmla="*/ 120229 h 517"/>
                <a:gd name="T78" fmla="*/ 618785 w 2226"/>
                <a:gd name="T79" fmla="*/ 134305 h 517"/>
                <a:gd name="T80" fmla="*/ 621222 w 2226"/>
                <a:gd name="T81" fmla="*/ 144275 h 517"/>
                <a:gd name="T82" fmla="*/ 638275 w 2226"/>
                <a:gd name="T83" fmla="*/ 164802 h 517"/>
                <a:gd name="T84" fmla="*/ 614522 w 2226"/>
                <a:gd name="T85" fmla="*/ 188848 h 517"/>
                <a:gd name="T86" fmla="*/ 559099 w 2226"/>
                <a:gd name="T87" fmla="*/ 219931 h 517"/>
                <a:gd name="T88" fmla="*/ 531693 w 2226"/>
                <a:gd name="T89" fmla="*/ 232247 h 517"/>
                <a:gd name="T90" fmla="*/ 491496 w 2226"/>
                <a:gd name="T91" fmla="*/ 202337 h 517"/>
                <a:gd name="T92" fmla="*/ 468961 w 2226"/>
                <a:gd name="T93" fmla="*/ 177118 h 517"/>
                <a:gd name="T94" fmla="*/ 454344 w 2226"/>
                <a:gd name="T95" fmla="*/ 117883 h 517"/>
                <a:gd name="T96" fmla="*/ 448863 w 2226"/>
                <a:gd name="T97" fmla="*/ 83281 h 517"/>
                <a:gd name="T98" fmla="*/ 428765 w 2226"/>
                <a:gd name="T99" fmla="*/ 32843 h 517"/>
                <a:gd name="T100" fmla="*/ 362379 w 2226"/>
                <a:gd name="T101" fmla="*/ 42227 h 517"/>
                <a:gd name="T102" fmla="*/ 341672 w 2226"/>
                <a:gd name="T103" fmla="*/ 93837 h 517"/>
                <a:gd name="T104" fmla="*/ 331927 w 2226"/>
                <a:gd name="T105" fmla="*/ 180050 h 517"/>
                <a:gd name="T106" fmla="*/ 331318 w 2226"/>
                <a:gd name="T107" fmla="*/ 195299 h 517"/>
                <a:gd name="T108" fmla="*/ 294776 w 2226"/>
                <a:gd name="T109" fmla="*/ 212894 h 517"/>
                <a:gd name="T110" fmla="*/ 252752 w 2226"/>
                <a:gd name="T111" fmla="*/ 195299 h 517"/>
                <a:gd name="T112" fmla="*/ 186367 w 2226"/>
                <a:gd name="T113" fmla="*/ 168907 h 517"/>
                <a:gd name="T114" fmla="*/ 213164 w 2226"/>
                <a:gd name="T115" fmla="*/ 148380 h 51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26"/>
                <a:gd name="T175" fmla="*/ 0 h 517"/>
                <a:gd name="T176" fmla="*/ 2226 w 2226"/>
                <a:gd name="T177" fmla="*/ 517 h 51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26" h="517">
                  <a:moveTo>
                    <a:pt x="351" y="252"/>
                  </a:moveTo>
                  <a:lnTo>
                    <a:pt x="355" y="249"/>
                  </a:lnTo>
                  <a:lnTo>
                    <a:pt x="357" y="244"/>
                  </a:lnTo>
                  <a:lnTo>
                    <a:pt x="357" y="239"/>
                  </a:lnTo>
                  <a:lnTo>
                    <a:pt x="356" y="236"/>
                  </a:lnTo>
                  <a:lnTo>
                    <a:pt x="355" y="233"/>
                  </a:lnTo>
                  <a:lnTo>
                    <a:pt x="355" y="228"/>
                  </a:lnTo>
                  <a:lnTo>
                    <a:pt x="355" y="224"/>
                  </a:lnTo>
                  <a:lnTo>
                    <a:pt x="356" y="222"/>
                  </a:lnTo>
                  <a:lnTo>
                    <a:pt x="358" y="220"/>
                  </a:lnTo>
                  <a:lnTo>
                    <a:pt x="358" y="218"/>
                  </a:lnTo>
                  <a:lnTo>
                    <a:pt x="358" y="214"/>
                  </a:lnTo>
                  <a:lnTo>
                    <a:pt x="357" y="213"/>
                  </a:lnTo>
                  <a:lnTo>
                    <a:pt x="357" y="212"/>
                  </a:lnTo>
                  <a:lnTo>
                    <a:pt x="357" y="211"/>
                  </a:lnTo>
                  <a:lnTo>
                    <a:pt x="357" y="210"/>
                  </a:lnTo>
                  <a:lnTo>
                    <a:pt x="357" y="207"/>
                  </a:lnTo>
                  <a:lnTo>
                    <a:pt x="356" y="206"/>
                  </a:lnTo>
                  <a:lnTo>
                    <a:pt x="355" y="203"/>
                  </a:lnTo>
                  <a:lnTo>
                    <a:pt x="352" y="199"/>
                  </a:lnTo>
                  <a:lnTo>
                    <a:pt x="352" y="196"/>
                  </a:lnTo>
                  <a:lnTo>
                    <a:pt x="355" y="192"/>
                  </a:lnTo>
                  <a:lnTo>
                    <a:pt x="358" y="190"/>
                  </a:lnTo>
                  <a:lnTo>
                    <a:pt x="362" y="189"/>
                  </a:lnTo>
                  <a:lnTo>
                    <a:pt x="363" y="189"/>
                  </a:lnTo>
                  <a:lnTo>
                    <a:pt x="364" y="188"/>
                  </a:lnTo>
                  <a:lnTo>
                    <a:pt x="365" y="185"/>
                  </a:lnTo>
                  <a:lnTo>
                    <a:pt x="365" y="182"/>
                  </a:lnTo>
                  <a:lnTo>
                    <a:pt x="363" y="177"/>
                  </a:lnTo>
                  <a:lnTo>
                    <a:pt x="359" y="170"/>
                  </a:lnTo>
                  <a:lnTo>
                    <a:pt x="355" y="162"/>
                  </a:lnTo>
                  <a:lnTo>
                    <a:pt x="350" y="155"/>
                  </a:lnTo>
                  <a:lnTo>
                    <a:pt x="349" y="152"/>
                  </a:lnTo>
                  <a:lnTo>
                    <a:pt x="350" y="150"/>
                  </a:lnTo>
                  <a:lnTo>
                    <a:pt x="354" y="144"/>
                  </a:lnTo>
                  <a:lnTo>
                    <a:pt x="357" y="136"/>
                  </a:lnTo>
                  <a:lnTo>
                    <a:pt x="357" y="130"/>
                  </a:lnTo>
                  <a:lnTo>
                    <a:pt x="354" y="122"/>
                  </a:lnTo>
                  <a:lnTo>
                    <a:pt x="348" y="112"/>
                  </a:lnTo>
                  <a:lnTo>
                    <a:pt x="342" y="101"/>
                  </a:lnTo>
                  <a:lnTo>
                    <a:pt x="340" y="97"/>
                  </a:lnTo>
                  <a:lnTo>
                    <a:pt x="340" y="98"/>
                  </a:lnTo>
                  <a:lnTo>
                    <a:pt x="340" y="99"/>
                  </a:lnTo>
                  <a:lnTo>
                    <a:pt x="341" y="97"/>
                  </a:lnTo>
                  <a:lnTo>
                    <a:pt x="342" y="91"/>
                  </a:lnTo>
                  <a:lnTo>
                    <a:pt x="340" y="81"/>
                  </a:lnTo>
                  <a:lnTo>
                    <a:pt x="334" y="71"/>
                  </a:lnTo>
                  <a:lnTo>
                    <a:pt x="326" y="62"/>
                  </a:lnTo>
                  <a:lnTo>
                    <a:pt x="319" y="54"/>
                  </a:lnTo>
                  <a:lnTo>
                    <a:pt x="313" y="49"/>
                  </a:lnTo>
                  <a:lnTo>
                    <a:pt x="306" y="47"/>
                  </a:lnTo>
                  <a:lnTo>
                    <a:pt x="299" y="46"/>
                  </a:lnTo>
                  <a:lnTo>
                    <a:pt x="291" y="44"/>
                  </a:lnTo>
                  <a:lnTo>
                    <a:pt x="287" y="43"/>
                  </a:lnTo>
                  <a:lnTo>
                    <a:pt x="282" y="40"/>
                  </a:lnTo>
                  <a:lnTo>
                    <a:pt x="276" y="38"/>
                  </a:lnTo>
                  <a:lnTo>
                    <a:pt x="269" y="34"/>
                  </a:lnTo>
                  <a:lnTo>
                    <a:pt x="261" y="32"/>
                  </a:lnTo>
                  <a:lnTo>
                    <a:pt x="251" y="31"/>
                  </a:lnTo>
                  <a:lnTo>
                    <a:pt x="241" y="29"/>
                  </a:lnTo>
                  <a:lnTo>
                    <a:pt x="228" y="29"/>
                  </a:lnTo>
                  <a:lnTo>
                    <a:pt x="215" y="30"/>
                  </a:lnTo>
                  <a:lnTo>
                    <a:pt x="204" y="33"/>
                  </a:lnTo>
                  <a:lnTo>
                    <a:pt x="195" y="39"/>
                  </a:lnTo>
                  <a:lnTo>
                    <a:pt x="185" y="46"/>
                  </a:lnTo>
                  <a:lnTo>
                    <a:pt x="177" y="54"/>
                  </a:lnTo>
                  <a:lnTo>
                    <a:pt x="169" y="64"/>
                  </a:lnTo>
                  <a:lnTo>
                    <a:pt x="162" y="76"/>
                  </a:lnTo>
                  <a:lnTo>
                    <a:pt x="154" y="89"/>
                  </a:lnTo>
                  <a:lnTo>
                    <a:pt x="144" y="108"/>
                  </a:lnTo>
                  <a:lnTo>
                    <a:pt x="142" y="121"/>
                  </a:lnTo>
                  <a:lnTo>
                    <a:pt x="144" y="136"/>
                  </a:lnTo>
                  <a:lnTo>
                    <a:pt x="146" y="158"/>
                  </a:lnTo>
                  <a:lnTo>
                    <a:pt x="149" y="180"/>
                  </a:lnTo>
                  <a:lnTo>
                    <a:pt x="153" y="190"/>
                  </a:lnTo>
                  <a:lnTo>
                    <a:pt x="158" y="196"/>
                  </a:lnTo>
                  <a:lnTo>
                    <a:pt x="162" y="200"/>
                  </a:lnTo>
                  <a:lnTo>
                    <a:pt x="167" y="205"/>
                  </a:lnTo>
                  <a:lnTo>
                    <a:pt x="169" y="208"/>
                  </a:lnTo>
                  <a:lnTo>
                    <a:pt x="169" y="212"/>
                  </a:lnTo>
                  <a:lnTo>
                    <a:pt x="167" y="218"/>
                  </a:lnTo>
                  <a:lnTo>
                    <a:pt x="167" y="224"/>
                  </a:lnTo>
                  <a:lnTo>
                    <a:pt x="173" y="230"/>
                  </a:lnTo>
                  <a:lnTo>
                    <a:pt x="181" y="237"/>
                  </a:lnTo>
                  <a:lnTo>
                    <a:pt x="185" y="244"/>
                  </a:lnTo>
                  <a:lnTo>
                    <a:pt x="184" y="250"/>
                  </a:lnTo>
                  <a:lnTo>
                    <a:pt x="183" y="254"/>
                  </a:lnTo>
                  <a:lnTo>
                    <a:pt x="181" y="259"/>
                  </a:lnTo>
                  <a:lnTo>
                    <a:pt x="177" y="264"/>
                  </a:lnTo>
                  <a:lnTo>
                    <a:pt x="168" y="265"/>
                  </a:lnTo>
                  <a:lnTo>
                    <a:pt x="165" y="272"/>
                  </a:lnTo>
                  <a:lnTo>
                    <a:pt x="164" y="280"/>
                  </a:lnTo>
                  <a:lnTo>
                    <a:pt x="162" y="287"/>
                  </a:lnTo>
                  <a:lnTo>
                    <a:pt x="157" y="289"/>
                  </a:lnTo>
                  <a:lnTo>
                    <a:pt x="146" y="294"/>
                  </a:lnTo>
                  <a:lnTo>
                    <a:pt x="131" y="299"/>
                  </a:lnTo>
                  <a:lnTo>
                    <a:pt x="116" y="305"/>
                  </a:lnTo>
                  <a:lnTo>
                    <a:pt x="100" y="312"/>
                  </a:lnTo>
                  <a:lnTo>
                    <a:pt x="86" y="318"/>
                  </a:lnTo>
                  <a:lnTo>
                    <a:pt x="75" y="322"/>
                  </a:lnTo>
                  <a:lnTo>
                    <a:pt x="68" y="325"/>
                  </a:lnTo>
                  <a:lnTo>
                    <a:pt x="60" y="328"/>
                  </a:lnTo>
                  <a:lnTo>
                    <a:pt x="53" y="333"/>
                  </a:lnTo>
                  <a:lnTo>
                    <a:pt x="47" y="338"/>
                  </a:lnTo>
                  <a:lnTo>
                    <a:pt x="45" y="344"/>
                  </a:lnTo>
                  <a:lnTo>
                    <a:pt x="45" y="351"/>
                  </a:lnTo>
                  <a:lnTo>
                    <a:pt x="44" y="358"/>
                  </a:lnTo>
                  <a:lnTo>
                    <a:pt x="41" y="363"/>
                  </a:lnTo>
                  <a:lnTo>
                    <a:pt x="36" y="366"/>
                  </a:lnTo>
                  <a:lnTo>
                    <a:pt x="31" y="372"/>
                  </a:lnTo>
                  <a:lnTo>
                    <a:pt x="26" y="387"/>
                  </a:lnTo>
                  <a:lnTo>
                    <a:pt x="21" y="409"/>
                  </a:lnTo>
                  <a:lnTo>
                    <a:pt x="15" y="434"/>
                  </a:lnTo>
                  <a:lnTo>
                    <a:pt x="9" y="459"/>
                  </a:lnTo>
                  <a:lnTo>
                    <a:pt x="5" y="484"/>
                  </a:lnTo>
                  <a:lnTo>
                    <a:pt x="2" y="504"/>
                  </a:lnTo>
                  <a:lnTo>
                    <a:pt x="0" y="517"/>
                  </a:lnTo>
                  <a:lnTo>
                    <a:pt x="2226" y="517"/>
                  </a:lnTo>
                  <a:lnTo>
                    <a:pt x="2226" y="478"/>
                  </a:lnTo>
                  <a:lnTo>
                    <a:pt x="2226" y="393"/>
                  </a:lnTo>
                  <a:lnTo>
                    <a:pt x="2226" y="305"/>
                  </a:lnTo>
                  <a:lnTo>
                    <a:pt x="2226" y="261"/>
                  </a:lnTo>
                  <a:lnTo>
                    <a:pt x="2221" y="260"/>
                  </a:lnTo>
                  <a:lnTo>
                    <a:pt x="2213" y="258"/>
                  </a:lnTo>
                  <a:lnTo>
                    <a:pt x="2202" y="254"/>
                  </a:lnTo>
                  <a:lnTo>
                    <a:pt x="2193" y="251"/>
                  </a:lnTo>
                  <a:lnTo>
                    <a:pt x="2188" y="250"/>
                  </a:lnTo>
                  <a:lnTo>
                    <a:pt x="2181" y="248"/>
                  </a:lnTo>
                  <a:lnTo>
                    <a:pt x="2174" y="246"/>
                  </a:lnTo>
                  <a:lnTo>
                    <a:pt x="2166" y="245"/>
                  </a:lnTo>
                  <a:lnTo>
                    <a:pt x="2159" y="244"/>
                  </a:lnTo>
                  <a:lnTo>
                    <a:pt x="2152" y="244"/>
                  </a:lnTo>
                  <a:lnTo>
                    <a:pt x="2148" y="244"/>
                  </a:lnTo>
                  <a:lnTo>
                    <a:pt x="2144" y="244"/>
                  </a:lnTo>
                  <a:lnTo>
                    <a:pt x="2142" y="244"/>
                  </a:lnTo>
                  <a:lnTo>
                    <a:pt x="2143" y="243"/>
                  </a:lnTo>
                  <a:lnTo>
                    <a:pt x="2142" y="239"/>
                  </a:lnTo>
                  <a:lnTo>
                    <a:pt x="2140" y="234"/>
                  </a:lnTo>
                  <a:lnTo>
                    <a:pt x="2136" y="226"/>
                  </a:lnTo>
                  <a:lnTo>
                    <a:pt x="2132" y="216"/>
                  </a:lnTo>
                  <a:lnTo>
                    <a:pt x="2128" y="212"/>
                  </a:lnTo>
                  <a:lnTo>
                    <a:pt x="2141" y="203"/>
                  </a:lnTo>
                  <a:lnTo>
                    <a:pt x="2149" y="183"/>
                  </a:lnTo>
                  <a:lnTo>
                    <a:pt x="2153" y="162"/>
                  </a:lnTo>
                  <a:lnTo>
                    <a:pt x="2155" y="151"/>
                  </a:lnTo>
                  <a:lnTo>
                    <a:pt x="2157" y="142"/>
                  </a:lnTo>
                  <a:lnTo>
                    <a:pt x="2160" y="127"/>
                  </a:lnTo>
                  <a:lnTo>
                    <a:pt x="2166" y="112"/>
                  </a:lnTo>
                  <a:lnTo>
                    <a:pt x="2170" y="104"/>
                  </a:lnTo>
                  <a:lnTo>
                    <a:pt x="2170" y="95"/>
                  </a:lnTo>
                  <a:lnTo>
                    <a:pt x="2167" y="82"/>
                  </a:lnTo>
                  <a:lnTo>
                    <a:pt x="2164" y="69"/>
                  </a:lnTo>
                  <a:lnTo>
                    <a:pt x="2160" y="62"/>
                  </a:lnTo>
                  <a:lnTo>
                    <a:pt x="2160" y="55"/>
                  </a:lnTo>
                  <a:lnTo>
                    <a:pt x="2157" y="48"/>
                  </a:lnTo>
                  <a:lnTo>
                    <a:pt x="2152" y="40"/>
                  </a:lnTo>
                  <a:lnTo>
                    <a:pt x="2145" y="33"/>
                  </a:lnTo>
                  <a:lnTo>
                    <a:pt x="2138" y="26"/>
                  </a:lnTo>
                  <a:lnTo>
                    <a:pt x="2130" y="19"/>
                  </a:lnTo>
                  <a:lnTo>
                    <a:pt x="2124" y="13"/>
                  </a:lnTo>
                  <a:lnTo>
                    <a:pt x="2117" y="7"/>
                  </a:lnTo>
                  <a:lnTo>
                    <a:pt x="2109" y="2"/>
                  </a:lnTo>
                  <a:lnTo>
                    <a:pt x="2100" y="1"/>
                  </a:lnTo>
                  <a:lnTo>
                    <a:pt x="2090" y="0"/>
                  </a:lnTo>
                  <a:lnTo>
                    <a:pt x="2080" y="1"/>
                  </a:lnTo>
                  <a:lnTo>
                    <a:pt x="2071" y="2"/>
                  </a:lnTo>
                  <a:lnTo>
                    <a:pt x="2061" y="5"/>
                  </a:lnTo>
                  <a:lnTo>
                    <a:pt x="2056" y="7"/>
                  </a:lnTo>
                  <a:lnTo>
                    <a:pt x="2051" y="8"/>
                  </a:lnTo>
                  <a:lnTo>
                    <a:pt x="2048" y="9"/>
                  </a:lnTo>
                  <a:lnTo>
                    <a:pt x="2041" y="9"/>
                  </a:lnTo>
                  <a:lnTo>
                    <a:pt x="2034" y="9"/>
                  </a:lnTo>
                  <a:lnTo>
                    <a:pt x="2024" y="10"/>
                  </a:lnTo>
                  <a:lnTo>
                    <a:pt x="2015" y="10"/>
                  </a:lnTo>
                  <a:lnTo>
                    <a:pt x="2005" y="11"/>
                  </a:lnTo>
                  <a:lnTo>
                    <a:pt x="1996" y="13"/>
                  </a:lnTo>
                  <a:lnTo>
                    <a:pt x="1988" y="14"/>
                  </a:lnTo>
                  <a:lnTo>
                    <a:pt x="1977" y="19"/>
                  </a:lnTo>
                  <a:lnTo>
                    <a:pt x="1975" y="30"/>
                  </a:lnTo>
                  <a:lnTo>
                    <a:pt x="1976" y="40"/>
                  </a:lnTo>
                  <a:lnTo>
                    <a:pt x="1978" y="47"/>
                  </a:lnTo>
                  <a:lnTo>
                    <a:pt x="1969" y="54"/>
                  </a:lnTo>
                  <a:lnTo>
                    <a:pt x="1963" y="64"/>
                  </a:lnTo>
                  <a:lnTo>
                    <a:pt x="1960" y="75"/>
                  </a:lnTo>
                  <a:lnTo>
                    <a:pt x="1959" y="82"/>
                  </a:lnTo>
                  <a:lnTo>
                    <a:pt x="1957" y="87"/>
                  </a:lnTo>
                  <a:lnTo>
                    <a:pt x="1953" y="94"/>
                  </a:lnTo>
                  <a:lnTo>
                    <a:pt x="1950" y="100"/>
                  </a:lnTo>
                  <a:lnTo>
                    <a:pt x="1946" y="104"/>
                  </a:lnTo>
                  <a:lnTo>
                    <a:pt x="1946" y="106"/>
                  </a:lnTo>
                  <a:lnTo>
                    <a:pt x="1948" y="109"/>
                  </a:lnTo>
                  <a:lnTo>
                    <a:pt x="1951" y="114"/>
                  </a:lnTo>
                  <a:lnTo>
                    <a:pt x="1953" y="116"/>
                  </a:lnTo>
                  <a:lnTo>
                    <a:pt x="1953" y="119"/>
                  </a:lnTo>
                  <a:lnTo>
                    <a:pt x="1953" y="120"/>
                  </a:lnTo>
                  <a:lnTo>
                    <a:pt x="1953" y="122"/>
                  </a:lnTo>
                  <a:lnTo>
                    <a:pt x="1952" y="125"/>
                  </a:lnTo>
                  <a:lnTo>
                    <a:pt x="1950" y="131"/>
                  </a:lnTo>
                  <a:lnTo>
                    <a:pt x="1947" y="139"/>
                  </a:lnTo>
                  <a:lnTo>
                    <a:pt x="1943" y="147"/>
                  </a:lnTo>
                  <a:lnTo>
                    <a:pt x="1939" y="153"/>
                  </a:lnTo>
                  <a:lnTo>
                    <a:pt x="1937" y="157"/>
                  </a:lnTo>
                  <a:lnTo>
                    <a:pt x="1937" y="159"/>
                  </a:lnTo>
                  <a:lnTo>
                    <a:pt x="1938" y="161"/>
                  </a:lnTo>
                  <a:lnTo>
                    <a:pt x="1939" y="163"/>
                  </a:lnTo>
                  <a:lnTo>
                    <a:pt x="1942" y="165"/>
                  </a:lnTo>
                  <a:lnTo>
                    <a:pt x="1945" y="168"/>
                  </a:lnTo>
                  <a:lnTo>
                    <a:pt x="1950" y="170"/>
                  </a:lnTo>
                  <a:lnTo>
                    <a:pt x="1951" y="174"/>
                  </a:lnTo>
                  <a:lnTo>
                    <a:pt x="1951" y="177"/>
                  </a:lnTo>
                  <a:lnTo>
                    <a:pt x="1950" y="182"/>
                  </a:lnTo>
                  <a:lnTo>
                    <a:pt x="1948" y="188"/>
                  </a:lnTo>
                  <a:lnTo>
                    <a:pt x="1946" y="191"/>
                  </a:lnTo>
                  <a:lnTo>
                    <a:pt x="1946" y="193"/>
                  </a:lnTo>
                  <a:lnTo>
                    <a:pt x="1947" y="196"/>
                  </a:lnTo>
                  <a:lnTo>
                    <a:pt x="1950" y="199"/>
                  </a:lnTo>
                  <a:lnTo>
                    <a:pt x="1951" y="200"/>
                  </a:lnTo>
                  <a:lnTo>
                    <a:pt x="1950" y="201"/>
                  </a:lnTo>
                  <a:lnTo>
                    <a:pt x="1948" y="203"/>
                  </a:lnTo>
                  <a:lnTo>
                    <a:pt x="1948" y="205"/>
                  </a:lnTo>
                  <a:lnTo>
                    <a:pt x="1951" y="206"/>
                  </a:lnTo>
                  <a:lnTo>
                    <a:pt x="1952" y="210"/>
                  </a:lnTo>
                  <a:lnTo>
                    <a:pt x="1953" y="215"/>
                  </a:lnTo>
                  <a:lnTo>
                    <a:pt x="1953" y="222"/>
                  </a:lnTo>
                  <a:lnTo>
                    <a:pt x="1952" y="228"/>
                  </a:lnTo>
                  <a:lnTo>
                    <a:pt x="1954" y="233"/>
                  </a:lnTo>
                  <a:lnTo>
                    <a:pt x="1961" y="236"/>
                  </a:lnTo>
                  <a:lnTo>
                    <a:pt x="1969" y="237"/>
                  </a:lnTo>
                  <a:lnTo>
                    <a:pt x="1976" y="238"/>
                  </a:lnTo>
                  <a:lnTo>
                    <a:pt x="1982" y="238"/>
                  </a:lnTo>
                  <a:lnTo>
                    <a:pt x="1989" y="241"/>
                  </a:lnTo>
                  <a:lnTo>
                    <a:pt x="1995" y="243"/>
                  </a:lnTo>
                  <a:lnTo>
                    <a:pt x="1997" y="246"/>
                  </a:lnTo>
                  <a:lnTo>
                    <a:pt x="1989" y="254"/>
                  </a:lnTo>
                  <a:lnTo>
                    <a:pt x="1978" y="266"/>
                  </a:lnTo>
                  <a:lnTo>
                    <a:pt x="1969" y="276"/>
                  </a:lnTo>
                  <a:lnTo>
                    <a:pt x="1965" y="282"/>
                  </a:lnTo>
                  <a:lnTo>
                    <a:pt x="1959" y="284"/>
                  </a:lnTo>
                  <a:lnTo>
                    <a:pt x="1946" y="288"/>
                  </a:lnTo>
                  <a:lnTo>
                    <a:pt x="1929" y="291"/>
                  </a:lnTo>
                  <a:lnTo>
                    <a:pt x="1910" y="295"/>
                  </a:lnTo>
                  <a:lnTo>
                    <a:pt x="1892" y="298"/>
                  </a:lnTo>
                  <a:lnTo>
                    <a:pt x="1875" y="300"/>
                  </a:lnTo>
                  <a:lnTo>
                    <a:pt x="1862" y="302"/>
                  </a:lnTo>
                  <a:lnTo>
                    <a:pt x="1856" y="303"/>
                  </a:lnTo>
                  <a:lnTo>
                    <a:pt x="1853" y="303"/>
                  </a:lnTo>
                  <a:lnTo>
                    <a:pt x="1852" y="303"/>
                  </a:lnTo>
                  <a:lnTo>
                    <a:pt x="1851" y="306"/>
                  </a:lnTo>
                  <a:lnTo>
                    <a:pt x="1851" y="311"/>
                  </a:lnTo>
                  <a:lnTo>
                    <a:pt x="1848" y="317"/>
                  </a:lnTo>
                  <a:lnTo>
                    <a:pt x="1844" y="324"/>
                  </a:lnTo>
                  <a:lnTo>
                    <a:pt x="1838" y="328"/>
                  </a:lnTo>
                  <a:lnTo>
                    <a:pt x="1833" y="332"/>
                  </a:lnTo>
                  <a:lnTo>
                    <a:pt x="1817" y="317"/>
                  </a:lnTo>
                  <a:lnTo>
                    <a:pt x="1803" y="306"/>
                  </a:lnTo>
                  <a:lnTo>
                    <a:pt x="1792" y="299"/>
                  </a:lnTo>
                  <a:lnTo>
                    <a:pt x="1781" y="295"/>
                  </a:lnTo>
                  <a:lnTo>
                    <a:pt x="1772" y="291"/>
                  </a:lnTo>
                  <a:lnTo>
                    <a:pt x="1763" y="290"/>
                  </a:lnTo>
                  <a:lnTo>
                    <a:pt x="1755" y="289"/>
                  </a:lnTo>
                  <a:lnTo>
                    <a:pt x="1748" y="287"/>
                  </a:lnTo>
                  <a:lnTo>
                    <a:pt x="1741" y="284"/>
                  </a:lnTo>
                  <a:lnTo>
                    <a:pt x="1733" y="282"/>
                  </a:lnTo>
                  <a:lnTo>
                    <a:pt x="1724" y="281"/>
                  </a:lnTo>
                  <a:lnTo>
                    <a:pt x="1716" y="280"/>
                  </a:lnTo>
                  <a:lnTo>
                    <a:pt x="1709" y="279"/>
                  </a:lnTo>
                  <a:lnTo>
                    <a:pt x="1703" y="277"/>
                  </a:lnTo>
                  <a:lnTo>
                    <a:pt x="1700" y="276"/>
                  </a:lnTo>
                  <a:lnTo>
                    <a:pt x="1697" y="275"/>
                  </a:lnTo>
                  <a:lnTo>
                    <a:pt x="1696" y="272"/>
                  </a:lnTo>
                  <a:lnTo>
                    <a:pt x="1693" y="269"/>
                  </a:lnTo>
                  <a:lnTo>
                    <a:pt x="1689" y="266"/>
                  </a:lnTo>
                  <a:lnTo>
                    <a:pt x="1686" y="265"/>
                  </a:lnTo>
                  <a:lnTo>
                    <a:pt x="1686" y="262"/>
                  </a:lnTo>
                  <a:lnTo>
                    <a:pt x="1685" y="261"/>
                  </a:lnTo>
                  <a:lnTo>
                    <a:pt x="1684" y="259"/>
                  </a:lnTo>
                  <a:lnTo>
                    <a:pt x="1684" y="257"/>
                  </a:lnTo>
                  <a:lnTo>
                    <a:pt x="1685" y="257"/>
                  </a:lnTo>
                  <a:lnTo>
                    <a:pt x="1687" y="256"/>
                  </a:lnTo>
                  <a:lnTo>
                    <a:pt x="1689" y="251"/>
                  </a:lnTo>
                  <a:lnTo>
                    <a:pt x="1693" y="237"/>
                  </a:lnTo>
                  <a:lnTo>
                    <a:pt x="1693" y="222"/>
                  </a:lnTo>
                  <a:lnTo>
                    <a:pt x="1691" y="213"/>
                  </a:lnTo>
                  <a:lnTo>
                    <a:pt x="1687" y="208"/>
                  </a:lnTo>
                  <a:lnTo>
                    <a:pt x="1684" y="207"/>
                  </a:lnTo>
                  <a:lnTo>
                    <a:pt x="1684" y="200"/>
                  </a:lnTo>
                  <a:lnTo>
                    <a:pt x="1685" y="190"/>
                  </a:lnTo>
                  <a:lnTo>
                    <a:pt x="1684" y="178"/>
                  </a:lnTo>
                  <a:lnTo>
                    <a:pt x="1681" y="163"/>
                  </a:lnTo>
                  <a:lnTo>
                    <a:pt x="1678" y="150"/>
                  </a:lnTo>
                  <a:lnTo>
                    <a:pt x="1671" y="135"/>
                  </a:lnTo>
                  <a:lnTo>
                    <a:pt x="1662" y="121"/>
                  </a:lnTo>
                  <a:lnTo>
                    <a:pt x="1649" y="109"/>
                  </a:lnTo>
                  <a:lnTo>
                    <a:pt x="1626" y="95"/>
                  </a:lnTo>
                  <a:lnTo>
                    <a:pt x="1604" y="89"/>
                  </a:lnTo>
                  <a:lnTo>
                    <a:pt x="1583" y="86"/>
                  </a:lnTo>
                  <a:lnTo>
                    <a:pt x="1564" y="89"/>
                  </a:lnTo>
                  <a:lnTo>
                    <a:pt x="1545" y="94"/>
                  </a:lnTo>
                  <a:lnTo>
                    <a:pt x="1528" y="102"/>
                  </a:lnTo>
                  <a:lnTo>
                    <a:pt x="1513" y="113"/>
                  </a:lnTo>
                  <a:lnTo>
                    <a:pt x="1499" y="123"/>
                  </a:lnTo>
                  <a:lnTo>
                    <a:pt x="1489" y="136"/>
                  </a:lnTo>
                  <a:lnTo>
                    <a:pt x="1483" y="150"/>
                  </a:lnTo>
                  <a:lnTo>
                    <a:pt x="1480" y="165"/>
                  </a:lnTo>
                  <a:lnTo>
                    <a:pt x="1481" y="180"/>
                  </a:lnTo>
                  <a:lnTo>
                    <a:pt x="1482" y="193"/>
                  </a:lnTo>
                  <a:lnTo>
                    <a:pt x="1486" y="206"/>
                  </a:lnTo>
                  <a:lnTo>
                    <a:pt x="1488" y="215"/>
                  </a:lnTo>
                  <a:lnTo>
                    <a:pt x="1490" y="221"/>
                  </a:lnTo>
                  <a:lnTo>
                    <a:pt x="1487" y="224"/>
                  </a:lnTo>
                  <a:lnTo>
                    <a:pt x="1486" y="233"/>
                  </a:lnTo>
                  <a:lnTo>
                    <a:pt x="1487" y="241"/>
                  </a:lnTo>
                  <a:lnTo>
                    <a:pt x="1488" y="249"/>
                  </a:lnTo>
                  <a:lnTo>
                    <a:pt x="1490" y="256"/>
                  </a:lnTo>
                  <a:lnTo>
                    <a:pt x="1495" y="264"/>
                  </a:lnTo>
                  <a:lnTo>
                    <a:pt x="1501" y="269"/>
                  </a:lnTo>
                  <a:lnTo>
                    <a:pt x="1504" y="273"/>
                  </a:lnTo>
                  <a:lnTo>
                    <a:pt x="1504" y="275"/>
                  </a:lnTo>
                  <a:lnTo>
                    <a:pt x="1506" y="279"/>
                  </a:lnTo>
                  <a:lnTo>
                    <a:pt x="1507" y="282"/>
                  </a:lnTo>
                  <a:lnTo>
                    <a:pt x="1509" y="284"/>
                  </a:lnTo>
                  <a:lnTo>
                    <a:pt x="1507" y="286"/>
                  </a:lnTo>
                  <a:lnTo>
                    <a:pt x="1506" y="287"/>
                  </a:lnTo>
                  <a:lnTo>
                    <a:pt x="1503" y="288"/>
                  </a:lnTo>
                  <a:lnTo>
                    <a:pt x="1499" y="289"/>
                  </a:lnTo>
                  <a:lnTo>
                    <a:pt x="1497" y="291"/>
                  </a:lnTo>
                  <a:lnTo>
                    <a:pt x="1496" y="295"/>
                  </a:lnTo>
                  <a:lnTo>
                    <a:pt x="1496" y="299"/>
                  </a:lnTo>
                  <a:lnTo>
                    <a:pt x="1495" y="303"/>
                  </a:lnTo>
                  <a:lnTo>
                    <a:pt x="1491" y="305"/>
                  </a:lnTo>
                  <a:lnTo>
                    <a:pt x="1487" y="307"/>
                  </a:lnTo>
                  <a:lnTo>
                    <a:pt x="1480" y="311"/>
                  </a:lnTo>
                  <a:lnTo>
                    <a:pt x="1471" y="313"/>
                  </a:lnTo>
                  <a:lnTo>
                    <a:pt x="1461" y="318"/>
                  </a:lnTo>
                  <a:lnTo>
                    <a:pt x="1445" y="326"/>
                  </a:lnTo>
                  <a:lnTo>
                    <a:pt x="1426" y="337"/>
                  </a:lnTo>
                  <a:lnTo>
                    <a:pt x="1404" y="351"/>
                  </a:lnTo>
                  <a:lnTo>
                    <a:pt x="1383" y="364"/>
                  </a:lnTo>
                  <a:lnTo>
                    <a:pt x="1365" y="375"/>
                  </a:lnTo>
                  <a:lnTo>
                    <a:pt x="1351" y="385"/>
                  </a:lnTo>
                  <a:lnTo>
                    <a:pt x="1344" y="389"/>
                  </a:lnTo>
                  <a:lnTo>
                    <a:pt x="1339" y="388"/>
                  </a:lnTo>
                  <a:lnTo>
                    <a:pt x="1336" y="379"/>
                  </a:lnTo>
                  <a:lnTo>
                    <a:pt x="1332" y="363"/>
                  </a:lnTo>
                  <a:lnTo>
                    <a:pt x="1330" y="344"/>
                  </a:lnTo>
                  <a:lnTo>
                    <a:pt x="1329" y="335"/>
                  </a:lnTo>
                  <a:lnTo>
                    <a:pt x="1325" y="327"/>
                  </a:lnTo>
                  <a:lnTo>
                    <a:pt x="1321" y="320"/>
                  </a:lnTo>
                  <a:lnTo>
                    <a:pt x="1314" y="314"/>
                  </a:lnTo>
                  <a:lnTo>
                    <a:pt x="1307" y="310"/>
                  </a:lnTo>
                  <a:lnTo>
                    <a:pt x="1301" y="306"/>
                  </a:lnTo>
                  <a:lnTo>
                    <a:pt x="1294" y="304"/>
                  </a:lnTo>
                  <a:lnTo>
                    <a:pt x="1290" y="303"/>
                  </a:lnTo>
                  <a:lnTo>
                    <a:pt x="1282" y="302"/>
                  </a:lnTo>
                  <a:lnTo>
                    <a:pt x="1269" y="298"/>
                  </a:lnTo>
                  <a:lnTo>
                    <a:pt x="1252" y="295"/>
                  </a:lnTo>
                  <a:lnTo>
                    <a:pt x="1233" y="291"/>
                  </a:lnTo>
                  <a:lnTo>
                    <a:pt x="1215" y="287"/>
                  </a:lnTo>
                  <a:lnTo>
                    <a:pt x="1199" y="283"/>
                  </a:lnTo>
                  <a:lnTo>
                    <a:pt x="1186" y="281"/>
                  </a:lnTo>
                  <a:lnTo>
                    <a:pt x="1179" y="280"/>
                  </a:lnTo>
                  <a:lnTo>
                    <a:pt x="1180" y="280"/>
                  </a:lnTo>
                  <a:lnTo>
                    <a:pt x="1182" y="279"/>
                  </a:lnTo>
                  <a:lnTo>
                    <a:pt x="1182" y="277"/>
                  </a:lnTo>
                  <a:lnTo>
                    <a:pt x="1183" y="275"/>
                  </a:lnTo>
                  <a:lnTo>
                    <a:pt x="1182" y="269"/>
                  </a:lnTo>
                  <a:lnTo>
                    <a:pt x="1178" y="261"/>
                  </a:lnTo>
                  <a:lnTo>
                    <a:pt x="1173" y="253"/>
                  </a:lnTo>
                  <a:lnTo>
                    <a:pt x="1170" y="249"/>
                  </a:lnTo>
                  <a:lnTo>
                    <a:pt x="1168" y="248"/>
                  </a:lnTo>
                  <a:lnTo>
                    <a:pt x="1164" y="246"/>
                  </a:lnTo>
                  <a:lnTo>
                    <a:pt x="1161" y="246"/>
                  </a:lnTo>
                  <a:lnTo>
                    <a:pt x="1156" y="246"/>
                  </a:lnTo>
                  <a:lnTo>
                    <a:pt x="1154" y="246"/>
                  </a:lnTo>
                  <a:lnTo>
                    <a:pt x="1154" y="248"/>
                  </a:lnTo>
                  <a:lnTo>
                    <a:pt x="1155" y="248"/>
                  </a:lnTo>
                  <a:lnTo>
                    <a:pt x="1158" y="246"/>
                  </a:lnTo>
                  <a:lnTo>
                    <a:pt x="1163" y="242"/>
                  </a:lnTo>
                  <a:lnTo>
                    <a:pt x="1169" y="234"/>
                  </a:lnTo>
                  <a:lnTo>
                    <a:pt x="1176" y="226"/>
                  </a:lnTo>
                  <a:lnTo>
                    <a:pt x="1183" y="219"/>
                  </a:lnTo>
                  <a:lnTo>
                    <a:pt x="1188" y="213"/>
                  </a:lnTo>
                  <a:lnTo>
                    <a:pt x="1191" y="204"/>
                  </a:lnTo>
                  <a:lnTo>
                    <a:pt x="1192" y="195"/>
                  </a:lnTo>
                  <a:lnTo>
                    <a:pt x="1192" y="188"/>
                  </a:lnTo>
                  <a:lnTo>
                    <a:pt x="1191" y="182"/>
                  </a:lnTo>
                  <a:lnTo>
                    <a:pt x="1188" y="172"/>
                  </a:lnTo>
                  <a:lnTo>
                    <a:pt x="1185" y="153"/>
                  </a:lnTo>
                  <a:lnTo>
                    <a:pt x="1183" y="121"/>
                  </a:lnTo>
                  <a:lnTo>
                    <a:pt x="1180" y="102"/>
                  </a:lnTo>
                  <a:lnTo>
                    <a:pt x="1176" y="87"/>
                  </a:lnTo>
                  <a:lnTo>
                    <a:pt x="1169" y="75"/>
                  </a:lnTo>
                  <a:lnTo>
                    <a:pt x="1158" y="64"/>
                  </a:lnTo>
                  <a:lnTo>
                    <a:pt x="1146" y="56"/>
                  </a:lnTo>
                  <a:lnTo>
                    <a:pt x="1130" y="51"/>
                  </a:lnTo>
                  <a:lnTo>
                    <a:pt x="1111" y="47"/>
                  </a:lnTo>
                  <a:lnTo>
                    <a:pt x="1089" y="46"/>
                  </a:lnTo>
                  <a:lnTo>
                    <a:pt x="1069" y="47"/>
                  </a:lnTo>
                  <a:lnTo>
                    <a:pt x="1051" y="53"/>
                  </a:lnTo>
                  <a:lnTo>
                    <a:pt x="1039" y="62"/>
                  </a:lnTo>
                  <a:lnTo>
                    <a:pt x="1028" y="71"/>
                  </a:lnTo>
                  <a:lnTo>
                    <a:pt x="1021" y="82"/>
                  </a:lnTo>
                  <a:lnTo>
                    <a:pt x="1017" y="91"/>
                  </a:lnTo>
                  <a:lnTo>
                    <a:pt x="1015" y="99"/>
                  </a:lnTo>
                  <a:lnTo>
                    <a:pt x="1015" y="102"/>
                  </a:lnTo>
                  <a:lnTo>
                    <a:pt x="1017" y="105"/>
                  </a:lnTo>
                  <a:lnTo>
                    <a:pt x="1020" y="106"/>
                  </a:lnTo>
                  <a:lnTo>
                    <a:pt x="1024" y="107"/>
                  </a:lnTo>
                  <a:lnTo>
                    <a:pt x="1025" y="108"/>
                  </a:lnTo>
                  <a:lnTo>
                    <a:pt x="1017" y="117"/>
                  </a:lnTo>
                  <a:lnTo>
                    <a:pt x="1011" y="130"/>
                  </a:lnTo>
                  <a:lnTo>
                    <a:pt x="1008" y="142"/>
                  </a:lnTo>
                  <a:lnTo>
                    <a:pt x="1006" y="148"/>
                  </a:lnTo>
                  <a:lnTo>
                    <a:pt x="1005" y="152"/>
                  </a:lnTo>
                  <a:lnTo>
                    <a:pt x="1005" y="155"/>
                  </a:lnTo>
                  <a:lnTo>
                    <a:pt x="1005" y="158"/>
                  </a:lnTo>
                  <a:lnTo>
                    <a:pt x="1006" y="160"/>
                  </a:lnTo>
                  <a:lnTo>
                    <a:pt x="1004" y="162"/>
                  </a:lnTo>
                  <a:lnTo>
                    <a:pt x="1002" y="166"/>
                  </a:lnTo>
                  <a:lnTo>
                    <a:pt x="1000" y="170"/>
                  </a:lnTo>
                  <a:lnTo>
                    <a:pt x="998" y="175"/>
                  </a:lnTo>
                  <a:lnTo>
                    <a:pt x="1000" y="182"/>
                  </a:lnTo>
                  <a:lnTo>
                    <a:pt x="1002" y="189"/>
                  </a:lnTo>
                  <a:lnTo>
                    <a:pt x="1005" y="196"/>
                  </a:lnTo>
                  <a:lnTo>
                    <a:pt x="1009" y="199"/>
                  </a:lnTo>
                  <a:lnTo>
                    <a:pt x="1009" y="201"/>
                  </a:lnTo>
                  <a:lnTo>
                    <a:pt x="1009" y="205"/>
                  </a:lnTo>
                  <a:lnTo>
                    <a:pt x="1008" y="210"/>
                  </a:lnTo>
                  <a:lnTo>
                    <a:pt x="1005" y="215"/>
                  </a:lnTo>
                  <a:lnTo>
                    <a:pt x="1004" y="221"/>
                  </a:lnTo>
                  <a:lnTo>
                    <a:pt x="1006" y="223"/>
                  </a:lnTo>
                  <a:lnTo>
                    <a:pt x="1010" y="224"/>
                  </a:lnTo>
                  <a:lnTo>
                    <a:pt x="1012" y="224"/>
                  </a:lnTo>
                  <a:lnTo>
                    <a:pt x="1013" y="224"/>
                  </a:lnTo>
                  <a:lnTo>
                    <a:pt x="1015" y="224"/>
                  </a:lnTo>
                  <a:lnTo>
                    <a:pt x="1016" y="226"/>
                  </a:lnTo>
                  <a:lnTo>
                    <a:pt x="1016" y="227"/>
                  </a:lnTo>
                  <a:lnTo>
                    <a:pt x="1016" y="229"/>
                  </a:lnTo>
                  <a:lnTo>
                    <a:pt x="1016" y="231"/>
                  </a:lnTo>
                  <a:lnTo>
                    <a:pt x="1016" y="234"/>
                  </a:lnTo>
                  <a:lnTo>
                    <a:pt x="1017" y="236"/>
                  </a:lnTo>
                  <a:lnTo>
                    <a:pt x="1018" y="237"/>
                  </a:lnTo>
                  <a:lnTo>
                    <a:pt x="1019" y="238"/>
                  </a:lnTo>
                  <a:lnTo>
                    <a:pt x="1020" y="238"/>
                  </a:lnTo>
                  <a:lnTo>
                    <a:pt x="1019" y="241"/>
                  </a:lnTo>
                  <a:lnTo>
                    <a:pt x="1019" y="242"/>
                  </a:lnTo>
                  <a:lnTo>
                    <a:pt x="1019" y="244"/>
                  </a:lnTo>
                  <a:lnTo>
                    <a:pt x="1019" y="245"/>
                  </a:lnTo>
                  <a:lnTo>
                    <a:pt x="1020" y="246"/>
                  </a:lnTo>
                  <a:lnTo>
                    <a:pt x="1021" y="246"/>
                  </a:lnTo>
                  <a:lnTo>
                    <a:pt x="1021" y="245"/>
                  </a:lnTo>
                  <a:lnTo>
                    <a:pt x="1021" y="246"/>
                  </a:lnTo>
                  <a:lnTo>
                    <a:pt x="1021" y="254"/>
                  </a:lnTo>
                  <a:lnTo>
                    <a:pt x="1023" y="264"/>
                  </a:lnTo>
                  <a:lnTo>
                    <a:pt x="1028" y="269"/>
                  </a:lnTo>
                  <a:lnTo>
                    <a:pt x="1035" y="272"/>
                  </a:lnTo>
                  <a:lnTo>
                    <a:pt x="1041" y="273"/>
                  </a:lnTo>
                  <a:lnTo>
                    <a:pt x="1044" y="274"/>
                  </a:lnTo>
                  <a:lnTo>
                    <a:pt x="1047" y="276"/>
                  </a:lnTo>
                  <a:lnTo>
                    <a:pt x="1048" y="281"/>
                  </a:lnTo>
                  <a:lnTo>
                    <a:pt x="1048" y="284"/>
                  </a:lnTo>
                  <a:lnTo>
                    <a:pt x="1044" y="287"/>
                  </a:lnTo>
                  <a:lnTo>
                    <a:pt x="1038" y="292"/>
                  </a:lnTo>
                  <a:lnTo>
                    <a:pt x="1031" y="297"/>
                  </a:lnTo>
                  <a:lnTo>
                    <a:pt x="1026" y="300"/>
                  </a:lnTo>
                  <a:lnTo>
                    <a:pt x="1021" y="304"/>
                  </a:lnTo>
                  <a:lnTo>
                    <a:pt x="1016" y="307"/>
                  </a:lnTo>
                  <a:lnTo>
                    <a:pt x="1012" y="311"/>
                  </a:lnTo>
                  <a:lnTo>
                    <a:pt x="1011" y="314"/>
                  </a:lnTo>
                  <a:lnTo>
                    <a:pt x="1011" y="318"/>
                  </a:lnTo>
                  <a:lnTo>
                    <a:pt x="1009" y="322"/>
                  </a:lnTo>
                  <a:lnTo>
                    <a:pt x="1005" y="327"/>
                  </a:lnTo>
                  <a:lnTo>
                    <a:pt x="1002" y="332"/>
                  </a:lnTo>
                  <a:lnTo>
                    <a:pt x="997" y="335"/>
                  </a:lnTo>
                  <a:lnTo>
                    <a:pt x="988" y="340"/>
                  </a:lnTo>
                  <a:lnTo>
                    <a:pt x="977" y="348"/>
                  </a:lnTo>
                  <a:lnTo>
                    <a:pt x="963" y="355"/>
                  </a:lnTo>
                  <a:lnTo>
                    <a:pt x="949" y="363"/>
                  </a:lnTo>
                  <a:lnTo>
                    <a:pt x="937" y="368"/>
                  </a:lnTo>
                  <a:lnTo>
                    <a:pt x="928" y="373"/>
                  </a:lnTo>
                  <a:lnTo>
                    <a:pt x="924" y="375"/>
                  </a:lnTo>
                  <a:lnTo>
                    <a:pt x="918" y="375"/>
                  </a:lnTo>
                  <a:lnTo>
                    <a:pt x="912" y="374"/>
                  </a:lnTo>
                  <a:lnTo>
                    <a:pt x="905" y="374"/>
                  </a:lnTo>
                  <a:lnTo>
                    <a:pt x="899" y="375"/>
                  </a:lnTo>
                  <a:lnTo>
                    <a:pt x="896" y="379"/>
                  </a:lnTo>
                  <a:lnTo>
                    <a:pt x="894" y="385"/>
                  </a:lnTo>
                  <a:lnTo>
                    <a:pt x="890" y="390"/>
                  </a:lnTo>
                  <a:lnTo>
                    <a:pt x="887" y="397"/>
                  </a:lnTo>
                  <a:lnTo>
                    <a:pt x="882" y="401"/>
                  </a:lnTo>
                  <a:lnTo>
                    <a:pt x="879" y="401"/>
                  </a:lnTo>
                  <a:lnTo>
                    <a:pt x="875" y="398"/>
                  </a:lnTo>
                  <a:lnTo>
                    <a:pt x="873" y="396"/>
                  </a:lnTo>
                  <a:lnTo>
                    <a:pt x="869" y="390"/>
                  </a:lnTo>
                  <a:lnTo>
                    <a:pt x="863" y="378"/>
                  </a:lnTo>
                  <a:lnTo>
                    <a:pt x="856" y="365"/>
                  </a:lnTo>
                  <a:lnTo>
                    <a:pt x="849" y="357"/>
                  </a:lnTo>
                  <a:lnTo>
                    <a:pt x="842" y="353"/>
                  </a:lnTo>
                  <a:lnTo>
                    <a:pt x="834" y="353"/>
                  </a:lnTo>
                  <a:lnTo>
                    <a:pt x="825" y="353"/>
                  </a:lnTo>
                  <a:lnTo>
                    <a:pt x="819" y="355"/>
                  </a:lnTo>
                  <a:lnTo>
                    <a:pt x="814" y="353"/>
                  </a:lnTo>
                  <a:lnTo>
                    <a:pt x="811" y="350"/>
                  </a:lnTo>
                  <a:lnTo>
                    <a:pt x="807" y="345"/>
                  </a:lnTo>
                  <a:lnTo>
                    <a:pt x="805" y="342"/>
                  </a:lnTo>
                  <a:lnTo>
                    <a:pt x="800" y="340"/>
                  </a:lnTo>
                  <a:lnTo>
                    <a:pt x="793" y="340"/>
                  </a:lnTo>
                  <a:lnTo>
                    <a:pt x="787" y="341"/>
                  </a:lnTo>
                  <a:lnTo>
                    <a:pt x="782" y="341"/>
                  </a:lnTo>
                  <a:lnTo>
                    <a:pt x="780" y="336"/>
                  </a:lnTo>
                  <a:lnTo>
                    <a:pt x="774" y="330"/>
                  </a:lnTo>
                  <a:lnTo>
                    <a:pt x="768" y="325"/>
                  </a:lnTo>
                  <a:lnTo>
                    <a:pt x="763" y="320"/>
                  </a:lnTo>
                  <a:lnTo>
                    <a:pt x="767" y="313"/>
                  </a:lnTo>
                  <a:lnTo>
                    <a:pt x="770" y="302"/>
                  </a:lnTo>
                  <a:lnTo>
                    <a:pt x="773" y="289"/>
                  </a:lnTo>
                  <a:lnTo>
                    <a:pt x="774" y="279"/>
                  </a:lnTo>
                  <a:lnTo>
                    <a:pt x="774" y="266"/>
                  </a:lnTo>
                  <a:lnTo>
                    <a:pt x="770" y="256"/>
                  </a:lnTo>
                  <a:lnTo>
                    <a:pt x="765" y="246"/>
                  </a:lnTo>
                  <a:lnTo>
                    <a:pt x="759" y="237"/>
                  </a:lnTo>
                  <a:lnTo>
                    <a:pt x="752" y="229"/>
                  </a:lnTo>
                  <a:lnTo>
                    <a:pt x="746" y="221"/>
                  </a:lnTo>
                  <a:lnTo>
                    <a:pt x="744" y="213"/>
                  </a:lnTo>
                  <a:lnTo>
                    <a:pt x="744" y="205"/>
                  </a:lnTo>
                  <a:lnTo>
                    <a:pt x="746" y="201"/>
                  </a:lnTo>
                  <a:lnTo>
                    <a:pt x="750" y="198"/>
                  </a:lnTo>
                  <a:lnTo>
                    <a:pt x="752" y="193"/>
                  </a:lnTo>
                  <a:lnTo>
                    <a:pt x="754" y="185"/>
                  </a:lnTo>
                  <a:lnTo>
                    <a:pt x="754" y="177"/>
                  </a:lnTo>
                  <a:lnTo>
                    <a:pt x="752" y="172"/>
                  </a:lnTo>
                  <a:lnTo>
                    <a:pt x="747" y="166"/>
                  </a:lnTo>
                  <a:lnTo>
                    <a:pt x="742" y="160"/>
                  </a:lnTo>
                  <a:lnTo>
                    <a:pt x="738" y="159"/>
                  </a:lnTo>
                  <a:lnTo>
                    <a:pt x="735" y="155"/>
                  </a:lnTo>
                  <a:lnTo>
                    <a:pt x="734" y="150"/>
                  </a:lnTo>
                  <a:lnTo>
                    <a:pt x="737" y="142"/>
                  </a:lnTo>
                  <a:lnTo>
                    <a:pt x="743" y="124"/>
                  </a:lnTo>
                  <a:lnTo>
                    <a:pt x="740" y="105"/>
                  </a:lnTo>
                  <a:lnTo>
                    <a:pt x="735" y="87"/>
                  </a:lnTo>
                  <a:lnTo>
                    <a:pt x="730" y="77"/>
                  </a:lnTo>
                  <a:lnTo>
                    <a:pt x="727" y="72"/>
                  </a:lnTo>
                  <a:lnTo>
                    <a:pt x="722" y="70"/>
                  </a:lnTo>
                  <a:lnTo>
                    <a:pt x="716" y="68"/>
                  </a:lnTo>
                  <a:lnTo>
                    <a:pt x="712" y="67"/>
                  </a:lnTo>
                  <a:lnTo>
                    <a:pt x="711" y="64"/>
                  </a:lnTo>
                  <a:lnTo>
                    <a:pt x="708" y="61"/>
                  </a:lnTo>
                  <a:lnTo>
                    <a:pt x="704" y="56"/>
                  </a:lnTo>
                  <a:lnTo>
                    <a:pt x="698" y="52"/>
                  </a:lnTo>
                  <a:lnTo>
                    <a:pt x="691" y="46"/>
                  </a:lnTo>
                  <a:lnTo>
                    <a:pt x="683" y="41"/>
                  </a:lnTo>
                  <a:lnTo>
                    <a:pt x="673" y="39"/>
                  </a:lnTo>
                  <a:lnTo>
                    <a:pt x="661" y="37"/>
                  </a:lnTo>
                  <a:lnTo>
                    <a:pt x="649" y="38"/>
                  </a:lnTo>
                  <a:lnTo>
                    <a:pt x="637" y="41"/>
                  </a:lnTo>
                  <a:lnTo>
                    <a:pt x="626" y="46"/>
                  </a:lnTo>
                  <a:lnTo>
                    <a:pt x="615" y="54"/>
                  </a:lnTo>
                  <a:lnTo>
                    <a:pt x="606" y="62"/>
                  </a:lnTo>
                  <a:lnTo>
                    <a:pt x="595" y="72"/>
                  </a:lnTo>
                  <a:lnTo>
                    <a:pt x="587" y="82"/>
                  </a:lnTo>
                  <a:lnTo>
                    <a:pt x="579" y="91"/>
                  </a:lnTo>
                  <a:lnTo>
                    <a:pt x="569" y="108"/>
                  </a:lnTo>
                  <a:lnTo>
                    <a:pt x="568" y="124"/>
                  </a:lnTo>
                  <a:lnTo>
                    <a:pt x="569" y="137"/>
                  </a:lnTo>
                  <a:lnTo>
                    <a:pt x="572" y="142"/>
                  </a:lnTo>
                  <a:lnTo>
                    <a:pt x="573" y="144"/>
                  </a:lnTo>
                  <a:lnTo>
                    <a:pt x="575" y="147"/>
                  </a:lnTo>
                  <a:lnTo>
                    <a:pt x="572" y="152"/>
                  </a:lnTo>
                  <a:lnTo>
                    <a:pt x="569" y="154"/>
                  </a:lnTo>
                  <a:lnTo>
                    <a:pt x="561" y="160"/>
                  </a:lnTo>
                  <a:lnTo>
                    <a:pt x="554" y="172"/>
                  </a:lnTo>
                  <a:lnTo>
                    <a:pt x="549" y="184"/>
                  </a:lnTo>
                  <a:lnTo>
                    <a:pt x="550" y="197"/>
                  </a:lnTo>
                  <a:lnTo>
                    <a:pt x="554" y="211"/>
                  </a:lnTo>
                  <a:lnTo>
                    <a:pt x="555" y="227"/>
                  </a:lnTo>
                  <a:lnTo>
                    <a:pt x="550" y="248"/>
                  </a:lnTo>
                  <a:lnTo>
                    <a:pt x="541" y="272"/>
                  </a:lnTo>
                  <a:lnTo>
                    <a:pt x="538" y="284"/>
                  </a:lnTo>
                  <a:lnTo>
                    <a:pt x="538" y="294"/>
                  </a:lnTo>
                  <a:lnTo>
                    <a:pt x="540" y="302"/>
                  </a:lnTo>
                  <a:lnTo>
                    <a:pt x="545" y="307"/>
                  </a:lnTo>
                  <a:lnTo>
                    <a:pt x="550" y="313"/>
                  </a:lnTo>
                  <a:lnTo>
                    <a:pt x="555" y="317"/>
                  </a:lnTo>
                  <a:lnTo>
                    <a:pt x="559" y="319"/>
                  </a:lnTo>
                  <a:lnTo>
                    <a:pt x="561" y="320"/>
                  </a:lnTo>
                  <a:lnTo>
                    <a:pt x="559" y="321"/>
                  </a:lnTo>
                  <a:lnTo>
                    <a:pt x="554" y="321"/>
                  </a:lnTo>
                  <a:lnTo>
                    <a:pt x="547" y="321"/>
                  </a:lnTo>
                  <a:lnTo>
                    <a:pt x="542" y="321"/>
                  </a:lnTo>
                  <a:lnTo>
                    <a:pt x="544" y="325"/>
                  </a:lnTo>
                  <a:lnTo>
                    <a:pt x="545" y="329"/>
                  </a:lnTo>
                  <a:lnTo>
                    <a:pt x="544" y="333"/>
                  </a:lnTo>
                  <a:lnTo>
                    <a:pt x="542" y="335"/>
                  </a:lnTo>
                  <a:lnTo>
                    <a:pt x="540" y="336"/>
                  </a:lnTo>
                  <a:lnTo>
                    <a:pt x="534" y="340"/>
                  </a:lnTo>
                  <a:lnTo>
                    <a:pt x="527" y="344"/>
                  </a:lnTo>
                  <a:lnTo>
                    <a:pt x="519" y="348"/>
                  </a:lnTo>
                  <a:lnTo>
                    <a:pt x="511" y="352"/>
                  </a:lnTo>
                  <a:lnTo>
                    <a:pt x="504" y="357"/>
                  </a:lnTo>
                  <a:lnTo>
                    <a:pt x="497" y="360"/>
                  </a:lnTo>
                  <a:lnTo>
                    <a:pt x="494" y="362"/>
                  </a:lnTo>
                  <a:lnTo>
                    <a:pt x="491" y="363"/>
                  </a:lnTo>
                  <a:lnTo>
                    <a:pt x="484" y="363"/>
                  </a:lnTo>
                  <a:lnTo>
                    <a:pt x="477" y="363"/>
                  </a:lnTo>
                  <a:lnTo>
                    <a:pt x="469" y="363"/>
                  </a:lnTo>
                  <a:lnTo>
                    <a:pt x="461" y="363"/>
                  </a:lnTo>
                  <a:lnTo>
                    <a:pt x="454" y="363"/>
                  </a:lnTo>
                  <a:lnTo>
                    <a:pt x="448" y="363"/>
                  </a:lnTo>
                  <a:lnTo>
                    <a:pt x="446" y="363"/>
                  </a:lnTo>
                  <a:lnTo>
                    <a:pt x="441" y="359"/>
                  </a:lnTo>
                  <a:lnTo>
                    <a:pt x="435" y="353"/>
                  </a:lnTo>
                  <a:lnTo>
                    <a:pt x="427" y="345"/>
                  </a:lnTo>
                  <a:lnTo>
                    <a:pt x="420" y="337"/>
                  </a:lnTo>
                  <a:lnTo>
                    <a:pt x="415" y="333"/>
                  </a:lnTo>
                  <a:lnTo>
                    <a:pt x="409" y="329"/>
                  </a:lnTo>
                  <a:lnTo>
                    <a:pt x="401" y="327"/>
                  </a:lnTo>
                  <a:lnTo>
                    <a:pt x="388" y="325"/>
                  </a:lnTo>
                  <a:lnTo>
                    <a:pt x="379" y="322"/>
                  </a:lnTo>
                  <a:lnTo>
                    <a:pt x="367" y="318"/>
                  </a:lnTo>
                  <a:lnTo>
                    <a:pt x="355" y="312"/>
                  </a:lnTo>
                  <a:lnTo>
                    <a:pt x="341" y="306"/>
                  </a:lnTo>
                  <a:lnTo>
                    <a:pt x="328" y="299"/>
                  </a:lnTo>
                  <a:lnTo>
                    <a:pt x="318" y="294"/>
                  </a:lnTo>
                  <a:lnTo>
                    <a:pt x="310" y="290"/>
                  </a:lnTo>
                  <a:lnTo>
                    <a:pt x="306" y="288"/>
                  </a:lnTo>
                  <a:lnTo>
                    <a:pt x="306" y="284"/>
                  </a:lnTo>
                  <a:lnTo>
                    <a:pt x="307" y="280"/>
                  </a:lnTo>
                  <a:lnTo>
                    <a:pt x="310" y="275"/>
                  </a:lnTo>
                  <a:lnTo>
                    <a:pt x="312" y="272"/>
                  </a:lnTo>
                  <a:lnTo>
                    <a:pt x="314" y="271"/>
                  </a:lnTo>
                  <a:lnTo>
                    <a:pt x="319" y="268"/>
                  </a:lnTo>
                  <a:lnTo>
                    <a:pt x="325" y="265"/>
                  </a:lnTo>
                  <a:lnTo>
                    <a:pt x="332" y="261"/>
                  </a:lnTo>
                  <a:lnTo>
                    <a:pt x="339" y="258"/>
                  </a:lnTo>
                  <a:lnTo>
                    <a:pt x="345" y="256"/>
                  </a:lnTo>
                  <a:lnTo>
                    <a:pt x="350" y="253"/>
                  </a:lnTo>
                  <a:lnTo>
                    <a:pt x="352" y="251"/>
                  </a:lnTo>
                  <a:lnTo>
                    <a:pt x="351" y="25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28" name="Freeform 183"/>
            <p:cNvSpPr>
              <a:spLocks/>
            </p:cNvSpPr>
            <p:nvPr/>
          </p:nvSpPr>
          <p:spPr bwMode="auto">
            <a:xfrm>
              <a:off x="2052638" y="3416300"/>
              <a:ext cx="1355725" cy="301625"/>
            </a:xfrm>
            <a:custGeom>
              <a:avLst/>
              <a:gdLst>
                <a:gd name="T0" fmla="*/ 218037 w 2226"/>
                <a:gd name="T1" fmla="*/ 127184 h 517"/>
                <a:gd name="T2" fmla="*/ 216209 w 2226"/>
                <a:gd name="T3" fmla="*/ 112015 h 517"/>
                <a:gd name="T4" fmla="*/ 212555 w 2226"/>
                <a:gd name="T5" fmla="*/ 88679 h 517"/>
                <a:gd name="T6" fmla="*/ 207683 w 2226"/>
                <a:gd name="T7" fmla="*/ 56591 h 517"/>
                <a:gd name="T8" fmla="*/ 171750 w 2226"/>
                <a:gd name="T9" fmla="*/ 23337 h 517"/>
                <a:gd name="T10" fmla="*/ 107800 w 2226"/>
                <a:gd name="T11" fmla="*/ 31504 h 517"/>
                <a:gd name="T12" fmla="*/ 98665 w 2226"/>
                <a:gd name="T13" fmla="*/ 116683 h 517"/>
                <a:gd name="T14" fmla="*/ 110236 w 2226"/>
                <a:gd name="T15" fmla="*/ 151104 h 517"/>
                <a:gd name="T16" fmla="*/ 52378 w 2226"/>
                <a:gd name="T17" fmla="*/ 185526 h 517"/>
                <a:gd name="T18" fmla="*/ 18880 w 2226"/>
                <a:gd name="T19" fmla="*/ 217030 h 517"/>
                <a:gd name="T20" fmla="*/ 1355725 w 2226"/>
                <a:gd name="T21" fmla="*/ 229282 h 517"/>
                <a:gd name="T22" fmla="*/ 1314919 w 2226"/>
                <a:gd name="T23" fmla="*/ 142353 h 517"/>
                <a:gd name="T24" fmla="*/ 1296039 w 2226"/>
                <a:gd name="T25" fmla="*/ 123684 h 517"/>
                <a:gd name="T26" fmla="*/ 1317964 w 2226"/>
                <a:gd name="T27" fmla="*/ 40256 h 517"/>
                <a:gd name="T28" fmla="*/ 1278986 w 2226"/>
                <a:gd name="T29" fmla="*/ 583 h 517"/>
                <a:gd name="T30" fmla="*/ 1227217 w 2226"/>
                <a:gd name="T31" fmla="*/ 5834 h 517"/>
                <a:gd name="T32" fmla="*/ 1193111 w 2226"/>
                <a:gd name="T33" fmla="*/ 47840 h 517"/>
                <a:gd name="T34" fmla="*/ 1189457 w 2226"/>
                <a:gd name="T35" fmla="*/ 71176 h 517"/>
                <a:gd name="T36" fmla="*/ 1184584 w 2226"/>
                <a:gd name="T37" fmla="*/ 98014 h 517"/>
                <a:gd name="T38" fmla="*/ 1187629 w 2226"/>
                <a:gd name="T39" fmla="*/ 117266 h 517"/>
                <a:gd name="T40" fmla="*/ 1203465 w 2226"/>
                <a:gd name="T41" fmla="*/ 138852 h 517"/>
                <a:gd name="T42" fmla="*/ 1174840 w 2226"/>
                <a:gd name="T43" fmla="*/ 169773 h 517"/>
                <a:gd name="T44" fmla="*/ 1123071 w 2226"/>
                <a:gd name="T45" fmla="*/ 189026 h 517"/>
                <a:gd name="T46" fmla="*/ 1060340 w 2226"/>
                <a:gd name="T47" fmla="*/ 165690 h 517"/>
                <a:gd name="T48" fmla="*/ 1026843 w 2226"/>
                <a:gd name="T49" fmla="*/ 154605 h 517"/>
                <a:gd name="T50" fmla="*/ 1027452 w 2226"/>
                <a:gd name="T51" fmla="*/ 121350 h 517"/>
                <a:gd name="T52" fmla="*/ 976901 w 2226"/>
                <a:gd name="T53" fmla="*/ 51924 h 517"/>
                <a:gd name="T54" fmla="*/ 902598 w 2226"/>
                <a:gd name="T55" fmla="*/ 112599 h 517"/>
                <a:gd name="T56" fmla="*/ 915997 w 2226"/>
                <a:gd name="T57" fmla="*/ 159272 h 517"/>
                <a:gd name="T58" fmla="*/ 911125 w 2226"/>
                <a:gd name="T59" fmla="*/ 174441 h 517"/>
                <a:gd name="T60" fmla="*/ 831341 w 2226"/>
                <a:gd name="T61" fmla="*/ 218780 h 517"/>
                <a:gd name="T62" fmla="*/ 796016 w 2226"/>
                <a:gd name="T63" fmla="*/ 180858 h 517"/>
                <a:gd name="T64" fmla="*/ 718059 w 2226"/>
                <a:gd name="T65" fmla="*/ 163356 h 517"/>
                <a:gd name="T66" fmla="*/ 707096 w 2226"/>
                <a:gd name="T67" fmla="*/ 143520 h 517"/>
                <a:gd name="T68" fmla="*/ 725368 w 2226"/>
                <a:gd name="T69" fmla="*/ 119016 h 517"/>
                <a:gd name="T70" fmla="*/ 697961 w 2226"/>
                <a:gd name="T71" fmla="*/ 32671 h 517"/>
                <a:gd name="T72" fmla="*/ 618176 w 2226"/>
                <a:gd name="T73" fmla="*/ 59508 h 517"/>
                <a:gd name="T74" fmla="*/ 612086 w 2226"/>
                <a:gd name="T75" fmla="*/ 92179 h 517"/>
                <a:gd name="T76" fmla="*/ 614522 w 2226"/>
                <a:gd name="T77" fmla="*/ 119600 h 517"/>
                <a:gd name="T78" fmla="*/ 618785 w 2226"/>
                <a:gd name="T79" fmla="*/ 133602 h 517"/>
                <a:gd name="T80" fmla="*/ 621222 w 2226"/>
                <a:gd name="T81" fmla="*/ 143520 h 517"/>
                <a:gd name="T82" fmla="*/ 638275 w 2226"/>
                <a:gd name="T83" fmla="*/ 163939 h 517"/>
                <a:gd name="T84" fmla="*/ 614522 w 2226"/>
                <a:gd name="T85" fmla="*/ 187859 h 517"/>
                <a:gd name="T86" fmla="*/ 559099 w 2226"/>
                <a:gd name="T87" fmla="*/ 218780 h 517"/>
                <a:gd name="T88" fmla="*/ 531693 w 2226"/>
                <a:gd name="T89" fmla="*/ 231032 h 517"/>
                <a:gd name="T90" fmla="*/ 491496 w 2226"/>
                <a:gd name="T91" fmla="*/ 201278 h 517"/>
                <a:gd name="T92" fmla="*/ 468961 w 2226"/>
                <a:gd name="T93" fmla="*/ 176191 h 517"/>
                <a:gd name="T94" fmla="*/ 454344 w 2226"/>
                <a:gd name="T95" fmla="*/ 117266 h 517"/>
                <a:gd name="T96" fmla="*/ 448863 w 2226"/>
                <a:gd name="T97" fmla="*/ 82845 h 517"/>
                <a:gd name="T98" fmla="*/ 428765 w 2226"/>
                <a:gd name="T99" fmla="*/ 32671 h 517"/>
                <a:gd name="T100" fmla="*/ 362379 w 2226"/>
                <a:gd name="T101" fmla="*/ 42006 h 517"/>
                <a:gd name="T102" fmla="*/ 341672 w 2226"/>
                <a:gd name="T103" fmla="*/ 93346 h 517"/>
                <a:gd name="T104" fmla="*/ 331927 w 2226"/>
                <a:gd name="T105" fmla="*/ 179108 h 517"/>
                <a:gd name="T106" fmla="*/ 331318 w 2226"/>
                <a:gd name="T107" fmla="*/ 194277 h 517"/>
                <a:gd name="T108" fmla="*/ 294776 w 2226"/>
                <a:gd name="T109" fmla="*/ 211779 h 517"/>
                <a:gd name="T110" fmla="*/ 252752 w 2226"/>
                <a:gd name="T111" fmla="*/ 194277 h 517"/>
                <a:gd name="T112" fmla="*/ 186367 w 2226"/>
                <a:gd name="T113" fmla="*/ 168023 h 517"/>
                <a:gd name="T114" fmla="*/ 213164 w 2226"/>
                <a:gd name="T115" fmla="*/ 147604 h 51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26"/>
                <a:gd name="T175" fmla="*/ 0 h 517"/>
                <a:gd name="T176" fmla="*/ 2226 w 2226"/>
                <a:gd name="T177" fmla="*/ 517 h 51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26" h="517">
                  <a:moveTo>
                    <a:pt x="351" y="252"/>
                  </a:moveTo>
                  <a:lnTo>
                    <a:pt x="355" y="249"/>
                  </a:lnTo>
                  <a:lnTo>
                    <a:pt x="357" y="244"/>
                  </a:lnTo>
                  <a:lnTo>
                    <a:pt x="357" y="239"/>
                  </a:lnTo>
                  <a:lnTo>
                    <a:pt x="356" y="236"/>
                  </a:lnTo>
                  <a:lnTo>
                    <a:pt x="355" y="233"/>
                  </a:lnTo>
                  <a:lnTo>
                    <a:pt x="355" y="228"/>
                  </a:lnTo>
                  <a:lnTo>
                    <a:pt x="355" y="224"/>
                  </a:lnTo>
                  <a:lnTo>
                    <a:pt x="356" y="222"/>
                  </a:lnTo>
                  <a:lnTo>
                    <a:pt x="358" y="220"/>
                  </a:lnTo>
                  <a:lnTo>
                    <a:pt x="358" y="218"/>
                  </a:lnTo>
                  <a:lnTo>
                    <a:pt x="358" y="214"/>
                  </a:lnTo>
                  <a:lnTo>
                    <a:pt x="357" y="213"/>
                  </a:lnTo>
                  <a:lnTo>
                    <a:pt x="357" y="212"/>
                  </a:lnTo>
                  <a:lnTo>
                    <a:pt x="357" y="211"/>
                  </a:lnTo>
                  <a:lnTo>
                    <a:pt x="357" y="210"/>
                  </a:lnTo>
                  <a:lnTo>
                    <a:pt x="357" y="207"/>
                  </a:lnTo>
                  <a:lnTo>
                    <a:pt x="356" y="206"/>
                  </a:lnTo>
                  <a:lnTo>
                    <a:pt x="355" y="203"/>
                  </a:lnTo>
                  <a:lnTo>
                    <a:pt x="352" y="199"/>
                  </a:lnTo>
                  <a:lnTo>
                    <a:pt x="352" y="196"/>
                  </a:lnTo>
                  <a:lnTo>
                    <a:pt x="355" y="192"/>
                  </a:lnTo>
                  <a:lnTo>
                    <a:pt x="358" y="190"/>
                  </a:lnTo>
                  <a:lnTo>
                    <a:pt x="362" y="189"/>
                  </a:lnTo>
                  <a:lnTo>
                    <a:pt x="363" y="189"/>
                  </a:lnTo>
                  <a:lnTo>
                    <a:pt x="364" y="188"/>
                  </a:lnTo>
                  <a:lnTo>
                    <a:pt x="365" y="185"/>
                  </a:lnTo>
                  <a:lnTo>
                    <a:pt x="365" y="182"/>
                  </a:lnTo>
                  <a:lnTo>
                    <a:pt x="363" y="177"/>
                  </a:lnTo>
                  <a:lnTo>
                    <a:pt x="359" y="170"/>
                  </a:lnTo>
                  <a:lnTo>
                    <a:pt x="355" y="162"/>
                  </a:lnTo>
                  <a:lnTo>
                    <a:pt x="350" y="155"/>
                  </a:lnTo>
                  <a:lnTo>
                    <a:pt x="349" y="152"/>
                  </a:lnTo>
                  <a:lnTo>
                    <a:pt x="350" y="150"/>
                  </a:lnTo>
                  <a:lnTo>
                    <a:pt x="354" y="144"/>
                  </a:lnTo>
                  <a:lnTo>
                    <a:pt x="357" y="136"/>
                  </a:lnTo>
                  <a:lnTo>
                    <a:pt x="357" y="130"/>
                  </a:lnTo>
                  <a:lnTo>
                    <a:pt x="354" y="122"/>
                  </a:lnTo>
                  <a:lnTo>
                    <a:pt x="348" y="112"/>
                  </a:lnTo>
                  <a:lnTo>
                    <a:pt x="342" y="101"/>
                  </a:lnTo>
                  <a:lnTo>
                    <a:pt x="340" y="97"/>
                  </a:lnTo>
                  <a:lnTo>
                    <a:pt x="340" y="98"/>
                  </a:lnTo>
                  <a:lnTo>
                    <a:pt x="340" y="99"/>
                  </a:lnTo>
                  <a:lnTo>
                    <a:pt x="341" y="97"/>
                  </a:lnTo>
                  <a:lnTo>
                    <a:pt x="342" y="91"/>
                  </a:lnTo>
                  <a:lnTo>
                    <a:pt x="340" y="81"/>
                  </a:lnTo>
                  <a:lnTo>
                    <a:pt x="334" y="71"/>
                  </a:lnTo>
                  <a:lnTo>
                    <a:pt x="326" y="62"/>
                  </a:lnTo>
                  <a:lnTo>
                    <a:pt x="319" y="54"/>
                  </a:lnTo>
                  <a:lnTo>
                    <a:pt x="313" y="49"/>
                  </a:lnTo>
                  <a:lnTo>
                    <a:pt x="306" y="47"/>
                  </a:lnTo>
                  <a:lnTo>
                    <a:pt x="299" y="46"/>
                  </a:lnTo>
                  <a:lnTo>
                    <a:pt x="291" y="44"/>
                  </a:lnTo>
                  <a:lnTo>
                    <a:pt x="287" y="43"/>
                  </a:lnTo>
                  <a:lnTo>
                    <a:pt x="282" y="40"/>
                  </a:lnTo>
                  <a:lnTo>
                    <a:pt x="276" y="38"/>
                  </a:lnTo>
                  <a:lnTo>
                    <a:pt x="269" y="34"/>
                  </a:lnTo>
                  <a:lnTo>
                    <a:pt x="261" y="32"/>
                  </a:lnTo>
                  <a:lnTo>
                    <a:pt x="251" y="31"/>
                  </a:lnTo>
                  <a:lnTo>
                    <a:pt x="241" y="29"/>
                  </a:lnTo>
                  <a:lnTo>
                    <a:pt x="228" y="29"/>
                  </a:lnTo>
                  <a:lnTo>
                    <a:pt x="215" y="30"/>
                  </a:lnTo>
                  <a:lnTo>
                    <a:pt x="204" y="33"/>
                  </a:lnTo>
                  <a:lnTo>
                    <a:pt x="195" y="39"/>
                  </a:lnTo>
                  <a:lnTo>
                    <a:pt x="185" y="46"/>
                  </a:lnTo>
                  <a:lnTo>
                    <a:pt x="177" y="54"/>
                  </a:lnTo>
                  <a:lnTo>
                    <a:pt x="169" y="64"/>
                  </a:lnTo>
                  <a:lnTo>
                    <a:pt x="162" y="76"/>
                  </a:lnTo>
                  <a:lnTo>
                    <a:pt x="154" y="89"/>
                  </a:lnTo>
                  <a:lnTo>
                    <a:pt x="144" y="108"/>
                  </a:lnTo>
                  <a:lnTo>
                    <a:pt x="142" y="121"/>
                  </a:lnTo>
                  <a:lnTo>
                    <a:pt x="144" y="136"/>
                  </a:lnTo>
                  <a:lnTo>
                    <a:pt x="146" y="158"/>
                  </a:lnTo>
                  <a:lnTo>
                    <a:pt x="149" y="180"/>
                  </a:lnTo>
                  <a:lnTo>
                    <a:pt x="153" y="190"/>
                  </a:lnTo>
                  <a:lnTo>
                    <a:pt x="158" y="196"/>
                  </a:lnTo>
                  <a:lnTo>
                    <a:pt x="162" y="200"/>
                  </a:lnTo>
                  <a:lnTo>
                    <a:pt x="167" y="205"/>
                  </a:lnTo>
                  <a:lnTo>
                    <a:pt x="169" y="208"/>
                  </a:lnTo>
                  <a:lnTo>
                    <a:pt x="169" y="212"/>
                  </a:lnTo>
                  <a:lnTo>
                    <a:pt x="167" y="218"/>
                  </a:lnTo>
                  <a:lnTo>
                    <a:pt x="167" y="224"/>
                  </a:lnTo>
                  <a:lnTo>
                    <a:pt x="173" y="230"/>
                  </a:lnTo>
                  <a:lnTo>
                    <a:pt x="181" y="237"/>
                  </a:lnTo>
                  <a:lnTo>
                    <a:pt x="185" y="244"/>
                  </a:lnTo>
                  <a:lnTo>
                    <a:pt x="184" y="250"/>
                  </a:lnTo>
                  <a:lnTo>
                    <a:pt x="183" y="254"/>
                  </a:lnTo>
                  <a:lnTo>
                    <a:pt x="181" y="259"/>
                  </a:lnTo>
                  <a:lnTo>
                    <a:pt x="177" y="264"/>
                  </a:lnTo>
                  <a:lnTo>
                    <a:pt x="168" y="265"/>
                  </a:lnTo>
                  <a:lnTo>
                    <a:pt x="165" y="272"/>
                  </a:lnTo>
                  <a:lnTo>
                    <a:pt x="164" y="280"/>
                  </a:lnTo>
                  <a:lnTo>
                    <a:pt x="162" y="287"/>
                  </a:lnTo>
                  <a:lnTo>
                    <a:pt x="157" y="289"/>
                  </a:lnTo>
                  <a:lnTo>
                    <a:pt x="146" y="294"/>
                  </a:lnTo>
                  <a:lnTo>
                    <a:pt x="131" y="299"/>
                  </a:lnTo>
                  <a:lnTo>
                    <a:pt x="116" y="305"/>
                  </a:lnTo>
                  <a:lnTo>
                    <a:pt x="100" y="312"/>
                  </a:lnTo>
                  <a:lnTo>
                    <a:pt x="86" y="318"/>
                  </a:lnTo>
                  <a:lnTo>
                    <a:pt x="75" y="322"/>
                  </a:lnTo>
                  <a:lnTo>
                    <a:pt x="68" y="325"/>
                  </a:lnTo>
                  <a:lnTo>
                    <a:pt x="60" y="328"/>
                  </a:lnTo>
                  <a:lnTo>
                    <a:pt x="53" y="333"/>
                  </a:lnTo>
                  <a:lnTo>
                    <a:pt x="47" y="338"/>
                  </a:lnTo>
                  <a:lnTo>
                    <a:pt x="45" y="344"/>
                  </a:lnTo>
                  <a:lnTo>
                    <a:pt x="45" y="351"/>
                  </a:lnTo>
                  <a:lnTo>
                    <a:pt x="44" y="358"/>
                  </a:lnTo>
                  <a:lnTo>
                    <a:pt x="41" y="363"/>
                  </a:lnTo>
                  <a:lnTo>
                    <a:pt x="36" y="366"/>
                  </a:lnTo>
                  <a:lnTo>
                    <a:pt x="31" y="372"/>
                  </a:lnTo>
                  <a:lnTo>
                    <a:pt x="26" y="387"/>
                  </a:lnTo>
                  <a:lnTo>
                    <a:pt x="21" y="409"/>
                  </a:lnTo>
                  <a:lnTo>
                    <a:pt x="15" y="434"/>
                  </a:lnTo>
                  <a:lnTo>
                    <a:pt x="9" y="459"/>
                  </a:lnTo>
                  <a:lnTo>
                    <a:pt x="5" y="484"/>
                  </a:lnTo>
                  <a:lnTo>
                    <a:pt x="2" y="504"/>
                  </a:lnTo>
                  <a:lnTo>
                    <a:pt x="0" y="517"/>
                  </a:lnTo>
                  <a:lnTo>
                    <a:pt x="2226" y="517"/>
                  </a:lnTo>
                  <a:lnTo>
                    <a:pt x="2226" y="478"/>
                  </a:lnTo>
                  <a:lnTo>
                    <a:pt x="2226" y="393"/>
                  </a:lnTo>
                  <a:lnTo>
                    <a:pt x="2226" y="305"/>
                  </a:lnTo>
                  <a:lnTo>
                    <a:pt x="2226" y="261"/>
                  </a:lnTo>
                  <a:lnTo>
                    <a:pt x="2221" y="260"/>
                  </a:lnTo>
                  <a:lnTo>
                    <a:pt x="2213" y="258"/>
                  </a:lnTo>
                  <a:lnTo>
                    <a:pt x="2202" y="254"/>
                  </a:lnTo>
                  <a:lnTo>
                    <a:pt x="2193" y="251"/>
                  </a:lnTo>
                  <a:lnTo>
                    <a:pt x="2188" y="250"/>
                  </a:lnTo>
                  <a:lnTo>
                    <a:pt x="2181" y="248"/>
                  </a:lnTo>
                  <a:lnTo>
                    <a:pt x="2174" y="246"/>
                  </a:lnTo>
                  <a:lnTo>
                    <a:pt x="2166" y="245"/>
                  </a:lnTo>
                  <a:lnTo>
                    <a:pt x="2159" y="244"/>
                  </a:lnTo>
                  <a:lnTo>
                    <a:pt x="2152" y="244"/>
                  </a:lnTo>
                  <a:lnTo>
                    <a:pt x="2148" y="244"/>
                  </a:lnTo>
                  <a:lnTo>
                    <a:pt x="2144" y="244"/>
                  </a:lnTo>
                  <a:lnTo>
                    <a:pt x="2142" y="244"/>
                  </a:lnTo>
                  <a:lnTo>
                    <a:pt x="2143" y="243"/>
                  </a:lnTo>
                  <a:lnTo>
                    <a:pt x="2142" y="239"/>
                  </a:lnTo>
                  <a:lnTo>
                    <a:pt x="2140" y="234"/>
                  </a:lnTo>
                  <a:lnTo>
                    <a:pt x="2136" y="226"/>
                  </a:lnTo>
                  <a:lnTo>
                    <a:pt x="2132" y="216"/>
                  </a:lnTo>
                  <a:lnTo>
                    <a:pt x="2128" y="212"/>
                  </a:lnTo>
                  <a:lnTo>
                    <a:pt x="2141" y="203"/>
                  </a:lnTo>
                  <a:lnTo>
                    <a:pt x="2149" y="183"/>
                  </a:lnTo>
                  <a:lnTo>
                    <a:pt x="2153" y="162"/>
                  </a:lnTo>
                  <a:lnTo>
                    <a:pt x="2155" y="151"/>
                  </a:lnTo>
                  <a:lnTo>
                    <a:pt x="2157" y="142"/>
                  </a:lnTo>
                  <a:lnTo>
                    <a:pt x="2160" y="127"/>
                  </a:lnTo>
                  <a:lnTo>
                    <a:pt x="2166" y="112"/>
                  </a:lnTo>
                  <a:lnTo>
                    <a:pt x="2170" y="104"/>
                  </a:lnTo>
                  <a:lnTo>
                    <a:pt x="2170" y="95"/>
                  </a:lnTo>
                  <a:lnTo>
                    <a:pt x="2167" y="82"/>
                  </a:lnTo>
                  <a:lnTo>
                    <a:pt x="2164" y="69"/>
                  </a:lnTo>
                  <a:lnTo>
                    <a:pt x="2160" y="62"/>
                  </a:lnTo>
                  <a:lnTo>
                    <a:pt x="2160" y="55"/>
                  </a:lnTo>
                  <a:lnTo>
                    <a:pt x="2157" y="48"/>
                  </a:lnTo>
                  <a:lnTo>
                    <a:pt x="2152" y="40"/>
                  </a:lnTo>
                  <a:lnTo>
                    <a:pt x="2145" y="33"/>
                  </a:lnTo>
                  <a:lnTo>
                    <a:pt x="2138" y="26"/>
                  </a:lnTo>
                  <a:lnTo>
                    <a:pt x="2130" y="19"/>
                  </a:lnTo>
                  <a:lnTo>
                    <a:pt x="2124" y="13"/>
                  </a:lnTo>
                  <a:lnTo>
                    <a:pt x="2117" y="7"/>
                  </a:lnTo>
                  <a:lnTo>
                    <a:pt x="2109" y="2"/>
                  </a:lnTo>
                  <a:lnTo>
                    <a:pt x="2100" y="1"/>
                  </a:lnTo>
                  <a:lnTo>
                    <a:pt x="2090" y="0"/>
                  </a:lnTo>
                  <a:lnTo>
                    <a:pt x="2080" y="1"/>
                  </a:lnTo>
                  <a:lnTo>
                    <a:pt x="2071" y="2"/>
                  </a:lnTo>
                  <a:lnTo>
                    <a:pt x="2061" y="5"/>
                  </a:lnTo>
                  <a:lnTo>
                    <a:pt x="2056" y="7"/>
                  </a:lnTo>
                  <a:lnTo>
                    <a:pt x="2051" y="8"/>
                  </a:lnTo>
                  <a:lnTo>
                    <a:pt x="2048" y="9"/>
                  </a:lnTo>
                  <a:lnTo>
                    <a:pt x="2041" y="9"/>
                  </a:lnTo>
                  <a:lnTo>
                    <a:pt x="2034" y="9"/>
                  </a:lnTo>
                  <a:lnTo>
                    <a:pt x="2024" y="10"/>
                  </a:lnTo>
                  <a:lnTo>
                    <a:pt x="2015" y="10"/>
                  </a:lnTo>
                  <a:lnTo>
                    <a:pt x="2005" y="11"/>
                  </a:lnTo>
                  <a:lnTo>
                    <a:pt x="1996" y="13"/>
                  </a:lnTo>
                  <a:lnTo>
                    <a:pt x="1988" y="14"/>
                  </a:lnTo>
                  <a:lnTo>
                    <a:pt x="1977" y="19"/>
                  </a:lnTo>
                  <a:lnTo>
                    <a:pt x="1975" y="30"/>
                  </a:lnTo>
                  <a:lnTo>
                    <a:pt x="1976" y="40"/>
                  </a:lnTo>
                  <a:lnTo>
                    <a:pt x="1978" y="47"/>
                  </a:lnTo>
                  <a:lnTo>
                    <a:pt x="1969" y="54"/>
                  </a:lnTo>
                  <a:lnTo>
                    <a:pt x="1963" y="64"/>
                  </a:lnTo>
                  <a:lnTo>
                    <a:pt x="1960" y="75"/>
                  </a:lnTo>
                  <a:lnTo>
                    <a:pt x="1959" y="82"/>
                  </a:lnTo>
                  <a:lnTo>
                    <a:pt x="1957" y="87"/>
                  </a:lnTo>
                  <a:lnTo>
                    <a:pt x="1953" y="94"/>
                  </a:lnTo>
                  <a:lnTo>
                    <a:pt x="1950" y="100"/>
                  </a:lnTo>
                  <a:lnTo>
                    <a:pt x="1946" y="104"/>
                  </a:lnTo>
                  <a:lnTo>
                    <a:pt x="1946" y="106"/>
                  </a:lnTo>
                  <a:lnTo>
                    <a:pt x="1948" y="109"/>
                  </a:lnTo>
                  <a:lnTo>
                    <a:pt x="1951" y="114"/>
                  </a:lnTo>
                  <a:lnTo>
                    <a:pt x="1953" y="116"/>
                  </a:lnTo>
                  <a:lnTo>
                    <a:pt x="1953" y="119"/>
                  </a:lnTo>
                  <a:lnTo>
                    <a:pt x="1953" y="120"/>
                  </a:lnTo>
                  <a:lnTo>
                    <a:pt x="1953" y="122"/>
                  </a:lnTo>
                  <a:lnTo>
                    <a:pt x="1952" y="125"/>
                  </a:lnTo>
                  <a:lnTo>
                    <a:pt x="1950" y="131"/>
                  </a:lnTo>
                  <a:lnTo>
                    <a:pt x="1947" y="139"/>
                  </a:lnTo>
                  <a:lnTo>
                    <a:pt x="1943" y="147"/>
                  </a:lnTo>
                  <a:lnTo>
                    <a:pt x="1939" y="153"/>
                  </a:lnTo>
                  <a:lnTo>
                    <a:pt x="1937" y="157"/>
                  </a:lnTo>
                  <a:lnTo>
                    <a:pt x="1937" y="159"/>
                  </a:lnTo>
                  <a:lnTo>
                    <a:pt x="1938" y="161"/>
                  </a:lnTo>
                  <a:lnTo>
                    <a:pt x="1939" y="163"/>
                  </a:lnTo>
                  <a:lnTo>
                    <a:pt x="1942" y="165"/>
                  </a:lnTo>
                  <a:lnTo>
                    <a:pt x="1945" y="168"/>
                  </a:lnTo>
                  <a:lnTo>
                    <a:pt x="1950" y="170"/>
                  </a:lnTo>
                  <a:lnTo>
                    <a:pt x="1951" y="174"/>
                  </a:lnTo>
                  <a:lnTo>
                    <a:pt x="1951" y="177"/>
                  </a:lnTo>
                  <a:lnTo>
                    <a:pt x="1950" y="182"/>
                  </a:lnTo>
                  <a:lnTo>
                    <a:pt x="1948" y="188"/>
                  </a:lnTo>
                  <a:lnTo>
                    <a:pt x="1946" y="191"/>
                  </a:lnTo>
                  <a:lnTo>
                    <a:pt x="1946" y="193"/>
                  </a:lnTo>
                  <a:lnTo>
                    <a:pt x="1947" y="196"/>
                  </a:lnTo>
                  <a:lnTo>
                    <a:pt x="1950" y="199"/>
                  </a:lnTo>
                  <a:lnTo>
                    <a:pt x="1951" y="200"/>
                  </a:lnTo>
                  <a:lnTo>
                    <a:pt x="1950" y="201"/>
                  </a:lnTo>
                  <a:lnTo>
                    <a:pt x="1948" y="203"/>
                  </a:lnTo>
                  <a:lnTo>
                    <a:pt x="1948" y="205"/>
                  </a:lnTo>
                  <a:lnTo>
                    <a:pt x="1951" y="206"/>
                  </a:lnTo>
                  <a:lnTo>
                    <a:pt x="1952" y="210"/>
                  </a:lnTo>
                  <a:lnTo>
                    <a:pt x="1953" y="215"/>
                  </a:lnTo>
                  <a:lnTo>
                    <a:pt x="1953" y="222"/>
                  </a:lnTo>
                  <a:lnTo>
                    <a:pt x="1952" y="228"/>
                  </a:lnTo>
                  <a:lnTo>
                    <a:pt x="1954" y="233"/>
                  </a:lnTo>
                  <a:lnTo>
                    <a:pt x="1961" y="236"/>
                  </a:lnTo>
                  <a:lnTo>
                    <a:pt x="1969" y="237"/>
                  </a:lnTo>
                  <a:lnTo>
                    <a:pt x="1976" y="238"/>
                  </a:lnTo>
                  <a:lnTo>
                    <a:pt x="1982" y="238"/>
                  </a:lnTo>
                  <a:lnTo>
                    <a:pt x="1989" y="241"/>
                  </a:lnTo>
                  <a:lnTo>
                    <a:pt x="1995" y="243"/>
                  </a:lnTo>
                  <a:lnTo>
                    <a:pt x="1997" y="246"/>
                  </a:lnTo>
                  <a:lnTo>
                    <a:pt x="1989" y="254"/>
                  </a:lnTo>
                  <a:lnTo>
                    <a:pt x="1978" y="266"/>
                  </a:lnTo>
                  <a:lnTo>
                    <a:pt x="1969" y="276"/>
                  </a:lnTo>
                  <a:lnTo>
                    <a:pt x="1965" y="282"/>
                  </a:lnTo>
                  <a:lnTo>
                    <a:pt x="1959" y="284"/>
                  </a:lnTo>
                  <a:lnTo>
                    <a:pt x="1946" y="288"/>
                  </a:lnTo>
                  <a:lnTo>
                    <a:pt x="1929" y="291"/>
                  </a:lnTo>
                  <a:lnTo>
                    <a:pt x="1910" y="295"/>
                  </a:lnTo>
                  <a:lnTo>
                    <a:pt x="1892" y="298"/>
                  </a:lnTo>
                  <a:lnTo>
                    <a:pt x="1875" y="300"/>
                  </a:lnTo>
                  <a:lnTo>
                    <a:pt x="1862" y="302"/>
                  </a:lnTo>
                  <a:lnTo>
                    <a:pt x="1856" y="303"/>
                  </a:lnTo>
                  <a:lnTo>
                    <a:pt x="1853" y="303"/>
                  </a:lnTo>
                  <a:lnTo>
                    <a:pt x="1852" y="303"/>
                  </a:lnTo>
                  <a:lnTo>
                    <a:pt x="1851" y="306"/>
                  </a:lnTo>
                  <a:lnTo>
                    <a:pt x="1851" y="311"/>
                  </a:lnTo>
                  <a:lnTo>
                    <a:pt x="1848" y="317"/>
                  </a:lnTo>
                  <a:lnTo>
                    <a:pt x="1844" y="324"/>
                  </a:lnTo>
                  <a:lnTo>
                    <a:pt x="1838" y="328"/>
                  </a:lnTo>
                  <a:lnTo>
                    <a:pt x="1833" y="332"/>
                  </a:lnTo>
                  <a:lnTo>
                    <a:pt x="1817" y="317"/>
                  </a:lnTo>
                  <a:lnTo>
                    <a:pt x="1803" y="306"/>
                  </a:lnTo>
                  <a:lnTo>
                    <a:pt x="1792" y="299"/>
                  </a:lnTo>
                  <a:lnTo>
                    <a:pt x="1781" y="295"/>
                  </a:lnTo>
                  <a:lnTo>
                    <a:pt x="1772" y="291"/>
                  </a:lnTo>
                  <a:lnTo>
                    <a:pt x="1763" y="290"/>
                  </a:lnTo>
                  <a:lnTo>
                    <a:pt x="1755" y="289"/>
                  </a:lnTo>
                  <a:lnTo>
                    <a:pt x="1748" y="287"/>
                  </a:lnTo>
                  <a:lnTo>
                    <a:pt x="1741" y="284"/>
                  </a:lnTo>
                  <a:lnTo>
                    <a:pt x="1733" y="282"/>
                  </a:lnTo>
                  <a:lnTo>
                    <a:pt x="1724" y="281"/>
                  </a:lnTo>
                  <a:lnTo>
                    <a:pt x="1716" y="280"/>
                  </a:lnTo>
                  <a:lnTo>
                    <a:pt x="1709" y="279"/>
                  </a:lnTo>
                  <a:lnTo>
                    <a:pt x="1703" y="277"/>
                  </a:lnTo>
                  <a:lnTo>
                    <a:pt x="1700" y="276"/>
                  </a:lnTo>
                  <a:lnTo>
                    <a:pt x="1697" y="275"/>
                  </a:lnTo>
                  <a:lnTo>
                    <a:pt x="1696" y="272"/>
                  </a:lnTo>
                  <a:lnTo>
                    <a:pt x="1693" y="269"/>
                  </a:lnTo>
                  <a:lnTo>
                    <a:pt x="1689" y="266"/>
                  </a:lnTo>
                  <a:lnTo>
                    <a:pt x="1686" y="265"/>
                  </a:lnTo>
                  <a:lnTo>
                    <a:pt x="1686" y="262"/>
                  </a:lnTo>
                  <a:lnTo>
                    <a:pt x="1685" y="261"/>
                  </a:lnTo>
                  <a:lnTo>
                    <a:pt x="1684" y="259"/>
                  </a:lnTo>
                  <a:lnTo>
                    <a:pt x="1684" y="257"/>
                  </a:lnTo>
                  <a:lnTo>
                    <a:pt x="1685" y="257"/>
                  </a:lnTo>
                  <a:lnTo>
                    <a:pt x="1687" y="256"/>
                  </a:lnTo>
                  <a:lnTo>
                    <a:pt x="1689" y="251"/>
                  </a:lnTo>
                  <a:lnTo>
                    <a:pt x="1693" y="237"/>
                  </a:lnTo>
                  <a:lnTo>
                    <a:pt x="1693" y="222"/>
                  </a:lnTo>
                  <a:lnTo>
                    <a:pt x="1691" y="213"/>
                  </a:lnTo>
                  <a:lnTo>
                    <a:pt x="1687" y="208"/>
                  </a:lnTo>
                  <a:lnTo>
                    <a:pt x="1684" y="207"/>
                  </a:lnTo>
                  <a:lnTo>
                    <a:pt x="1684" y="200"/>
                  </a:lnTo>
                  <a:lnTo>
                    <a:pt x="1685" y="190"/>
                  </a:lnTo>
                  <a:lnTo>
                    <a:pt x="1684" y="178"/>
                  </a:lnTo>
                  <a:lnTo>
                    <a:pt x="1681" y="163"/>
                  </a:lnTo>
                  <a:lnTo>
                    <a:pt x="1678" y="150"/>
                  </a:lnTo>
                  <a:lnTo>
                    <a:pt x="1671" y="135"/>
                  </a:lnTo>
                  <a:lnTo>
                    <a:pt x="1662" y="121"/>
                  </a:lnTo>
                  <a:lnTo>
                    <a:pt x="1649" y="109"/>
                  </a:lnTo>
                  <a:lnTo>
                    <a:pt x="1626" y="95"/>
                  </a:lnTo>
                  <a:lnTo>
                    <a:pt x="1604" y="89"/>
                  </a:lnTo>
                  <a:lnTo>
                    <a:pt x="1583" y="86"/>
                  </a:lnTo>
                  <a:lnTo>
                    <a:pt x="1564" y="89"/>
                  </a:lnTo>
                  <a:lnTo>
                    <a:pt x="1545" y="94"/>
                  </a:lnTo>
                  <a:lnTo>
                    <a:pt x="1528" y="102"/>
                  </a:lnTo>
                  <a:lnTo>
                    <a:pt x="1513" y="113"/>
                  </a:lnTo>
                  <a:lnTo>
                    <a:pt x="1499" y="123"/>
                  </a:lnTo>
                  <a:lnTo>
                    <a:pt x="1489" y="136"/>
                  </a:lnTo>
                  <a:lnTo>
                    <a:pt x="1483" y="150"/>
                  </a:lnTo>
                  <a:lnTo>
                    <a:pt x="1480" y="165"/>
                  </a:lnTo>
                  <a:lnTo>
                    <a:pt x="1481" y="180"/>
                  </a:lnTo>
                  <a:lnTo>
                    <a:pt x="1482" y="193"/>
                  </a:lnTo>
                  <a:lnTo>
                    <a:pt x="1486" y="206"/>
                  </a:lnTo>
                  <a:lnTo>
                    <a:pt x="1488" y="215"/>
                  </a:lnTo>
                  <a:lnTo>
                    <a:pt x="1490" y="221"/>
                  </a:lnTo>
                  <a:lnTo>
                    <a:pt x="1487" y="224"/>
                  </a:lnTo>
                  <a:lnTo>
                    <a:pt x="1486" y="233"/>
                  </a:lnTo>
                  <a:lnTo>
                    <a:pt x="1487" y="241"/>
                  </a:lnTo>
                  <a:lnTo>
                    <a:pt x="1488" y="249"/>
                  </a:lnTo>
                  <a:lnTo>
                    <a:pt x="1490" y="256"/>
                  </a:lnTo>
                  <a:lnTo>
                    <a:pt x="1495" y="264"/>
                  </a:lnTo>
                  <a:lnTo>
                    <a:pt x="1501" y="269"/>
                  </a:lnTo>
                  <a:lnTo>
                    <a:pt x="1504" y="273"/>
                  </a:lnTo>
                  <a:lnTo>
                    <a:pt x="1504" y="275"/>
                  </a:lnTo>
                  <a:lnTo>
                    <a:pt x="1506" y="279"/>
                  </a:lnTo>
                  <a:lnTo>
                    <a:pt x="1507" y="282"/>
                  </a:lnTo>
                  <a:lnTo>
                    <a:pt x="1509" y="284"/>
                  </a:lnTo>
                  <a:lnTo>
                    <a:pt x="1507" y="286"/>
                  </a:lnTo>
                  <a:lnTo>
                    <a:pt x="1506" y="287"/>
                  </a:lnTo>
                  <a:lnTo>
                    <a:pt x="1503" y="288"/>
                  </a:lnTo>
                  <a:lnTo>
                    <a:pt x="1499" y="289"/>
                  </a:lnTo>
                  <a:lnTo>
                    <a:pt x="1497" y="291"/>
                  </a:lnTo>
                  <a:lnTo>
                    <a:pt x="1496" y="295"/>
                  </a:lnTo>
                  <a:lnTo>
                    <a:pt x="1496" y="299"/>
                  </a:lnTo>
                  <a:lnTo>
                    <a:pt x="1495" y="303"/>
                  </a:lnTo>
                  <a:lnTo>
                    <a:pt x="1491" y="305"/>
                  </a:lnTo>
                  <a:lnTo>
                    <a:pt x="1487" y="307"/>
                  </a:lnTo>
                  <a:lnTo>
                    <a:pt x="1480" y="311"/>
                  </a:lnTo>
                  <a:lnTo>
                    <a:pt x="1471" y="313"/>
                  </a:lnTo>
                  <a:lnTo>
                    <a:pt x="1461" y="318"/>
                  </a:lnTo>
                  <a:lnTo>
                    <a:pt x="1445" y="326"/>
                  </a:lnTo>
                  <a:lnTo>
                    <a:pt x="1426" y="337"/>
                  </a:lnTo>
                  <a:lnTo>
                    <a:pt x="1404" y="351"/>
                  </a:lnTo>
                  <a:lnTo>
                    <a:pt x="1383" y="364"/>
                  </a:lnTo>
                  <a:lnTo>
                    <a:pt x="1365" y="375"/>
                  </a:lnTo>
                  <a:lnTo>
                    <a:pt x="1351" y="385"/>
                  </a:lnTo>
                  <a:lnTo>
                    <a:pt x="1344" y="389"/>
                  </a:lnTo>
                  <a:lnTo>
                    <a:pt x="1339" y="388"/>
                  </a:lnTo>
                  <a:lnTo>
                    <a:pt x="1336" y="379"/>
                  </a:lnTo>
                  <a:lnTo>
                    <a:pt x="1332" y="363"/>
                  </a:lnTo>
                  <a:lnTo>
                    <a:pt x="1330" y="344"/>
                  </a:lnTo>
                  <a:lnTo>
                    <a:pt x="1329" y="335"/>
                  </a:lnTo>
                  <a:lnTo>
                    <a:pt x="1325" y="327"/>
                  </a:lnTo>
                  <a:lnTo>
                    <a:pt x="1321" y="320"/>
                  </a:lnTo>
                  <a:lnTo>
                    <a:pt x="1314" y="314"/>
                  </a:lnTo>
                  <a:lnTo>
                    <a:pt x="1307" y="310"/>
                  </a:lnTo>
                  <a:lnTo>
                    <a:pt x="1301" y="306"/>
                  </a:lnTo>
                  <a:lnTo>
                    <a:pt x="1294" y="304"/>
                  </a:lnTo>
                  <a:lnTo>
                    <a:pt x="1290" y="303"/>
                  </a:lnTo>
                  <a:lnTo>
                    <a:pt x="1282" y="302"/>
                  </a:lnTo>
                  <a:lnTo>
                    <a:pt x="1269" y="298"/>
                  </a:lnTo>
                  <a:lnTo>
                    <a:pt x="1252" y="295"/>
                  </a:lnTo>
                  <a:lnTo>
                    <a:pt x="1233" y="291"/>
                  </a:lnTo>
                  <a:lnTo>
                    <a:pt x="1215" y="287"/>
                  </a:lnTo>
                  <a:lnTo>
                    <a:pt x="1199" y="283"/>
                  </a:lnTo>
                  <a:lnTo>
                    <a:pt x="1186" y="281"/>
                  </a:lnTo>
                  <a:lnTo>
                    <a:pt x="1179" y="280"/>
                  </a:lnTo>
                  <a:lnTo>
                    <a:pt x="1180" y="280"/>
                  </a:lnTo>
                  <a:lnTo>
                    <a:pt x="1182" y="279"/>
                  </a:lnTo>
                  <a:lnTo>
                    <a:pt x="1182" y="277"/>
                  </a:lnTo>
                  <a:lnTo>
                    <a:pt x="1183" y="275"/>
                  </a:lnTo>
                  <a:lnTo>
                    <a:pt x="1182" y="269"/>
                  </a:lnTo>
                  <a:lnTo>
                    <a:pt x="1178" y="261"/>
                  </a:lnTo>
                  <a:lnTo>
                    <a:pt x="1173" y="253"/>
                  </a:lnTo>
                  <a:lnTo>
                    <a:pt x="1170" y="249"/>
                  </a:lnTo>
                  <a:lnTo>
                    <a:pt x="1168" y="248"/>
                  </a:lnTo>
                  <a:lnTo>
                    <a:pt x="1164" y="246"/>
                  </a:lnTo>
                  <a:lnTo>
                    <a:pt x="1161" y="246"/>
                  </a:lnTo>
                  <a:lnTo>
                    <a:pt x="1156" y="246"/>
                  </a:lnTo>
                  <a:lnTo>
                    <a:pt x="1154" y="246"/>
                  </a:lnTo>
                  <a:lnTo>
                    <a:pt x="1154" y="248"/>
                  </a:lnTo>
                  <a:lnTo>
                    <a:pt x="1155" y="248"/>
                  </a:lnTo>
                  <a:lnTo>
                    <a:pt x="1158" y="246"/>
                  </a:lnTo>
                  <a:lnTo>
                    <a:pt x="1163" y="242"/>
                  </a:lnTo>
                  <a:lnTo>
                    <a:pt x="1169" y="234"/>
                  </a:lnTo>
                  <a:lnTo>
                    <a:pt x="1176" y="226"/>
                  </a:lnTo>
                  <a:lnTo>
                    <a:pt x="1183" y="219"/>
                  </a:lnTo>
                  <a:lnTo>
                    <a:pt x="1188" y="213"/>
                  </a:lnTo>
                  <a:lnTo>
                    <a:pt x="1191" y="204"/>
                  </a:lnTo>
                  <a:lnTo>
                    <a:pt x="1192" y="195"/>
                  </a:lnTo>
                  <a:lnTo>
                    <a:pt x="1192" y="188"/>
                  </a:lnTo>
                  <a:lnTo>
                    <a:pt x="1191" y="182"/>
                  </a:lnTo>
                  <a:lnTo>
                    <a:pt x="1188" y="172"/>
                  </a:lnTo>
                  <a:lnTo>
                    <a:pt x="1185" y="153"/>
                  </a:lnTo>
                  <a:lnTo>
                    <a:pt x="1183" y="121"/>
                  </a:lnTo>
                  <a:lnTo>
                    <a:pt x="1180" y="102"/>
                  </a:lnTo>
                  <a:lnTo>
                    <a:pt x="1176" y="87"/>
                  </a:lnTo>
                  <a:lnTo>
                    <a:pt x="1169" y="75"/>
                  </a:lnTo>
                  <a:lnTo>
                    <a:pt x="1158" y="64"/>
                  </a:lnTo>
                  <a:lnTo>
                    <a:pt x="1146" y="56"/>
                  </a:lnTo>
                  <a:lnTo>
                    <a:pt x="1130" y="51"/>
                  </a:lnTo>
                  <a:lnTo>
                    <a:pt x="1111" y="47"/>
                  </a:lnTo>
                  <a:lnTo>
                    <a:pt x="1089" y="46"/>
                  </a:lnTo>
                  <a:lnTo>
                    <a:pt x="1069" y="47"/>
                  </a:lnTo>
                  <a:lnTo>
                    <a:pt x="1051" y="53"/>
                  </a:lnTo>
                  <a:lnTo>
                    <a:pt x="1039" y="62"/>
                  </a:lnTo>
                  <a:lnTo>
                    <a:pt x="1028" y="71"/>
                  </a:lnTo>
                  <a:lnTo>
                    <a:pt x="1021" y="82"/>
                  </a:lnTo>
                  <a:lnTo>
                    <a:pt x="1017" y="91"/>
                  </a:lnTo>
                  <a:lnTo>
                    <a:pt x="1015" y="99"/>
                  </a:lnTo>
                  <a:lnTo>
                    <a:pt x="1015" y="102"/>
                  </a:lnTo>
                  <a:lnTo>
                    <a:pt x="1017" y="105"/>
                  </a:lnTo>
                  <a:lnTo>
                    <a:pt x="1020" y="106"/>
                  </a:lnTo>
                  <a:lnTo>
                    <a:pt x="1024" y="107"/>
                  </a:lnTo>
                  <a:lnTo>
                    <a:pt x="1025" y="108"/>
                  </a:lnTo>
                  <a:lnTo>
                    <a:pt x="1017" y="117"/>
                  </a:lnTo>
                  <a:lnTo>
                    <a:pt x="1011" y="130"/>
                  </a:lnTo>
                  <a:lnTo>
                    <a:pt x="1008" y="142"/>
                  </a:lnTo>
                  <a:lnTo>
                    <a:pt x="1006" y="148"/>
                  </a:lnTo>
                  <a:lnTo>
                    <a:pt x="1005" y="152"/>
                  </a:lnTo>
                  <a:lnTo>
                    <a:pt x="1005" y="155"/>
                  </a:lnTo>
                  <a:lnTo>
                    <a:pt x="1005" y="158"/>
                  </a:lnTo>
                  <a:lnTo>
                    <a:pt x="1006" y="160"/>
                  </a:lnTo>
                  <a:lnTo>
                    <a:pt x="1004" y="162"/>
                  </a:lnTo>
                  <a:lnTo>
                    <a:pt x="1002" y="166"/>
                  </a:lnTo>
                  <a:lnTo>
                    <a:pt x="1000" y="170"/>
                  </a:lnTo>
                  <a:lnTo>
                    <a:pt x="998" y="175"/>
                  </a:lnTo>
                  <a:lnTo>
                    <a:pt x="1000" y="182"/>
                  </a:lnTo>
                  <a:lnTo>
                    <a:pt x="1002" y="189"/>
                  </a:lnTo>
                  <a:lnTo>
                    <a:pt x="1005" y="196"/>
                  </a:lnTo>
                  <a:lnTo>
                    <a:pt x="1009" y="199"/>
                  </a:lnTo>
                  <a:lnTo>
                    <a:pt x="1009" y="201"/>
                  </a:lnTo>
                  <a:lnTo>
                    <a:pt x="1009" y="205"/>
                  </a:lnTo>
                  <a:lnTo>
                    <a:pt x="1008" y="210"/>
                  </a:lnTo>
                  <a:lnTo>
                    <a:pt x="1005" y="215"/>
                  </a:lnTo>
                  <a:lnTo>
                    <a:pt x="1004" y="221"/>
                  </a:lnTo>
                  <a:lnTo>
                    <a:pt x="1006" y="223"/>
                  </a:lnTo>
                  <a:lnTo>
                    <a:pt x="1010" y="224"/>
                  </a:lnTo>
                  <a:lnTo>
                    <a:pt x="1012" y="224"/>
                  </a:lnTo>
                  <a:lnTo>
                    <a:pt x="1013" y="224"/>
                  </a:lnTo>
                  <a:lnTo>
                    <a:pt x="1015" y="224"/>
                  </a:lnTo>
                  <a:lnTo>
                    <a:pt x="1016" y="226"/>
                  </a:lnTo>
                  <a:lnTo>
                    <a:pt x="1016" y="227"/>
                  </a:lnTo>
                  <a:lnTo>
                    <a:pt x="1016" y="229"/>
                  </a:lnTo>
                  <a:lnTo>
                    <a:pt x="1016" y="231"/>
                  </a:lnTo>
                  <a:lnTo>
                    <a:pt x="1016" y="234"/>
                  </a:lnTo>
                  <a:lnTo>
                    <a:pt x="1017" y="236"/>
                  </a:lnTo>
                  <a:lnTo>
                    <a:pt x="1018" y="237"/>
                  </a:lnTo>
                  <a:lnTo>
                    <a:pt x="1019" y="238"/>
                  </a:lnTo>
                  <a:lnTo>
                    <a:pt x="1020" y="238"/>
                  </a:lnTo>
                  <a:lnTo>
                    <a:pt x="1019" y="241"/>
                  </a:lnTo>
                  <a:lnTo>
                    <a:pt x="1019" y="242"/>
                  </a:lnTo>
                  <a:lnTo>
                    <a:pt x="1019" y="244"/>
                  </a:lnTo>
                  <a:lnTo>
                    <a:pt x="1019" y="245"/>
                  </a:lnTo>
                  <a:lnTo>
                    <a:pt x="1020" y="246"/>
                  </a:lnTo>
                  <a:lnTo>
                    <a:pt x="1021" y="246"/>
                  </a:lnTo>
                  <a:lnTo>
                    <a:pt x="1021" y="245"/>
                  </a:lnTo>
                  <a:lnTo>
                    <a:pt x="1021" y="246"/>
                  </a:lnTo>
                  <a:lnTo>
                    <a:pt x="1021" y="254"/>
                  </a:lnTo>
                  <a:lnTo>
                    <a:pt x="1023" y="264"/>
                  </a:lnTo>
                  <a:lnTo>
                    <a:pt x="1028" y="269"/>
                  </a:lnTo>
                  <a:lnTo>
                    <a:pt x="1035" y="272"/>
                  </a:lnTo>
                  <a:lnTo>
                    <a:pt x="1041" y="273"/>
                  </a:lnTo>
                  <a:lnTo>
                    <a:pt x="1044" y="274"/>
                  </a:lnTo>
                  <a:lnTo>
                    <a:pt x="1047" y="276"/>
                  </a:lnTo>
                  <a:lnTo>
                    <a:pt x="1048" y="281"/>
                  </a:lnTo>
                  <a:lnTo>
                    <a:pt x="1048" y="284"/>
                  </a:lnTo>
                  <a:lnTo>
                    <a:pt x="1044" y="287"/>
                  </a:lnTo>
                  <a:lnTo>
                    <a:pt x="1038" y="292"/>
                  </a:lnTo>
                  <a:lnTo>
                    <a:pt x="1031" y="297"/>
                  </a:lnTo>
                  <a:lnTo>
                    <a:pt x="1026" y="300"/>
                  </a:lnTo>
                  <a:lnTo>
                    <a:pt x="1021" y="304"/>
                  </a:lnTo>
                  <a:lnTo>
                    <a:pt x="1016" y="307"/>
                  </a:lnTo>
                  <a:lnTo>
                    <a:pt x="1012" y="311"/>
                  </a:lnTo>
                  <a:lnTo>
                    <a:pt x="1011" y="314"/>
                  </a:lnTo>
                  <a:lnTo>
                    <a:pt x="1011" y="318"/>
                  </a:lnTo>
                  <a:lnTo>
                    <a:pt x="1009" y="322"/>
                  </a:lnTo>
                  <a:lnTo>
                    <a:pt x="1005" y="327"/>
                  </a:lnTo>
                  <a:lnTo>
                    <a:pt x="1002" y="332"/>
                  </a:lnTo>
                  <a:lnTo>
                    <a:pt x="997" y="335"/>
                  </a:lnTo>
                  <a:lnTo>
                    <a:pt x="988" y="340"/>
                  </a:lnTo>
                  <a:lnTo>
                    <a:pt x="977" y="348"/>
                  </a:lnTo>
                  <a:lnTo>
                    <a:pt x="963" y="355"/>
                  </a:lnTo>
                  <a:lnTo>
                    <a:pt x="949" y="363"/>
                  </a:lnTo>
                  <a:lnTo>
                    <a:pt x="937" y="368"/>
                  </a:lnTo>
                  <a:lnTo>
                    <a:pt x="928" y="373"/>
                  </a:lnTo>
                  <a:lnTo>
                    <a:pt x="924" y="375"/>
                  </a:lnTo>
                  <a:lnTo>
                    <a:pt x="918" y="375"/>
                  </a:lnTo>
                  <a:lnTo>
                    <a:pt x="912" y="374"/>
                  </a:lnTo>
                  <a:lnTo>
                    <a:pt x="905" y="374"/>
                  </a:lnTo>
                  <a:lnTo>
                    <a:pt x="899" y="375"/>
                  </a:lnTo>
                  <a:lnTo>
                    <a:pt x="896" y="379"/>
                  </a:lnTo>
                  <a:lnTo>
                    <a:pt x="894" y="385"/>
                  </a:lnTo>
                  <a:lnTo>
                    <a:pt x="890" y="390"/>
                  </a:lnTo>
                  <a:lnTo>
                    <a:pt x="887" y="397"/>
                  </a:lnTo>
                  <a:lnTo>
                    <a:pt x="882" y="401"/>
                  </a:lnTo>
                  <a:lnTo>
                    <a:pt x="879" y="401"/>
                  </a:lnTo>
                  <a:lnTo>
                    <a:pt x="875" y="398"/>
                  </a:lnTo>
                  <a:lnTo>
                    <a:pt x="873" y="396"/>
                  </a:lnTo>
                  <a:lnTo>
                    <a:pt x="869" y="390"/>
                  </a:lnTo>
                  <a:lnTo>
                    <a:pt x="863" y="378"/>
                  </a:lnTo>
                  <a:lnTo>
                    <a:pt x="856" y="365"/>
                  </a:lnTo>
                  <a:lnTo>
                    <a:pt x="849" y="357"/>
                  </a:lnTo>
                  <a:lnTo>
                    <a:pt x="842" y="353"/>
                  </a:lnTo>
                  <a:lnTo>
                    <a:pt x="834" y="353"/>
                  </a:lnTo>
                  <a:lnTo>
                    <a:pt x="825" y="353"/>
                  </a:lnTo>
                  <a:lnTo>
                    <a:pt x="819" y="355"/>
                  </a:lnTo>
                  <a:lnTo>
                    <a:pt x="814" y="353"/>
                  </a:lnTo>
                  <a:lnTo>
                    <a:pt x="811" y="350"/>
                  </a:lnTo>
                  <a:lnTo>
                    <a:pt x="807" y="345"/>
                  </a:lnTo>
                  <a:lnTo>
                    <a:pt x="805" y="342"/>
                  </a:lnTo>
                  <a:lnTo>
                    <a:pt x="800" y="340"/>
                  </a:lnTo>
                  <a:lnTo>
                    <a:pt x="793" y="340"/>
                  </a:lnTo>
                  <a:lnTo>
                    <a:pt x="787" y="341"/>
                  </a:lnTo>
                  <a:lnTo>
                    <a:pt x="782" y="341"/>
                  </a:lnTo>
                  <a:lnTo>
                    <a:pt x="780" y="336"/>
                  </a:lnTo>
                  <a:lnTo>
                    <a:pt x="774" y="330"/>
                  </a:lnTo>
                  <a:lnTo>
                    <a:pt x="768" y="325"/>
                  </a:lnTo>
                  <a:lnTo>
                    <a:pt x="763" y="320"/>
                  </a:lnTo>
                  <a:lnTo>
                    <a:pt x="767" y="313"/>
                  </a:lnTo>
                  <a:lnTo>
                    <a:pt x="770" y="302"/>
                  </a:lnTo>
                  <a:lnTo>
                    <a:pt x="773" y="289"/>
                  </a:lnTo>
                  <a:lnTo>
                    <a:pt x="774" y="279"/>
                  </a:lnTo>
                  <a:lnTo>
                    <a:pt x="774" y="266"/>
                  </a:lnTo>
                  <a:lnTo>
                    <a:pt x="770" y="256"/>
                  </a:lnTo>
                  <a:lnTo>
                    <a:pt x="765" y="246"/>
                  </a:lnTo>
                  <a:lnTo>
                    <a:pt x="759" y="237"/>
                  </a:lnTo>
                  <a:lnTo>
                    <a:pt x="752" y="229"/>
                  </a:lnTo>
                  <a:lnTo>
                    <a:pt x="746" y="221"/>
                  </a:lnTo>
                  <a:lnTo>
                    <a:pt x="744" y="213"/>
                  </a:lnTo>
                  <a:lnTo>
                    <a:pt x="744" y="205"/>
                  </a:lnTo>
                  <a:lnTo>
                    <a:pt x="746" y="201"/>
                  </a:lnTo>
                  <a:lnTo>
                    <a:pt x="750" y="198"/>
                  </a:lnTo>
                  <a:lnTo>
                    <a:pt x="752" y="193"/>
                  </a:lnTo>
                  <a:lnTo>
                    <a:pt x="754" y="185"/>
                  </a:lnTo>
                  <a:lnTo>
                    <a:pt x="754" y="177"/>
                  </a:lnTo>
                  <a:lnTo>
                    <a:pt x="752" y="172"/>
                  </a:lnTo>
                  <a:lnTo>
                    <a:pt x="747" y="166"/>
                  </a:lnTo>
                  <a:lnTo>
                    <a:pt x="742" y="160"/>
                  </a:lnTo>
                  <a:lnTo>
                    <a:pt x="738" y="159"/>
                  </a:lnTo>
                  <a:lnTo>
                    <a:pt x="735" y="155"/>
                  </a:lnTo>
                  <a:lnTo>
                    <a:pt x="734" y="150"/>
                  </a:lnTo>
                  <a:lnTo>
                    <a:pt x="737" y="142"/>
                  </a:lnTo>
                  <a:lnTo>
                    <a:pt x="743" y="124"/>
                  </a:lnTo>
                  <a:lnTo>
                    <a:pt x="740" y="105"/>
                  </a:lnTo>
                  <a:lnTo>
                    <a:pt x="735" y="87"/>
                  </a:lnTo>
                  <a:lnTo>
                    <a:pt x="730" y="77"/>
                  </a:lnTo>
                  <a:lnTo>
                    <a:pt x="727" y="72"/>
                  </a:lnTo>
                  <a:lnTo>
                    <a:pt x="722" y="70"/>
                  </a:lnTo>
                  <a:lnTo>
                    <a:pt x="716" y="68"/>
                  </a:lnTo>
                  <a:lnTo>
                    <a:pt x="712" y="67"/>
                  </a:lnTo>
                  <a:lnTo>
                    <a:pt x="711" y="64"/>
                  </a:lnTo>
                  <a:lnTo>
                    <a:pt x="708" y="61"/>
                  </a:lnTo>
                  <a:lnTo>
                    <a:pt x="704" y="56"/>
                  </a:lnTo>
                  <a:lnTo>
                    <a:pt x="698" y="52"/>
                  </a:lnTo>
                  <a:lnTo>
                    <a:pt x="691" y="46"/>
                  </a:lnTo>
                  <a:lnTo>
                    <a:pt x="683" y="41"/>
                  </a:lnTo>
                  <a:lnTo>
                    <a:pt x="673" y="39"/>
                  </a:lnTo>
                  <a:lnTo>
                    <a:pt x="661" y="37"/>
                  </a:lnTo>
                  <a:lnTo>
                    <a:pt x="649" y="38"/>
                  </a:lnTo>
                  <a:lnTo>
                    <a:pt x="637" y="41"/>
                  </a:lnTo>
                  <a:lnTo>
                    <a:pt x="626" y="46"/>
                  </a:lnTo>
                  <a:lnTo>
                    <a:pt x="615" y="54"/>
                  </a:lnTo>
                  <a:lnTo>
                    <a:pt x="606" y="62"/>
                  </a:lnTo>
                  <a:lnTo>
                    <a:pt x="595" y="72"/>
                  </a:lnTo>
                  <a:lnTo>
                    <a:pt x="587" y="82"/>
                  </a:lnTo>
                  <a:lnTo>
                    <a:pt x="579" y="91"/>
                  </a:lnTo>
                  <a:lnTo>
                    <a:pt x="569" y="108"/>
                  </a:lnTo>
                  <a:lnTo>
                    <a:pt x="568" y="124"/>
                  </a:lnTo>
                  <a:lnTo>
                    <a:pt x="569" y="137"/>
                  </a:lnTo>
                  <a:lnTo>
                    <a:pt x="572" y="142"/>
                  </a:lnTo>
                  <a:lnTo>
                    <a:pt x="573" y="144"/>
                  </a:lnTo>
                  <a:lnTo>
                    <a:pt x="575" y="147"/>
                  </a:lnTo>
                  <a:lnTo>
                    <a:pt x="572" y="152"/>
                  </a:lnTo>
                  <a:lnTo>
                    <a:pt x="569" y="154"/>
                  </a:lnTo>
                  <a:lnTo>
                    <a:pt x="561" y="160"/>
                  </a:lnTo>
                  <a:lnTo>
                    <a:pt x="554" y="172"/>
                  </a:lnTo>
                  <a:lnTo>
                    <a:pt x="549" y="184"/>
                  </a:lnTo>
                  <a:lnTo>
                    <a:pt x="550" y="197"/>
                  </a:lnTo>
                  <a:lnTo>
                    <a:pt x="554" y="211"/>
                  </a:lnTo>
                  <a:lnTo>
                    <a:pt x="555" y="227"/>
                  </a:lnTo>
                  <a:lnTo>
                    <a:pt x="550" y="248"/>
                  </a:lnTo>
                  <a:lnTo>
                    <a:pt x="541" y="272"/>
                  </a:lnTo>
                  <a:lnTo>
                    <a:pt x="538" y="284"/>
                  </a:lnTo>
                  <a:lnTo>
                    <a:pt x="538" y="294"/>
                  </a:lnTo>
                  <a:lnTo>
                    <a:pt x="540" y="302"/>
                  </a:lnTo>
                  <a:lnTo>
                    <a:pt x="545" y="307"/>
                  </a:lnTo>
                  <a:lnTo>
                    <a:pt x="550" y="313"/>
                  </a:lnTo>
                  <a:lnTo>
                    <a:pt x="555" y="317"/>
                  </a:lnTo>
                  <a:lnTo>
                    <a:pt x="559" y="319"/>
                  </a:lnTo>
                  <a:lnTo>
                    <a:pt x="561" y="320"/>
                  </a:lnTo>
                  <a:lnTo>
                    <a:pt x="559" y="321"/>
                  </a:lnTo>
                  <a:lnTo>
                    <a:pt x="554" y="321"/>
                  </a:lnTo>
                  <a:lnTo>
                    <a:pt x="547" y="321"/>
                  </a:lnTo>
                  <a:lnTo>
                    <a:pt x="542" y="321"/>
                  </a:lnTo>
                  <a:lnTo>
                    <a:pt x="544" y="325"/>
                  </a:lnTo>
                  <a:lnTo>
                    <a:pt x="545" y="329"/>
                  </a:lnTo>
                  <a:lnTo>
                    <a:pt x="544" y="333"/>
                  </a:lnTo>
                  <a:lnTo>
                    <a:pt x="542" y="335"/>
                  </a:lnTo>
                  <a:lnTo>
                    <a:pt x="540" y="336"/>
                  </a:lnTo>
                  <a:lnTo>
                    <a:pt x="534" y="340"/>
                  </a:lnTo>
                  <a:lnTo>
                    <a:pt x="527" y="344"/>
                  </a:lnTo>
                  <a:lnTo>
                    <a:pt x="519" y="348"/>
                  </a:lnTo>
                  <a:lnTo>
                    <a:pt x="511" y="352"/>
                  </a:lnTo>
                  <a:lnTo>
                    <a:pt x="504" y="357"/>
                  </a:lnTo>
                  <a:lnTo>
                    <a:pt x="497" y="360"/>
                  </a:lnTo>
                  <a:lnTo>
                    <a:pt x="494" y="362"/>
                  </a:lnTo>
                  <a:lnTo>
                    <a:pt x="491" y="363"/>
                  </a:lnTo>
                  <a:lnTo>
                    <a:pt x="484" y="363"/>
                  </a:lnTo>
                  <a:lnTo>
                    <a:pt x="477" y="363"/>
                  </a:lnTo>
                  <a:lnTo>
                    <a:pt x="469" y="363"/>
                  </a:lnTo>
                  <a:lnTo>
                    <a:pt x="461" y="363"/>
                  </a:lnTo>
                  <a:lnTo>
                    <a:pt x="454" y="363"/>
                  </a:lnTo>
                  <a:lnTo>
                    <a:pt x="448" y="363"/>
                  </a:lnTo>
                  <a:lnTo>
                    <a:pt x="446" y="363"/>
                  </a:lnTo>
                  <a:lnTo>
                    <a:pt x="441" y="359"/>
                  </a:lnTo>
                  <a:lnTo>
                    <a:pt x="435" y="353"/>
                  </a:lnTo>
                  <a:lnTo>
                    <a:pt x="427" y="345"/>
                  </a:lnTo>
                  <a:lnTo>
                    <a:pt x="420" y="337"/>
                  </a:lnTo>
                  <a:lnTo>
                    <a:pt x="415" y="333"/>
                  </a:lnTo>
                  <a:lnTo>
                    <a:pt x="409" y="329"/>
                  </a:lnTo>
                  <a:lnTo>
                    <a:pt x="401" y="327"/>
                  </a:lnTo>
                  <a:lnTo>
                    <a:pt x="388" y="325"/>
                  </a:lnTo>
                  <a:lnTo>
                    <a:pt x="379" y="322"/>
                  </a:lnTo>
                  <a:lnTo>
                    <a:pt x="367" y="318"/>
                  </a:lnTo>
                  <a:lnTo>
                    <a:pt x="355" y="312"/>
                  </a:lnTo>
                  <a:lnTo>
                    <a:pt x="341" y="306"/>
                  </a:lnTo>
                  <a:lnTo>
                    <a:pt x="328" y="299"/>
                  </a:lnTo>
                  <a:lnTo>
                    <a:pt x="318" y="294"/>
                  </a:lnTo>
                  <a:lnTo>
                    <a:pt x="310" y="290"/>
                  </a:lnTo>
                  <a:lnTo>
                    <a:pt x="306" y="288"/>
                  </a:lnTo>
                  <a:lnTo>
                    <a:pt x="306" y="284"/>
                  </a:lnTo>
                  <a:lnTo>
                    <a:pt x="307" y="280"/>
                  </a:lnTo>
                  <a:lnTo>
                    <a:pt x="310" y="275"/>
                  </a:lnTo>
                  <a:lnTo>
                    <a:pt x="312" y="272"/>
                  </a:lnTo>
                  <a:lnTo>
                    <a:pt x="314" y="271"/>
                  </a:lnTo>
                  <a:lnTo>
                    <a:pt x="319" y="268"/>
                  </a:lnTo>
                  <a:lnTo>
                    <a:pt x="325" y="265"/>
                  </a:lnTo>
                  <a:lnTo>
                    <a:pt x="332" y="261"/>
                  </a:lnTo>
                  <a:lnTo>
                    <a:pt x="339" y="258"/>
                  </a:lnTo>
                  <a:lnTo>
                    <a:pt x="345" y="256"/>
                  </a:lnTo>
                  <a:lnTo>
                    <a:pt x="350" y="253"/>
                  </a:lnTo>
                  <a:lnTo>
                    <a:pt x="352" y="251"/>
                  </a:lnTo>
                  <a:lnTo>
                    <a:pt x="351" y="25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sp>
          <p:nvSpPr>
            <p:cNvPr id="29" name="Freeform 184"/>
            <p:cNvSpPr>
              <a:spLocks/>
            </p:cNvSpPr>
            <p:nvPr/>
          </p:nvSpPr>
          <p:spPr bwMode="auto">
            <a:xfrm>
              <a:off x="6867525" y="3259138"/>
              <a:ext cx="1355725" cy="303212"/>
            </a:xfrm>
            <a:custGeom>
              <a:avLst/>
              <a:gdLst>
                <a:gd name="T0" fmla="*/ 218037 w 2226"/>
                <a:gd name="T1" fmla="*/ 127853 h 517"/>
                <a:gd name="T2" fmla="*/ 216209 w 2226"/>
                <a:gd name="T3" fmla="*/ 112605 h 517"/>
                <a:gd name="T4" fmla="*/ 212555 w 2226"/>
                <a:gd name="T5" fmla="*/ 89145 h 517"/>
                <a:gd name="T6" fmla="*/ 207683 w 2226"/>
                <a:gd name="T7" fmla="*/ 56889 h 517"/>
                <a:gd name="T8" fmla="*/ 171750 w 2226"/>
                <a:gd name="T9" fmla="*/ 23459 h 517"/>
                <a:gd name="T10" fmla="*/ 107800 w 2226"/>
                <a:gd name="T11" fmla="*/ 31670 h 517"/>
                <a:gd name="T12" fmla="*/ 98665 w 2226"/>
                <a:gd name="T13" fmla="*/ 117297 h 517"/>
                <a:gd name="T14" fmla="*/ 110236 w 2226"/>
                <a:gd name="T15" fmla="*/ 151899 h 517"/>
                <a:gd name="T16" fmla="*/ 52378 w 2226"/>
                <a:gd name="T17" fmla="*/ 186502 h 517"/>
                <a:gd name="T18" fmla="*/ 18880 w 2226"/>
                <a:gd name="T19" fmla="*/ 218172 h 517"/>
                <a:gd name="T20" fmla="*/ 1355725 w 2226"/>
                <a:gd name="T21" fmla="*/ 230488 h 517"/>
                <a:gd name="T22" fmla="*/ 1314919 w 2226"/>
                <a:gd name="T23" fmla="*/ 143102 h 517"/>
                <a:gd name="T24" fmla="*/ 1296039 w 2226"/>
                <a:gd name="T25" fmla="*/ 124334 h 517"/>
                <a:gd name="T26" fmla="*/ 1317964 w 2226"/>
                <a:gd name="T27" fmla="*/ 40467 h 517"/>
                <a:gd name="T28" fmla="*/ 1278986 w 2226"/>
                <a:gd name="T29" fmla="*/ 586 h 517"/>
                <a:gd name="T30" fmla="*/ 1227217 w 2226"/>
                <a:gd name="T31" fmla="*/ 5865 h 517"/>
                <a:gd name="T32" fmla="*/ 1193111 w 2226"/>
                <a:gd name="T33" fmla="*/ 48092 h 517"/>
                <a:gd name="T34" fmla="*/ 1189457 w 2226"/>
                <a:gd name="T35" fmla="*/ 71551 h 517"/>
                <a:gd name="T36" fmla="*/ 1184584 w 2226"/>
                <a:gd name="T37" fmla="*/ 98529 h 517"/>
                <a:gd name="T38" fmla="*/ 1187629 w 2226"/>
                <a:gd name="T39" fmla="*/ 117883 h 517"/>
                <a:gd name="T40" fmla="*/ 1203465 w 2226"/>
                <a:gd name="T41" fmla="*/ 139583 h 517"/>
                <a:gd name="T42" fmla="*/ 1174840 w 2226"/>
                <a:gd name="T43" fmla="*/ 170667 h 517"/>
                <a:gd name="T44" fmla="*/ 1123071 w 2226"/>
                <a:gd name="T45" fmla="*/ 190021 h 517"/>
                <a:gd name="T46" fmla="*/ 1060340 w 2226"/>
                <a:gd name="T47" fmla="*/ 166561 h 517"/>
                <a:gd name="T48" fmla="*/ 1026843 w 2226"/>
                <a:gd name="T49" fmla="*/ 155418 h 517"/>
                <a:gd name="T50" fmla="*/ 1027452 w 2226"/>
                <a:gd name="T51" fmla="*/ 121989 h 517"/>
                <a:gd name="T52" fmla="*/ 976901 w 2226"/>
                <a:gd name="T53" fmla="*/ 52197 h 517"/>
                <a:gd name="T54" fmla="*/ 902598 w 2226"/>
                <a:gd name="T55" fmla="*/ 113191 h 517"/>
                <a:gd name="T56" fmla="*/ 915997 w 2226"/>
                <a:gd name="T57" fmla="*/ 160110 h 517"/>
                <a:gd name="T58" fmla="*/ 911125 w 2226"/>
                <a:gd name="T59" fmla="*/ 175359 h 517"/>
                <a:gd name="T60" fmla="*/ 831341 w 2226"/>
                <a:gd name="T61" fmla="*/ 219931 h 517"/>
                <a:gd name="T62" fmla="*/ 796016 w 2226"/>
                <a:gd name="T63" fmla="*/ 181810 h 517"/>
                <a:gd name="T64" fmla="*/ 718059 w 2226"/>
                <a:gd name="T65" fmla="*/ 164215 h 517"/>
                <a:gd name="T66" fmla="*/ 707096 w 2226"/>
                <a:gd name="T67" fmla="*/ 144275 h 517"/>
                <a:gd name="T68" fmla="*/ 725368 w 2226"/>
                <a:gd name="T69" fmla="*/ 119643 h 517"/>
                <a:gd name="T70" fmla="*/ 697961 w 2226"/>
                <a:gd name="T71" fmla="*/ 32843 h 517"/>
                <a:gd name="T72" fmla="*/ 618176 w 2226"/>
                <a:gd name="T73" fmla="*/ 59821 h 517"/>
                <a:gd name="T74" fmla="*/ 612086 w 2226"/>
                <a:gd name="T75" fmla="*/ 92664 h 517"/>
                <a:gd name="T76" fmla="*/ 614522 w 2226"/>
                <a:gd name="T77" fmla="*/ 120229 h 517"/>
                <a:gd name="T78" fmla="*/ 618785 w 2226"/>
                <a:gd name="T79" fmla="*/ 134305 h 517"/>
                <a:gd name="T80" fmla="*/ 621222 w 2226"/>
                <a:gd name="T81" fmla="*/ 144275 h 517"/>
                <a:gd name="T82" fmla="*/ 638275 w 2226"/>
                <a:gd name="T83" fmla="*/ 164802 h 517"/>
                <a:gd name="T84" fmla="*/ 614522 w 2226"/>
                <a:gd name="T85" fmla="*/ 188848 h 517"/>
                <a:gd name="T86" fmla="*/ 559099 w 2226"/>
                <a:gd name="T87" fmla="*/ 219931 h 517"/>
                <a:gd name="T88" fmla="*/ 531693 w 2226"/>
                <a:gd name="T89" fmla="*/ 232247 h 517"/>
                <a:gd name="T90" fmla="*/ 491496 w 2226"/>
                <a:gd name="T91" fmla="*/ 202337 h 517"/>
                <a:gd name="T92" fmla="*/ 468961 w 2226"/>
                <a:gd name="T93" fmla="*/ 177118 h 517"/>
                <a:gd name="T94" fmla="*/ 454344 w 2226"/>
                <a:gd name="T95" fmla="*/ 117883 h 517"/>
                <a:gd name="T96" fmla="*/ 448863 w 2226"/>
                <a:gd name="T97" fmla="*/ 83281 h 517"/>
                <a:gd name="T98" fmla="*/ 428765 w 2226"/>
                <a:gd name="T99" fmla="*/ 32843 h 517"/>
                <a:gd name="T100" fmla="*/ 362379 w 2226"/>
                <a:gd name="T101" fmla="*/ 42227 h 517"/>
                <a:gd name="T102" fmla="*/ 341672 w 2226"/>
                <a:gd name="T103" fmla="*/ 93837 h 517"/>
                <a:gd name="T104" fmla="*/ 331927 w 2226"/>
                <a:gd name="T105" fmla="*/ 180050 h 517"/>
                <a:gd name="T106" fmla="*/ 331318 w 2226"/>
                <a:gd name="T107" fmla="*/ 195299 h 517"/>
                <a:gd name="T108" fmla="*/ 294776 w 2226"/>
                <a:gd name="T109" fmla="*/ 212894 h 517"/>
                <a:gd name="T110" fmla="*/ 252752 w 2226"/>
                <a:gd name="T111" fmla="*/ 195299 h 517"/>
                <a:gd name="T112" fmla="*/ 186367 w 2226"/>
                <a:gd name="T113" fmla="*/ 168907 h 517"/>
                <a:gd name="T114" fmla="*/ 213164 w 2226"/>
                <a:gd name="T115" fmla="*/ 148380 h 51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26"/>
                <a:gd name="T175" fmla="*/ 0 h 517"/>
                <a:gd name="T176" fmla="*/ 2226 w 2226"/>
                <a:gd name="T177" fmla="*/ 517 h 51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26" h="517">
                  <a:moveTo>
                    <a:pt x="351" y="252"/>
                  </a:moveTo>
                  <a:lnTo>
                    <a:pt x="355" y="249"/>
                  </a:lnTo>
                  <a:lnTo>
                    <a:pt x="357" y="244"/>
                  </a:lnTo>
                  <a:lnTo>
                    <a:pt x="357" y="239"/>
                  </a:lnTo>
                  <a:lnTo>
                    <a:pt x="356" y="236"/>
                  </a:lnTo>
                  <a:lnTo>
                    <a:pt x="355" y="233"/>
                  </a:lnTo>
                  <a:lnTo>
                    <a:pt x="355" y="228"/>
                  </a:lnTo>
                  <a:lnTo>
                    <a:pt x="355" y="224"/>
                  </a:lnTo>
                  <a:lnTo>
                    <a:pt x="356" y="222"/>
                  </a:lnTo>
                  <a:lnTo>
                    <a:pt x="358" y="220"/>
                  </a:lnTo>
                  <a:lnTo>
                    <a:pt x="358" y="218"/>
                  </a:lnTo>
                  <a:lnTo>
                    <a:pt x="358" y="214"/>
                  </a:lnTo>
                  <a:lnTo>
                    <a:pt x="357" y="213"/>
                  </a:lnTo>
                  <a:lnTo>
                    <a:pt x="357" y="212"/>
                  </a:lnTo>
                  <a:lnTo>
                    <a:pt x="357" y="211"/>
                  </a:lnTo>
                  <a:lnTo>
                    <a:pt x="357" y="210"/>
                  </a:lnTo>
                  <a:lnTo>
                    <a:pt x="357" y="207"/>
                  </a:lnTo>
                  <a:lnTo>
                    <a:pt x="356" y="206"/>
                  </a:lnTo>
                  <a:lnTo>
                    <a:pt x="355" y="203"/>
                  </a:lnTo>
                  <a:lnTo>
                    <a:pt x="352" y="199"/>
                  </a:lnTo>
                  <a:lnTo>
                    <a:pt x="352" y="196"/>
                  </a:lnTo>
                  <a:lnTo>
                    <a:pt x="355" y="192"/>
                  </a:lnTo>
                  <a:lnTo>
                    <a:pt x="358" y="190"/>
                  </a:lnTo>
                  <a:lnTo>
                    <a:pt x="362" y="189"/>
                  </a:lnTo>
                  <a:lnTo>
                    <a:pt x="363" y="189"/>
                  </a:lnTo>
                  <a:lnTo>
                    <a:pt x="364" y="188"/>
                  </a:lnTo>
                  <a:lnTo>
                    <a:pt x="365" y="185"/>
                  </a:lnTo>
                  <a:lnTo>
                    <a:pt x="365" y="182"/>
                  </a:lnTo>
                  <a:lnTo>
                    <a:pt x="363" y="177"/>
                  </a:lnTo>
                  <a:lnTo>
                    <a:pt x="359" y="170"/>
                  </a:lnTo>
                  <a:lnTo>
                    <a:pt x="355" y="162"/>
                  </a:lnTo>
                  <a:lnTo>
                    <a:pt x="350" y="155"/>
                  </a:lnTo>
                  <a:lnTo>
                    <a:pt x="349" y="152"/>
                  </a:lnTo>
                  <a:lnTo>
                    <a:pt x="350" y="150"/>
                  </a:lnTo>
                  <a:lnTo>
                    <a:pt x="354" y="144"/>
                  </a:lnTo>
                  <a:lnTo>
                    <a:pt x="357" y="136"/>
                  </a:lnTo>
                  <a:lnTo>
                    <a:pt x="357" y="130"/>
                  </a:lnTo>
                  <a:lnTo>
                    <a:pt x="354" y="122"/>
                  </a:lnTo>
                  <a:lnTo>
                    <a:pt x="348" y="112"/>
                  </a:lnTo>
                  <a:lnTo>
                    <a:pt x="342" y="101"/>
                  </a:lnTo>
                  <a:lnTo>
                    <a:pt x="340" y="97"/>
                  </a:lnTo>
                  <a:lnTo>
                    <a:pt x="340" y="98"/>
                  </a:lnTo>
                  <a:lnTo>
                    <a:pt x="340" y="99"/>
                  </a:lnTo>
                  <a:lnTo>
                    <a:pt x="341" y="97"/>
                  </a:lnTo>
                  <a:lnTo>
                    <a:pt x="342" y="91"/>
                  </a:lnTo>
                  <a:lnTo>
                    <a:pt x="340" y="81"/>
                  </a:lnTo>
                  <a:lnTo>
                    <a:pt x="334" y="71"/>
                  </a:lnTo>
                  <a:lnTo>
                    <a:pt x="326" y="62"/>
                  </a:lnTo>
                  <a:lnTo>
                    <a:pt x="319" y="54"/>
                  </a:lnTo>
                  <a:lnTo>
                    <a:pt x="313" y="49"/>
                  </a:lnTo>
                  <a:lnTo>
                    <a:pt x="306" y="47"/>
                  </a:lnTo>
                  <a:lnTo>
                    <a:pt x="299" y="46"/>
                  </a:lnTo>
                  <a:lnTo>
                    <a:pt x="291" y="44"/>
                  </a:lnTo>
                  <a:lnTo>
                    <a:pt x="287" y="43"/>
                  </a:lnTo>
                  <a:lnTo>
                    <a:pt x="282" y="40"/>
                  </a:lnTo>
                  <a:lnTo>
                    <a:pt x="276" y="38"/>
                  </a:lnTo>
                  <a:lnTo>
                    <a:pt x="269" y="34"/>
                  </a:lnTo>
                  <a:lnTo>
                    <a:pt x="261" y="32"/>
                  </a:lnTo>
                  <a:lnTo>
                    <a:pt x="251" y="31"/>
                  </a:lnTo>
                  <a:lnTo>
                    <a:pt x="241" y="29"/>
                  </a:lnTo>
                  <a:lnTo>
                    <a:pt x="228" y="29"/>
                  </a:lnTo>
                  <a:lnTo>
                    <a:pt x="215" y="30"/>
                  </a:lnTo>
                  <a:lnTo>
                    <a:pt x="204" y="33"/>
                  </a:lnTo>
                  <a:lnTo>
                    <a:pt x="195" y="39"/>
                  </a:lnTo>
                  <a:lnTo>
                    <a:pt x="185" y="46"/>
                  </a:lnTo>
                  <a:lnTo>
                    <a:pt x="177" y="54"/>
                  </a:lnTo>
                  <a:lnTo>
                    <a:pt x="169" y="64"/>
                  </a:lnTo>
                  <a:lnTo>
                    <a:pt x="162" y="76"/>
                  </a:lnTo>
                  <a:lnTo>
                    <a:pt x="154" y="89"/>
                  </a:lnTo>
                  <a:lnTo>
                    <a:pt x="144" y="108"/>
                  </a:lnTo>
                  <a:lnTo>
                    <a:pt x="142" y="121"/>
                  </a:lnTo>
                  <a:lnTo>
                    <a:pt x="144" y="136"/>
                  </a:lnTo>
                  <a:lnTo>
                    <a:pt x="146" y="158"/>
                  </a:lnTo>
                  <a:lnTo>
                    <a:pt x="149" y="180"/>
                  </a:lnTo>
                  <a:lnTo>
                    <a:pt x="153" y="190"/>
                  </a:lnTo>
                  <a:lnTo>
                    <a:pt x="158" y="196"/>
                  </a:lnTo>
                  <a:lnTo>
                    <a:pt x="162" y="200"/>
                  </a:lnTo>
                  <a:lnTo>
                    <a:pt x="167" y="205"/>
                  </a:lnTo>
                  <a:lnTo>
                    <a:pt x="169" y="208"/>
                  </a:lnTo>
                  <a:lnTo>
                    <a:pt x="169" y="212"/>
                  </a:lnTo>
                  <a:lnTo>
                    <a:pt x="167" y="218"/>
                  </a:lnTo>
                  <a:lnTo>
                    <a:pt x="167" y="224"/>
                  </a:lnTo>
                  <a:lnTo>
                    <a:pt x="173" y="230"/>
                  </a:lnTo>
                  <a:lnTo>
                    <a:pt x="181" y="237"/>
                  </a:lnTo>
                  <a:lnTo>
                    <a:pt x="185" y="244"/>
                  </a:lnTo>
                  <a:lnTo>
                    <a:pt x="184" y="250"/>
                  </a:lnTo>
                  <a:lnTo>
                    <a:pt x="183" y="254"/>
                  </a:lnTo>
                  <a:lnTo>
                    <a:pt x="181" y="259"/>
                  </a:lnTo>
                  <a:lnTo>
                    <a:pt x="177" y="264"/>
                  </a:lnTo>
                  <a:lnTo>
                    <a:pt x="168" y="265"/>
                  </a:lnTo>
                  <a:lnTo>
                    <a:pt x="165" y="272"/>
                  </a:lnTo>
                  <a:lnTo>
                    <a:pt x="164" y="280"/>
                  </a:lnTo>
                  <a:lnTo>
                    <a:pt x="162" y="287"/>
                  </a:lnTo>
                  <a:lnTo>
                    <a:pt x="157" y="289"/>
                  </a:lnTo>
                  <a:lnTo>
                    <a:pt x="146" y="294"/>
                  </a:lnTo>
                  <a:lnTo>
                    <a:pt x="131" y="299"/>
                  </a:lnTo>
                  <a:lnTo>
                    <a:pt x="116" y="305"/>
                  </a:lnTo>
                  <a:lnTo>
                    <a:pt x="100" y="312"/>
                  </a:lnTo>
                  <a:lnTo>
                    <a:pt x="86" y="318"/>
                  </a:lnTo>
                  <a:lnTo>
                    <a:pt x="75" y="322"/>
                  </a:lnTo>
                  <a:lnTo>
                    <a:pt x="68" y="325"/>
                  </a:lnTo>
                  <a:lnTo>
                    <a:pt x="60" y="328"/>
                  </a:lnTo>
                  <a:lnTo>
                    <a:pt x="53" y="333"/>
                  </a:lnTo>
                  <a:lnTo>
                    <a:pt x="47" y="338"/>
                  </a:lnTo>
                  <a:lnTo>
                    <a:pt x="45" y="344"/>
                  </a:lnTo>
                  <a:lnTo>
                    <a:pt x="45" y="351"/>
                  </a:lnTo>
                  <a:lnTo>
                    <a:pt x="44" y="358"/>
                  </a:lnTo>
                  <a:lnTo>
                    <a:pt x="41" y="363"/>
                  </a:lnTo>
                  <a:lnTo>
                    <a:pt x="36" y="366"/>
                  </a:lnTo>
                  <a:lnTo>
                    <a:pt x="31" y="372"/>
                  </a:lnTo>
                  <a:lnTo>
                    <a:pt x="26" y="387"/>
                  </a:lnTo>
                  <a:lnTo>
                    <a:pt x="21" y="409"/>
                  </a:lnTo>
                  <a:lnTo>
                    <a:pt x="15" y="434"/>
                  </a:lnTo>
                  <a:lnTo>
                    <a:pt x="9" y="459"/>
                  </a:lnTo>
                  <a:lnTo>
                    <a:pt x="5" y="484"/>
                  </a:lnTo>
                  <a:lnTo>
                    <a:pt x="2" y="504"/>
                  </a:lnTo>
                  <a:lnTo>
                    <a:pt x="0" y="517"/>
                  </a:lnTo>
                  <a:lnTo>
                    <a:pt x="2226" y="517"/>
                  </a:lnTo>
                  <a:lnTo>
                    <a:pt x="2226" y="478"/>
                  </a:lnTo>
                  <a:lnTo>
                    <a:pt x="2226" y="393"/>
                  </a:lnTo>
                  <a:lnTo>
                    <a:pt x="2226" y="305"/>
                  </a:lnTo>
                  <a:lnTo>
                    <a:pt x="2226" y="261"/>
                  </a:lnTo>
                  <a:lnTo>
                    <a:pt x="2221" y="260"/>
                  </a:lnTo>
                  <a:lnTo>
                    <a:pt x="2213" y="258"/>
                  </a:lnTo>
                  <a:lnTo>
                    <a:pt x="2202" y="254"/>
                  </a:lnTo>
                  <a:lnTo>
                    <a:pt x="2193" y="251"/>
                  </a:lnTo>
                  <a:lnTo>
                    <a:pt x="2188" y="250"/>
                  </a:lnTo>
                  <a:lnTo>
                    <a:pt x="2181" y="248"/>
                  </a:lnTo>
                  <a:lnTo>
                    <a:pt x="2174" y="246"/>
                  </a:lnTo>
                  <a:lnTo>
                    <a:pt x="2166" y="245"/>
                  </a:lnTo>
                  <a:lnTo>
                    <a:pt x="2159" y="244"/>
                  </a:lnTo>
                  <a:lnTo>
                    <a:pt x="2152" y="244"/>
                  </a:lnTo>
                  <a:lnTo>
                    <a:pt x="2148" y="244"/>
                  </a:lnTo>
                  <a:lnTo>
                    <a:pt x="2144" y="244"/>
                  </a:lnTo>
                  <a:lnTo>
                    <a:pt x="2142" y="244"/>
                  </a:lnTo>
                  <a:lnTo>
                    <a:pt x="2143" y="243"/>
                  </a:lnTo>
                  <a:lnTo>
                    <a:pt x="2142" y="239"/>
                  </a:lnTo>
                  <a:lnTo>
                    <a:pt x="2140" y="234"/>
                  </a:lnTo>
                  <a:lnTo>
                    <a:pt x="2136" y="226"/>
                  </a:lnTo>
                  <a:lnTo>
                    <a:pt x="2132" y="216"/>
                  </a:lnTo>
                  <a:lnTo>
                    <a:pt x="2128" y="212"/>
                  </a:lnTo>
                  <a:lnTo>
                    <a:pt x="2141" y="203"/>
                  </a:lnTo>
                  <a:lnTo>
                    <a:pt x="2149" y="183"/>
                  </a:lnTo>
                  <a:lnTo>
                    <a:pt x="2153" y="162"/>
                  </a:lnTo>
                  <a:lnTo>
                    <a:pt x="2155" y="151"/>
                  </a:lnTo>
                  <a:lnTo>
                    <a:pt x="2157" y="142"/>
                  </a:lnTo>
                  <a:lnTo>
                    <a:pt x="2160" y="127"/>
                  </a:lnTo>
                  <a:lnTo>
                    <a:pt x="2166" y="112"/>
                  </a:lnTo>
                  <a:lnTo>
                    <a:pt x="2170" y="104"/>
                  </a:lnTo>
                  <a:lnTo>
                    <a:pt x="2170" y="95"/>
                  </a:lnTo>
                  <a:lnTo>
                    <a:pt x="2167" y="82"/>
                  </a:lnTo>
                  <a:lnTo>
                    <a:pt x="2164" y="69"/>
                  </a:lnTo>
                  <a:lnTo>
                    <a:pt x="2160" y="62"/>
                  </a:lnTo>
                  <a:lnTo>
                    <a:pt x="2160" y="55"/>
                  </a:lnTo>
                  <a:lnTo>
                    <a:pt x="2157" y="48"/>
                  </a:lnTo>
                  <a:lnTo>
                    <a:pt x="2152" y="40"/>
                  </a:lnTo>
                  <a:lnTo>
                    <a:pt x="2145" y="33"/>
                  </a:lnTo>
                  <a:lnTo>
                    <a:pt x="2138" y="26"/>
                  </a:lnTo>
                  <a:lnTo>
                    <a:pt x="2130" y="19"/>
                  </a:lnTo>
                  <a:lnTo>
                    <a:pt x="2124" y="13"/>
                  </a:lnTo>
                  <a:lnTo>
                    <a:pt x="2117" y="7"/>
                  </a:lnTo>
                  <a:lnTo>
                    <a:pt x="2109" y="2"/>
                  </a:lnTo>
                  <a:lnTo>
                    <a:pt x="2100" y="1"/>
                  </a:lnTo>
                  <a:lnTo>
                    <a:pt x="2090" y="0"/>
                  </a:lnTo>
                  <a:lnTo>
                    <a:pt x="2080" y="1"/>
                  </a:lnTo>
                  <a:lnTo>
                    <a:pt x="2071" y="2"/>
                  </a:lnTo>
                  <a:lnTo>
                    <a:pt x="2061" y="5"/>
                  </a:lnTo>
                  <a:lnTo>
                    <a:pt x="2056" y="7"/>
                  </a:lnTo>
                  <a:lnTo>
                    <a:pt x="2051" y="8"/>
                  </a:lnTo>
                  <a:lnTo>
                    <a:pt x="2048" y="9"/>
                  </a:lnTo>
                  <a:lnTo>
                    <a:pt x="2041" y="9"/>
                  </a:lnTo>
                  <a:lnTo>
                    <a:pt x="2034" y="9"/>
                  </a:lnTo>
                  <a:lnTo>
                    <a:pt x="2024" y="10"/>
                  </a:lnTo>
                  <a:lnTo>
                    <a:pt x="2015" y="10"/>
                  </a:lnTo>
                  <a:lnTo>
                    <a:pt x="2005" y="11"/>
                  </a:lnTo>
                  <a:lnTo>
                    <a:pt x="1996" y="13"/>
                  </a:lnTo>
                  <a:lnTo>
                    <a:pt x="1988" y="14"/>
                  </a:lnTo>
                  <a:lnTo>
                    <a:pt x="1977" y="19"/>
                  </a:lnTo>
                  <a:lnTo>
                    <a:pt x="1975" y="30"/>
                  </a:lnTo>
                  <a:lnTo>
                    <a:pt x="1976" y="40"/>
                  </a:lnTo>
                  <a:lnTo>
                    <a:pt x="1978" y="47"/>
                  </a:lnTo>
                  <a:lnTo>
                    <a:pt x="1969" y="54"/>
                  </a:lnTo>
                  <a:lnTo>
                    <a:pt x="1963" y="64"/>
                  </a:lnTo>
                  <a:lnTo>
                    <a:pt x="1960" y="75"/>
                  </a:lnTo>
                  <a:lnTo>
                    <a:pt x="1959" y="82"/>
                  </a:lnTo>
                  <a:lnTo>
                    <a:pt x="1957" y="87"/>
                  </a:lnTo>
                  <a:lnTo>
                    <a:pt x="1953" y="94"/>
                  </a:lnTo>
                  <a:lnTo>
                    <a:pt x="1950" y="100"/>
                  </a:lnTo>
                  <a:lnTo>
                    <a:pt x="1946" y="104"/>
                  </a:lnTo>
                  <a:lnTo>
                    <a:pt x="1946" y="106"/>
                  </a:lnTo>
                  <a:lnTo>
                    <a:pt x="1948" y="109"/>
                  </a:lnTo>
                  <a:lnTo>
                    <a:pt x="1951" y="114"/>
                  </a:lnTo>
                  <a:lnTo>
                    <a:pt x="1953" y="116"/>
                  </a:lnTo>
                  <a:lnTo>
                    <a:pt x="1953" y="119"/>
                  </a:lnTo>
                  <a:lnTo>
                    <a:pt x="1953" y="120"/>
                  </a:lnTo>
                  <a:lnTo>
                    <a:pt x="1953" y="122"/>
                  </a:lnTo>
                  <a:lnTo>
                    <a:pt x="1952" y="125"/>
                  </a:lnTo>
                  <a:lnTo>
                    <a:pt x="1950" y="131"/>
                  </a:lnTo>
                  <a:lnTo>
                    <a:pt x="1947" y="139"/>
                  </a:lnTo>
                  <a:lnTo>
                    <a:pt x="1943" y="147"/>
                  </a:lnTo>
                  <a:lnTo>
                    <a:pt x="1939" y="153"/>
                  </a:lnTo>
                  <a:lnTo>
                    <a:pt x="1937" y="157"/>
                  </a:lnTo>
                  <a:lnTo>
                    <a:pt x="1937" y="159"/>
                  </a:lnTo>
                  <a:lnTo>
                    <a:pt x="1938" y="161"/>
                  </a:lnTo>
                  <a:lnTo>
                    <a:pt x="1939" y="163"/>
                  </a:lnTo>
                  <a:lnTo>
                    <a:pt x="1942" y="165"/>
                  </a:lnTo>
                  <a:lnTo>
                    <a:pt x="1945" y="168"/>
                  </a:lnTo>
                  <a:lnTo>
                    <a:pt x="1950" y="170"/>
                  </a:lnTo>
                  <a:lnTo>
                    <a:pt x="1951" y="174"/>
                  </a:lnTo>
                  <a:lnTo>
                    <a:pt x="1951" y="177"/>
                  </a:lnTo>
                  <a:lnTo>
                    <a:pt x="1950" y="182"/>
                  </a:lnTo>
                  <a:lnTo>
                    <a:pt x="1948" y="188"/>
                  </a:lnTo>
                  <a:lnTo>
                    <a:pt x="1946" y="191"/>
                  </a:lnTo>
                  <a:lnTo>
                    <a:pt x="1946" y="193"/>
                  </a:lnTo>
                  <a:lnTo>
                    <a:pt x="1947" y="196"/>
                  </a:lnTo>
                  <a:lnTo>
                    <a:pt x="1950" y="199"/>
                  </a:lnTo>
                  <a:lnTo>
                    <a:pt x="1951" y="200"/>
                  </a:lnTo>
                  <a:lnTo>
                    <a:pt x="1950" y="201"/>
                  </a:lnTo>
                  <a:lnTo>
                    <a:pt x="1948" y="203"/>
                  </a:lnTo>
                  <a:lnTo>
                    <a:pt x="1948" y="205"/>
                  </a:lnTo>
                  <a:lnTo>
                    <a:pt x="1951" y="206"/>
                  </a:lnTo>
                  <a:lnTo>
                    <a:pt x="1952" y="210"/>
                  </a:lnTo>
                  <a:lnTo>
                    <a:pt x="1953" y="215"/>
                  </a:lnTo>
                  <a:lnTo>
                    <a:pt x="1953" y="222"/>
                  </a:lnTo>
                  <a:lnTo>
                    <a:pt x="1952" y="228"/>
                  </a:lnTo>
                  <a:lnTo>
                    <a:pt x="1954" y="233"/>
                  </a:lnTo>
                  <a:lnTo>
                    <a:pt x="1961" y="236"/>
                  </a:lnTo>
                  <a:lnTo>
                    <a:pt x="1969" y="237"/>
                  </a:lnTo>
                  <a:lnTo>
                    <a:pt x="1976" y="238"/>
                  </a:lnTo>
                  <a:lnTo>
                    <a:pt x="1982" y="238"/>
                  </a:lnTo>
                  <a:lnTo>
                    <a:pt x="1989" y="241"/>
                  </a:lnTo>
                  <a:lnTo>
                    <a:pt x="1995" y="243"/>
                  </a:lnTo>
                  <a:lnTo>
                    <a:pt x="1997" y="246"/>
                  </a:lnTo>
                  <a:lnTo>
                    <a:pt x="1989" y="254"/>
                  </a:lnTo>
                  <a:lnTo>
                    <a:pt x="1978" y="266"/>
                  </a:lnTo>
                  <a:lnTo>
                    <a:pt x="1969" y="276"/>
                  </a:lnTo>
                  <a:lnTo>
                    <a:pt x="1965" y="282"/>
                  </a:lnTo>
                  <a:lnTo>
                    <a:pt x="1959" y="284"/>
                  </a:lnTo>
                  <a:lnTo>
                    <a:pt x="1946" y="288"/>
                  </a:lnTo>
                  <a:lnTo>
                    <a:pt x="1929" y="291"/>
                  </a:lnTo>
                  <a:lnTo>
                    <a:pt x="1910" y="295"/>
                  </a:lnTo>
                  <a:lnTo>
                    <a:pt x="1892" y="298"/>
                  </a:lnTo>
                  <a:lnTo>
                    <a:pt x="1875" y="300"/>
                  </a:lnTo>
                  <a:lnTo>
                    <a:pt x="1862" y="302"/>
                  </a:lnTo>
                  <a:lnTo>
                    <a:pt x="1856" y="303"/>
                  </a:lnTo>
                  <a:lnTo>
                    <a:pt x="1853" y="303"/>
                  </a:lnTo>
                  <a:lnTo>
                    <a:pt x="1852" y="303"/>
                  </a:lnTo>
                  <a:lnTo>
                    <a:pt x="1851" y="306"/>
                  </a:lnTo>
                  <a:lnTo>
                    <a:pt x="1851" y="311"/>
                  </a:lnTo>
                  <a:lnTo>
                    <a:pt x="1848" y="317"/>
                  </a:lnTo>
                  <a:lnTo>
                    <a:pt x="1844" y="324"/>
                  </a:lnTo>
                  <a:lnTo>
                    <a:pt x="1838" y="328"/>
                  </a:lnTo>
                  <a:lnTo>
                    <a:pt x="1833" y="332"/>
                  </a:lnTo>
                  <a:lnTo>
                    <a:pt x="1817" y="317"/>
                  </a:lnTo>
                  <a:lnTo>
                    <a:pt x="1803" y="306"/>
                  </a:lnTo>
                  <a:lnTo>
                    <a:pt x="1792" y="299"/>
                  </a:lnTo>
                  <a:lnTo>
                    <a:pt x="1781" y="295"/>
                  </a:lnTo>
                  <a:lnTo>
                    <a:pt x="1772" y="291"/>
                  </a:lnTo>
                  <a:lnTo>
                    <a:pt x="1763" y="290"/>
                  </a:lnTo>
                  <a:lnTo>
                    <a:pt x="1755" y="289"/>
                  </a:lnTo>
                  <a:lnTo>
                    <a:pt x="1748" y="287"/>
                  </a:lnTo>
                  <a:lnTo>
                    <a:pt x="1741" y="284"/>
                  </a:lnTo>
                  <a:lnTo>
                    <a:pt x="1733" y="282"/>
                  </a:lnTo>
                  <a:lnTo>
                    <a:pt x="1724" y="281"/>
                  </a:lnTo>
                  <a:lnTo>
                    <a:pt x="1716" y="280"/>
                  </a:lnTo>
                  <a:lnTo>
                    <a:pt x="1709" y="279"/>
                  </a:lnTo>
                  <a:lnTo>
                    <a:pt x="1703" y="277"/>
                  </a:lnTo>
                  <a:lnTo>
                    <a:pt x="1700" y="276"/>
                  </a:lnTo>
                  <a:lnTo>
                    <a:pt x="1697" y="275"/>
                  </a:lnTo>
                  <a:lnTo>
                    <a:pt x="1696" y="272"/>
                  </a:lnTo>
                  <a:lnTo>
                    <a:pt x="1693" y="269"/>
                  </a:lnTo>
                  <a:lnTo>
                    <a:pt x="1689" y="266"/>
                  </a:lnTo>
                  <a:lnTo>
                    <a:pt x="1686" y="265"/>
                  </a:lnTo>
                  <a:lnTo>
                    <a:pt x="1686" y="262"/>
                  </a:lnTo>
                  <a:lnTo>
                    <a:pt x="1685" y="261"/>
                  </a:lnTo>
                  <a:lnTo>
                    <a:pt x="1684" y="259"/>
                  </a:lnTo>
                  <a:lnTo>
                    <a:pt x="1684" y="257"/>
                  </a:lnTo>
                  <a:lnTo>
                    <a:pt x="1685" y="257"/>
                  </a:lnTo>
                  <a:lnTo>
                    <a:pt x="1687" y="256"/>
                  </a:lnTo>
                  <a:lnTo>
                    <a:pt x="1689" y="251"/>
                  </a:lnTo>
                  <a:lnTo>
                    <a:pt x="1693" y="237"/>
                  </a:lnTo>
                  <a:lnTo>
                    <a:pt x="1693" y="222"/>
                  </a:lnTo>
                  <a:lnTo>
                    <a:pt x="1691" y="213"/>
                  </a:lnTo>
                  <a:lnTo>
                    <a:pt x="1687" y="208"/>
                  </a:lnTo>
                  <a:lnTo>
                    <a:pt x="1684" y="207"/>
                  </a:lnTo>
                  <a:lnTo>
                    <a:pt x="1684" y="200"/>
                  </a:lnTo>
                  <a:lnTo>
                    <a:pt x="1685" y="190"/>
                  </a:lnTo>
                  <a:lnTo>
                    <a:pt x="1684" y="178"/>
                  </a:lnTo>
                  <a:lnTo>
                    <a:pt x="1681" y="163"/>
                  </a:lnTo>
                  <a:lnTo>
                    <a:pt x="1678" y="150"/>
                  </a:lnTo>
                  <a:lnTo>
                    <a:pt x="1671" y="135"/>
                  </a:lnTo>
                  <a:lnTo>
                    <a:pt x="1662" y="121"/>
                  </a:lnTo>
                  <a:lnTo>
                    <a:pt x="1649" y="109"/>
                  </a:lnTo>
                  <a:lnTo>
                    <a:pt x="1626" y="95"/>
                  </a:lnTo>
                  <a:lnTo>
                    <a:pt x="1604" y="89"/>
                  </a:lnTo>
                  <a:lnTo>
                    <a:pt x="1583" y="86"/>
                  </a:lnTo>
                  <a:lnTo>
                    <a:pt x="1564" y="89"/>
                  </a:lnTo>
                  <a:lnTo>
                    <a:pt x="1545" y="94"/>
                  </a:lnTo>
                  <a:lnTo>
                    <a:pt x="1528" y="102"/>
                  </a:lnTo>
                  <a:lnTo>
                    <a:pt x="1513" y="113"/>
                  </a:lnTo>
                  <a:lnTo>
                    <a:pt x="1499" y="123"/>
                  </a:lnTo>
                  <a:lnTo>
                    <a:pt x="1489" y="136"/>
                  </a:lnTo>
                  <a:lnTo>
                    <a:pt x="1483" y="150"/>
                  </a:lnTo>
                  <a:lnTo>
                    <a:pt x="1480" y="165"/>
                  </a:lnTo>
                  <a:lnTo>
                    <a:pt x="1481" y="180"/>
                  </a:lnTo>
                  <a:lnTo>
                    <a:pt x="1482" y="193"/>
                  </a:lnTo>
                  <a:lnTo>
                    <a:pt x="1486" y="206"/>
                  </a:lnTo>
                  <a:lnTo>
                    <a:pt x="1488" y="215"/>
                  </a:lnTo>
                  <a:lnTo>
                    <a:pt x="1490" y="221"/>
                  </a:lnTo>
                  <a:lnTo>
                    <a:pt x="1487" y="224"/>
                  </a:lnTo>
                  <a:lnTo>
                    <a:pt x="1486" y="233"/>
                  </a:lnTo>
                  <a:lnTo>
                    <a:pt x="1487" y="241"/>
                  </a:lnTo>
                  <a:lnTo>
                    <a:pt x="1488" y="249"/>
                  </a:lnTo>
                  <a:lnTo>
                    <a:pt x="1490" y="256"/>
                  </a:lnTo>
                  <a:lnTo>
                    <a:pt x="1495" y="264"/>
                  </a:lnTo>
                  <a:lnTo>
                    <a:pt x="1501" y="269"/>
                  </a:lnTo>
                  <a:lnTo>
                    <a:pt x="1504" y="273"/>
                  </a:lnTo>
                  <a:lnTo>
                    <a:pt x="1504" y="275"/>
                  </a:lnTo>
                  <a:lnTo>
                    <a:pt x="1506" y="279"/>
                  </a:lnTo>
                  <a:lnTo>
                    <a:pt x="1507" y="282"/>
                  </a:lnTo>
                  <a:lnTo>
                    <a:pt x="1509" y="284"/>
                  </a:lnTo>
                  <a:lnTo>
                    <a:pt x="1507" y="286"/>
                  </a:lnTo>
                  <a:lnTo>
                    <a:pt x="1506" y="287"/>
                  </a:lnTo>
                  <a:lnTo>
                    <a:pt x="1503" y="288"/>
                  </a:lnTo>
                  <a:lnTo>
                    <a:pt x="1499" y="289"/>
                  </a:lnTo>
                  <a:lnTo>
                    <a:pt x="1497" y="291"/>
                  </a:lnTo>
                  <a:lnTo>
                    <a:pt x="1496" y="295"/>
                  </a:lnTo>
                  <a:lnTo>
                    <a:pt x="1496" y="299"/>
                  </a:lnTo>
                  <a:lnTo>
                    <a:pt x="1495" y="303"/>
                  </a:lnTo>
                  <a:lnTo>
                    <a:pt x="1491" y="305"/>
                  </a:lnTo>
                  <a:lnTo>
                    <a:pt x="1487" y="307"/>
                  </a:lnTo>
                  <a:lnTo>
                    <a:pt x="1480" y="311"/>
                  </a:lnTo>
                  <a:lnTo>
                    <a:pt x="1471" y="313"/>
                  </a:lnTo>
                  <a:lnTo>
                    <a:pt x="1461" y="318"/>
                  </a:lnTo>
                  <a:lnTo>
                    <a:pt x="1445" y="326"/>
                  </a:lnTo>
                  <a:lnTo>
                    <a:pt x="1426" y="337"/>
                  </a:lnTo>
                  <a:lnTo>
                    <a:pt x="1404" y="351"/>
                  </a:lnTo>
                  <a:lnTo>
                    <a:pt x="1383" y="364"/>
                  </a:lnTo>
                  <a:lnTo>
                    <a:pt x="1365" y="375"/>
                  </a:lnTo>
                  <a:lnTo>
                    <a:pt x="1351" y="385"/>
                  </a:lnTo>
                  <a:lnTo>
                    <a:pt x="1344" y="389"/>
                  </a:lnTo>
                  <a:lnTo>
                    <a:pt x="1339" y="388"/>
                  </a:lnTo>
                  <a:lnTo>
                    <a:pt x="1336" y="379"/>
                  </a:lnTo>
                  <a:lnTo>
                    <a:pt x="1332" y="363"/>
                  </a:lnTo>
                  <a:lnTo>
                    <a:pt x="1330" y="344"/>
                  </a:lnTo>
                  <a:lnTo>
                    <a:pt x="1329" y="335"/>
                  </a:lnTo>
                  <a:lnTo>
                    <a:pt x="1325" y="327"/>
                  </a:lnTo>
                  <a:lnTo>
                    <a:pt x="1321" y="320"/>
                  </a:lnTo>
                  <a:lnTo>
                    <a:pt x="1314" y="314"/>
                  </a:lnTo>
                  <a:lnTo>
                    <a:pt x="1307" y="310"/>
                  </a:lnTo>
                  <a:lnTo>
                    <a:pt x="1301" y="306"/>
                  </a:lnTo>
                  <a:lnTo>
                    <a:pt x="1294" y="304"/>
                  </a:lnTo>
                  <a:lnTo>
                    <a:pt x="1290" y="303"/>
                  </a:lnTo>
                  <a:lnTo>
                    <a:pt x="1282" y="302"/>
                  </a:lnTo>
                  <a:lnTo>
                    <a:pt x="1269" y="298"/>
                  </a:lnTo>
                  <a:lnTo>
                    <a:pt x="1252" y="295"/>
                  </a:lnTo>
                  <a:lnTo>
                    <a:pt x="1233" y="291"/>
                  </a:lnTo>
                  <a:lnTo>
                    <a:pt x="1215" y="287"/>
                  </a:lnTo>
                  <a:lnTo>
                    <a:pt x="1199" y="283"/>
                  </a:lnTo>
                  <a:lnTo>
                    <a:pt x="1186" y="281"/>
                  </a:lnTo>
                  <a:lnTo>
                    <a:pt x="1179" y="280"/>
                  </a:lnTo>
                  <a:lnTo>
                    <a:pt x="1180" y="280"/>
                  </a:lnTo>
                  <a:lnTo>
                    <a:pt x="1182" y="279"/>
                  </a:lnTo>
                  <a:lnTo>
                    <a:pt x="1182" y="277"/>
                  </a:lnTo>
                  <a:lnTo>
                    <a:pt x="1183" y="275"/>
                  </a:lnTo>
                  <a:lnTo>
                    <a:pt x="1182" y="269"/>
                  </a:lnTo>
                  <a:lnTo>
                    <a:pt x="1178" y="261"/>
                  </a:lnTo>
                  <a:lnTo>
                    <a:pt x="1173" y="253"/>
                  </a:lnTo>
                  <a:lnTo>
                    <a:pt x="1170" y="249"/>
                  </a:lnTo>
                  <a:lnTo>
                    <a:pt x="1168" y="248"/>
                  </a:lnTo>
                  <a:lnTo>
                    <a:pt x="1164" y="246"/>
                  </a:lnTo>
                  <a:lnTo>
                    <a:pt x="1161" y="246"/>
                  </a:lnTo>
                  <a:lnTo>
                    <a:pt x="1156" y="246"/>
                  </a:lnTo>
                  <a:lnTo>
                    <a:pt x="1154" y="246"/>
                  </a:lnTo>
                  <a:lnTo>
                    <a:pt x="1154" y="248"/>
                  </a:lnTo>
                  <a:lnTo>
                    <a:pt x="1155" y="248"/>
                  </a:lnTo>
                  <a:lnTo>
                    <a:pt x="1158" y="246"/>
                  </a:lnTo>
                  <a:lnTo>
                    <a:pt x="1163" y="242"/>
                  </a:lnTo>
                  <a:lnTo>
                    <a:pt x="1169" y="234"/>
                  </a:lnTo>
                  <a:lnTo>
                    <a:pt x="1176" y="226"/>
                  </a:lnTo>
                  <a:lnTo>
                    <a:pt x="1183" y="219"/>
                  </a:lnTo>
                  <a:lnTo>
                    <a:pt x="1188" y="213"/>
                  </a:lnTo>
                  <a:lnTo>
                    <a:pt x="1191" y="204"/>
                  </a:lnTo>
                  <a:lnTo>
                    <a:pt x="1192" y="195"/>
                  </a:lnTo>
                  <a:lnTo>
                    <a:pt x="1192" y="188"/>
                  </a:lnTo>
                  <a:lnTo>
                    <a:pt x="1191" y="182"/>
                  </a:lnTo>
                  <a:lnTo>
                    <a:pt x="1188" y="172"/>
                  </a:lnTo>
                  <a:lnTo>
                    <a:pt x="1185" y="153"/>
                  </a:lnTo>
                  <a:lnTo>
                    <a:pt x="1183" y="121"/>
                  </a:lnTo>
                  <a:lnTo>
                    <a:pt x="1180" y="102"/>
                  </a:lnTo>
                  <a:lnTo>
                    <a:pt x="1176" y="87"/>
                  </a:lnTo>
                  <a:lnTo>
                    <a:pt x="1169" y="75"/>
                  </a:lnTo>
                  <a:lnTo>
                    <a:pt x="1158" y="64"/>
                  </a:lnTo>
                  <a:lnTo>
                    <a:pt x="1146" y="56"/>
                  </a:lnTo>
                  <a:lnTo>
                    <a:pt x="1130" y="51"/>
                  </a:lnTo>
                  <a:lnTo>
                    <a:pt x="1111" y="47"/>
                  </a:lnTo>
                  <a:lnTo>
                    <a:pt x="1089" y="46"/>
                  </a:lnTo>
                  <a:lnTo>
                    <a:pt x="1069" y="47"/>
                  </a:lnTo>
                  <a:lnTo>
                    <a:pt x="1051" y="53"/>
                  </a:lnTo>
                  <a:lnTo>
                    <a:pt x="1039" y="62"/>
                  </a:lnTo>
                  <a:lnTo>
                    <a:pt x="1028" y="71"/>
                  </a:lnTo>
                  <a:lnTo>
                    <a:pt x="1021" y="82"/>
                  </a:lnTo>
                  <a:lnTo>
                    <a:pt x="1017" y="91"/>
                  </a:lnTo>
                  <a:lnTo>
                    <a:pt x="1015" y="99"/>
                  </a:lnTo>
                  <a:lnTo>
                    <a:pt x="1015" y="102"/>
                  </a:lnTo>
                  <a:lnTo>
                    <a:pt x="1017" y="105"/>
                  </a:lnTo>
                  <a:lnTo>
                    <a:pt x="1020" y="106"/>
                  </a:lnTo>
                  <a:lnTo>
                    <a:pt x="1024" y="107"/>
                  </a:lnTo>
                  <a:lnTo>
                    <a:pt x="1025" y="108"/>
                  </a:lnTo>
                  <a:lnTo>
                    <a:pt x="1017" y="117"/>
                  </a:lnTo>
                  <a:lnTo>
                    <a:pt x="1011" y="130"/>
                  </a:lnTo>
                  <a:lnTo>
                    <a:pt x="1008" y="142"/>
                  </a:lnTo>
                  <a:lnTo>
                    <a:pt x="1006" y="148"/>
                  </a:lnTo>
                  <a:lnTo>
                    <a:pt x="1005" y="152"/>
                  </a:lnTo>
                  <a:lnTo>
                    <a:pt x="1005" y="155"/>
                  </a:lnTo>
                  <a:lnTo>
                    <a:pt x="1005" y="158"/>
                  </a:lnTo>
                  <a:lnTo>
                    <a:pt x="1006" y="160"/>
                  </a:lnTo>
                  <a:lnTo>
                    <a:pt x="1004" y="162"/>
                  </a:lnTo>
                  <a:lnTo>
                    <a:pt x="1002" y="166"/>
                  </a:lnTo>
                  <a:lnTo>
                    <a:pt x="1000" y="170"/>
                  </a:lnTo>
                  <a:lnTo>
                    <a:pt x="998" y="175"/>
                  </a:lnTo>
                  <a:lnTo>
                    <a:pt x="1000" y="182"/>
                  </a:lnTo>
                  <a:lnTo>
                    <a:pt x="1002" y="189"/>
                  </a:lnTo>
                  <a:lnTo>
                    <a:pt x="1005" y="196"/>
                  </a:lnTo>
                  <a:lnTo>
                    <a:pt x="1009" y="199"/>
                  </a:lnTo>
                  <a:lnTo>
                    <a:pt x="1009" y="201"/>
                  </a:lnTo>
                  <a:lnTo>
                    <a:pt x="1009" y="205"/>
                  </a:lnTo>
                  <a:lnTo>
                    <a:pt x="1008" y="210"/>
                  </a:lnTo>
                  <a:lnTo>
                    <a:pt x="1005" y="215"/>
                  </a:lnTo>
                  <a:lnTo>
                    <a:pt x="1004" y="221"/>
                  </a:lnTo>
                  <a:lnTo>
                    <a:pt x="1006" y="223"/>
                  </a:lnTo>
                  <a:lnTo>
                    <a:pt x="1010" y="224"/>
                  </a:lnTo>
                  <a:lnTo>
                    <a:pt x="1012" y="224"/>
                  </a:lnTo>
                  <a:lnTo>
                    <a:pt x="1013" y="224"/>
                  </a:lnTo>
                  <a:lnTo>
                    <a:pt x="1015" y="224"/>
                  </a:lnTo>
                  <a:lnTo>
                    <a:pt x="1016" y="226"/>
                  </a:lnTo>
                  <a:lnTo>
                    <a:pt x="1016" y="227"/>
                  </a:lnTo>
                  <a:lnTo>
                    <a:pt x="1016" y="229"/>
                  </a:lnTo>
                  <a:lnTo>
                    <a:pt x="1016" y="231"/>
                  </a:lnTo>
                  <a:lnTo>
                    <a:pt x="1016" y="234"/>
                  </a:lnTo>
                  <a:lnTo>
                    <a:pt x="1017" y="236"/>
                  </a:lnTo>
                  <a:lnTo>
                    <a:pt x="1018" y="237"/>
                  </a:lnTo>
                  <a:lnTo>
                    <a:pt x="1019" y="238"/>
                  </a:lnTo>
                  <a:lnTo>
                    <a:pt x="1020" y="238"/>
                  </a:lnTo>
                  <a:lnTo>
                    <a:pt x="1019" y="241"/>
                  </a:lnTo>
                  <a:lnTo>
                    <a:pt x="1019" y="242"/>
                  </a:lnTo>
                  <a:lnTo>
                    <a:pt x="1019" y="244"/>
                  </a:lnTo>
                  <a:lnTo>
                    <a:pt x="1019" y="245"/>
                  </a:lnTo>
                  <a:lnTo>
                    <a:pt x="1020" y="246"/>
                  </a:lnTo>
                  <a:lnTo>
                    <a:pt x="1021" y="246"/>
                  </a:lnTo>
                  <a:lnTo>
                    <a:pt x="1021" y="245"/>
                  </a:lnTo>
                  <a:lnTo>
                    <a:pt x="1021" y="246"/>
                  </a:lnTo>
                  <a:lnTo>
                    <a:pt x="1021" y="254"/>
                  </a:lnTo>
                  <a:lnTo>
                    <a:pt x="1023" y="264"/>
                  </a:lnTo>
                  <a:lnTo>
                    <a:pt x="1028" y="269"/>
                  </a:lnTo>
                  <a:lnTo>
                    <a:pt x="1035" y="272"/>
                  </a:lnTo>
                  <a:lnTo>
                    <a:pt x="1041" y="273"/>
                  </a:lnTo>
                  <a:lnTo>
                    <a:pt x="1044" y="274"/>
                  </a:lnTo>
                  <a:lnTo>
                    <a:pt x="1047" y="276"/>
                  </a:lnTo>
                  <a:lnTo>
                    <a:pt x="1048" y="281"/>
                  </a:lnTo>
                  <a:lnTo>
                    <a:pt x="1048" y="284"/>
                  </a:lnTo>
                  <a:lnTo>
                    <a:pt x="1044" y="287"/>
                  </a:lnTo>
                  <a:lnTo>
                    <a:pt x="1038" y="292"/>
                  </a:lnTo>
                  <a:lnTo>
                    <a:pt x="1031" y="297"/>
                  </a:lnTo>
                  <a:lnTo>
                    <a:pt x="1026" y="300"/>
                  </a:lnTo>
                  <a:lnTo>
                    <a:pt x="1021" y="304"/>
                  </a:lnTo>
                  <a:lnTo>
                    <a:pt x="1016" y="307"/>
                  </a:lnTo>
                  <a:lnTo>
                    <a:pt x="1012" y="311"/>
                  </a:lnTo>
                  <a:lnTo>
                    <a:pt x="1011" y="314"/>
                  </a:lnTo>
                  <a:lnTo>
                    <a:pt x="1011" y="318"/>
                  </a:lnTo>
                  <a:lnTo>
                    <a:pt x="1009" y="322"/>
                  </a:lnTo>
                  <a:lnTo>
                    <a:pt x="1005" y="327"/>
                  </a:lnTo>
                  <a:lnTo>
                    <a:pt x="1002" y="332"/>
                  </a:lnTo>
                  <a:lnTo>
                    <a:pt x="997" y="335"/>
                  </a:lnTo>
                  <a:lnTo>
                    <a:pt x="988" y="340"/>
                  </a:lnTo>
                  <a:lnTo>
                    <a:pt x="977" y="348"/>
                  </a:lnTo>
                  <a:lnTo>
                    <a:pt x="963" y="355"/>
                  </a:lnTo>
                  <a:lnTo>
                    <a:pt x="949" y="363"/>
                  </a:lnTo>
                  <a:lnTo>
                    <a:pt x="937" y="368"/>
                  </a:lnTo>
                  <a:lnTo>
                    <a:pt x="928" y="373"/>
                  </a:lnTo>
                  <a:lnTo>
                    <a:pt x="924" y="375"/>
                  </a:lnTo>
                  <a:lnTo>
                    <a:pt x="918" y="375"/>
                  </a:lnTo>
                  <a:lnTo>
                    <a:pt x="912" y="374"/>
                  </a:lnTo>
                  <a:lnTo>
                    <a:pt x="905" y="374"/>
                  </a:lnTo>
                  <a:lnTo>
                    <a:pt x="899" y="375"/>
                  </a:lnTo>
                  <a:lnTo>
                    <a:pt x="896" y="379"/>
                  </a:lnTo>
                  <a:lnTo>
                    <a:pt x="894" y="385"/>
                  </a:lnTo>
                  <a:lnTo>
                    <a:pt x="890" y="390"/>
                  </a:lnTo>
                  <a:lnTo>
                    <a:pt x="887" y="397"/>
                  </a:lnTo>
                  <a:lnTo>
                    <a:pt x="882" y="401"/>
                  </a:lnTo>
                  <a:lnTo>
                    <a:pt x="879" y="401"/>
                  </a:lnTo>
                  <a:lnTo>
                    <a:pt x="875" y="398"/>
                  </a:lnTo>
                  <a:lnTo>
                    <a:pt x="873" y="396"/>
                  </a:lnTo>
                  <a:lnTo>
                    <a:pt x="869" y="390"/>
                  </a:lnTo>
                  <a:lnTo>
                    <a:pt x="863" y="378"/>
                  </a:lnTo>
                  <a:lnTo>
                    <a:pt x="856" y="365"/>
                  </a:lnTo>
                  <a:lnTo>
                    <a:pt x="849" y="357"/>
                  </a:lnTo>
                  <a:lnTo>
                    <a:pt x="842" y="353"/>
                  </a:lnTo>
                  <a:lnTo>
                    <a:pt x="834" y="353"/>
                  </a:lnTo>
                  <a:lnTo>
                    <a:pt x="825" y="353"/>
                  </a:lnTo>
                  <a:lnTo>
                    <a:pt x="819" y="355"/>
                  </a:lnTo>
                  <a:lnTo>
                    <a:pt x="814" y="353"/>
                  </a:lnTo>
                  <a:lnTo>
                    <a:pt x="811" y="350"/>
                  </a:lnTo>
                  <a:lnTo>
                    <a:pt x="807" y="345"/>
                  </a:lnTo>
                  <a:lnTo>
                    <a:pt x="805" y="342"/>
                  </a:lnTo>
                  <a:lnTo>
                    <a:pt x="800" y="340"/>
                  </a:lnTo>
                  <a:lnTo>
                    <a:pt x="793" y="340"/>
                  </a:lnTo>
                  <a:lnTo>
                    <a:pt x="787" y="341"/>
                  </a:lnTo>
                  <a:lnTo>
                    <a:pt x="782" y="341"/>
                  </a:lnTo>
                  <a:lnTo>
                    <a:pt x="780" y="336"/>
                  </a:lnTo>
                  <a:lnTo>
                    <a:pt x="774" y="330"/>
                  </a:lnTo>
                  <a:lnTo>
                    <a:pt x="768" y="325"/>
                  </a:lnTo>
                  <a:lnTo>
                    <a:pt x="763" y="320"/>
                  </a:lnTo>
                  <a:lnTo>
                    <a:pt x="767" y="313"/>
                  </a:lnTo>
                  <a:lnTo>
                    <a:pt x="770" y="302"/>
                  </a:lnTo>
                  <a:lnTo>
                    <a:pt x="773" y="289"/>
                  </a:lnTo>
                  <a:lnTo>
                    <a:pt x="774" y="279"/>
                  </a:lnTo>
                  <a:lnTo>
                    <a:pt x="774" y="266"/>
                  </a:lnTo>
                  <a:lnTo>
                    <a:pt x="770" y="256"/>
                  </a:lnTo>
                  <a:lnTo>
                    <a:pt x="765" y="246"/>
                  </a:lnTo>
                  <a:lnTo>
                    <a:pt x="759" y="237"/>
                  </a:lnTo>
                  <a:lnTo>
                    <a:pt x="752" y="229"/>
                  </a:lnTo>
                  <a:lnTo>
                    <a:pt x="746" y="221"/>
                  </a:lnTo>
                  <a:lnTo>
                    <a:pt x="744" y="213"/>
                  </a:lnTo>
                  <a:lnTo>
                    <a:pt x="744" y="205"/>
                  </a:lnTo>
                  <a:lnTo>
                    <a:pt x="746" y="201"/>
                  </a:lnTo>
                  <a:lnTo>
                    <a:pt x="750" y="198"/>
                  </a:lnTo>
                  <a:lnTo>
                    <a:pt x="752" y="193"/>
                  </a:lnTo>
                  <a:lnTo>
                    <a:pt x="754" y="185"/>
                  </a:lnTo>
                  <a:lnTo>
                    <a:pt x="754" y="177"/>
                  </a:lnTo>
                  <a:lnTo>
                    <a:pt x="752" y="172"/>
                  </a:lnTo>
                  <a:lnTo>
                    <a:pt x="747" y="166"/>
                  </a:lnTo>
                  <a:lnTo>
                    <a:pt x="742" y="160"/>
                  </a:lnTo>
                  <a:lnTo>
                    <a:pt x="738" y="159"/>
                  </a:lnTo>
                  <a:lnTo>
                    <a:pt x="735" y="155"/>
                  </a:lnTo>
                  <a:lnTo>
                    <a:pt x="734" y="150"/>
                  </a:lnTo>
                  <a:lnTo>
                    <a:pt x="737" y="142"/>
                  </a:lnTo>
                  <a:lnTo>
                    <a:pt x="743" y="124"/>
                  </a:lnTo>
                  <a:lnTo>
                    <a:pt x="740" y="105"/>
                  </a:lnTo>
                  <a:lnTo>
                    <a:pt x="735" y="87"/>
                  </a:lnTo>
                  <a:lnTo>
                    <a:pt x="730" y="77"/>
                  </a:lnTo>
                  <a:lnTo>
                    <a:pt x="727" y="72"/>
                  </a:lnTo>
                  <a:lnTo>
                    <a:pt x="722" y="70"/>
                  </a:lnTo>
                  <a:lnTo>
                    <a:pt x="716" y="68"/>
                  </a:lnTo>
                  <a:lnTo>
                    <a:pt x="712" y="67"/>
                  </a:lnTo>
                  <a:lnTo>
                    <a:pt x="711" y="64"/>
                  </a:lnTo>
                  <a:lnTo>
                    <a:pt x="708" y="61"/>
                  </a:lnTo>
                  <a:lnTo>
                    <a:pt x="704" y="56"/>
                  </a:lnTo>
                  <a:lnTo>
                    <a:pt x="698" y="52"/>
                  </a:lnTo>
                  <a:lnTo>
                    <a:pt x="691" y="46"/>
                  </a:lnTo>
                  <a:lnTo>
                    <a:pt x="683" y="41"/>
                  </a:lnTo>
                  <a:lnTo>
                    <a:pt x="673" y="39"/>
                  </a:lnTo>
                  <a:lnTo>
                    <a:pt x="661" y="37"/>
                  </a:lnTo>
                  <a:lnTo>
                    <a:pt x="649" y="38"/>
                  </a:lnTo>
                  <a:lnTo>
                    <a:pt x="637" y="41"/>
                  </a:lnTo>
                  <a:lnTo>
                    <a:pt x="626" y="46"/>
                  </a:lnTo>
                  <a:lnTo>
                    <a:pt x="615" y="54"/>
                  </a:lnTo>
                  <a:lnTo>
                    <a:pt x="606" y="62"/>
                  </a:lnTo>
                  <a:lnTo>
                    <a:pt x="595" y="72"/>
                  </a:lnTo>
                  <a:lnTo>
                    <a:pt x="587" y="82"/>
                  </a:lnTo>
                  <a:lnTo>
                    <a:pt x="579" y="91"/>
                  </a:lnTo>
                  <a:lnTo>
                    <a:pt x="569" y="108"/>
                  </a:lnTo>
                  <a:lnTo>
                    <a:pt x="568" y="124"/>
                  </a:lnTo>
                  <a:lnTo>
                    <a:pt x="569" y="137"/>
                  </a:lnTo>
                  <a:lnTo>
                    <a:pt x="572" y="142"/>
                  </a:lnTo>
                  <a:lnTo>
                    <a:pt x="573" y="144"/>
                  </a:lnTo>
                  <a:lnTo>
                    <a:pt x="575" y="147"/>
                  </a:lnTo>
                  <a:lnTo>
                    <a:pt x="572" y="152"/>
                  </a:lnTo>
                  <a:lnTo>
                    <a:pt x="569" y="154"/>
                  </a:lnTo>
                  <a:lnTo>
                    <a:pt x="561" y="160"/>
                  </a:lnTo>
                  <a:lnTo>
                    <a:pt x="554" y="172"/>
                  </a:lnTo>
                  <a:lnTo>
                    <a:pt x="549" y="184"/>
                  </a:lnTo>
                  <a:lnTo>
                    <a:pt x="550" y="197"/>
                  </a:lnTo>
                  <a:lnTo>
                    <a:pt x="554" y="211"/>
                  </a:lnTo>
                  <a:lnTo>
                    <a:pt x="555" y="227"/>
                  </a:lnTo>
                  <a:lnTo>
                    <a:pt x="550" y="248"/>
                  </a:lnTo>
                  <a:lnTo>
                    <a:pt x="541" y="272"/>
                  </a:lnTo>
                  <a:lnTo>
                    <a:pt x="538" y="284"/>
                  </a:lnTo>
                  <a:lnTo>
                    <a:pt x="538" y="294"/>
                  </a:lnTo>
                  <a:lnTo>
                    <a:pt x="540" y="302"/>
                  </a:lnTo>
                  <a:lnTo>
                    <a:pt x="545" y="307"/>
                  </a:lnTo>
                  <a:lnTo>
                    <a:pt x="550" y="313"/>
                  </a:lnTo>
                  <a:lnTo>
                    <a:pt x="555" y="317"/>
                  </a:lnTo>
                  <a:lnTo>
                    <a:pt x="559" y="319"/>
                  </a:lnTo>
                  <a:lnTo>
                    <a:pt x="561" y="320"/>
                  </a:lnTo>
                  <a:lnTo>
                    <a:pt x="559" y="321"/>
                  </a:lnTo>
                  <a:lnTo>
                    <a:pt x="554" y="321"/>
                  </a:lnTo>
                  <a:lnTo>
                    <a:pt x="547" y="321"/>
                  </a:lnTo>
                  <a:lnTo>
                    <a:pt x="542" y="321"/>
                  </a:lnTo>
                  <a:lnTo>
                    <a:pt x="544" y="325"/>
                  </a:lnTo>
                  <a:lnTo>
                    <a:pt x="545" y="329"/>
                  </a:lnTo>
                  <a:lnTo>
                    <a:pt x="544" y="333"/>
                  </a:lnTo>
                  <a:lnTo>
                    <a:pt x="542" y="335"/>
                  </a:lnTo>
                  <a:lnTo>
                    <a:pt x="540" y="336"/>
                  </a:lnTo>
                  <a:lnTo>
                    <a:pt x="534" y="340"/>
                  </a:lnTo>
                  <a:lnTo>
                    <a:pt x="527" y="344"/>
                  </a:lnTo>
                  <a:lnTo>
                    <a:pt x="519" y="348"/>
                  </a:lnTo>
                  <a:lnTo>
                    <a:pt x="511" y="352"/>
                  </a:lnTo>
                  <a:lnTo>
                    <a:pt x="504" y="357"/>
                  </a:lnTo>
                  <a:lnTo>
                    <a:pt x="497" y="360"/>
                  </a:lnTo>
                  <a:lnTo>
                    <a:pt x="494" y="362"/>
                  </a:lnTo>
                  <a:lnTo>
                    <a:pt x="491" y="363"/>
                  </a:lnTo>
                  <a:lnTo>
                    <a:pt x="484" y="363"/>
                  </a:lnTo>
                  <a:lnTo>
                    <a:pt x="477" y="363"/>
                  </a:lnTo>
                  <a:lnTo>
                    <a:pt x="469" y="363"/>
                  </a:lnTo>
                  <a:lnTo>
                    <a:pt x="461" y="363"/>
                  </a:lnTo>
                  <a:lnTo>
                    <a:pt x="454" y="363"/>
                  </a:lnTo>
                  <a:lnTo>
                    <a:pt x="448" y="363"/>
                  </a:lnTo>
                  <a:lnTo>
                    <a:pt x="446" y="363"/>
                  </a:lnTo>
                  <a:lnTo>
                    <a:pt x="441" y="359"/>
                  </a:lnTo>
                  <a:lnTo>
                    <a:pt x="435" y="353"/>
                  </a:lnTo>
                  <a:lnTo>
                    <a:pt x="427" y="345"/>
                  </a:lnTo>
                  <a:lnTo>
                    <a:pt x="420" y="337"/>
                  </a:lnTo>
                  <a:lnTo>
                    <a:pt x="415" y="333"/>
                  </a:lnTo>
                  <a:lnTo>
                    <a:pt x="409" y="329"/>
                  </a:lnTo>
                  <a:lnTo>
                    <a:pt x="401" y="327"/>
                  </a:lnTo>
                  <a:lnTo>
                    <a:pt x="388" y="325"/>
                  </a:lnTo>
                  <a:lnTo>
                    <a:pt x="379" y="322"/>
                  </a:lnTo>
                  <a:lnTo>
                    <a:pt x="367" y="318"/>
                  </a:lnTo>
                  <a:lnTo>
                    <a:pt x="355" y="312"/>
                  </a:lnTo>
                  <a:lnTo>
                    <a:pt x="341" y="306"/>
                  </a:lnTo>
                  <a:lnTo>
                    <a:pt x="328" y="299"/>
                  </a:lnTo>
                  <a:lnTo>
                    <a:pt x="318" y="294"/>
                  </a:lnTo>
                  <a:lnTo>
                    <a:pt x="310" y="290"/>
                  </a:lnTo>
                  <a:lnTo>
                    <a:pt x="306" y="288"/>
                  </a:lnTo>
                  <a:lnTo>
                    <a:pt x="306" y="284"/>
                  </a:lnTo>
                  <a:lnTo>
                    <a:pt x="307" y="280"/>
                  </a:lnTo>
                  <a:lnTo>
                    <a:pt x="310" y="275"/>
                  </a:lnTo>
                  <a:lnTo>
                    <a:pt x="312" y="272"/>
                  </a:lnTo>
                  <a:lnTo>
                    <a:pt x="314" y="271"/>
                  </a:lnTo>
                  <a:lnTo>
                    <a:pt x="319" y="268"/>
                  </a:lnTo>
                  <a:lnTo>
                    <a:pt x="325" y="265"/>
                  </a:lnTo>
                  <a:lnTo>
                    <a:pt x="332" y="261"/>
                  </a:lnTo>
                  <a:lnTo>
                    <a:pt x="339" y="258"/>
                  </a:lnTo>
                  <a:lnTo>
                    <a:pt x="345" y="256"/>
                  </a:lnTo>
                  <a:lnTo>
                    <a:pt x="350" y="253"/>
                  </a:lnTo>
                  <a:lnTo>
                    <a:pt x="352" y="251"/>
                  </a:lnTo>
                  <a:lnTo>
                    <a:pt x="351" y="25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dirty="0"/>
            </a:p>
          </p:txBody>
        </p:sp>
        <p:grpSp>
          <p:nvGrpSpPr>
            <p:cNvPr id="30" name="Группа 29"/>
            <p:cNvGrpSpPr/>
            <p:nvPr/>
          </p:nvGrpSpPr>
          <p:grpSpPr>
            <a:xfrm>
              <a:off x="2936875" y="2035175"/>
              <a:ext cx="4292600" cy="3422650"/>
              <a:chOff x="2936875" y="2035175"/>
              <a:chExt cx="4292600" cy="3422650"/>
            </a:xfrm>
          </p:grpSpPr>
          <p:sp>
            <p:nvSpPr>
              <p:cNvPr id="361" name="Line 186"/>
              <p:cNvSpPr>
                <a:spLocks noChangeShapeType="1"/>
              </p:cNvSpPr>
              <p:nvPr/>
            </p:nvSpPr>
            <p:spPr bwMode="auto">
              <a:xfrm>
                <a:off x="5182235" y="2035175"/>
                <a:ext cx="198120" cy="1140883"/>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2" name="Line 187"/>
              <p:cNvSpPr>
                <a:spLocks noChangeShapeType="1"/>
              </p:cNvSpPr>
              <p:nvPr/>
            </p:nvSpPr>
            <p:spPr bwMode="auto">
              <a:xfrm flipH="1" flipV="1">
                <a:off x="3002915" y="2605617"/>
                <a:ext cx="2047241" cy="823971"/>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3" name="Line 188"/>
              <p:cNvSpPr>
                <a:spLocks noChangeShapeType="1"/>
              </p:cNvSpPr>
              <p:nvPr/>
            </p:nvSpPr>
            <p:spPr bwMode="auto">
              <a:xfrm>
                <a:off x="5908675" y="4063412"/>
                <a:ext cx="1320800" cy="507059"/>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4" name="Line 189"/>
              <p:cNvSpPr>
                <a:spLocks noChangeShapeType="1"/>
              </p:cNvSpPr>
              <p:nvPr/>
            </p:nvSpPr>
            <p:spPr bwMode="auto">
              <a:xfrm>
                <a:off x="5908675" y="4380324"/>
                <a:ext cx="726440" cy="697206"/>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5" name="Line 190"/>
              <p:cNvSpPr>
                <a:spLocks noChangeShapeType="1"/>
              </p:cNvSpPr>
              <p:nvPr/>
            </p:nvSpPr>
            <p:spPr bwMode="auto">
              <a:xfrm flipV="1">
                <a:off x="5776595" y="2415469"/>
                <a:ext cx="924560" cy="823971"/>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6" name="Line 191"/>
              <p:cNvSpPr>
                <a:spLocks noChangeShapeType="1"/>
              </p:cNvSpPr>
              <p:nvPr/>
            </p:nvSpPr>
            <p:spPr bwMode="auto">
              <a:xfrm flipH="1">
                <a:off x="2936875" y="3873265"/>
                <a:ext cx="2113280" cy="443677"/>
              </a:xfrm>
              <a:prstGeom prst="line">
                <a:avLst/>
              </a:prstGeom>
              <a:noFill/>
              <a:ln w="12700">
                <a:solidFill>
                  <a:srgbClr val="B2B2B2"/>
                </a:solidFill>
                <a:prstDash val="dash"/>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ru-RU" dirty="0"/>
              </a:p>
            </p:txBody>
          </p:sp>
          <p:sp>
            <p:nvSpPr>
              <p:cNvPr id="367" name="Line 192"/>
              <p:cNvSpPr>
                <a:spLocks noChangeShapeType="1"/>
              </p:cNvSpPr>
              <p:nvPr/>
            </p:nvSpPr>
            <p:spPr bwMode="auto">
              <a:xfrm flipH="1" flipV="1">
                <a:off x="3795395" y="2161940"/>
                <a:ext cx="1386840" cy="1014119"/>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8" name="Line 193"/>
              <p:cNvSpPr>
                <a:spLocks noChangeShapeType="1"/>
              </p:cNvSpPr>
              <p:nvPr/>
            </p:nvSpPr>
            <p:spPr bwMode="auto">
              <a:xfrm>
                <a:off x="5578475" y="4507089"/>
                <a:ext cx="330200" cy="823971"/>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69" name="Line 194"/>
              <p:cNvSpPr>
                <a:spLocks noChangeShapeType="1"/>
              </p:cNvSpPr>
              <p:nvPr/>
            </p:nvSpPr>
            <p:spPr bwMode="auto">
              <a:xfrm>
                <a:off x="5908675" y="3746500"/>
                <a:ext cx="726440" cy="63382"/>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70" name="Line 195"/>
              <p:cNvSpPr>
                <a:spLocks noChangeShapeType="1"/>
              </p:cNvSpPr>
              <p:nvPr/>
            </p:nvSpPr>
            <p:spPr bwMode="auto">
              <a:xfrm flipH="1">
                <a:off x="4257675" y="4507089"/>
                <a:ext cx="990600" cy="950736"/>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71" name="Line 196"/>
              <p:cNvSpPr>
                <a:spLocks noChangeShapeType="1"/>
              </p:cNvSpPr>
              <p:nvPr/>
            </p:nvSpPr>
            <p:spPr bwMode="auto">
              <a:xfrm flipH="1">
                <a:off x="3531235" y="4126794"/>
                <a:ext cx="1452880" cy="1014119"/>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72" name="Line 197"/>
              <p:cNvSpPr>
                <a:spLocks noChangeShapeType="1"/>
              </p:cNvSpPr>
              <p:nvPr/>
            </p:nvSpPr>
            <p:spPr bwMode="auto">
              <a:xfrm flipH="1" flipV="1">
                <a:off x="3663315" y="3176058"/>
                <a:ext cx="1452880" cy="633824"/>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sp>
            <p:nvSpPr>
              <p:cNvPr id="373" name="Line 198"/>
              <p:cNvSpPr>
                <a:spLocks noChangeShapeType="1"/>
              </p:cNvSpPr>
              <p:nvPr/>
            </p:nvSpPr>
            <p:spPr bwMode="auto">
              <a:xfrm flipV="1">
                <a:off x="5842635" y="3302823"/>
                <a:ext cx="528320" cy="126765"/>
              </a:xfrm>
              <a:prstGeom prst="line">
                <a:avLst/>
              </a:prstGeom>
              <a:noFill/>
              <a:ln w="12700">
                <a:solidFill>
                  <a:srgbClr val="B2B2B2"/>
                </a:solidFill>
                <a:prstDash val="dash"/>
                <a:round/>
                <a:headEnd type="arrow" w="med" len="med"/>
                <a:tailEnd type="arrow" w="med" len="med"/>
              </a:ln>
              <a:extLst/>
            </p:spPr>
            <p:txBody>
              <a:bodyPr wrap="none" anchor="ctr"/>
              <a:lstStyle/>
              <a:p>
                <a:endParaRPr lang="ru-RU" dirty="0">
                  <a:solidFill>
                    <a:srgbClr val="000000"/>
                  </a:solidFill>
                </a:endParaRPr>
              </a:p>
            </p:txBody>
          </p:sp>
        </p:grpSp>
        <p:grpSp>
          <p:nvGrpSpPr>
            <p:cNvPr id="31" name="Group 199"/>
            <p:cNvGrpSpPr>
              <a:grpSpLocks/>
            </p:cNvGrpSpPr>
            <p:nvPr/>
          </p:nvGrpSpPr>
          <p:grpSpPr bwMode="auto">
            <a:xfrm>
              <a:off x="4918075" y="1647825"/>
              <a:ext cx="279400" cy="334963"/>
              <a:chOff x="3827" y="480"/>
              <a:chExt cx="280" cy="350"/>
            </a:xfrm>
          </p:grpSpPr>
          <p:sp>
            <p:nvSpPr>
              <p:cNvPr id="337" name="Freeform 20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338" name="Freeform 20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339" name="Freeform 20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340" name="Rectangle 20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41" name="Rectangle 20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42" name="Rectangle 20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43" name="Rectangle 20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44" name="Rectangle 20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45" name="Freeform 20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346" name="Freeform 20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347" name="Freeform 21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348" name="Freeform 21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349" name="Line 21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50" name="Freeform 21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351" name="Line 21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52" name="Rectangle 21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53" name="Rectangle 21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54" name="Line 21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55" name="Rectangle 21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56" name="Line 21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57" name="Line 22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58" name="Line 22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59" name="Line 22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60" name="Freeform 22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2" name="Group 224"/>
            <p:cNvGrpSpPr>
              <a:grpSpLocks/>
            </p:cNvGrpSpPr>
            <p:nvPr/>
          </p:nvGrpSpPr>
          <p:grpSpPr bwMode="auto">
            <a:xfrm>
              <a:off x="2473325" y="2408238"/>
              <a:ext cx="279400" cy="334962"/>
              <a:chOff x="3827" y="480"/>
              <a:chExt cx="280" cy="350"/>
            </a:xfrm>
          </p:grpSpPr>
          <p:sp>
            <p:nvSpPr>
              <p:cNvPr id="313" name="Freeform 225"/>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314" name="Freeform 226"/>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315" name="Freeform 227"/>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316" name="Rectangle 228"/>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17" name="Rectangle 229"/>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18" name="Rectangle 230"/>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19" name="Rectangle 231"/>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20" name="Rectangle 232"/>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21" name="Freeform 233"/>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322" name="Freeform 234"/>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323" name="Freeform 235"/>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324" name="Freeform 236"/>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325" name="Line 237"/>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26" name="Freeform 238"/>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327" name="Line 239"/>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28" name="Rectangle 240"/>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29" name="Rectangle 241"/>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30" name="Line 242"/>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31" name="Rectangle 243"/>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32" name="Line 244"/>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33" name="Line 245"/>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34" name="Line 246"/>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35" name="Line 247"/>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36" name="Freeform 248"/>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3" name="Group 249"/>
            <p:cNvGrpSpPr>
              <a:grpSpLocks/>
            </p:cNvGrpSpPr>
            <p:nvPr/>
          </p:nvGrpSpPr>
          <p:grpSpPr bwMode="auto">
            <a:xfrm>
              <a:off x="7229475" y="4498975"/>
              <a:ext cx="279400" cy="336550"/>
              <a:chOff x="3827" y="480"/>
              <a:chExt cx="280" cy="350"/>
            </a:xfrm>
          </p:grpSpPr>
          <p:sp>
            <p:nvSpPr>
              <p:cNvPr id="289" name="Freeform 25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290" name="Freeform 25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291" name="Freeform 25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292" name="Rectangle 25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93" name="Rectangle 25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94" name="Rectangle 25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95" name="Rectangle 25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96" name="Rectangle 25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97" name="Freeform 25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298" name="Freeform 25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299" name="Freeform 26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300" name="Freeform 26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301" name="Line 26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02" name="Freeform 26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303" name="Line 26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04" name="Rectangle 26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05" name="Rectangle 26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06" name="Line 26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07" name="Rectangle 26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308" name="Line 26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09" name="Line 27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10" name="Line 27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11" name="Line 27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312" name="Freeform 27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4" name="Group 274"/>
            <p:cNvGrpSpPr>
              <a:grpSpLocks/>
            </p:cNvGrpSpPr>
            <p:nvPr/>
          </p:nvGrpSpPr>
          <p:grpSpPr bwMode="auto">
            <a:xfrm>
              <a:off x="6502400" y="5195888"/>
              <a:ext cx="279400" cy="336550"/>
              <a:chOff x="3827" y="480"/>
              <a:chExt cx="280" cy="350"/>
            </a:xfrm>
          </p:grpSpPr>
          <p:sp>
            <p:nvSpPr>
              <p:cNvPr id="265" name="Freeform 275"/>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266" name="Freeform 276"/>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267" name="Freeform 277"/>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268" name="Rectangle 278"/>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69" name="Rectangle 279"/>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70" name="Rectangle 280"/>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71" name="Rectangle 281"/>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72" name="Rectangle 282"/>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73" name="Freeform 283"/>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274" name="Freeform 284"/>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275" name="Freeform 285"/>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276" name="Freeform 286"/>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277" name="Line 287"/>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78" name="Freeform 288"/>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279" name="Line 289"/>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80" name="Rectangle 290"/>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81" name="Rectangle 291"/>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82" name="Line 292"/>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83" name="Rectangle 293"/>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84" name="Line 294"/>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85" name="Line 295"/>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86" name="Line 296"/>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87" name="Line 297"/>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88" name="Freeform 298"/>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5" name="Group 299"/>
            <p:cNvGrpSpPr>
              <a:grpSpLocks/>
            </p:cNvGrpSpPr>
            <p:nvPr/>
          </p:nvGrpSpPr>
          <p:grpSpPr bwMode="auto">
            <a:xfrm>
              <a:off x="6437313" y="2028825"/>
              <a:ext cx="279400" cy="333375"/>
              <a:chOff x="3827" y="480"/>
              <a:chExt cx="280" cy="350"/>
            </a:xfrm>
          </p:grpSpPr>
          <p:sp>
            <p:nvSpPr>
              <p:cNvPr id="241" name="Freeform 30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242" name="Freeform 30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243" name="Freeform 30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244" name="Rectangle 30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45" name="Rectangle 30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46" name="Rectangle 30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47" name="Rectangle 30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48" name="Rectangle 30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49" name="Freeform 30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250" name="Freeform 30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251" name="Freeform 31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252" name="Freeform 31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253" name="Line 31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54" name="Freeform 31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255" name="Line 31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56" name="Rectangle 31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57" name="Rectangle 31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58" name="Line 31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59" name="Rectangle 31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60" name="Line 31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61" name="Line 32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62" name="Line 32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63" name="Line 32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64" name="Freeform 32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6" name="Group 324"/>
            <p:cNvGrpSpPr>
              <a:grpSpLocks/>
            </p:cNvGrpSpPr>
            <p:nvPr/>
          </p:nvGrpSpPr>
          <p:grpSpPr bwMode="auto">
            <a:xfrm>
              <a:off x="2473325" y="4181475"/>
              <a:ext cx="279400" cy="336550"/>
              <a:chOff x="3827" y="480"/>
              <a:chExt cx="280" cy="350"/>
            </a:xfrm>
          </p:grpSpPr>
          <p:sp>
            <p:nvSpPr>
              <p:cNvPr id="217" name="Freeform 325"/>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218" name="Freeform 326"/>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219" name="Freeform 327"/>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220" name="Rectangle 328"/>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21" name="Rectangle 329"/>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22" name="Rectangle 330"/>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23" name="Rectangle 331"/>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24" name="Rectangle 332"/>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25" name="Freeform 333"/>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226" name="Freeform 334"/>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227" name="Freeform 335"/>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228" name="Freeform 336"/>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229" name="Line 337"/>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30" name="Freeform 338"/>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231" name="Line 339"/>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32" name="Rectangle 340"/>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33" name="Rectangle 341"/>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34" name="Line 342"/>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35" name="Rectangle 343"/>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36" name="Line 344"/>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37" name="Line 345"/>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38" name="Line 346"/>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39" name="Line 347"/>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40" name="Freeform 348"/>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7" name="Group 349"/>
            <p:cNvGrpSpPr>
              <a:grpSpLocks/>
            </p:cNvGrpSpPr>
            <p:nvPr/>
          </p:nvGrpSpPr>
          <p:grpSpPr bwMode="auto">
            <a:xfrm>
              <a:off x="3398838" y="1836738"/>
              <a:ext cx="277812" cy="336550"/>
              <a:chOff x="3827" y="480"/>
              <a:chExt cx="280" cy="350"/>
            </a:xfrm>
          </p:grpSpPr>
          <p:sp>
            <p:nvSpPr>
              <p:cNvPr id="193" name="Freeform 35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194" name="Freeform 35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195" name="Freeform 35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196" name="Rectangle 35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97" name="Rectangle 35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98" name="Rectangle 35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99" name="Rectangle 35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00" name="Rectangle 35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01" name="Freeform 35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202" name="Freeform 35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203" name="Freeform 36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204" name="Freeform 36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205" name="Line 36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06" name="Freeform 36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207" name="Line 36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08" name="Rectangle 36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09" name="Rectangle 36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10" name="Line 36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11" name="Rectangle 36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212" name="Line 36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13" name="Line 37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14" name="Line 37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15" name="Line 37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216" name="Freeform 37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8" name="Group 374"/>
            <p:cNvGrpSpPr>
              <a:grpSpLocks/>
            </p:cNvGrpSpPr>
            <p:nvPr/>
          </p:nvGrpSpPr>
          <p:grpSpPr bwMode="auto">
            <a:xfrm>
              <a:off x="5643563" y="5449888"/>
              <a:ext cx="279400" cy="334962"/>
              <a:chOff x="3827" y="480"/>
              <a:chExt cx="280" cy="350"/>
            </a:xfrm>
          </p:grpSpPr>
          <p:sp>
            <p:nvSpPr>
              <p:cNvPr id="169" name="Freeform 375"/>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170" name="Freeform 376"/>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171" name="Freeform 377"/>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172" name="Rectangle 378"/>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73" name="Rectangle 379"/>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74" name="Rectangle 380"/>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75" name="Rectangle 381"/>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76" name="Rectangle 382"/>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77" name="Freeform 383"/>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178" name="Freeform 384"/>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179" name="Freeform 385"/>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180" name="Freeform 386"/>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181" name="Line 387"/>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82" name="Freeform 388"/>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183" name="Line 389"/>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84" name="Rectangle 390"/>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85" name="Rectangle 391"/>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86" name="Line 392"/>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87" name="Rectangle 393"/>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88" name="Line 394"/>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89" name="Line 395"/>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90" name="Line 396"/>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91" name="Line 397"/>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92" name="Freeform 398"/>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39" name="Group 399"/>
            <p:cNvGrpSpPr>
              <a:grpSpLocks/>
            </p:cNvGrpSpPr>
            <p:nvPr/>
          </p:nvGrpSpPr>
          <p:grpSpPr bwMode="auto">
            <a:xfrm>
              <a:off x="6700838" y="3738563"/>
              <a:ext cx="279400" cy="336550"/>
              <a:chOff x="3827" y="480"/>
              <a:chExt cx="280" cy="350"/>
            </a:xfrm>
          </p:grpSpPr>
          <p:sp>
            <p:nvSpPr>
              <p:cNvPr id="145" name="Freeform 40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146" name="Freeform 40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147" name="Freeform 40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148" name="Rectangle 40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49" name="Rectangle 40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50" name="Rectangle 40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51" name="Rectangle 40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52" name="Rectangle 40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53" name="Freeform 40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154" name="Freeform 40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155" name="Freeform 41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156" name="Freeform 41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157" name="Line 41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58" name="Freeform 41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159" name="Line 41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60" name="Rectangle 41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61" name="Rectangle 41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62" name="Line 41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63" name="Rectangle 41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64" name="Line 41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65" name="Line 42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66" name="Line 42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67" name="Line 42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68" name="Freeform 42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40" name="Group 424"/>
            <p:cNvGrpSpPr>
              <a:grpSpLocks/>
            </p:cNvGrpSpPr>
            <p:nvPr/>
          </p:nvGrpSpPr>
          <p:grpSpPr bwMode="auto">
            <a:xfrm>
              <a:off x="3860800" y="5449888"/>
              <a:ext cx="279400" cy="334962"/>
              <a:chOff x="3827" y="480"/>
              <a:chExt cx="280" cy="350"/>
            </a:xfrm>
          </p:grpSpPr>
          <p:sp>
            <p:nvSpPr>
              <p:cNvPr id="121" name="Freeform 425"/>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122" name="Freeform 426"/>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123" name="Freeform 427"/>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124" name="Rectangle 428"/>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25" name="Rectangle 429"/>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26" name="Rectangle 430"/>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27" name="Rectangle 431"/>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28" name="Rectangle 432"/>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29" name="Freeform 433"/>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130" name="Freeform 434"/>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131" name="Freeform 435"/>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132" name="Freeform 436"/>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133" name="Line 437"/>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34" name="Freeform 438"/>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135" name="Line 439"/>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36" name="Rectangle 440"/>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37" name="Rectangle 441"/>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38" name="Line 442"/>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39" name="Rectangle 443"/>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40" name="Line 444"/>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41" name="Line 445"/>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42" name="Line 446"/>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43" name="Line 447"/>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44" name="Freeform 448"/>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41" name="Group 449"/>
            <p:cNvGrpSpPr>
              <a:grpSpLocks/>
            </p:cNvGrpSpPr>
            <p:nvPr/>
          </p:nvGrpSpPr>
          <p:grpSpPr bwMode="auto">
            <a:xfrm>
              <a:off x="3133725" y="5133975"/>
              <a:ext cx="279400" cy="333375"/>
              <a:chOff x="3827" y="480"/>
              <a:chExt cx="280" cy="350"/>
            </a:xfrm>
          </p:grpSpPr>
          <p:sp>
            <p:nvSpPr>
              <p:cNvPr id="97" name="Freeform 45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98" name="Freeform 45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99" name="Freeform 45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100" name="Rectangle 45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01" name="Rectangle 45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02" name="Rectangle 45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03" name="Rectangle 45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04" name="Rectangle 45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05" name="Freeform 45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106" name="Freeform 45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107" name="Freeform 46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108" name="Freeform 46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109" name="Line 46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10" name="Freeform 46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111" name="Line 46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12" name="Rectangle 46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13" name="Rectangle 46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14" name="Line 46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15" name="Rectangle 46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116" name="Line 46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17" name="Line 47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18" name="Line 47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19" name="Line 47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120" name="Freeform 47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42" name="Group 474"/>
            <p:cNvGrpSpPr>
              <a:grpSpLocks/>
            </p:cNvGrpSpPr>
            <p:nvPr/>
          </p:nvGrpSpPr>
          <p:grpSpPr bwMode="auto">
            <a:xfrm>
              <a:off x="3133725" y="2978150"/>
              <a:ext cx="279400" cy="334963"/>
              <a:chOff x="3827" y="480"/>
              <a:chExt cx="280" cy="350"/>
            </a:xfrm>
          </p:grpSpPr>
          <p:sp>
            <p:nvSpPr>
              <p:cNvPr id="73" name="Freeform 475"/>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74" name="Freeform 476"/>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75" name="Freeform 477"/>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76" name="Rectangle 478"/>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77" name="Rectangle 479"/>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78" name="Rectangle 480"/>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79" name="Rectangle 481"/>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80" name="Rectangle 482"/>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81" name="Freeform 483"/>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82" name="Freeform 484"/>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83" name="Freeform 485"/>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84" name="Freeform 486"/>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85" name="Line 487"/>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86" name="Freeform 488"/>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87" name="Line 489"/>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88" name="Rectangle 490"/>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89" name="Rectangle 491"/>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90" name="Line 492"/>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91" name="Rectangle 493"/>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92" name="Line 494"/>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93" name="Line 495"/>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94" name="Line 496"/>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95" name="Line 497"/>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96" name="Freeform 498"/>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grpSp>
          <p:nvGrpSpPr>
            <p:cNvPr id="43" name="Group 499"/>
            <p:cNvGrpSpPr>
              <a:grpSpLocks/>
            </p:cNvGrpSpPr>
            <p:nvPr/>
          </p:nvGrpSpPr>
          <p:grpSpPr bwMode="auto">
            <a:xfrm>
              <a:off x="6370638" y="2978150"/>
              <a:ext cx="279400" cy="334963"/>
              <a:chOff x="3827" y="480"/>
              <a:chExt cx="280" cy="350"/>
            </a:xfrm>
          </p:grpSpPr>
          <p:sp>
            <p:nvSpPr>
              <p:cNvPr id="49" name="Freeform 500"/>
              <p:cNvSpPr>
                <a:spLocks noEditPoints="1"/>
              </p:cNvSpPr>
              <p:nvPr/>
            </p:nvSpPr>
            <p:spPr bwMode="auto">
              <a:xfrm>
                <a:off x="3827" y="480"/>
                <a:ext cx="280" cy="350"/>
              </a:xfrm>
              <a:custGeom>
                <a:avLst/>
                <a:gdLst>
                  <a:gd name="T0" fmla="*/ 256 w 280"/>
                  <a:gd name="T1" fmla="*/ 201 h 350"/>
                  <a:gd name="T2" fmla="*/ 256 w 280"/>
                  <a:gd name="T3" fmla="*/ 0 h 350"/>
                  <a:gd name="T4" fmla="*/ 23 w 280"/>
                  <a:gd name="T5" fmla="*/ 0 h 350"/>
                  <a:gd name="T6" fmla="*/ 23 w 280"/>
                  <a:gd name="T7" fmla="*/ 201 h 350"/>
                  <a:gd name="T8" fmla="*/ 256 w 280"/>
                  <a:gd name="T9" fmla="*/ 201 h 350"/>
                  <a:gd name="T10" fmla="*/ 217 w 280"/>
                  <a:gd name="T11" fmla="*/ 235 h 350"/>
                  <a:gd name="T12" fmla="*/ 180 w 280"/>
                  <a:gd name="T13" fmla="*/ 224 h 350"/>
                  <a:gd name="T14" fmla="*/ 180 w 280"/>
                  <a:gd name="T15" fmla="*/ 201 h 350"/>
                  <a:gd name="T16" fmla="*/ 100 w 280"/>
                  <a:gd name="T17" fmla="*/ 201 h 350"/>
                  <a:gd name="T18" fmla="*/ 100 w 280"/>
                  <a:gd name="T19" fmla="*/ 224 h 350"/>
                  <a:gd name="T20" fmla="*/ 62 w 280"/>
                  <a:gd name="T21" fmla="*/ 235 h 350"/>
                  <a:gd name="T22" fmla="*/ 217 w 280"/>
                  <a:gd name="T23" fmla="*/ 235 h 350"/>
                  <a:gd name="T24" fmla="*/ 256 w 280"/>
                  <a:gd name="T25" fmla="*/ 304 h 350"/>
                  <a:gd name="T26" fmla="*/ 256 w 280"/>
                  <a:gd name="T27" fmla="*/ 235 h 350"/>
                  <a:gd name="T28" fmla="*/ 23 w 280"/>
                  <a:gd name="T29" fmla="*/ 235 h 350"/>
                  <a:gd name="T30" fmla="*/ 23 w 280"/>
                  <a:gd name="T31" fmla="*/ 304 h 350"/>
                  <a:gd name="T32" fmla="*/ 256 w 280"/>
                  <a:gd name="T33" fmla="*/ 304 h 350"/>
                  <a:gd name="T34" fmla="*/ 13 w 280"/>
                  <a:gd name="T35" fmla="*/ 304 h 350"/>
                  <a:gd name="T36" fmla="*/ 7 w 280"/>
                  <a:gd name="T37" fmla="*/ 315 h 350"/>
                  <a:gd name="T38" fmla="*/ 2 w 280"/>
                  <a:gd name="T39" fmla="*/ 328 h 350"/>
                  <a:gd name="T40" fmla="*/ 0 w 280"/>
                  <a:gd name="T41" fmla="*/ 342 h 350"/>
                  <a:gd name="T42" fmla="*/ 0 w 280"/>
                  <a:gd name="T43" fmla="*/ 347 h 350"/>
                  <a:gd name="T44" fmla="*/ 93 w 280"/>
                  <a:gd name="T45" fmla="*/ 350 h 350"/>
                  <a:gd name="T46" fmla="*/ 187 w 280"/>
                  <a:gd name="T47" fmla="*/ 350 h 350"/>
                  <a:gd name="T48" fmla="*/ 280 w 280"/>
                  <a:gd name="T49" fmla="*/ 347 h 350"/>
                  <a:gd name="T50" fmla="*/ 280 w 280"/>
                  <a:gd name="T51" fmla="*/ 342 h 350"/>
                  <a:gd name="T52" fmla="*/ 278 w 280"/>
                  <a:gd name="T53" fmla="*/ 328 h 350"/>
                  <a:gd name="T54" fmla="*/ 273 w 280"/>
                  <a:gd name="T55" fmla="*/ 315 h 350"/>
                  <a:gd name="T56" fmla="*/ 266 w 280"/>
                  <a:gd name="T57" fmla="*/ 304 h 350"/>
                  <a:gd name="T58" fmla="*/ 13 w 280"/>
                  <a:gd name="T59" fmla="*/ 304 h 3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0"/>
                  <a:gd name="T91" fmla="*/ 0 h 350"/>
                  <a:gd name="T92" fmla="*/ 280 w 280"/>
                  <a:gd name="T93" fmla="*/ 350 h 3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0" h="350">
                    <a:moveTo>
                      <a:pt x="256" y="201"/>
                    </a:moveTo>
                    <a:lnTo>
                      <a:pt x="256" y="0"/>
                    </a:lnTo>
                    <a:lnTo>
                      <a:pt x="23" y="0"/>
                    </a:lnTo>
                    <a:lnTo>
                      <a:pt x="23" y="201"/>
                    </a:lnTo>
                    <a:lnTo>
                      <a:pt x="256" y="201"/>
                    </a:lnTo>
                    <a:close/>
                    <a:moveTo>
                      <a:pt x="217" y="235"/>
                    </a:moveTo>
                    <a:lnTo>
                      <a:pt x="180" y="224"/>
                    </a:lnTo>
                    <a:lnTo>
                      <a:pt x="180" y="201"/>
                    </a:lnTo>
                    <a:lnTo>
                      <a:pt x="100" y="201"/>
                    </a:lnTo>
                    <a:lnTo>
                      <a:pt x="100" y="224"/>
                    </a:lnTo>
                    <a:lnTo>
                      <a:pt x="62" y="235"/>
                    </a:lnTo>
                    <a:lnTo>
                      <a:pt x="217" y="235"/>
                    </a:lnTo>
                    <a:close/>
                    <a:moveTo>
                      <a:pt x="256" y="304"/>
                    </a:moveTo>
                    <a:lnTo>
                      <a:pt x="256" y="235"/>
                    </a:lnTo>
                    <a:lnTo>
                      <a:pt x="23" y="235"/>
                    </a:lnTo>
                    <a:lnTo>
                      <a:pt x="23" y="304"/>
                    </a:lnTo>
                    <a:lnTo>
                      <a:pt x="256" y="304"/>
                    </a:lnTo>
                    <a:close/>
                    <a:moveTo>
                      <a:pt x="13" y="304"/>
                    </a:moveTo>
                    <a:lnTo>
                      <a:pt x="7" y="315"/>
                    </a:lnTo>
                    <a:lnTo>
                      <a:pt x="2" y="328"/>
                    </a:lnTo>
                    <a:lnTo>
                      <a:pt x="0" y="342"/>
                    </a:lnTo>
                    <a:lnTo>
                      <a:pt x="0" y="347"/>
                    </a:lnTo>
                    <a:lnTo>
                      <a:pt x="93" y="350"/>
                    </a:lnTo>
                    <a:lnTo>
                      <a:pt x="187" y="350"/>
                    </a:lnTo>
                    <a:lnTo>
                      <a:pt x="280" y="347"/>
                    </a:lnTo>
                    <a:lnTo>
                      <a:pt x="280" y="342"/>
                    </a:lnTo>
                    <a:lnTo>
                      <a:pt x="278" y="328"/>
                    </a:lnTo>
                    <a:lnTo>
                      <a:pt x="273" y="315"/>
                    </a:lnTo>
                    <a:lnTo>
                      <a:pt x="266" y="304"/>
                    </a:lnTo>
                    <a:lnTo>
                      <a:pt x="13" y="304"/>
                    </a:lnTo>
                    <a:close/>
                  </a:path>
                </a:pathLst>
              </a:custGeom>
              <a:solidFill>
                <a:srgbClr val="000000"/>
              </a:solidFill>
              <a:ln w="6350">
                <a:solidFill>
                  <a:srgbClr val="C0C0C0"/>
                </a:solidFill>
                <a:prstDash val="solid"/>
                <a:round/>
                <a:headEnd/>
                <a:tailEnd/>
              </a:ln>
            </p:spPr>
            <p:txBody>
              <a:bodyPr/>
              <a:lstStyle/>
              <a:p>
                <a:endParaRPr lang="ru-RU" dirty="0"/>
              </a:p>
            </p:txBody>
          </p:sp>
          <p:sp>
            <p:nvSpPr>
              <p:cNvPr id="50" name="Freeform 501"/>
              <p:cNvSpPr>
                <a:spLocks noEditPoints="1"/>
              </p:cNvSpPr>
              <p:nvPr/>
            </p:nvSpPr>
            <p:spPr bwMode="auto">
              <a:xfrm>
                <a:off x="3880" y="506"/>
                <a:ext cx="176" cy="127"/>
              </a:xfrm>
              <a:custGeom>
                <a:avLst/>
                <a:gdLst>
                  <a:gd name="T0" fmla="*/ 5 w 176"/>
                  <a:gd name="T1" fmla="*/ 6 h 127"/>
                  <a:gd name="T2" fmla="*/ 5 w 176"/>
                  <a:gd name="T3" fmla="*/ 123 h 127"/>
                  <a:gd name="T4" fmla="*/ 171 w 176"/>
                  <a:gd name="T5" fmla="*/ 123 h 127"/>
                  <a:gd name="T6" fmla="*/ 176 w 176"/>
                  <a:gd name="T7" fmla="*/ 127 h 127"/>
                  <a:gd name="T8" fmla="*/ 176 w 176"/>
                  <a:gd name="T9" fmla="*/ 0 h 127"/>
                  <a:gd name="T10" fmla="*/ 0 w 176"/>
                  <a:gd name="T11" fmla="*/ 0 h 127"/>
                  <a:gd name="T12" fmla="*/ 5 w 176"/>
                  <a:gd name="T13" fmla="*/ 6 h 127"/>
                  <a:gd name="T14" fmla="*/ 169 w 176"/>
                  <a:gd name="T15" fmla="*/ 119 h 127"/>
                  <a:gd name="T16" fmla="*/ 8 w 176"/>
                  <a:gd name="T17" fmla="*/ 119 h 127"/>
                  <a:gd name="T18" fmla="*/ 8 w 176"/>
                  <a:gd name="T19" fmla="*/ 7 h 127"/>
                  <a:gd name="T20" fmla="*/ 169 w 176"/>
                  <a:gd name="T21" fmla="*/ 7 h 127"/>
                  <a:gd name="T22" fmla="*/ 169 w 176"/>
                  <a:gd name="T23" fmla="*/ 119 h 1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6"/>
                  <a:gd name="T37" fmla="*/ 0 h 127"/>
                  <a:gd name="T38" fmla="*/ 176 w 176"/>
                  <a:gd name="T39" fmla="*/ 127 h 1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6" h="127">
                    <a:moveTo>
                      <a:pt x="5" y="6"/>
                    </a:moveTo>
                    <a:lnTo>
                      <a:pt x="5" y="123"/>
                    </a:lnTo>
                    <a:lnTo>
                      <a:pt x="171" y="123"/>
                    </a:lnTo>
                    <a:lnTo>
                      <a:pt x="176" y="127"/>
                    </a:lnTo>
                    <a:lnTo>
                      <a:pt x="176" y="0"/>
                    </a:lnTo>
                    <a:lnTo>
                      <a:pt x="0" y="0"/>
                    </a:lnTo>
                    <a:lnTo>
                      <a:pt x="5" y="6"/>
                    </a:lnTo>
                    <a:close/>
                    <a:moveTo>
                      <a:pt x="169" y="119"/>
                    </a:moveTo>
                    <a:lnTo>
                      <a:pt x="8" y="119"/>
                    </a:lnTo>
                    <a:lnTo>
                      <a:pt x="8" y="7"/>
                    </a:lnTo>
                    <a:lnTo>
                      <a:pt x="169" y="7"/>
                    </a:lnTo>
                    <a:lnTo>
                      <a:pt x="169" y="119"/>
                    </a:lnTo>
                    <a:close/>
                  </a:path>
                </a:pathLst>
              </a:custGeom>
              <a:solidFill>
                <a:srgbClr val="000000"/>
              </a:solidFill>
              <a:ln w="1588">
                <a:solidFill>
                  <a:srgbClr val="C0C0C0"/>
                </a:solidFill>
                <a:prstDash val="solid"/>
                <a:round/>
                <a:headEnd/>
                <a:tailEnd/>
              </a:ln>
            </p:spPr>
            <p:txBody>
              <a:bodyPr/>
              <a:lstStyle/>
              <a:p>
                <a:endParaRPr lang="ru-RU" dirty="0"/>
              </a:p>
            </p:txBody>
          </p:sp>
          <p:sp>
            <p:nvSpPr>
              <p:cNvPr id="51" name="Freeform 502"/>
              <p:cNvSpPr>
                <a:spLocks/>
              </p:cNvSpPr>
              <p:nvPr/>
            </p:nvSpPr>
            <p:spPr bwMode="auto">
              <a:xfrm>
                <a:off x="3880" y="506"/>
                <a:ext cx="176" cy="127"/>
              </a:xfrm>
              <a:custGeom>
                <a:avLst/>
                <a:gdLst>
                  <a:gd name="T0" fmla="*/ 0 w 176"/>
                  <a:gd name="T1" fmla="*/ 0 h 127"/>
                  <a:gd name="T2" fmla="*/ 0 w 176"/>
                  <a:gd name="T3" fmla="*/ 127 h 127"/>
                  <a:gd name="T4" fmla="*/ 176 w 176"/>
                  <a:gd name="T5" fmla="*/ 127 h 127"/>
                  <a:gd name="T6" fmla="*/ 0 60000 65536"/>
                  <a:gd name="T7" fmla="*/ 0 60000 65536"/>
                  <a:gd name="T8" fmla="*/ 0 60000 65536"/>
                  <a:gd name="T9" fmla="*/ 0 w 176"/>
                  <a:gd name="T10" fmla="*/ 0 h 127"/>
                  <a:gd name="T11" fmla="*/ 176 w 176"/>
                  <a:gd name="T12" fmla="*/ 127 h 127"/>
                </a:gdLst>
                <a:ahLst/>
                <a:cxnLst>
                  <a:cxn ang="T6">
                    <a:pos x="T0" y="T1"/>
                  </a:cxn>
                  <a:cxn ang="T7">
                    <a:pos x="T2" y="T3"/>
                  </a:cxn>
                  <a:cxn ang="T8">
                    <a:pos x="T4" y="T5"/>
                  </a:cxn>
                </a:cxnLst>
                <a:rect l="T9" t="T10" r="T11" b="T12"/>
                <a:pathLst>
                  <a:path w="176" h="127">
                    <a:moveTo>
                      <a:pt x="0" y="0"/>
                    </a:moveTo>
                    <a:lnTo>
                      <a:pt x="0" y="127"/>
                    </a:lnTo>
                    <a:lnTo>
                      <a:pt x="176" y="127"/>
                    </a:lnTo>
                  </a:path>
                </a:pathLst>
              </a:custGeom>
              <a:solidFill>
                <a:srgbClr val="000000"/>
              </a:solidFill>
              <a:ln w="1588">
                <a:solidFill>
                  <a:srgbClr val="C0C0C0"/>
                </a:solidFill>
                <a:prstDash val="solid"/>
                <a:round/>
                <a:headEnd/>
                <a:tailEnd/>
              </a:ln>
            </p:spPr>
            <p:txBody>
              <a:bodyPr/>
              <a:lstStyle/>
              <a:p>
                <a:endParaRPr lang="ru-RU" dirty="0"/>
              </a:p>
            </p:txBody>
          </p:sp>
          <p:sp>
            <p:nvSpPr>
              <p:cNvPr id="52" name="Rectangle 503"/>
              <p:cNvSpPr>
                <a:spLocks noChangeArrowheads="1"/>
              </p:cNvSpPr>
              <p:nvPr/>
            </p:nvSpPr>
            <p:spPr bwMode="auto">
              <a:xfrm>
                <a:off x="3997" y="722"/>
                <a:ext cx="66" cy="4"/>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3" name="Rectangle 504"/>
              <p:cNvSpPr>
                <a:spLocks noChangeArrowheads="1"/>
              </p:cNvSpPr>
              <p:nvPr/>
            </p:nvSpPr>
            <p:spPr bwMode="auto">
              <a:xfrm>
                <a:off x="3869" y="771"/>
                <a:ext cx="2"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4" name="Rectangle 505"/>
              <p:cNvSpPr>
                <a:spLocks noChangeArrowheads="1"/>
              </p:cNvSpPr>
              <p:nvPr/>
            </p:nvSpPr>
            <p:spPr bwMode="auto">
              <a:xfrm>
                <a:off x="3858" y="771"/>
                <a:ext cx="3" cy="6"/>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5" name="Rectangle 506"/>
              <p:cNvSpPr>
                <a:spLocks noChangeArrowheads="1"/>
              </p:cNvSpPr>
              <p:nvPr/>
            </p:nvSpPr>
            <p:spPr bwMode="auto">
              <a:xfrm>
                <a:off x="4047" y="728"/>
                <a:ext cx="9" cy="2"/>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6" name="Rectangle 507"/>
              <p:cNvSpPr>
                <a:spLocks noChangeArrowheads="1"/>
              </p:cNvSpPr>
              <p:nvPr/>
            </p:nvSpPr>
            <p:spPr bwMode="auto">
              <a:xfrm>
                <a:off x="4046" y="665"/>
                <a:ext cx="11" cy="11"/>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57" name="Freeform 508"/>
              <p:cNvSpPr>
                <a:spLocks/>
              </p:cNvSpPr>
              <p:nvPr/>
            </p:nvSpPr>
            <p:spPr bwMode="auto">
              <a:xfrm>
                <a:off x="3841" y="787"/>
                <a:ext cx="249" cy="7"/>
              </a:xfrm>
              <a:custGeom>
                <a:avLst/>
                <a:gdLst>
                  <a:gd name="T0" fmla="*/ 249 w 249"/>
                  <a:gd name="T1" fmla="*/ 7 h 7"/>
                  <a:gd name="T2" fmla="*/ 249 w 249"/>
                  <a:gd name="T3" fmla="*/ 4 h 7"/>
                  <a:gd name="T4" fmla="*/ 246 w 249"/>
                  <a:gd name="T5" fmla="*/ 0 h 7"/>
                  <a:gd name="T6" fmla="*/ 238 w 249"/>
                  <a:gd name="T7" fmla="*/ 0 h 7"/>
                  <a:gd name="T8" fmla="*/ 235 w 249"/>
                  <a:gd name="T9" fmla="*/ 4 h 7"/>
                  <a:gd name="T10" fmla="*/ 232 w 249"/>
                  <a:gd name="T11" fmla="*/ 0 h 7"/>
                  <a:gd name="T12" fmla="*/ 224 w 249"/>
                  <a:gd name="T13" fmla="*/ 0 h 7"/>
                  <a:gd name="T14" fmla="*/ 220 w 249"/>
                  <a:gd name="T15" fmla="*/ 4 h 7"/>
                  <a:gd name="T16" fmla="*/ 217 w 249"/>
                  <a:gd name="T17" fmla="*/ 0 h 7"/>
                  <a:gd name="T18" fmla="*/ 209 w 249"/>
                  <a:gd name="T19" fmla="*/ 0 h 7"/>
                  <a:gd name="T20" fmla="*/ 206 w 249"/>
                  <a:gd name="T21" fmla="*/ 4 h 7"/>
                  <a:gd name="T22" fmla="*/ 203 w 249"/>
                  <a:gd name="T23" fmla="*/ 0 h 7"/>
                  <a:gd name="T24" fmla="*/ 194 w 249"/>
                  <a:gd name="T25" fmla="*/ 0 h 7"/>
                  <a:gd name="T26" fmla="*/ 192 w 249"/>
                  <a:gd name="T27" fmla="*/ 4 h 7"/>
                  <a:gd name="T28" fmla="*/ 188 w 249"/>
                  <a:gd name="T29" fmla="*/ 0 h 7"/>
                  <a:gd name="T30" fmla="*/ 180 w 249"/>
                  <a:gd name="T31" fmla="*/ 0 h 7"/>
                  <a:gd name="T32" fmla="*/ 176 w 249"/>
                  <a:gd name="T33" fmla="*/ 4 h 7"/>
                  <a:gd name="T34" fmla="*/ 174 w 249"/>
                  <a:gd name="T35" fmla="*/ 0 h 7"/>
                  <a:gd name="T36" fmla="*/ 166 w 249"/>
                  <a:gd name="T37" fmla="*/ 0 h 7"/>
                  <a:gd name="T38" fmla="*/ 162 w 249"/>
                  <a:gd name="T39" fmla="*/ 4 h 7"/>
                  <a:gd name="T40" fmla="*/ 160 w 249"/>
                  <a:gd name="T41" fmla="*/ 4 h 7"/>
                  <a:gd name="T42" fmla="*/ 158 w 249"/>
                  <a:gd name="T43" fmla="*/ 0 h 7"/>
                  <a:gd name="T44" fmla="*/ 150 w 249"/>
                  <a:gd name="T45" fmla="*/ 0 h 7"/>
                  <a:gd name="T46" fmla="*/ 146 w 249"/>
                  <a:gd name="T47" fmla="*/ 4 h 7"/>
                  <a:gd name="T48" fmla="*/ 143 w 249"/>
                  <a:gd name="T49" fmla="*/ 0 h 7"/>
                  <a:gd name="T50" fmla="*/ 135 w 249"/>
                  <a:gd name="T51" fmla="*/ 0 h 7"/>
                  <a:gd name="T52" fmla="*/ 132 w 249"/>
                  <a:gd name="T53" fmla="*/ 4 h 7"/>
                  <a:gd name="T54" fmla="*/ 129 w 249"/>
                  <a:gd name="T55" fmla="*/ 0 h 7"/>
                  <a:gd name="T56" fmla="*/ 121 w 249"/>
                  <a:gd name="T57" fmla="*/ 0 h 7"/>
                  <a:gd name="T58" fmla="*/ 118 w 249"/>
                  <a:gd name="T59" fmla="*/ 4 h 7"/>
                  <a:gd name="T60" fmla="*/ 115 w 249"/>
                  <a:gd name="T61" fmla="*/ 0 h 7"/>
                  <a:gd name="T62" fmla="*/ 106 w 249"/>
                  <a:gd name="T63" fmla="*/ 0 h 7"/>
                  <a:gd name="T64" fmla="*/ 103 w 249"/>
                  <a:gd name="T65" fmla="*/ 4 h 7"/>
                  <a:gd name="T66" fmla="*/ 102 w 249"/>
                  <a:gd name="T67" fmla="*/ 4 h 7"/>
                  <a:gd name="T68" fmla="*/ 98 w 249"/>
                  <a:gd name="T69" fmla="*/ 0 h 7"/>
                  <a:gd name="T70" fmla="*/ 90 w 249"/>
                  <a:gd name="T71" fmla="*/ 0 h 7"/>
                  <a:gd name="T72" fmla="*/ 87 w 249"/>
                  <a:gd name="T73" fmla="*/ 4 h 7"/>
                  <a:gd name="T74" fmla="*/ 84 w 249"/>
                  <a:gd name="T75" fmla="*/ 0 h 7"/>
                  <a:gd name="T76" fmla="*/ 76 w 249"/>
                  <a:gd name="T77" fmla="*/ 0 h 7"/>
                  <a:gd name="T78" fmla="*/ 72 w 249"/>
                  <a:gd name="T79" fmla="*/ 4 h 7"/>
                  <a:gd name="T80" fmla="*/ 70 w 249"/>
                  <a:gd name="T81" fmla="*/ 0 h 7"/>
                  <a:gd name="T82" fmla="*/ 62 w 249"/>
                  <a:gd name="T83" fmla="*/ 0 h 7"/>
                  <a:gd name="T84" fmla="*/ 58 w 249"/>
                  <a:gd name="T85" fmla="*/ 4 h 7"/>
                  <a:gd name="T86" fmla="*/ 55 w 249"/>
                  <a:gd name="T87" fmla="*/ 0 h 7"/>
                  <a:gd name="T88" fmla="*/ 47 w 249"/>
                  <a:gd name="T89" fmla="*/ 0 h 7"/>
                  <a:gd name="T90" fmla="*/ 44 w 249"/>
                  <a:gd name="T91" fmla="*/ 4 h 7"/>
                  <a:gd name="T92" fmla="*/ 40 w 249"/>
                  <a:gd name="T93" fmla="*/ 0 h 7"/>
                  <a:gd name="T94" fmla="*/ 32 w 249"/>
                  <a:gd name="T95" fmla="*/ 0 h 7"/>
                  <a:gd name="T96" fmla="*/ 30 w 249"/>
                  <a:gd name="T97" fmla="*/ 4 h 7"/>
                  <a:gd name="T98" fmla="*/ 26 w 249"/>
                  <a:gd name="T99" fmla="*/ 0 h 7"/>
                  <a:gd name="T100" fmla="*/ 18 w 249"/>
                  <a:gd name="T101" fmla="*/ 0 h 7"/>
                  <a:gd name="T102" fmla="*/ 14 w 249"/>
                  <a:gd name="T103" fmla="*/ 4 h 7"/>
                  <a:gd name="T104" fmla="*/ 12 w 249"/>
                  <a:gd name="T105" fmla="*/ 0 h 7"/>
                  <a:gd name="T106" fmla="*/ 4 w 249"/>
                  <a:gd name="T107" fmla="*/ 0 h 7"/>
                  <a:gd name="T108" fmla="*/ 0 w 249"/>
                  <a:gd name="T109" fmla="*/ 4 h 7"/>
                  <a:gd name="T110" fmla="*/ 0 w 249"/>
                  <a:gd name="T111" fmla="*/ 7 h 7"/>
                  <a:gd name="T112" fmla="*/ 249 w 249"/>
                  <a:gd name="T113" fmla="*/ 7 h 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9"/>
                  <a:gd name="T172" fmla="*/ 0 h 7"/>
                  <a:gd name="T173" fmla="*/ 249 w 249"/>
                  <a:gd name="T174" fmla="*/ 7 h 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9" h="7">
                    <a:moveTo>
                      <a:pt x="249" y="7"/>
                    </a:moveTo>
                    <a:lnTo>
                      <a:pt x="249" y="4"/>
                    </a:lnTo>
                    <a:lnTo>
                      <a:pt x="246" y="0"/>
                    </a:lnTo>
                    <a:lnTo>
                      <a:pt x="238" y="0"/>
                    </a:lnTo>
                    <a:lnTo>
                      <a:pt x="235" y="4"/>
                    </a:lnTo>
                    <a:lnTo>
                      <a:pt x="232" y="0"/>
                    </a:lnTo>
                    <a:lnTo>
                      <a:pt x="224" y="0"/>
                    </a:lnTo>
                    <a:lnTo>
                      <a:pt x="220" y="4"/>
                    </a:lnTo>
                    <a:lnTo>
                      <a:pt x="217" y="0"/>
                    </a:lnTo>
                    <a:lnTo>
                      <a:pt x="209" y="0"/>
                    </a:lnTo>
                    <a:lnTo>
                      <a:pt x="206" y="4"/>
                    </a:lnTo>
                    <a:lnTo>
                      <a:pt x="203" y="0"/>
                    </a:lnTo>
                    <a:lnTo>
                      <a:pt x="194" y="0"/>
                    </a:lnTo>
                    <a:lnTo>
                      <a:pt x="192" y="4"/>
                    </a:lnTo>
                    <a:lnTo>
                      <a:pt x="188" y="0"/>
                    </a:lnTo>
                    <a:lnTo>
                      <a:pt x="180" y="0"/>
                    </a:lnTo>
                    <a:lnTo>
                      <a:pt x="176" y="4"/>
                    </a:lnTo>
                    <a:lnTo>
                      <a:pt x="174" y="0"/>
                    </a:lnTo>
                    <a:lnTo>
                      <a:pt x="166" y="0"/>
                    </a:lnTo>
                    <a:lnTo>
                      <a:pt x="162" y="4"/>
                    </a:lnTo>
                    <a:lnTo>
                      <a:pt x="160" y="4"/>
                    </a:lnTo>
                    <a:lnTo>
                      <a:pt x="158" y="0"/>
                    </a:lnTo>
                    <a:lnTo>
                      <a:pt x="150" y="0"/>
                    </a:lnTo>
                    <a:lnTo>
                      <a:pt x="146" y="4"/>
                    </a:lnTo>
                    <a:lnTo>
                      <a:pt x="143" y="0"/>
                    </a:lnTo>
                    <a:lnTo>
                      <a:pt x="135" y="0"/>
                    </a:lnTo>
                    <a:lnTo>
                      <a:pt x="132" y="4"/>
                    </a:lnTo>
                    <a:lnTo>
                      <a:pt x="129" y="0"/>
                    </a:lnTo>
                    <a:lnTo>
                      <a:pt x="121" y="0"/>
                    </a:lnTo>
                    <a:lnTo>
                      <a:pt x="118" y="4"/>
                    </a:lnTo>
                    <a:lnTo>
                      <a:pt x="115" y="0"/>
                    </a:lnTo>
                    <a:lnTo>
                      <a:pt x="106" y="0"/>
                    </a:lnTo>
                    <a:lnTo>
                      <a:pt x="103" y="4"/>
                    </a:lnTo>
                    <a:lnTo>
                      <a:pt x="102" y="4"/>
                    </a:lnTo>
                    <a:lnTo>
                      <a:pt x="98" y="0"/>
                    </a:lnTo>
                    <a:lnTo>
                      <a:pt x="90" y="0"/>
                    </a:lnTo>
                    <a:lnTo>
                      <a:pt x="87" y="4"/>
                    </a:lnTo>
                    <a:lnTo>
                      <a:pt x="84" y="0"/>
                    </a:lnTo>
                    <a:lnTo>
                      <a:pt x="76" y="0"/>
                    </a:lnTo>
                    <a:lnTo>
                      <a:pt x="72" y="4"/>
                    </a:lnTo>
                    <a:lnTo>
                      <a:pt x="70" y="0"/>
                    </a:lnTo>
                    <a:lnTo>
                      <a:pt x="62" y="0"/>
                    </a:lnTo>
                    <a:lnTo>
                      <a:pt x="58" y="4"/>
                    </a:lnTo>
                    <a:lnTo>
                      <a:pt x="55" y="0"/>
                    </a:lnTo>
                    <a:lnTo>
                      <a:pt x="47" y="0"/>
                    </a:lnTo>
                    <a:lnTo>
                      <a:pt x="44" y="4"/>
                    </a:lnTo>
                    <a:lnTo>
                      <a:pt x="40" y="0"/>
                    </a:lnTo>
                    <a:lnTo>
                      <a:pt x="32" y="0"/>
                    </a:lnTo>
                    <a:lnTo>
                      <a:pt x="30" y="4"/>
                    </a:lnTo>
                    <a:lnTo>
                      <a:pt x="26" y="0"/>
                    </a:lnTo>
                    <a:lnTo>
                      <a:pt x="18" y="0"/>
                    </a:lnTo>
                    <a:lnTo>
                      <a:pt x="14" y="4"/>
                    </a:lnTo>
                    <a:lnTo>
                      <a:pt x="12" y="0"/>
                    </a:lnTo>
                    <a:lnTo>
                      <a:pt x="4" y="0"/>
                    </a:lnTo>
                    <a:lnTo>
                      <a:pt x="0" y="4"/>
                    </a:lnTo>
                    <a:lnTo>
                      <a:pt x="0" y="7"/>
                    </a:lnTo>
                    <a:lnTo>
                      <a:pt x="249" y="7"/>
                    </a:lnTo>
                  </a:path>
                </a:pathLst>
              </a:custGeom>
              <a:solidFill>
                <a:srgbClr val="000000"/>
              </a:solidFill>
              <a:ln w="1588">
                <a:solidFill>
                  <a:srgbClr val="C0C0C0"/>
                </a:solidFill>
                <a:prstDash val="solid"/>
                <a:round/>
                <a:headEnd/>
                <a:tailEnd/>
              </a:ln>
            </p:spPr>
            <p:txBody>
              <a:bodyPr/>
              <a:lstStyle/>
              <a:p>
                <a:endParaRPr lang="ru-RU" dirty="0"/>
              </a:p>
            </p:txBody>
          </p:sp>
          <p:sp>
            <p:nvSpPr>
              <p:cNvPr id="58" name="Freeform 509"/>
              <p:cNvSpPr>
                <a:spLocks/>
              </p:cNvSpPr>
              <p:nvPr/>
            </p:nvSpPr>
            <p:spPr bwMode="auto">
              <a:xfrm>
                <a:off x="4019" y="796"/>
                <a:ext cx="30" cy="22"/>
              </a:xfrm>
              <a:custGeom>
                <a:avLst/>
                <a:gdLst>
                  <a:gd name="T0" fmla="*/ 0 w 30"/>
                  <a:gd name="T1" fmla="*/ 7 h 22"/>
                  <a:gd name="T2" fmla="*/ 0 w 30"/>
                  <a:gd name="T3" fmla="*/ 5 h 22"/>
                  <a:gd name="T4" fmla="*/ 3 w 30"/>
                  <a:gd name="T5" fmla="*/ 0 h 22"/>
                  <a:gd name="T6" fmla="*/ 9 w 30"/>
                  <a:gd name="T7" fmla="*/ 0 h 22"/>
                  <a:gd name="T8" fmla="*/ 12 w 30"/>
                  <a:gd name="T9" fmla="*/ 5 h 22"/>
                  <a:gd name="T10" fmla="*/ 14 w 30"/>
                  <a:gd name="T11" fmla="*/ 0 h 22"/>
                  <a:gd name="T12" fmla="*/ 21 w 30"/>
                  <a:gd name="T13" fmla="*/ 0 h 22"/>
                  <a:gd name="T14" fmla="*/ 23 w 30"/>
                  <a:gd name="T15" fmla="*/ 5 h 22"/>
                  <a:gd name="T16" fmla="*/ 25 w 30"/>
                  <a:gd name="T17" fmla="*/ 7 h 22"/>
                  <a:gd name="T18" fmla="*/ 30 w 30"/>
                  <a:gd name="T19" fmla="*/ 22 h 22"/>
                  <a:gd name="T20" fmla="*/ 4 w 30"/>
                  <a:gd name="T21" fmla="*/ 22 h 22"/>
                  <a:gd name="T22" fmla="*/ 0 w 30"/>
                  <a:gd name="T23" fmla="*/ 7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22"/>
                  <a:gd name="T38" fmla="*/ 30 w 30"/>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22">
                    <a:moveTo>
                      <a:pt x="0" y="7"/>
                    </a:moveTo>
                    <a:lnTo>
                      <a:pt x="0" y="5"/>
                    </a:lnTo>
                    <a:lnTo>
                      <a:pt x="3" y="0"/>
                    </a:lnTo>
                    <a:lnTo>
                      <a:pt x="9" y="0"/>
                    </a:lnTo>
                    <a:lnTo>
                      <a:pt x="12" y="5"/>
                    </a:lnTo>
                    <a:lnTo>
                      <a:pt x="14" y="0"/>
                    </a:lnTo>
                    <a:lnTo>
                      <a:pt x="21" y="0"/>
                    </a:lnTo>
                    <a:lnTo>
                      <a:pt x="23" y="5"/>
                    </a:lnTo>
                    <a:lnTo>
                      <a:pt x="25" y="7"/>
                    </a:lnTo>
                    <a:lnTo>
                      <a:pt x="30" y="22"/>
                    </a:lnTo>
                    <a:lnTo>
                      <a:pt x="4" y="22"/>
                    </a:lnTo>
                    <a:lnTo>
                      <a:pt x="0" y="7"/>
                    </a:lnTo>
                  </a:path>
                </a:pathLst>
              </a:custGeom>
              <a:solidFill>
                <a:srgbClr val="000000"/>
              </a:solidFill>
              <a:ln w="1588">
                <a:solidFill>
                  <a:srgbClr val="C0C0C0"/>
                </a:solidFill>
                <a:prstDash val="solid"/>
                <a:round/>
                <a:headEnd/>
                <a:tailEnd/>
              </a:ln>
            </p:spPr>
            <p:txBody>
              <a:bodyPr/>
              <a:lstStyle/>
              <a:p>
                <a:endParaRPr lang="ru-RU" dirty="0"/>
              </a:p>
            </p:txBody>
          </p:sp>
          <p:sp>
            <p:nvSpPr>
              <p:cNvPr id="59" name="Freeform 510"/>
              <p:cNvSpPr>
                <a:spLocks/>
              </p:cNvSpPr>
              <p:nvPr/>
            </p:nvSpPr>
            <p:spPr bwMode="auto">
              <a:xfrm>
                <a:off x="4046" y="796"/>
                <a:ext cx="54" cy="22"/>
              </a:xfrm>
              <a:custGeom>
                <a:avLst/>
                <a:gdLst>
                  <a:gd name="T0" fmla="*/ 0 w 54"/>
                  <a:gd name="T1" fmla="*/ 6 h 22"/>
                  <a:gd name="T2" fmla="*/ 1 w 54"/>
                  <a:gd name="T3" fmla="*/ 5 h 22"/>
                  <a:gd name="T4" fmla="*/ 3 w 54"/>
                  <a:gd name="T5" fmla="*/ 0 h 22"/>
                  <a:gd name="T6" fmla="*/ 10 w 54"/>
                  <a:gd name="T7" fmla="*/ 0 h 22"/>
                  <a:gd name="T8" fmla="*/ 11 w 54"/>
                  <a:gd name="T9" fmla="*/ 5 h 22"/>
                  <a:gd name="T10" fmla="*/ 15 w 54"/>
                  <a:gd name="T11" fmla="*/ 0 h 22"/>
                  <a:gd name="T12" fmla="*/ 21 w 54"/>
                  <a:gd name="T13" fmla="*/ 0 h 22"/>
                  <a:gd name="T14" fmla="*/ 24 w 54"/>
                  <a:gd name="T15" fmla="*/ 5 h 22"/>
                  <a:gd name="T16" fmla="*/ 27 w 54"/>
                  <a:gd name="T17" fmla="*/ 0 h 22"/>
                  <a:gd name="T18" fmla="*/ 33 w 54"/>
                  <a:gd name="T19" fmla="*/ 0 h 22"/>
                  <a:gd name="T20" fmla="*/ 35 w 54"/>
                  <a:gd name="T21" fmla="*/ 5 h 22"/>
                  <a:gd name="T22" fmla="*/ 38 w 54"/>
                  <a:gd name="T23" fmla="*/ 0 h 22"/>
                  <a:gd name="T24" fmla="*/ 44 w 54"/>
                  <a:gd name="T25" fmla="*/ 0 h 22"/>
                  <a:gd name="T26" fmla="*/ 47 w 54"/>
                  <a:gd name="T27" fmla="*/ 5 h 22"/>
                  <a:gd name="T28" fmla="*/ 48 w 54"/>
                  <a:gd name="T29" fmla="*/ 7 h 22"/>
                  <a:gd name="T30" fmla="*/ 54 w 54"/>
                  <a:gd name="T31" fmla="*/ 22 h 22"/>
                  <a:gd name="T32" fmla="*/ 5 w 54"/>
                  <a:gd name="T33" fmla="*/ 22 h 22"/>
                  <a:gd name="T34" fmla="*/ 0 w 54"/>
                  <a:gd name="T35" fmla="*/ 6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4"/>
                  <a:gd name="T55" fmla="*/ 0 h 22"/>
                  <a:gd name="T56" fmla="*/ 54 w 5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4" h="22">
                    <a:moveTo>
                      <a:pt x="0" y="6"/>
                    </a:moveTo>
                    <a:lnTo>
                      <a:pt x="1" y="5"/>
                    </a:lnTo>
                    <a:lnTo>
                      <a:pt x="3" y="0"/>
                    </a:lnTo>
                    <a:lnTo>
                      <a:pt x="10" y="0"/>
                    </a:lnTo>
                    <a:lnTo>
                      <a:pt x="11" y="5"/>
                    </a:lnTo>
                    <a:lnTo>
                      <a:pt x="15" y="0"/>
                    </a:lnTo>
                    <a:lnTo>
                      <a:pt x="21" y="0"/>
                    </a:lnTo>
                    <a:lnTo>
                      <a:pt x="24" y="5"/>
                    </a:lnTo>
                    <a:lnTo>
                      <a:pt x="27" y="0"/>
                    </a:lnTo>
                    <a:lnTo>
                      <a:pt x="33" y="0"/>
                    </a:lnTo>
                    <a:lnTo>
                      <a:pt x="35" y="5"/>
                    </a:lnTo>
                    <a:lnTo>
                      <a:pt x="38" y="0"/>
                    </a:lnTo>
                    <a:lnTo>
                      <a:pt x="44" y="0"/>
                    </a:lnTo>
                    <a:lnTo>
                      <a:pt x="47" y="5"/>
                    </a:lnTo>
                    <a:lnTo>
                      <a:pt x="48" y="7"/>
                    </a:lnTo>
                    <a:lnTo>
                      <a:pt x="54" y="22"/>
                    </a:lnTo>
                    <a:lnTo>
                      <a:pt x="5" y="22"/>
                    </a:lnTo>
                    <a:lnTo>
                      <a:pt x="0" y="6"/>
                    </a:lnTo>
                  </a:path>
                </a:pathLst>
              </a:custGeom>
              <a:solidFill>
                <a:srgbClr val="000000"/>
              </a:solidFill>
              <a:ln w="1588">
                <a:solidFill>
                  <a:srgbClr val="C0C0C0"/>
                </a:solidFill>
                <a:prstDash val="solid"/>
                <a:round/>
                <a:headEnd/>
                <a:tailEnd/>
              </a:ln>
            </p:spPr>
            <p:txBody>
              <a:bodyPr/>
              <a:lstStyle/>
              <a:p>
                <a:endParaRPr lang="ru-RU" dirty="0"/>
              </a:p>
            </p:txBody>
          </p:sp>
          <p:sp>
            <p:nvSpPr>
              <p:cNvPr id="60" name="Freeform 511"/>
              <p:cNvSpPr>
                <a:spLocks/>
              </p:cNvSpPr>
              <p:nvPr/>
            </p:nvSpPr>
            <p:spPr bwMode="auto">
              <a:xfrm>
                <a:off x="3836" y="796"/>
                <a:ext cx="183" cy="22"/>
              </a:xfrm>
              <a:custGeom>
                <a:avLst/>
                <a:gdLst>
                  <a:gd name="T0" fmla="*/ 183 w 183"/>
                  <a:gd name="T1" fmla="*/ 20 h 22"/>
                  <a:gd name="T2" fmla="*/ 163 w 183"/>
                  <a:gd name="T3" fmla="*/ 20 h 22"/>
                  <a:gd name="T4" fmla="*/ 163 w 183"/>
                  <a:gd name="T5" fmla="*/ 22 h 22"/>
                  <a:gd name="T6" fmla="*/ 24 w 183"/>
                  <a:gd name="T7" fmla="*/ 22 h 22"/>
                  <a:gd name="T8" fmla="*/ 25 w 183"/>
                  <a:gd name="T9" fmla="*/ 18 h 22"/>
                  <a:gd name="T10" fmla="*/ 0 w 183"/>
                  <a:gd name="T11" fmla="*/ 18 h 22"/>
                  <a:gd name="T12" fmla="*/ 4 w 183"/>
                  <a:gd name="T13" fmla="*/ 5 h 22"/>
                  <a:gd name="T14" fmla="*/ 7 w 183"/>
                  <a:gd name="T15" fmla="*/ 0 h 22"/>
                  <a:gd name="T16" fmla="*/ 13 w 183"/>
                  <a:gd name="T17" fmla="*/ 0 h 22"/>
                  <a:gd name="T18" fmla="*/ 16 w 183"/>
                  <a:gd name="T19" fmla="*/ 5 h 22"/>
                  <a:gd name="T20" fmla="*/ 19 w 183"/>
                  <a:gd name="T21" fmla="*/ 0 h 22"/>
                  <a:gd name="T22" fmla="*/ 25 w 183"/>
                  <a:gd name="T23" fmla="*/ 0 h 22"/>
                  <a:gd name="T24" fmla="*/ 27 w 183"/>
                  <a:gd name="T25" fmla="*/ 5 h 22"/>
                  <a:gd name="T26" fmla="*/ 30 w 183"/>
                  <a:gd name="T27" fmla="*/ 0 h 22"/>
                  <a:gd name="T28" fmla="*/ 36 w 183"/>
                  <a:gd name="T29" fmla="*/ 0 h 22"/>
                  <a:gd name="T30" fmla="*/ 39 w 183"/>
                  <a:gd name="T31" fmla="*/ 5 h 22"/>
                  <a:gd name="T32" fmla="*/ 42 w 183"/>
                  <a:gd name="T33" fmla="*/ 0 h 22"/>
                  <a:gd name="T34" fmla="*/ 48 w 183"/>
                  <a:gd name="T35" fmla="*/ 0 h 22"/>
                  <a:gd name="T36" fmla="*/ 51 w 183"/>
                  <a:gd name="T37" fmla="*/ 5 h 22"/>
                  <a:gd name="T38" fmla="*/ 53 w 183"/>
                  <a:gd name="T39" fmla="*/ 0 h 22"/>
                  <a:gd name="T40" fmla="*/ 60 w 183"/>
                  <a:gd name="T41" fmla="*/ 0 h 22"/>
                  <a:gd name="T42" fmla="*/ 62 w 183"/>
                  <a:gd name="T43" fmla="*/ 5 h 22"/>
                  <a:gd name="T44" fmla="*/ 65 w 183"/>
                  <a:gd name="T45" fmla="*/ 0 h 22"/>
                  <a:gd name="T46" fmla="*/ 72 w 183"/>
                  <a:gd name="T47" fmla="*/ 0 h 22"/>
                  <a:gd name="T48" fmla="*/ 75 w 183"/>
                  <a:gd name="T49" fmla="*/ 5 h 22"/>
                  <a:gd name="T50" fmla="*/ 77 w 183"/>
                  <a:gd name="T51" fmla="*/ 0 h 22"/>
                  <a:gd name="T52" fmla="*/ 84 w 183"/>
                  <a:gd name="T53" fmla="*/ 0 h 22"/>
                  <a:gd name="T54" fmla="*/ 86 w 183"/>
                  <a:gd name="T55" fmla="*/ 5 h 22"/>
                  <a:gd name="T56" fmla="*/ 89 w 183"/>
                  <a:gd name="T57" fmla="*/ 0 h 22"/>
                  <a:gd name="T58" fmla="*/ 95 w 183"/>
                  <a:gd name="T59" fmla="*/ 0 h 22"/>
                  <a:gd name="T60" fmla="*/ 98 w 183"/>
                  <a:gd name="T61" fmla="*/ 5 h 22"/>
                  <a:gd name="T62" fmla="*/ 100 w 183"/>
                  <a:gd name="T63" fmla="*/ 0 h 22"/>
                  <a:gd name="T64" fmla="*/ 107 w 183"/>
                  <a:gd name="T65" fmla="*/ 0 h 22"/>
                  <a:gd name="T66" fmla="*/ 109 w 183"/>
                  <a:gd name="T67" fmla="*/ 5 h 22"/>
                  <a:gd name="T68" fmla="*/ 112 w 183"/>
                  <a:gd name="T69" fmla="*/ 0 h 22"/>
                  <a:gd name="T70" fmla="*/ 118 w 183"/>
                  <a:gd name="T71" fmla="*/ 0 h 22"/>
                  <a:gd name="T72" fmla="*/ 121 w 183"/>
                  <a:gd name="T73" fmla="*/ 5 h 22"/>
                  <a:gd name="T74" fmla="*/ 124 w 183"/>
                  <a:gd name="T75" fmla="*/ 0 h 22"/>
                  <a:gd name="T76" fmla="*/ 131 w 183"/>
                  <a:gd name="T77" fmla="*/ 0 h 22"/>
                  <a:gd name="T78" fmla="*/ 132 w 183"/>
                  <a:gd name="T79" fmla="*/ 5 h 22"/>
                  <a:gd name="T80" fmla="*/ 135 w 183"/>
                  <a:gd name="T81" fmla="*/ 0 h 22"/>
                  <a:gd name="T82" fmla="*/ 141 w 183"/>
                  <a:gd name="T83" fmla="*/ 0 h 22"/>
                  <a:gd name="T84" fmla="*/ 144 w 183"/>
                  <a:gd name="T85" fmla="*/ 5 h 22"/>
                  <a:gd name="T86" fmla="*/ 147 w 183"/>
                  <a:gd name="T87" fmla="*/ 0 h 22"/>
                  <a:gd name="T88" fmla="*/ 154 w 183"/>
                  <a:gd name="T89" fmla="*/ 0 h 22"/>
                  <a:gd name="T90" fmla="*/ 156 w 183"/>
                  <a:gd name="T91" fmla="*/ 5 h 22"/>
                  <a:gd name="T92" fmla="*/ 158 w 183"/>
                  <a:gd name="T93" fmla="*/ 0 h 22"/>
                  <a:gd name="T94" fmla="*/ 165 w 183"/>
                  <a:gd name="T95" fmla="*/ 0 h 22"/>
                  <a:gd name="T96" fmla="*/ 167 w 183"/>
                  <a:gd name="T97" fmla="*/ 5 h 22"/>
                  <a:gd name="T98" fmla="*/ 170 w 183"/>
                  <a:gd name="T99" fmla="*/ 0 h 22"/>
                  <a:gd name="T100" fmla="*/ 177 w 183"/>
                  <a:gd name="T101" fmla="*/ 0 h 22"/>
                  <a:gd name="T102" fmla="*/ 179 w 183"/>
                  <a:gd name="T103" fmla="*/ 5 h 22"/>
                  <a:gd name="T104" fmla="*/ 181 w 183"/>
                  <a:gd name="T105" fmla="*/ 7 h 22"/>
                  <a:gd name="T106" fmla="*/ 183 w 183"/>
                  <a:gd name="T107" fmla="*/ 2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83"/>
                  <a:gd name="T163" fmla="*/ 0 h 22"/>
                  <a:gd name="T164" fmla="*/ 183 w 183"/>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83" h="22">
                    <a:moveTo>
                      <a:pt x="183" y="20"/>
                    </a:moveTo>
                    <a:lnTo>
                      <a:pt x="163" y="20"/>
                    </a:lnTo>
                    <a:lnTo>
                      <a:pt x="163" y="22"/>
                    </a:lnTo>
                    <a:lnTo>
                      <a:pt x="24" y="22"/>
                    </a:lnTo>
                    <a:lnTo>
                      <a:pt x="25" y="18"/>
                    </a:lnTo>
                    <a:lnTo>
                      <a:pt x="0" y="18"/>
                    </a:lnTo>
                    <a:lnTo>
                      <a:pt x="4" y="5"/>
                    </a:lnTo>
                    <a:lnTo>
                      <a:pt x="7" y="0"/>
                    </a:lnTo>
                    <a:lnTo>
                      <a:pt x="13" y="0"/>
                    </a:lnTo>
                    <a:lnTo>
                      <a:pt x="16" y="5"/>
                    </a:lnTo>
                    <a:lnTo>
                      <a:pt x="19" y="0"/>
                    </a:lnTo>
                    <a:lnTo>
                      <a:pt x="25" y="0"/>
                    </a:lnTo>
                    <a:lnTo>
                      <a:pt x="27" y="5"/>
                    </a:lnTo>
                    <a:lnTo>
                      <a:pt x="30" y="0"/>
                    </a:lnTo>
                    <a:lnTo>
                      <a:pt x="36" y="0"/>
                    </a:lnTo>
                    <a:lnTo>
                      <a:pt x="39" y="5"/>
                    </a:lnTo>
                    <a:lnTo>
                      <a:pt x="42" y="0"/>
                    </a:lnTo>
                    <a:lnTo>
                      <a:pt x="48" y="0"/>
                    </a:lnTo>
                    <a:lnTo>
                      <a:pt x="51" y="5"/>
                    </a:lnTo>
                    <a:lnTo>
                      <a:pt x="53" y="0"/>
                    </a:lnTo>
                    <a:lnTo>
                      <a:pt x="60" y="0"/>
                    </a:lnTo>
                    <a:lnTo>
                      <a:pt x="62" y="5"/>
                    </a:lnTo>
                    <a:lnTo>
                      <a:pt x="65" y="0"/>
                    </a:lnTo>
                    <a:lnTo>
                      <a:pt x="72" y="0"/>
                    </a:lnTo>
                    <a:lnTo>
                      <a:pt x="75" y="5"/>
                    </a:lnTo>
                    <a:lnTo>
                      <a:pt x="77" y="0"/>
                    </a:lnTo>
                    <a:lnTo>
                      <a:pt x="84" y="0"/>
                    </a:lnTo>
                    <a:lnTo>
                      <a:pt x="86" y="5"/>
                    </a:lnTo>
                    <a:lnTo>
                      <a:pt x="89" y="0"/>
                    </a:lnTo>
                    <a:lnTo>
                      <a:pt x="95" y="0"/>
                    </a:lnTo>
                    <a:lnTo>
                      <a:pt x="98" y="5"/>
                    </a:lnTo>
                    <a:lnTo>
                      <a:pt x="100" y="0"/>
                    </a:lnTo>
                    <a:lnTo>
                      <a:pt x="107" y="0"/>
                    </a:lnTo>
                    <a:lnTo>
                      <a:pt x="109" y="5"/>
                    </a:lnTo>
                    <a:lnTo>
                      <a:pt x="112" y="0"/>
                    </a:lnTo>
                    <a:lnTo>
                      <a:pt x="118" y="0"/>
                    </a:lnTo>
                    <a:lnTo>
                      <a:pt x="121" y="5"/>
                    </a:lnTo>
                    <a:lnTo>
                      <a:pt x="124" y="0"/>
                    </a:lnTo>
                    <a:lnTo>
                      <a:pt x="131" y="0"/>
                    </a:lnTo>
                    <a:lnTo>
                      <a:pt x="132" y="5"/>
                    </a:lnTo>
                    <a:lnTo>
                      <a:pt x="135" y="0"/>
                    </a:lnTo>
                    <a:lnTo>
                      <a:pt x="141" y="0"/>
                    </a:lnTo>
                    <a:lnTo>
                      <a:pt x="144" y="5"/>
                    </a:lnTo>
                    <a:lnTo>
                      <a:pt x="147" y="0"/>
                    </a:lnTo>
                    <a:lnTo>
                      <a:pt x="154" y="0"/>
                    </a:lnTo>
                    <a:lnTo>
                      <a:pt x="156" y="5"/>
                    </a:lnTo>
                    <a:lnTo>
                      <a:pt x="158" y="0"/>
                    </a:lnTo>
                    <a:lnTo>
                      <a:pt x="165" y="0"/>
                    </a:lnTo>
                    <a:lnTo>
                      <a:pt x="167" y="5"/>
                    </a:lnTo>
                    <a:lnTo>
                      <a:pt x="170" y="0"/>
                    </a:lnTo>
                    <a:lnTo>
                      <a:pt x="177" y="0"/>
                    </a:lnTo>
                    <a:lnTo>
                      <a:pt x="179" y="5"/>
                    </a:lnTo>
                    <a:lnTo>
                      <a:pt x="181" y="7"/>
                    </a:lnTo>
                    <a:lnTo>
                      <a:pt x="183" y="20"/>
                    </a:lnTo>
                  </a:path>
                </a:pathLst>
              </a:custGeom>
              <a:solidFill>
                <a:srgbClr val="000000"/>
              </a:solidFill>
              <a:ln w="1588">
                <a:solidFill>
                  <a:srgbClr val="C0C0C0"/>
                </a:solidFill>
                <a:prstDash val="solid"/>
                <a:round/>
                <a:headEnd/>
                <a:tailEnd/>
              </a:ln>
            </p:spPr>
            <p:txBody>
              <a:bodyPr/>
              <a:lstStyle/>
              <a:p>
                <a:endParaRPr lang="ru-RU" dirty="0"/>
              </a:p>
            </p:txBody>
          </p:sp>
          <p:sp>
            <p:nvSpPr>
              <p:cNvPr id="61" name="Line 512"/>
              <p:cNvSpPr>
                <a:spLocks noChangeShapeType="1"/>
              </p:cNvSpPr>
              <p:nvPr/>
            </p:nvSpPr>
            <p:spPr bwMode="auto">
              <a:xfrm flipV="1">
                <a:off x="4042" y="726"/>
                <a:ext cx="1" cy="7"/>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62" name="Freeform 513"/>
              <p:cNvSpPr>
                <a:spLocks/>
              </p:cNvSpPr>
              <p:nvPr/>
            </p:nvSpPr>
            <p:spPr bwMode="auto">
              <a:xfrm>
                <a:off x="3850" y="740"/>
                <a:ext cx="57" cy="11"/>
              </a:xfrm>
              <a:custGeom>
                <a:avLst/>
                <a:gdLst>
                  <a:gd name="T0" fmla="*/ 0 w 57"/>
                  <a:gd name="T1" fmla="*/ 0 h 11"/>
                  <a:gd name="T2" fmla="*/ 20 w 57"/>
                  <a:gd name="T3" fmla="*/ 1 h 11"/>
                  <a:gd name="T4" fmla="*/ 38 w 57"/>
                  <a:gd name="T5" fmla="*/ 5 h 11"/>
                  <a:gd name="T6" fmla="*/ 57 w 57"/>
                  <a:gd name="T7" fmla="*/ 11 h 11"/>
                  <a:gd name="T8" fmla="*/ 0 60000 65536"/>
                  <a:gd name="T9" fmla="*/ 0 60000 65536"/>
                  <a:gd name="T10" fmla="*/ 0 60000 65536"/>
                  <a:gd name="T11" fmla="*/ 0 60000 65536"/>
                  <a:gd name="T12" fmla="*/ 0 w 57"/>
                  <a:gd name="T13" fmla="*/ 0 h 11"/>
                  <a:gd name="T14" fmla="*/ 57 w 57"/>
                  <a:gd name="T15" fmla="*/ 11 h 11"/>
                </a:gdLst>
                <a:ahLst/>
                <a:cxnLst>
                  <a:cxn ang="T8">
                    <a:pos x="T0" y="T1"/>
                  </a:cxn>
                  <a:cxn ang="T9">
                    <a:pos x="T2" y="T3"/>
                  </a:cxn>
                  <a:cxn ang="T10">
                    <a:pos x="T4" y="T5"/>
                  </a:cxn>
                  <a:cxn ang="T11">
                    <a:pos x="T6" y="T7"/>
                  </a:cxn>
                </a:cxnLst>
                <a:rect l="T12" t="T13" r="T14" b="T15"/>
                <a:pathLst>
                  <a:path w="57" h="11">
                    <a:moveTo>
                      <a:pt x="0" y="0"/>
                    </a:moveTo>
                    <a:lnTo>
                      <a:pt x="20" y="1"/>
                    </a:lnTo>
                    <a:lnTo>
                      <a:pt x="38" y="5"/>
                    </a:lnTo>
                    <a:lnTo>
                      <a:pt x="57" y="11"/>
                    </a:lnTo>
                  </a:path>
                </a:pathLst>
              </a:custGeom>
              <a:solidFill>
                <a:srgbClr val="000000"/>
              </a:solidFill>
              <a:ln w="1588">
                <a:solidFill>
                  <a:srgbClr val="C0C0C0"/>
                </a:solidFill>
                <a:prstDash val="solid"/>
                <a:round/>
                <a:headEnd/>
                <a:tailEnd/>
              </a:ln>
            </p:spPr>
            <p:txBody>
              <a:bodyPr/>
              <a:lstStyle/>
              <a:p>
                <a:endParaRPr lang="ru-RU" dirty="0"/>
              </a:p>
            </p:txBody>
          </p:sp>
          <p:sp>
            <p:nvSpPr>
              <p:cNvPr id="63" name="Line 514"/>
              <p:cNvSpPr>
                <a:spLocks noChangeShapeType="1"/>
              </p:cNvSpPr>
              <p:nvPr/>
            </p:nvSpPr>
            <p:spPr bwMode="auto">
              <a:xfrm>
                <a:off x="3850" y="75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64" name="Rectangle 515"/>
              <p:cNvSpPr>
                <a:spLocks noChangeArrowheads="1"/>
              </p:cNvSpPr>
              <p:nvPr/>
            </p:nvSpPr>
            <p:spPr bwMode="auto">
              <a:xfrm>
                <a:off x="3979" y="714"/>
                <a:ext cx="99" cy="65"/>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65" name="Rectangle 516"/>
              <p:cNvSpPr>
                <a:spLocks noChangeArrowheads="1"/>
              </p:cNvSpPr>
              <p:nvPr/>
            </p:nvSpPr>
            <p:spPr bwMode="auto">
              <a:xfrm>
                <a:off x="4019" y="726"/>
                <a:ext cx="39" cy="7"/>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66" name="Line 517"/>
              <p:cNvSpPr>
                <a:spLocks noChangeShapeType="1"/>
              </p:cNvSpPr>
              <p:nvPr/>
            </p:nvSpPr>
            <p:spPr bwMode="auto">
              <a:xfrm>
                <a:off x="4019" y="729"/>
                <a:ext cx="22"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67" name="Rectangle 518"/>
              <p:cNvSpPr>
                <a:spLocks noChangeArrowheads="1"/>
              </p:cNvSpPr>
              <p:nvPr/>
            </p:nvSpPr>
            <p:spPr bwMode="auto">
              <a:xfrm>
                <a:off x="4019" y="719"/>
                <a:ext cx="23" cy="3"/>
              </a:xfrm>
              <a:prstGeom prst="rect">
                <a:avLst/>
              </a:prstGeom>
              <a:solidFill>
                <a:srgbClr val="000000"/>
              </a:solidFill>
              <a:ln w="1588">
                <a:solidFill>
                  <a:srgbClr val="C0C0C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u-RU" altLang="ru-RU" dirty="0"/>
              </a:p>
            </p:txBody>
          </p:sp>
          <p:sp>
            <p:nvSpPr>
              <p:cNvPr id="68" name="Line 519"/>
              <p:cNvSpPr>
                <a:spLocks noChangeShapeType="1"/>
              </p:cNvSpPr>
              <p:nvPr/>
            </p:nvSpPr>
            <p:spPr bwMode="auto">
              <a:xfrm>
                <a:off x="3926" y="704"/>
                <a:ext cx="79"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69" name="Line 520"/>
              <p:cNvSpPr>
                <a:spLocks noChangeShapeType="1"/>
              </p:cNvSpPr>
              <p:nvPr/>
            </p:nvSpPr>
            <p:spPr bwMode="auto">
              <a:xfrm flipV="1">
                <a:off x="3995"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70" name="Line 521"/>
              <p:cNvSpPr>
                <a:spLocks noChangeShapeType="1"/>
              </p:cNvSpPr>
              <p:nvPr/>
            </p:nvSpPr>
            <p:spPr bwMode="auto">
              <a:xfrm flipV="1">
                <a:off x="3938" y="661"/>
                <a:ext cx="1" cy="19"/>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71" name="Line 522"/>
              <p:cNvSpPr>
                <a:spLocks noChangeShapeType="1"/>
              </p:cNvSpPr>
              <p:nvPr/>
            </p:nvSpPr>
            <p:spPr bwMode="auto">
              <a:xfrm>
                <a:off x="3850" y="661"/>
                <a:ext cx="234" cy="1"/>
              </a:xfrm>
              <a:prstGeom prst="line">
                <a:avLst/>
              </a:prstGeom>
              <a:noFill/>
              <a:ln w="1588">
                <a:solidFill>
                  <a:srgbClr val="C0C0C0"/>
                </a:solidFill>
                <a:round/>
                <a:headEnd/>
                <a:tailEnd/>
              </a:ln>
              <a:extLst>
                <a:ext uri="{909E8E84-426E-40DD-AFC4-6F175D3DCCD1}">
                  <a14:hiddenFill xmlns:a14="http://schemas.microsoft.com/office/drawing/2010/main">
                    <a:noFill/>
                  </a14:hiddenFill>
                </a:ext>
              </a:extLst>
            </p:spPr>
            <p:txBody>
              <a:bodyPr/>
              <a:lstStyle/>
              <a:p>
                <a:endParaRPr lang="ru-RU" dirty="0"/>
              </a:p>
            </p:txBody>
          </p:sp>
          <p:sp>
            <p:nvSpPr>
              <p:cNvPr id="72" name="Freeform 523"/>
              <p:cNvSpPr>
                <a:spLocks/>
              </p:cNvSpPr>
              <p:nvPr/>
            </p:nvSpPr>
            <p:spPr bwMode="auto">
              <a:xfrm>
                <a:off x="3828" y="821"/>
                <a:ext cx="277" cy="2"/>
              </a:xfrm>
              <a:custGeom>
                <a:avLst/>
                <a:gdLst>
                  <a:gd name="T0" fmla="*/ 277 w 277"/>
                  <a:gd name="T1" fmla="*/ 2 h 2"/>
                  <a:gd name="T2" fmla="*/ 139 w 277"/>
                  <a:gd name="T3" fmla="*/ 0 h 2"/>
                  <a:gd name="T4" fmla="*/ 0 w 277"/>
                  <a:gd name="T5" fmla="*/ 2 h 2"/>
                  <a:gd name="T6" fmla="*/ 0 60000 65536"/>
                  <a:gd name="T7" fmla="*/ 0 60000 65536"/>
                  <a:gd name="T8" fmla="*/ 0 60000 65536"/>
                  <a:gd name="T9" fmla="*/ 0 w 277"/>
                  <a:gd name="T10" fmla="*/ 0 h 2"/>
                  <a:gd name="T11" fmla="*/ 277 w 277"/>
                  <a:gd name="T12" fmla="*/ 2 h 2"/>
                </a:gdLst>
                <a:ahLst/>
                <a:cxnLst>
                  <a:cxn ang="T6">
                    <a:pos x="T0" y="T1"/>
                  </a:cxn>
                  <a:cxn ang="T7">
                    <a:pos x="T2" y="T3"/>
                  </a:cxn>
                  <a:cxn ang="T8">
                    <a:pos x="T4" y="T5"/>
                  </a:cxn>
                </a:cxnLst>
                <a:rect l="T9" t="T10" r="T11" b="T12"/>
                <a:pathLst>
                  <a:path w="277" h="2">
                    <a:moveTo>
                      <a:pt x="277" y="2"/>
                    </a:moveTo>
                    <a:lnTo>
                      <a:pt x="139" y="0"/>
                    </a:lnTo>
                    <a:lnTo>
                      <a:pt x="0" y="2"/>
                    </a:lnTo>
                  </a:path>
                </a:pathLst>
              </a:custGeom>
              <a:solidFill>
                <a:srgbClr val="000000"/>
              </a:solidFill>
              <a:ln w="1588">
                <a:solidFill>
                  <a:srgbClr val="C0C0C0"/>
                </a:solidFill>
                <a:prstDash val="solid"/>
                <a:round/>
                <a:headEnd/>
                <a:tailEnd/>
              </a:ln>
            </p:spPr>
            <p:txBody>
              <a:bodyPr/>
              <a:lstStyle/>
              <a:p>
                <a:endParaRPr lang="ru-RU" dirty="0"/>
              </a:p>
            </p:txBody>
          </p:sp>
        </p:grpSp>
        <p:sp>
          <p:nvSpPr>
            <p:cNvPr id="44" name="Rectangle 524"/>
            <p:cNvSpPr>
              <a:spLocks noChangeArrowheads="1"/>
            </p:cNvSpPr>
            <p:nvPr/>
          </p:nvSpPr>
          <p:spPr bwMode="auto">
            <a:xfrm>
              <a:off x="7229475" y="2622550"/>
              <a:ext cx="1914525" cy="54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kumimoji="1" lang="ru-RU" altLang="ja-JP" sz="1600" b="1" dirty="0"/>
                <a:t>Отдел главного технолога</a:t>
              </a:r>
              <a:endParaRPr kumimoji="1" lang="en-US" altLang="ja-JP" sz="1600" b="1" dirty="0">
                <a:ea typeface="ＭＳ Ｐゴシック" panose="020B0600070205080204" pitchFamily="34" charset="-128"/>
              </a:endParaRPr>
            </a:p>
          </p:txBody>
        </p:sp>
        <p:sp>
          <p:nvSpPr>
            <p:cNvPr id="45" name="Rectangle 525"/>
            <p:cNvSpPr>
              <a:spLocks noChangeArrowheads="1"/>
            </p:cNvSpPr>
            <p:nvPr/>
          </p:nvSpPr>
          <p:spPr bwMode="auto">
            <a:xfrm>
              <a:off x="1828800" y="1676400"/>
              <a:ext cx="1390650" cy="31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Диспетчер</a:t>
              </a:r>
              <a:endParaRPr kumimoji="1" lang="en-US" altLang="ja-JP" sz="1600" b="1" dirty="0">
                <a:ea typeface="ＭＳ Ｐゴシック" panose="020B0600070205080204" pitchFamily="34" charset="-128"/>
              </a:endParaRPr>
            </a:p>
          </p:txBody>
        </p:sp>
        <p:sp>
          <p:nvSpPr>
            <p:cNvPr id="46" name="Rectangle 527"/>
            <p:cNvSpPr>
              <a:spLocks noChangeArrowheads="1"/>
            </p:cNvSpPr>
            <p:nvPr/>
          </p:nvSpPr>
          <p:spPr bwMode="auto">
            <a:xfrm>
              <a:off x="990600" y="3003550"/>
              <a:ext cx="2438400" cy="54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Производственный отдел</a:t>
              </a:r>
              <a:endParaRPr kumimoji="1" lang="en-US" altLang="ja-JP" sz="1600" b="1" dirty="0">
                <a:ea typeface="ＭＳ Ｐゴシック" panose="020B0600070205080204" pitchFamily="34" charset="-128"/>
              </a:endParaRPr>
            </a:p>
          </p:txBody>
        </p:sp>
        <p:sp>
          <p:nvSpPr>
            <p:cNvPr id="47" name="Rectangle 528"/>
            <p:cNvSpPr>
              <a:spLocks noChangeArrowheads="1"/>
            </p:cNvSpPr>
            <p:nvPr/>
          </p:nvSpPr>
          <p:spPr bwMode="auto">
            <a:xfrm>
              <a:off x="1497013" y="4902200"/>
              <a:ext cx="1254125" cy="54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Плановый отдел</a:t>
              </a:r>
              <a:endParaRPr kumimoji="1" lang="en-US" altLang="ja-JP" sz="1600" b="1" dirty="0">
                <a:ea typeface="ＭＳ Ｐゴシック" panose="020B0600070205080204" pitchFamily="34" charset="-128"/>
              </a:endParaRPr>
            </a:p>
          </p:txBody>
        </p:sp>
        <p:sp>
          <p:nvSpPr>
            <p:cNvPr id="48" name="Rectangle 529"/>
            <p:cNvSpPr>
              <a:spLocks noChangeArrowheads="1"/>
            </p:cNvSpPr>
            <p:nvPr/>
          </p:nvSpPr>
          <p:spPr bwMode="auto">
            <a:xfrm>
              <a:off x="4191000" y="6219825"/>
              <a:ext cx="2751138" cy="31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ja-JP" sz="1600" b="1" dirty="0"/>
                <a:t>Экологический отдел</a:t>
              </a:r>
              <a:endParaRPr kumimoji="1" lang="en-US" altLang="ja-JP" sz="1600" b="1" dirty="0">
                <a:ea typeface="ＭＳ Ｐゴシック" panose="020B0600070205080204" pitchFamily="34" charset="-128"/>
              </a:endParaRPr>
            </a:p>
          </p:txBody>
        </p:sp>
      </p:grpSp>
    </p:spTree>
    <p:extLst>
      <p:ext uri="{BB962C8B-B14F-4D97-AF65-F5344CB8AC3E}">
        <p14:creationId xmlns:p14="http://schemas.microsoft.com/office/powerpoint/2010/main" val="259259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Зачем нужен </a:t>
            </a:r>
            <a:r>
              <a:rPr lang="en-US" dirty="0"/>
              <a:t>PI </a:t>
            </a:r>
            <a:r>
              <a:rPr lang="en-US" dirty="0" smtClean="0"/>
              <a:t>System</a:t>
            </a:r>
            <a:endParaRPr lang="ru-RU" dirty="0"/>
          </a:p>
        </p:txBody>
      </p:sp>
      <p:sp>
        <p:nvSpPr>
          <p:cNvPr id="3" name="Номер слайда 2"/>
          <p:cNvSpPr>
            <a:spLocks noGrp="1"/>
          </p:cNvSpPr>
          <p:nvPr>
            <p:ph type="sldNum" sz="quarter" idx="12"/>
          </p:nvPr>
        </p:nvSpPr>
        <p:spPr/>
        <p:txBody>
          <a:bodyPr/>
          <a:lstStyle/>
          <a:p>
            <a:fld id="{5100B139-BD82-4293-9FDA-44725340297B}" type="slidenum">
              <a:rPr lang="ru-RU" smtClean="0"/>
              <a:pPr/>
              <a:t>8</a:t>
            </a:fld>
            <a:endParaRPr lang="ru-RU"/>
          </a:p>
        </p:txBody>
      </p:sp>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2840" y="2348880"/>
            <a:ext cx="2352675" cy="2352675"/>
          </a:xfrm>
          <a:prstGeom prst="rect">
            <a:avLst/>
          </a:prstGeom>
        </p:spPr>
      </p:pic>
      <p:pic>
        <p:nvPicPr>
          <p:cNvPr id="5" name="Рисунок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78731" y="4045890"/>
            <a:ext cx="1149590" cy="1149590"/>
          </a:xfrm>
          <a:prstGeom prst="rect">
            <a:avLst/>
          </a:prstGeom>
        </p:spPr>
      </p:pic>
      <p:pic>
        <p:nvPicPr>
          <p:cNvPr id="6" name="Рисунок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54964" y="2338523"/>
            <a:ext cx="1344995" cy="1344995"/>
          </a:xfrm>
          <a:prstGeom prst="rect">
            <a:avLst/>
          </a:prstGeom>
        </p:spPr>
      </p:pic>
      <p:pic>
        <p:nvPicPr>
          <p:cNvPr id="7" name="Рисунок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32042" y="5407784"/>
            <a:ext cx="1048087" cy="1048087"/>
          </a:xfrm>
          <a:prstGeom prst="rect">
            <a:avLst/>
          </a:prstGeom>
        </p:spPr>
      </p:pic>
      <p:pic>
        <p:nvPicPr>
          <p:cNvPr id="8" name="Рисунок 7"/>
          <p:cNvPicPr>
            <a:picLocks noChangeAspect="1"/>
          </p:cNvPicPr>
          <p:nvPr/>
        </p:nvPicPr>
        <p:blipFill>
          <a:blip r:embed="rId7" cstate="print">
            <a:duotone>
              <a:schemeClr val="accent1">
                <a:shade val="45000"/>
                <a:satMod val="135000"/>
              </a:schemeClr>
              <a:prstClr val="white"/>
            </a:duotone>
            <a:extLst>
              <a:ext uri="{BEBA8EAE-BF5A-486C-A8C5-ECC9F3942E4B}">
                <a14:imgProps xmlns:a14="http://schemas.microsoft.com/office/drawing/2010/main">
                  <a14:imgLayer r:embed="rId8">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333990" y="1363626"/>
            <a:ext cx="985254" cy="985254"/>
          </a:xfrm>
          <a:prstGeom prst="rect">
            <a:avLst/>
          </a:prstGeom>
        </p:spPr>
      </p:pic>
      <p:pic>
        <p:nvPicPr>
          <p:cNvPr id="9" name="Рисунок 8"/>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rot="1432065">
            <a:off x="2237381" y="2021295"/>
            <a:ext cx="1341557" cy="1349917"/>
          </a:xfrm>
          <a:prstGeom prst="rect">
            <a:avLst/>
          </a:prstGeom>
        </p:spPr>
      </p:pic>
      <p:pic>
        <p:nvPicPr>
          <p:cNvPr id="10" name="Рисунок 9"/>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a:off x="2027244" y="2850258"/>
            <a:ext cx="1349917" cy="1349917"/>
          </a:xfrm>
          <a:prstGeom prst="rect">
            <a:avLst/>
          </a:prstGeom>
        </p:spPr>
      </p:pic>
      <p:pic>
        <p:nvPicPr>
          <p:cNvPr id="11" name="Рисунок 10"/>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rot="19763452">
            <a:off x="2225076" y="3756349"/>
            <a:ext cx="1349917" cy="1349917"/>
          </a:xfrm>
          <a:prstGeom prst="rect">
            <a:avLst/>
          </a:prstGeom>
        </p:spPr>
      </p:pic>
      <p:pic>
        <p:nvPicPr>
          <p:cNvPr id="12" name="Рисунок 11"/>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rot="19967845">
            <a:off x="5698012" y="1790017"/>
            <a:ext cx="1349917" cy="1349917"/>
          </a:xfrm>
          <a:prstGeom prst="rect">
            <a:avLst/>
          </a:prstGeom>
        </p:spPr>
      </p:pic>
      <p:pic>
        <p:nvPicPr>
          <p:cNvPr id="13" name="Рисунок 12"/>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rot="1112290">
            <a:off x="6021119" y="3445930"/>
            <a:ext cx="1349917" cy="1349917"/>
          </a:xfrm>
          <a:prstGeom prst="rect">
            <a:avLst/>
          </a:prstGeom>
        </p:spPr>
      </p:pic>
      <p:pic>
        <p:nvPicPr>
          <p:cNvPr id="14" name="Рисунок 13"/>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rot="1967007">
            <a:off x="5546642" y="4335089"/>
            <a:ext cx="1349917" cy="1349917"/>
          </a:xfrm>
          <a:prstGeom prst="rect">
            <a:avLst/>
          </a:prstGeom>
        </p:spPr>
      </p:pic>
      <p:pic>
        <p:nvPicPr>
          <p:cNvPr id="15" name="Рисунок 14"/>
          <p:cNvPicPr>
            <a:picLocks noChangeAspect="1"/>
          </p:cNvPicPr>
          <p:nvPr/>
        </p:nvPicPr>
        <p:blipFill>
          <a:blip r:embed="rId9" cstate="print">
            <a:duotone>
              <a:prstClr val="black"/>
              <a:srgbClr val="FFFF6B">
                <a:tint val="45000"/>
                <a:satMod val="400000"/>
              </a:srgbClr>
            </a:duotone>
            <a:extLst>
              <a:ext uri="{28A0092B-C50C-407E-A947-70E740481C1C}">
                <a14:useLocalDpi xmlns:a14="http://schemas.microsoft.com/office/drawing/2010/main" val="0"/>
              </a:ext>
            </a:extLst>
          </a:blip>
          <a:stretch>
            <a:fillRect/>
          </a:stretch>
        </p:blipFill>
        <p:spPr>
          <a:xfrm rot="21338517">
            <a:off x="6075973" y="2522983"/>
            <a:ext cx="1349917" cy="1349917"/>
          </a:xfrm>
          <a:prstGeom prst="rect">
            <a:avLst/>
          </a:prstGeom>
        </p:spPr>
      </p:pic>
      <p:pic>
        <p:nvPicPr>
          <p:cNvPr id="16" name="Рисунок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19537" y="4574973"/>
            <a:ext cx="1229243" cy="1081735"/>
          </a:xfrm>
          <a:prstGeom prst="rect">
            <a:avLst/>
          </a:prstGeom>
        </p:spPr>
      </p:pic>
      <p:pic>
        <p:nvPicPr>
          <p:cNvPr id="17" name="Рисунок 1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44198" y="3011020"/>
            <a:ext cx="1109868" cy="1109868"/>
          </a:xfrm>
          <a:prstGeom prst="rect">
            <a:avLst/>
          </a:prstGeom>
        </p:spPr>
      </p:pic>
      <p:pic>
        <p:nvPicPr>
          <p:cNvPr id="18" name="Рисунок 17"/>
          <p:cNvPicPr>
            <a:picLocks noChangeAspect="1"/>
          </p:cNvPicPr>
          <p:nvPr/>
        </p:nvPicPr>
        <p:blipFill>
          <a:blip r:embed="rId1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911571" y="1563832"/>
            <a:ext cx="1065986" cy="1065986"/>
          </a:xfrm>
          <a:prstGeom prst="rect">
            <a:avLst/>
          </a:prstGeom>
        </p:spPr>
      </p:pic>
    </p:spTree>
    <p:extLst>
      <p:ext uri="{BB962C8B-B14F-4D97-AF65-F5344CB8AC3E}">
        <p14:creationId xmlns:p14="http://schemas.microsoft.com/office/powerpoint/2010/main" val="88485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Компоненты </a:t>
            </a:r>
            <a:r>
              <a:rPr lang="ru-RU" dirty="0" smtClean="0"/>
              <a:t>системы</a:t>
            </a:r>
            <a:endParaRPr lang="ru-RU" dirty="0"/>
          </a:p>
        </p:txBody>
      </p:sp>
      <p:sp>
        <p:nvSpPr>
          <p:cNvPr id="3" name="Номер слайда 2"/>
          <p:cNvSpPr>
            <a:spLocks noGrp="1"/>
          </p:cNvSpPr>
          <p:nvPr>
            <p:ph type="sldNum" sz="quarter" idx="12"/>
          </p:nvPr>
        </p:nvSpPr>
        <p:spPr/>
        <p:txBody>
          <a:bodyPr/>
          <a:lstStyle/>
          <a:p>
            <a:fld id="{5100B139-BD82-4293-9FDA-44725340297B}" type="slidenum">
              <a:rPr lang="ru-RU" smtClean="0"/>
              <a:pPr/>
              <a:t>9</a:t>
            </a:fld>
            <a:endParaRPr lang="ru-RU"/>
          </a:p>
        </p:txBody>
      </p:sp>
      <p:pic>
        <p:nvPicPr>
          <p:cNvPr id="4" name="Рисунок 3"/>
          <p:cNvPicPr/>
          <p:nvPr/>
        </p:nvPicPr>
        <p:blipFill>
          <a:blip r:embed="rId3"/>
          <a:stretch>
            <a:fillRect/>
          </a:stretch>
        </p:blipFill>
        <p:spPr>
          <a:xfrm>
            <a:off x="1958768" y="903156"/>
            <a:ext cx="7903684" cy="5406164"/>
          </a:xfrm>
          <a:prstGeom prst="rect">
            <a:avLst/>
          </a:prstGeom>
          <a:ln>
            <a:solidFill>
              <a:srgbClr val="FCFC17"/>
            </a:solidFill>
          </a:ln>
        </p:spPr>
      </p:pic>
      <p:sp>
        <p:nvSpPr>
          <p:cNvPr id="6" name="Прямоугольник с одним вырезанным углом 5"/>
          <p:cNvSpPr/>
          <p:nvPr/>
        </p:nvSpPr>
        <p:spPr bwMode="auto">
          <a:xfrm rot="10800000" flipV="1">
            <a:off x="129924" y="1629847"/>
            <a:ext cx="1743937" cy="431334"/>
          </a:xfrm>
          <a:prstGeom prst="snip1Rect">
            <a:avLst/>
          </a:prstGeom>
          <a:solidFill>
            <a:schemeClr val="accent1">
              <a:lumMod val="40000"/>
              <a:lumOff val="60000"/>
            </a:schemeClr>
          </a:solidFill>
          <a:ln>
            <a:noFill/>
          </a:ln>
          <a:extLst/>
        </p:spPr>
        <p:txBody>
          <a:bodyPr wrap="none" lIns="97707" tIns="48854" rIns="97707" bIns="48854" anchor="ctr"/>
          <a:lstStyle/>
          <a:p>
            <a:r>
              <a:rPr lang="ru-RU" sz="1400" b="1" dirty="0">
                <a:latin typeface="Times New Roman" panose="02020603050405020304" pitchFamily="18" charset="0"/>
                <a:cs typeface="Times New Roman" panose="02020603050405020304" pitchFamily="18" charset="0"/>
              </a:rPr>
              <a:t>PI </a:t>
            </a:r>
            <a:r>
              <a:rPr lang="ru-RU" sz="1400" b="1" dirty="0" smtClean="0">
                <a:latin typeface="Times New Roman" panose="02020603050405020304" pitchFamily="18" charset="0"/>
                <a:cs typeface="Times New Roman" panose="02020603050405020304" pitchFamily="18" charset="0"/>
              </a:rPr>
              <a:t>AF</a:t>
            </a:r>
            <a:endParaRPr lang="ru-RU" sz="1400" b="1" dirty="0">
              <a:latin typeface="Times New Roman" panose="02020603050405020304" pitchFamily="18" charset="0"/>
              <a:cs typeface="Times New Roman" panose="02020603050405020304" pitchFamily="18" charset="0"/>
            </a:endParaRPr>
          </a:p>
        </p:txBody>
      </p:sp>
      <p:sp>
        <p:nvSpPr>
          <p:cNvPr id="7" name="Прямоугольник с одним вырезанным углом 6"/>
          <p:cNvSpPr/>
          <p:nvPr/>
        </p:nvSpPr>
        <p:spPr bwMode="auto">
          <a:xfrm rot="10800000" flipV="1">
            <a:off x="128464" y="980728"/>
            <a:ext cx="1743938" cy="470838"/>
          </a:xfrm>
          <a:prstGeom prst="snip1Rect">
            <a:avLst/>
          </a:prstGeom>
          <a:solidFill>
            <a:schemeClr val="accent1">
              <a:lumMod val="40000"/>
              <a:lumOff val="60000"/>
            </a:schemeClr>
          </a:solidFill>
          <a:ln>
            <a:noFill/>
          </a:ln>
          <a:extLst/>
        </p:spPr>
        <p:txBody>
          <a:bodyPr wrap="none" lIns="97707" tIns="48854" rIns="97707" bIns="48854" anchor="ctr"/>
          <a:lstStyle/>
          <a:p>
            <a:r>
              <a:rPr lang="ru-RU" sz="1400" b="1" dirty="0">
                <a:latin typeface="Times New Roman" panose="02020603050405020304" pitchFamily="18" charset="0"/>
                <a:cs typeface="Times New Roman" panose="02020603050405020304" pitchFamily="18" charset="0"/>
              </a:rPr>
              <a:t>PI ACE</a:t>
            </a:r>
          </a:p>
        </p:txBody>
      </p:sp>
      <p:sp>
        <p:nvSpPr>
          <p:cNvPr id="8" name="Прямоугольник с одним вырезанным углом 7"/>
          <p:cNvSpPr/>
          <p:nvPr/>
        </p:nvSpPr>
        <p:spPr bwMode="auto">
          <a:xfrm rot="10800000" flipV="1">
            <a:off x="128464" y="3485370"/>
            <a:ext cx="1743940" cy="462958"/>
          </a:xfrm>
          <a:prstGeom prst="snip1Rect">
            <a:avLst>
              <a:gd name="adj" fmla="val 16853"/>
            </a:avLst>
          </a:prstGeom>
          <a:solidFill>
            <a:schemeClr val="accent1">
              <a:lumMod val="40000"/>
              <a:lumOff val="60000"/>
            </a:schemeClr>
          </a:solidFill>
          <a:ln>
            <a:noFill/>
          </a:ln>
          <a:extLst/>
        </p:spPr>
        <p:txBody>
          <a:bodyPr wrap="none" lIns="97707" tIns="48854" rIns="97707" bIns="48854" anchor="ctr"/>
          <a:lstStyle/>
          <a:p>
            <a:r>
              <a:rPr lang="ru-RU" sz="1400" b="1" dirty="0">
                <a:latin typeface="Times New Roman" panose="02020603050405020304" pitchFamily="18" charset="0"/>
                <a:cs typeface="Times New Roman" panose="02020603050405020304" pitchFamily="18" charset="0"/>
              </a:rPr>
              <a:t>PI OPC Interface</a:t>
            </a:r>
          </a:p>
        </p:txBody>
      </p:sp>
      <p:sp>
        <p:nvSpPr>
          <p:cNvPr id="9" name="Прямоугольник с одним вырезанным углом 8"/>
          <p:cNvSpPr/>
          <p:nvPr/>
        </p:nvSpPr>
        <p:spPr bwMode="auto">
          <a:xfrm rot="10800000" flipV="1">
            <a:off x="129921" y="2213773"/>
            <a:ext cx="1743940" cy="433818"/>
          </a:xfrm>
          <a:prstGeom prst="snip1Rect">
            <a:avLst/>
          </a:prstGeom>
          <a:solidFill>
            <a:schemeClr val="accent1">
              <a:lumMod val="40000"/>
              <a:lumOff val="60000"/>
            </a:schemeClr>
          </a:solidFill>
          <a:ln>
            <a:noFill/>
          </a:ln>
          <a:extLst/>
        </p:spPr>
        <p:txBody>
          <a:bodyPr wrap="none" lIns="97707" tIns="48854" rIns="97707" bIns="48854" anchor="ctr"/>
          <a:lstStyle/>
          <a:p>
            <a:r>
              <a:rPr lang="ru-RU" sz="1400" b="1" dirty="0">
                <a:latin typeface="Times New Roman" panose="02020603050405020304" pitchFamily="18" charset="0"/>
                <a:cs typeface="Times New Roman" panose="02020603050405020304" pitchFamily="18" charset="0"/>
              </a:rPr>
              <a:t>PI ProcessBook</a:t>
            </a:r>
          </a:p>
        </p:txBody>
      </p:sp>
      <p:sp>
        <p:nvSpPr>
          <p:cNvPr id="10" name="Прямоугольник с одним вырезанным углом 9"/>
          <p:cNvSpPr/>
          <p:nvPr/>
        </p:nvSpPr>
        <p:spPr bwMode="auto">
          <a:xfrm rot="10800000" flipV="1">
            <a:off x="128464" y="2815061"/>
            <a:ext cx="1743940" cy="500427"/>
          </a:xfrm>
          <a:prstGeom prst="snip1Rect">
            <a:avLst>
              <a:gd name="adj" fmla="val 15233"/>
            </a:avLst>
          </a:prstGeom>
          <a:solidFill>
            <a:schemeClr val="accent1">
              <a:lumMod val="40000"/>
              <a:lumOff val="60000"/>
            </a:schemeClr>
          </a:solidFill>
          <a:ln>
            <a:noFill/>
          </a:ln>
          <a:extLst/>
        </p:spPr>
        <p:txBody>
          <a:bodyPr wrap="none" lIns="97707" tIns="48854" rIns="97707" bIns="48854" anchor="ctr"/>
          <a:lstStyle/>
          <a:p>
            <a:r>
              <a:rPr lang="en-US" sz="1400" b="1" dirty="0">
                <a:latin typeface="Times New Roman" panose="02020603050405020304" pitchFamily="18" charset="0"/>
                <a:cs typeface="Times New Roman" panose="02020603050405020304" pitchFamily="18" charset="0"/>
              </a:rPr>
              <a:t>PI SDK/API</a:t>
            </a:r>
            <a:endParaRPr lang="ru-RU" sz="1400" b="1" dirty="0">
              <a:latin typeface="Times New Roman" panose="02020603050405020304" pitchFamily="18" charset="0"/>
              <a:cs typeface="Times New Roman" panose="02020603050405020304" pitchFamily="18" charset="0"/>
            </a:endParaRPr>
          </a:p>
        </p:txBody>
      </p:sp>
      <p:sp>
        <p:nvSpPr>
          <p:cNvPr id="11" name="Прямоугольник с одним вырезанным углом 10"/>
          <p:cNvSpPr/>
          <p:nvPr/>
        </p:nvSpPr>
        <p:spPr bwMode="auto">
          <a:xfrm rot="10800000" flipV="1">
            <a:off x="128464" y="4111378"/>
            <a:ext cx="1743940" cy="500427"/>
          </a:xfrm>
          <a:prstGeom prst="snip1Rect">
            <a:avLst>
              <a:gd name="adj" fmla="val 15233"/>
            </a:avLst>
          </a:prstGeom>
          <a:solidFill>
            <a:schemeClr val="accent1">
              <a:lumMod val="40000"/>
              <a:lumOff val="60000"/>
            </a:schemeClr>
          </a:solidFill>
          <a:ln>
            <a:noFill/>
          </a:ln>
          <a:extLst/>
        </p:spPr>
        <p:txBody>
          <a:bodyPr wrap="none" lIns="97707" tIns="48854" rIns="97707" bIns="48854" anchor="ctr"/>
          <a:lstStyle/>
          <a:p>
            <a:r>
              <a:rPr lang="en-US" sz="1400" b="1" dirty="0">
                <a:latin typeface="Times New Roman" panose="02020603050405020304" pitchFamily="18" charset="0"/>
                <a:cs typeface="Times New Roman" panose="02020603050405020304" pitchFamily="18" charset="0"/>
              </a:rPr>
              <a:t>PI </a:t>
            </a:r>
            <a:r>
              <a:rPr lang="en-US" sz="1400" b="1" dirty="0" smtClean="0">
                <a:latin typeface="Times New Roman" panose="02020603050405020304" pitchFamily="18" charset="0"/>
                <a:cs typeface="Times New Roman" panose="02020603050405020304" pitchFamily="18" charset="0"/>
              </a:rPr>
              <a:t>SMT</a:t>
            </a:r>
            <a:endParaRPr lang="ru-RU" sz="1400" b="1" dirty="0">
              <a:latin typeface="Times New Roman" panose="02020603050405020304" pitchFamily="18" charset="0"/>
              <a:cs typeface="Times New Roman" panose="02020603050405020304" pitchFamily="18" charset="0"/>
            </a:endParaRPr>
          </a:p>
        </p:txBody>
      </p:sp>
      <p:sp>
        <p:nvSpPr>
          <p:cNvPr id="12" name="Прямоугольник с одним вырезанным углом 11"/>
          <p:cNvSpPr/>
          <p:nvPr/>
        </p:nvSpPr>
        <p:spPr bwMode="auto">
          <a:xfrm rot="10800000" flipV="1">
            <a:off x="127004" y="4774855"/>
            <a:ext cx="1743940" cy="500427"/>
          </a:xfrm>
          <a:prstGeom prst="snip1Rect">
            <a:avLst>
              <a:gd name="adj" fmla="val 15233"/>
            </a:avLst>
          </a:prstGeom>
          <a:solidFill>
            <a:schemeClr val="accent1">
              <a:lumMod val="40000"/>
              <a:lumOff val="60000"/>
            </a:schemeClr>
          </a:solidFill>
          <a:ln>
            <a:noFill/>
          </a:ln>
          <a:extLst/>
        </p:spPr>
        <p:txBody>
          <a:bodyPr wrap="none" lIns="97707" tIns="48854" rIns="97707" bIns="48854" anchor="ctr"/>
          <a:lstStyle/>
          <a:p>
            <a:r>
              <a:rPr lang="en-US" sz="1400" b="1" dirty="0">
                <a:latin typeface="Times New Roman" panose="02020603050405020304" pitchFamily="18" charset="0"/>
                <a:cs typeface="Times New Roman" panose="02020603050405020304" pitchFamily="18" charset="0"/>
              </a:rPr>
              <a:t>PI </a:t>
            </a:r>
            <a:r>
              <a:rPr lang="en-US" sz="1400" b="1" dirty="0" smtClean="0">
                <a:latin typeface="Times New Roman" panose="02020603050405020304" pitchFamily="18" charset="0"/>
                <a:cs typeface="Times New Roman" panose="02020603050405020304" pitchFamily="18" charset="0"/>
              </a:rPr>
              <a:t>SQL Commander</a:t>
            </a:r>
            <a:endParaRPr lang="ru-RU" sz="1400" b="1" dirty="0">
              <a:latin typeface="Times New Roman" panose="02020603050405020304" pitchFamily="18" charset="0"/>
              <a:cs typeface="Times New Roman" panose="02020603050405020304" pitchFamily="18" charset="0"/>
            </a:endParaRPr>
          </a:p>
        </p:txBody>
      </p:sp>
      <p:sp>
        <p:nvSpPr>
          <p:cNvPr id="13" name="Прямоугольник с одним вырезанным углом 12"/>
          <p:cNvSpPr/>
          <p:nvPr/>
        </p:nvSpPr>
        <p:spPr bwMode="auto">
          <a:xfrm rot="10800000" flipV="1">
            <a:off x="127004" y="5461557"/>
            <a:ext cx="1743940" cy="500427"/>
          </a:xfrm>
          <a:prstGeom prst="snip1Rect">
            <a:avLst>
              <a:gd name="adj" fmla="val 15233"/>
            </a:avLst>
          </a:prstGeom>
          <a:solidFill>
            <a:schemeClr val="accent1">
              <a:lumMod val="40000"/>
              <a:lumOff val="60000"/>
            </a:schemeClr>
          </a:solidFill>
          <a:ln>
            <a:noFill/>
          </a:ln>
          <a:extLst/>
        </p:spPr>
        <p:txBody>
          <a:bodyPr wrap="none" lIns="97707" tIns="48854" rIns="97707" bIns="48854" anchor="ctr"/>
          <a:lstStyle/>
          <a:p>
            <a:r>
              <a:rPr lang="en-US" sz="1400" b="1" dirty="0">
                <a:latin typeface="Times New Roman" panose="02020603050405020304" pitchFamily="18" charset="0"/>
                <a:cs typeface="Times New Roman" panose="02020603050405020304" pitchFamily="18" charset="0"/>
              </a:rPr>
              <a:t>PI Notifications</a:t>
            </a:r>
            <a:endParaRPr lang="ru-RU"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681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Польза для </a:t>
            </a:r>
            <a:r>
              <a:rPr lang="ru-RU" dirty="0" smtClean="0"/>
              <a:t>производства</a:t>
            </a:r>
            <a:endParaRPr lang="ru-RU" dirty="0"/>
          </a:p>
        </p:txBody>
      </p:sp>
      <p:sp>
        <p:nvSpPr>
          <p:cNvPr id="3" name="Номер слайда 2"/>
          <p:cNvSpPr>
            <a:spLocks noGrp="1"/>
          </p:cNvSpPr>
          <p:nvPr>
            <p:ph type="sldNum" sz="quarter" idx="12"/>
          </p:nvPr>
        </p:nvSpPr>
        <p:spPr>
          <a:xfrm>
            <a:off x="9417496" y="6714000"/>
            <a:ext cx="444956" cy="144000"/>
          </a:xfrm>
        </p:spPr>
        <p:txBody>
          <a:bodyPr/>
          <a:lstStyle/>
          <a:p>
            <a:fld id="{5100B139-BD82-4293-9FDA-44725340297B}" type="slidenum">
              <a:rPr lang="ru-RU" smtClean="0"/>
              <a:pPr/>
              <a:t>10</a:t>
            </a:fld>
            <a:endParaRPr lang="ru-RU" dirty="0"/>
          </a:p>
        </p:txBody>
      </p:sp>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2521" y="3499744"/>
            <a:ext cx="803910" cy="803910"/>
          </a:xfrm>
          <a:prstGeom prst="rect">
            <a:avLst/>
          </a:prstGeom>
        </p:spPr>
      </p:pic>
      <p:pic>
        <p:nvPicPr>
          <p:cNvPr id="5" name="Рисунок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2521" y="1193605"/>
            <a:ext cx="942238" cy="942238"/>
          </a:xfrm>
          <a:prstGeom prst="rect">
            <a:avLst/>
          </a:prstGeom>
        </p:spPr>
      </p:pic>
      <p:pic>
        <p:nvPicPr>
          <p:cNvPr id="6" name="Рисунок 5"/>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45279" y="4657257"/>
            <a:ext cx="903396" cy="903396"/>
          </a:xfrm>
          <a:prstGeom prst="rect">
            <a:avLst/>
          </a:prstGeom>
        </p:spPr>
      </p:pic>
      <p:pic>
        <p:nvPicPr>
          <p:cNvPr id="7" name="Рисунок 6"/>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743035" y="4637836"/>
            <a:ext cx="922817" cy="922817"/>
          </a:xfrm>
          <a:prstGeom prst="rect">
            <a:avLst/>
          </a:prstGeom>
        </p:spPr>
      </p:pic>
      <p:pic>
        <p:nvPicPr>
          <p:cNvPr id="8" name="Рисунок 7"/>
          <p:cNvPicPr>
            <a:picLocks noChangeAspect="1"/>
          </p:cNvPicPr>
          <p:nvPr/>
        </p:nvPicPr>
        <p:blipFill>
          <a:blip r:embed="rId7">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08431" y="4571531"/>
            <a:ext cx="1074848" cy="1074848"/>
          </a:xfrm>
          <a:prstGeom prst="rect">
            <a:avLst/>
          </a:prstGeom>
        </p:spPr>
      </p:pic>
      <p:sp>
        <p:nvSpPr>
          <p:cNvPr id="9" name="Прямоугольник 8"/>
          <p:cNvSpPr/>
          <p:nvPr/>
        </p:nvSpPr>
        <p:spPr>
          <a:xfrm>
            <a:off x="2864769" y="1556102"/>
            <a:ext cx="9335821" cy="369332"/>
          </a:xfrm>
          <a:prstGeom prst="rect">
            <a:avLst/>
          </a:prstGeom>
          <a:effectLst>
            <a:outerShdw blurRad="508000" algn="ctr" rotWithShape="0">
              <a:prstClr val="black">
                <a:alpha val="30000"/>
              </a:prstClr>
            </a:outerShdw>
          </a:effectLst>
        </p:spPr>
        <p:txBody>
          <a:bodyPr wrap="square" lIns="0" tIns="0" rIns="0" bIns="0" anchor="ctr">
            <a:spAutoFit/>
          </a:bodyPr>
          <a:lstStyle/>
          <a:p>
            <a:pPr lvl="0">
              <a:defRPr/>
            </a:pPr>
            <a:r>
              <a:rPr lang="ru-RU" sz="2400" b="1" dirty="0" smtClean="0"/>
              <a:t>Контроль производственных процессов </a:t>
            </a:r>
            <a:endParaRPr kumimoji="0" lang="ru-RU" sz="2400" b="1" u="none" strike="noStrike" kern="1200" cap="none" spc="0" normalizeH="0" baseline="0" noProof="0" dirty="0">
              <a:ln>
                <a:noFill/>
              </a:ln>
              <a:effectLst/>
              <a:uLnTx/>
              <a:uFillTx/>
              <a:latin typeface="Arial Black" panose="020B0604020202020204" pitchFamily="34" charset="0"/>
              <a:ea typeface="Calibri" panose="020F0502020204030204" pitchFamily="34" charset="0"/>
              <a:cs typeface="Arial Black" panose="020B0604020202020204" pitchFamily="34" charset="0"/>
            </a:endParaRPr>
          </a:p>
        </p:txBody>
      </p:sp>
      <p:sp>
        <p:nvSpPr>
          <p:cNvPr id="10" name="Прямоугольник 9"/>
          <p:cNvSpPr/>
          <p:nvPr/>
        </p:nvSpPr>
        <p:spPr>
          <a:xfrm>
            <a:off x="2864769" y="2580314"/>
            <a:ext cx="9335821" cy="369332"/>
          </a:xfrm>
          <a:prstGeom prst="rect">
            <a:avLst/>
          </a:prstGeom>
          <a:effectLst>
            <a:outerShdw blurRad="508000" algn="ctr" rotWithShape="0">
              <a:prstClr val="black">
                <a:alpha val="30000"/>
              </a:prstClr>
            </a:outerShdw>
          </a:effectLst>
        </p:spPr>
        <p:txBody>
          <a:bodyPr wrap="square" lIns="0" tIns="0" rIns="0" bIns="0" anchor="ctr">
            <a:spAutoFit/>
          </a:bodyPr>
          <a:lstStyle/>
          <a:p>
            <a:pPr lvl="0">
              <a:defRPr/>
            </a:pPr>
            <a:r>
              <a:rPr lang="ru-RU" sz="2400" b="1" dirty="0"/>
              <a:t>Автоматические расчеты </a:t>
            </a:r>
            <a:endParaRPr kumimoji="0" lang="ru-RU" sz="2400" b="1" u="none" strike="noStrike" kern="1200" cap="none" spc="0" normalizeH="0" baseline="0" noProof="0" dirty="0">
              <a:ln>
                <a:noFill/>
              </a:ln>
              <a:effectLst/>
              <a:uLnTx/>
              <a:uFillTx/>
              <a:latin typeface="Arial Black" panose="020B0604020202020204" pitchFamily="34" charset="0"/>
              <a:ea typeface="Calibri" panose="020F0502020204030204" pitchFamily="34" charset="0"/>
              <a:cs typeface="Arial Black" panose="020B0604020202020204" pitchFamily="34" charset="0"/>
            </a:endParaRPr>
          </a:p>
        </p:txBody>
      </p:sp>
      <p:sp>
        <p:nvSpPr>
          <p:cNvPr id="11" name="Прямоугольник 10"/>
          <p:cNvSpPr/>
          <p:nvPr/>
        </p:nvSpPr>
        <p:spPr>
          <a:xfrm>
            <a:off x="2864768" y="3717032"/>
            <a:ext cx="9335821" cy="369332"/>
          </a:xfrm>
          <a:prstGeom prst="rect">
            <a:avLst/>
          </a:prstGeom>
          <a:effectLst>
            <a:outerShdw blurRad="508000" algn="ctr" rotWithShape="0">
              <a:prstClr val="black">
                <a:alpha val="30000"/>
              </a:prstClr>
            </a:outerShdw>
          </a:effectLst>
        </p:spPr>
        <p:txBody>
          <a:bodyPr wrap="square" lIns="0" tIns="0" rIns="0" bIns="0" anchor="ctr">
            <a:spAutoFit/>
          </a:bodyPr>
          <a:lstStyle/>
          <a:p>
            <a:pPr lvl="0">
              <a:defRPr/>
            </a:pPr>
            <a:r>
              <a:rPr lang="ru-RU" sz="2400" b="1" dirty="0"/>
              <a:t>Снижение аварийности </a:t>
            </a:r>
            <a:endParaRPr kumimoji="0" lang="ru-RU" sz="2400" b="1" u="none" strike="noStrike" kern="1200" cap="none" spc="0" normalizeH="0" baseline="0" noProof="0" dirty="0">
              <a:ln>
                <a:noFill/>
              </a:ln>
              <a:effectLst/>
              <a:uLnTx/>
              <a:uFillTx/>
              <a:latin typeface="Arial Black" panose="020B0604020202020204" pitchFamily="34" charset="0"/>
              <a:ea typeface="Calibri" panose="020F0502020204030204" pitchFamily="34" charset="0"/>
              <a:cs typeface="Arial Black" panose="020B0604020202020204" pitchFamily="34" charset="0"/>
            </a:endParaRPr>
          </a:p>
        </p:txBody>
      </p:sp>
      <p:sp>
        <p:nvSpPr>
          <p:cNvPr id="12" name="Прямоугольник 11"/>
          <p:cNvSpPr/>
          <p:nvPr/>
        </p:nvSpPr>
        <p:spPr>
          <a:xfrm>
            <a:off x="2864768" y="4880303"/>
            <a:ext cx="9335821" cy="369332"/>
          </a:xfrm>
          <a:prstGeom prst="rect">
            <a:avLst/>
          </a:prstGeom>
          <a:effectLst>
            <a:outerShdw blurRad="508000" algn="ctr" rotWithShape="0">
              <a:prstClr val="black">
                <a:alpha val="30000"/>
              </a:prstClr>
            </a:outerShdw>
          </a:effectLst>
        </p:spPr>
        <p:txBody>
          <a:bodyPr wrap="square" lIns="0" tIns="0" rIns="0" bIns="0" anchor="ctr">
            <a:spAutoFit/>
          </a:bodyPr>
          <a:lstStyle/>
          <a:p>
            <a:pPr lvl="0">
              <a:defRPr/>
            </a:pPr>
            <a:r>
              <a:rPr lang="ru-RU" sz="2400" b="1" dirty="0"/>
              <a:t>Отчеты без ручной работы </a:t>
            </a:r>
            <a:endParaRPr kumimoji="0" lang="ru-RU" sz="2400" b="1" u="none" strike="noStrike" kern="1200" cap="none" spc="0" normalizeH="0" baseline="0" noProof="0" dirty="0">
              <a:ln>
                <a:noFill/>
              </a:ln>
              <a:effectLst/>
              <a:uLnTx/>
              <a:uFillTx/>
              <a:latin typeface="Arial Black" panose="020B0604020202020204" pitchFamily="34" charset="0"/>
              <a:ea typeface="Calibri" panose="020F0502020204030204" pitchFamily="34" charset="0"/>
              <a:cs typeface="Arial Black" panose="020B0604020202020204" pitchFamily="34" charset="0"/>
            </a:endParaRPr>
          </a:p>
        </p:txBody>
      </p:sp>
      <p:pic>
        <p:nvPicPr>
          <p:cNvPr id="13" name="Рисунок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28830" y="2278192"/>
            <a:ext cx="1031292" cy="1031292"/>
          </a:xfrm>
          <a:prstGeom prst="rect">
            <a:avLst/>
          </a:prstGeom>
        </p:spPr>
      </p:pic>
    </p:spTree>
    <p:extLst>
      <p:ext uri="{BB962C8B-B14F-4D97-AF65-F5344CB8AC3E}">
        <p14:creationId xmlns:p14="http://schemas.microsoft.com/office/powerpoint/2010/main" val="3497235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Используемые технологии и </a:t>
            </a:r>
            <a:r>
              <a:rPr lang="ru-RU" dirty="0" smtClean="0"/>
              <a:t>инструменты</a:t>
            </a:r>
            <a:endParaRPr lang="ru-RU" dirty="0"/>
          </a:p>
        </p:txBody>
      </p:sp>
      <p:sp>
        <p:nvSpPr>
          <p:cNvPr id="3" name="Номер слайда 2"/>
          <p:cNvSpPr>
            <a:spLocks noGrp="1"/>
          </p:cNvSpPr>
          <p:nvPr>
            <p:ph type="sldNum" sz="quarter" idx="12"/>
          </p:nvPr>
        </p:nvSpPr>
        <p:spPr>
          <a:xfrm>
            <a:off x="9417688" y="6714000"/>
            <a:ext cx="444764" cy="144000"/>
          </a:xfrm>
        </p:spPr>
        <p:txBody>
          <a:bodyPr/>
          <a:lstStyle/>
          <a:p>
            <a:fld id="{5100B139-BD82-4293-9FDA-44725340297B}" type="slidenum">
              <a:rPr lang="ru-RU" smtClean="0"/>
              <a:pPr/>
              <a:t>11</a:t>
            </a:fld>
            <a:endParaRPr lang="ru-RU" dirty="0"/>
          </a:p>
        </p:txBody>
      </p:sp>
      <p:sp>
        <p:nvSpPr>
          <p:cNvPr id="5" name="TextBox 4">
            <a:extLst>
              <a:ext uri="{FF2B5EF4-FFF2-40B4-BE49-F238E27FC236}">
                <a16:creationId xmlns="" xmlns:a16="http://schemas.microsoft.com/office/drawing/2014/main" id="{3A117E90-91D2-33BB-E6D4-D4A80AD589B7}"/>
              </a:ext>
            </a:extLst>
          </p:cNvPr>
          <p:cNvSpPr txBox="1"/>
          <p:nvPr/>
        </p:nvSpPr>
        <p:spPr>
          <a:xfrm>
            <a:off x="197363" y="1194261"/>
            <a:ext cx="3674124" cy="4501232"/>
          </a:xfrm>
          <a:prstGeom prst="rect">
            <a:avLst/>
          </a:prstGeom>
          <a:solidFill>
            <a:schemeClr val="tx2">
              <a:lumMod val="25000"/>
              <a:lumOff val="75000"/>
            </a:schemeClr>
          </a:solidFill>
        </p:spPr>
        <p:txBody>
          <a:bodyPr wrap="square" lIns="0" tIns="0" rIns="0" bIns="0">
            <a:spAutoFit/>
          </a:bodyPr>
          <a:lstStyle/>
          <a:p>
            <a:pPr marR="0" lvl="0" algn="ctr" defTabSz="914400" rtl="0" eaLnBrk="1" fontAlgn="auto" latinLnBrk="0" hangingPunct="1">
              <a:lnSpc>
                <a:spcPts val="2544"/>
              </a:lnSpc>
              <a:spcBef>
                <a:spcPts val="0"/>
              </a:spcBef>
              <a:spcAft>
                <a:spcPts val="1200"/>
              </a:spcAft>
              <a:buClr>
                <a:prstClr val="black"/>
              </a:buClr>
              <a:buSzTx/>
              <a:tabLst/>
              <a:defRPr/>
            </a:pPr>
            <a:r>
              <a:rPr kumimoji="0" lang="ru-RU" sz="1800" b="1" i="0" u="none" strike="noStrike" kern="12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ИТ-технологии:</a:t>
            </a:r>
            <a:endParaRPr kumimoji="0" lang="ru-RU"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177800" marR="0" lvl="0" indent="-6985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kumimoji="0" lang="ru-RU" sz="1800" b="1" i="0" u="none" strike="noStrike" kern="12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Языки</a:t>
            </a:r>
            <a:r>
              <a:rPr kumimoji="0" lang="ru-RU" sz="1800" b="1" i="0" u="none" strike="noStrike" kern="1200" cap="none" spc="0" normalizeH="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US" sz="1800" b="1" i="0" u="none" strike="noStrike" kern="1200" cap="none" spc="0" normalizeH="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.Net, SQL, PostgreSQL,     Python</a:t>
            </a:r>
            <a:endParaRPr kumimoji="0" lang="ru-RU"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108000">
              <a:lnSpc>
                <a:spcPts val="2544"/>
              </a:lnSpc>
              <a:spcAft>
                <a:spcPts val="800"/>
              </a:spcAft>
              <a:buClr>
                <a:prstClr val="black"/>
              </a:buClr>
              <a:buFont typeface="Wingdings" panose="05000000000000000000" pitchFamily="2" charset="2"/>
              <a:buChar char="§"/>
              <a:defRPr/>
            </a:pPr>
            <a:r>
              <a:rPr kumimoji="0" lang="en-US" sz="1800" b="1" i="0" u="none" strike="noStrike" kern="12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SQL Server</a:t>
            </a:r>
            <a:r>
              <a:rPr lang="ru-RU" b="1" dirty="0" smtClean="0">
                <a:solidFill>
                  <a:prstClr val="black"/>
                </a:solidFill>
                <a:latin typeface="Arial" panose="020B0604020202020204" pitchFamily="34" charset="0"/>
                <a:ea typeface="Calibri" panose="020F0502020204030204" pitchFamily="34" charset="0"/>
                <a:cs typeface="Arial" panose="020B0604020202020204" pitchFamily="34" charset="0"/>
              </a:rPr>
              <a:t>, </a:t>
            </a:r>
            <a:r>
              <a:rPr lang="en-US" b="1" dirty="0">
                <a:solidFill>
                  <a:prstClr val="black"/>
                </a:solidFill>
                <a:latin typeface="Arial" panose="020B0604020202020204" pitchFamily="34" charset="0"/>
                <a:ea typeface="Calibri" panose="020F0502020204030204" pitchFamily="34" charset="0"/>
                <a:cs typeface="Arial" panose="020B0604020202020204" pitchFamily="34" charset="0"/>
              </a:rPr>
              <a:t>pgAdmin</a:t>
            </a:r>
            <a:endParaRPr lang="ru-RU" b="1"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marL="108000" marR="0" lvl="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kumimoji="0" lang="en-US" sz="1800" b="1" i="0" u="none" strike="noStrike" kern="1200" cap="none" spc="0" normalizeH="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PI-Syste</a:t>
            </a: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m</a:t>
            </a:r>
            <a:endParaRPr lang="ru-RU" b="1"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p>
            <a:pPr marL="108000" marR="0" lvl="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Grafana</a:t>
            </a:r>
          </a:p>
          <a:p>
            <a:pPr marL="108000" marR="0" lvl="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Kecloack</a:t>
            </a:r>
            <a:endParaRPr lang="ru-RU" b="1"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p>
            <a:pPr marL="108000" marR="0" lvl="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Apache Kafka</a:t>
            </a:r>
            <a:endParaRPr lang="ru-RU" b="1"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p>
            <a:pPr marL="108000" marR="0" lvl="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Apache Airflow</a:t>
            </a:r>
          </a:p>
          <a:p>
            <a:pPr marL="108000" marR="0" lvl="0" algn="l" defTabSz="914400" rtl="0" eaLnBrk="1" fontAlgn="auto" latinLnBrk="0" hangingPunct="1">
              <a:lnSpc>
                <a:spcPts val="2544"/>
              </a:lnSpc>
              <a:spcBef>
                <a:spcPts val="0"/>
              </a:spcBef>
              <a:spcAft>
                <a:spcPts val="800"/>
              </a:spcAft>
              <a:buClr>
                <a:prstClr val="black"/>
              </a:buClr>
              <a:buSzTx/>
              <a:buFont typeface="Wingdings" panose="05000000000000000000" pitchFamily="2" charset="2"/>
              <a:buChar char="§"/>
              <a:tabLst/>
              <a:defRPr/>
            </a:pP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IIS</a:t>
            </a:r>
          </a:p>
          <a:p>
            <a:pPr marL="108000">
              <a:lnSpc>
                <a:spcPts val="2544"/>
              </a:lnSpc>
              <a:spcAft>
                <a:spcPts val="800"/>
              </a:spcAft>
              <a:buClr>
                <a:prstClr val="black"/>
              </a:buClr>
              <a:buFont typeface="Wingdings" panose="05000000000000000000" pitchFamily="2" charset="2"/>
              <a:buChar char="§"/>
              <a:defRPr/>
            </a:pPr>
            <a:r>
              <a:rPr lang="en-US" b="1" dirty="0" smtClean="0">
                <a:solidFill>
                  <a:prstClr val="black"/>
                </a:solidFill>
                <a:latin typeface="Arial" panose="020B0604020202020204" pitchFamily="34" charset="0"/>
                <a:ea typeface="Calibri" panose="020F0502020204030204" pitchFamily="34" charset="0"/>
                <a:cs typeface="Arial" panose="020B0604020202020204" pitchFamily="34" charset="0"/>
              </a:rPr>
              <a:t>Prometheus</a:t>
            </a:r>
          </a:p>
        </p:txBody>
      </p:sp>
      <p:pic>
        <p:nvPicPr>
          <p:cNvPr id="6" name="Рисунок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0692" y="1965462"/>
            <a:ext cx="1566498" cy="1566498"/>
          </a:xfrm>
          <a:prstGeom prst="rect">
            <a:avLst/>
          </a:prstGeom>
        </p:spPr>
      </p:pic>
      <p:pic>
        <p:nvPicPr>
          <p:cNvPr id="7" name="Рисунок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4649" y="761937"/>
            <a:ext cx="1289580" cy="1289580"/>
          </a:xfrm>
          <a:prstGeom prst="rect">
            <a:avLst/>
          </a:prstGeom>
        </p:spPr>
      </p:pic>
      <p:pic>
        <p:nvPicPr>
          <p:cNvPr id="8" name="Рисунок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8693" y="1749789"/>
            <a:ext cx="1343534" cy="1343534"/>
          </a:xfrm>
          <a:prstGeom prst="rect">
            <a:avLst/>
          </a:prstGeom>
        </p:spPr>
      </p:pic>
      <p:pic>
        <p:nvPicPr>
          <p:cNvPr id="9" name="Рисунок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01586" y="776001"/>
            <a:ext cx="697033" cy="723615"/>
          </a:xfrm>
          <a:prstGeom prst="rect">
            <a:avLst/>
          </a:prstGeom>
        </p:spPr>
      </p:pic>
      <p:pic>
        <p:nvPicPr>
          <p:cNvPr id="10" name="Рисунок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32664" y="1551354"/>
            <a:ext cx="1097548" cy="1135242"/>
          </a:xfrm>
          <a:prstGeom prst="rect">
            <a:avLst/>
          </a:prstGeom>
        </p:spPr>
      </p:pic>
      <p:pic>
        <p:nvPicPr>
          <p:cNvPr id="11" name="Рисунок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76034" y="763624"/>
            <a:ext cx="1110696" cy="1155124"/>
          </a:xfrm>
          <a:prstGeom prst="rect">
            <a:avLst/>
          </a:prstGeom>
        </p:spPr>
      </p:pic>
      <p:pic>
        <p:nvPicPr>
          <p:cNvPr id="12" name="Рисунок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05641" y="714338"/>
            <a:ext cx="1155766" cy="1155766"/>
          </a:xfrm>
          <a:prstGeom prst="rect">
            <a:avLst/>
          </a:prstGeom>
        </p:spPr>
      </p:pic>
      <p:pic>
        <p:nvPicPr>
          <p:cNvPr id="13" name="Рисунок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69443" y="2254362"/>
            <a:ext cx="1125317" cy="1129729"/>
          </a:xfrm>
          <a:prstGeom prst="rect">
            <a:avLst/>
          </a:prstGeom>
        </p:spPr>
      </p:pic>
      <p:pic>
        <p:nvPicPr>
          <p:cNvPr id="14" name="Рисунок 1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152810" y="5347239"/>
            <a:ext cx="2541419" cy="524803"/>
          </a:xfrm>
          <a:prstGeom prst="rect">
            <a:avLst/>
          </a:prstGeom>
        </p:spPr>
      </p:pic>
      <p:pic>
        <p:nvPicPr>
          <p:cNvPr id="15" name="Рисунок 1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354388" y="3116505"/>
            <a:ext cx="2063300" cy="1084555"/>
          </a:xfrm>
          <a:prstGeom prst="rect">
            <a:avLst/>
          </a:prstGeom>
        </p:spPr>
      </p:pic>
      <p:pic>
        <p:nvPicPr>
          <p:cNvPr id="16" name="Рисунок 1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193108" y="3089899"/>
            <a:ext cx="2759920" cy="1018223"/>
          </a:xfrm>
          <a:prstGeom prst="rect">
            <a:avLst/>
          </a:prstGeom>
        </p:spPr>
      </p:pic>
      <p:pic>
        <p:nvPicPr>
          <p:cNvPr id="17" name="Рисунок 1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463175" y="4217760"/>
            <a:ext cx="2519703" cy="913867"/>
          </a:xfrm>
          <a:prstGeom prst="rect">
            <a:avLst/>
          </a:prstGeom>
        </p:spPr>
      </p:pic>
      <p:pic>
        <p:nvPicPr>
          <p:cNvPr id="18" name="Рисунок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717777" y="4198753"/>
            <a:ext cx="1028647" cy="1028647"/>
          </a:xfrm>
          <a:prstGeom prst="rect">
            <a:avLst/>
          </a:prstGeom>
        </p:spPr>
      </p:pic>
      <p:pic>
        <p:nvPicPr>
          <p:cNvPr id="19" name="Рисунок 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410274" y="4198753"/>
            <a:ext cx="994375" cy="994375"/>
          </a:xfrm>
          <a:prstGeom prst="rect">
            <a:avLst/>
          </a:prstGeom>
        </p:spPr>
      </p:pic>
    </p:spTree>
    <p:extLst>
      <p:ext uri="{BB962C8B-B14F-4D97-AF65-F5344CB8AC3E}">
        <p14:creationId xmlns:p14="http://schemas.microsoft.com/office/powerpoint/2010/main" val="323781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Схема расположений уровней и масс в </a:t>
            </a:r>
            <a:r>
              <a:rPr lang="ru-RU" dirty="0" smtClean="0"/>
              <a:t>РВС</a:t>
            </a:r>
            <a:endParaRPr lang="ru-RU" dirty="0"/>
          </a:p>
        </p:txBody>
      </p:sp>
      <p:grpSp>
        <p:nvGrpSpPr>
          <p:cNvPr id="505" name="Группа 504"/>
          <p:cNvGrpSpPr/>
          <p:nvPr/>
        </p:nvGrpSpPr>
        <p:grpSpPr>
          <a:xfrm>
            <a:off x="-178043" y="1124744"/>
            <a:ext cx="10004859" cy="5229027"/>
            <a:chOff x="196264" y="876300"/>
            <a:chExt cx="11687054" cy="5787059"/>
          </a:xfrm>
        </p:grpSpPr>
        <p:cxnSp>
          <p:nvCxnSpPr>
            <p:cNvPr id="506" name="Прямая соединительная линия 505"/>
            <p:cNvCxnSpPr>
              <a:cxnSpLocks noChangeAspect="1"/>
            </p:cNvCxnSpPr>
            <p:nvPr/>
          </p:nvCxnSpPr>
          <p:spPr>
            <a:xfrm flipH="1">
              <a:off x="3648316" y="2549548"/>
              <a:ext cx="2432075" cy="217462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sp>
          <p:nvSpPr>
            <p:cNvPr id="507" name="Овал 506"/>
            <p:cNvSpPr/>
            <p:nvPr/>
          </p:nvSpPr>
          <p:spPr>
            <a:xfrm>
              <a:off x="3618499" y="876300"/>
              <a:ext cx="3338805" cy="800289"/>
            </a:xfrm>
            <a:prstGeom prst="ellipse">
              <a:avLst/>
            </a:prstGeom>
            <a:solidFill>
              <a:schemeClr val="accent1">
                <a:alpha val="0"/>
              </a:schemeClr>
            </a:solidFill>
            <a:ln w="25400">
              <a:solidFill>
                <a:srgbClr val="FFAF1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508" name="Прямая соединительная линия 507"/>
            <p:cNvCxnSpPr>
              <a:stCxn id="507" idx="2"/>
            </p:cNvCxnSpPr>
            <p:nvPr/>
          </p:nvCxnSpPr>
          <p:spPr>
            <a:xfrm>
              <a:off x="3618499" y="1276444"/>
              <a:ext cx="0" cy="4969911"/>
            </a:xfrm>
            <a:prstGeom prst="line">
              <a:avLst/>
            </a:prstGeom>
            <a:ln w="25400">
              <a:solidFill>
                <a:srgbClr val="FFAF17"/>
              </a:solidFill>
            </a:ln>
          </p:spPr>
          <p:style>
            <a:lnRef idx="1">
              <a:schemeClr val="accent1"/>
            </a:lnRef>
            <a:fillRef idx="0">
              <a:schemeClr val="accent1"/>
            </a:fillRef>
            <a:effectRef idx="0">
              <a:schemeClr val="accent1"/>
            </a:effectRef>
            <a:fontRef idx="minor">
              <a:schemeClr val="tx1"/>
            </a:fontRef>
          </p:style>
        </p:cxnSp>
        <p:cxnSp>
          <p:nvCxnSpPr>
            <p:cNvPr id="509" name="Прямая соединительная линия 508"/>
            <p:cNvCxnSpPr>
              <a:stCxn id="507" idx="6"/>
            </p:cNvCxnSpPr>
            <p:nvPr/>
          </p:nvCxnSpPr>
          <p:spPr>
            <a:xfrm>
              <a:off x="6957305" y="1276444"/>
              <a:ext cx="0" cy="4969911"/>
            </a:xfrm>
            <a:prstGeom prst="line">
              <a:avLst/>
            </a:prstGeom>
            <a:ln w="25400">
              <a:solidFill>
                <a:srgbClr val="FFAF17"/>
              </a:solidFill>
            </a:ln>
          </p:spPr>
          <p:style>
            <a:lnRef idx="1">
              <a:schemeClr val="accent1"/>
            </a:lnRef>
            <a:fillRef idx="0">
              <a:schemeClr val="accent1"/>
            </a:fillRef>
            <a:effectRef idx="0">
              <a:schemeClr val="accent1"/>
            </a:effectRef>
            <a:fontRef idx="minor">
              <a:schemeClr val="tx1"/>
            </a:fontRef>
          </p:style>
        </p:cxnSp>
        <p:pic>
          <p:nvPicPr>
            <p:cNvPr id="510" name="Рисунок 509"/>
            <p:cNvPicPr>
              <a:picLocks noChangeAspect="1"/>
            </p:cNvPicPr>
            <p:nvPr/>
          </p:nvPicPr>
          <p:blipFill rotWithShape="1">
            <a:blip r:embed="rId3">
              <a:duotone>
                <a:prstClr val="black"/>
                <a:srgbClr val="00B0F0">
                  <a:tint val="45000"/>
                  <a:satMod val="400000"/>
                </a:srgbClr>
              </a:duotone>
              <a:extLst>
                <a:ext uri="{28A0092B-C50C-407E-A947-70E740481C1C}">
                  <a14:useLocalDpi xmlns:a14="http://schemas.microsoft.com/office/drawing/2010/main" val="0"/>
                </a:ext>
              </a:extLst>
            </a:blip>
            <a:srcRect t="48058"/>
            <a:stretch/>
          </p:blipFill>
          <p:spPr>
            <a:xfrm>
              <a:off x="3604152" y="6233789"/>
              <a:ext cx="3367500" cy="429570"/>
            </a:xfrm>
            <a:prstGeom prst="rect">
              <a:avLst/>
            </a:prstGeom>
          </p:spPr>
        </p:pic>
        <p:cxnSp>
          <p:nvCxnSpPr>
            <p:cNvPr id="511" name="Прямая соединительная линия 510"/>
            <p:cNvCxnSpPr/>
            <p:nvPr/>
          </p:nvCxnSpPr>
          <p:spPr>
            <a:xfrm>
              <a:off x="3630403" y="2548402"/>
              <a:ext cx="3310211" cy="187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2" name="Прямая соединительная линия 511"/>
            <p:cNvCxnSpPr/>
            <p:nvPr/>
          </p:nvCxnSpPr>
          <p:spPr>
            <a:xfrm flipV="1">
              <a:off x="6974054" y="2548402"/>
              <a:ext cx="2645217" cy="26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3" name="Прямая соединительная линия 512"/>
            <p:cNvCxnSpPr/>
            <p:nvPr/>
          </p:nvCxnSpPr>
          <p:spPr>
            <a:xfrm>
              <a:off x="3632663" y="2776262"/>
              <a:ext cx="3310211" cy="187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14" name="Прямая соединительная линия 513"/>
            <p:cNvCxnSpPr/>
            <p:nvPr/>
          </p:nvCxnSpPr>
          <p:spPr>
            <a:xfrm>
              <a:off x="3633028"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15" name="Прямая соединительная линия 514"/>
            <p:cNvCxnSpPr/>
            <p:nvPr/>
          </p:nvCxnSpPr>
          <p:spPr>
            <a:xfrm>
              <a:off x="3766923"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16" name="Прямая соединительная линия 515"/>
            <p:cNvCxnSpPr/>
            <p:nvPr/>
          </p:nvCxnSpPr>
          <p:spPr>
            <a:xfrm>
              <a:off x="3903443"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17" name="Прямая соединительная линия 516"/>
            <p:cNvCxnSpPr/>
            <p:nvPr/>
          </p:nvCxnSpPr>
          <p:spPr>
            <a:xfrm>
              <a:off x="4037337"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18" name="Прямая соединительная линия 517"/>
            <p:cNvCxnSpPr/>
            <p:nvPr/>
          </p:nvCxnSpPr>
          <p:spPr>
            <a:xfrm>
              <a:off x="4165981"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19" name="Прямая соединительная линия 518"/>
            <p:cNvCxnSpPr/>
            <p:nvPr/>
          </p:nvCxnSpPr>
          <p:spPr>
            <a:xfrm>
              <a:off x="4299875"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0" name="Прямая соединительная линия 519"/>
            <p:cNvCxnSpPr/>
            <p:nvPr/>
          </p:nvCxnSpPr>
          <p:spPr>
            <a:xfrm>
              <a:off x="4436395"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1" name="Прямая соединительная линия 520"/>
            <p:cNvCxnSpPr/>
            <p:nvPr/>
          </p:nvCxnSpPr>
          <p:spPr>
            <a:xfrm>
              <a:off x="4570290"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2" name="Прямая соединительная линия 521"/>
            <p:cNvCxnSpPr/>
            <p:nvPr/>
          </p:nvCxnSpPr>
          <p:spPr>
            <a:xfrm>
              <a:off x="4696307"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3" name="Прямая соединительная линия 522"/>
            <p:cNvCxnSpPr/>
            <p:nvPr/>
          </p:nvCxnSpPr>
          <p:spPr>
            <a:xfrm>
              <a:off x="4830202"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4" name="Прямая соединительная линия 523"/>
            <p:cNvCxnSpPr/>
            <p:nvPr/>
          </p:nvCxnSpPr>
          <p:spPr>
            <a:xfrm>
              <a:off x="4966721"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5" name="Прямая соединительная линия 524"/>
            <p:cNvCxnSpPr/>
            <p:nvPr/>
          </p:nvCxnSpPr>
          <p:spPr>
            <a:xfrm>
              <a:off x="5100616"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6" name="Прямая соединительная линия 525"/>
            <p:cNvCxnSpPr/>
            <p:nvPr/>
          </p:nvCxnSpPr>
          <p:spPr>
            <a:xfrm>
              <a:off x="5229259"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7" name="Прямая соединительная линия 526"/>
            <p:cNvCxnSpPr/>
            <p:nvPr/>
          </p:nvCxnSpPr>
          <p:spPr>
            <a:xfrm>
              <a:off x="5363154"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8" name="Прямая соединительная линия 527"/>
            <p:cNvCxnSpPr/>
            <p:nvPr/>
          </p:nvCxnSpPr>
          <p:spPr>
            <a:xfrm>
              <a:off x="5499674"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9" name="Прямая соединительная линия 528"/>
            <p:cNvCxnSpPr/>
            <p:nvPr/>
          </p:nvCxnSpPr>
          <p:spPr>
            <a:xfrm>
              <a:off x="5633569"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0" name="Прямая соединительная линия 529"/>
            <p:cNvCxnSpPr/>
            <p:nvPr/>
          </p:nvCxnSpPr>
          <p:spPr>
            <a:xfrm>
              <a:off x="5754709"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1" name="Прямая соединительная линия 530"/>
            <p:cNvCxnSpPr/>
            <p:nvPr/>
          </p:nvCxnSpPr>
          <p:spPr>
            <a:xfrm>
              <a:off x="5888604"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2" name="Прямая соединительная линия 531"/>
            <p:cNvCxnSpPr/>
            <p:nvPr/>
          </p:nvCxnSpPr>
          <p:spPr>
            <a:xfrm>
              <a:off x="6025124"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3" name="Прямая соединительная линия 532"/>
            <p:cNvCxnSpPr/>
            <p:nvPr/>
          </p:nvCxnSpPr>
          <p:spPr>
            <a:xfrm>
              <a:off x="6159018"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4" name="Прямая соединительная линия 533"/>
            <p:cNvCxnSpPr/>
            <p:nvPr/>
          </p:nvCxnSpPr>
          <p:spPr>
            <a:xfrm>
              <a:off x="6287662"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5" name="Прямая соединительная линия 534"/>
            <p:cNvCxnSpPr/>
            <p:nvPr/>
          </p:nvCxnSpPr>
          <p:spPr>
            <a:xfrm>
              <a:off x="6421556"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6" name="Прямая соединительная линия 535"/>
            <p:cNvCxnSpPr/>
            <p:nvPr/>
          </p:nvCxnSpPr>
          <p:spPr>
            <a:xfrm>
              <a:off x="6558076"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7" name="Прямая соединительная линия 536"/>
            <p:cNvCxnSpPr/>
            <p:nvPr/>
          </p:nvCxnSpPr>
          <p:spPr>
            <a:xfrm>
              <a:off x="6691971"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8" name="Прямая соединительная линия 537"/>
            <p:cNvCxnSpPr/>
            <p:nvPr/>
          </p:nvCxnSpPr>
          <p:spPr>
            <a:xfrm>
              <a:off x="6817989"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9" name="Прямая соединительная линия 538"/>
            <p:cNvCxnSpPr/>
            <p:nvPr/>
          </p:nvCxnSpPr>
          <p:spPr>
            <a:xfrm>
              <a:off x="6988639"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40" name="Прямая соединительная линия 539"/>
            <p:cNvCxnSpPr/>
            <p:nvPr/>
          </p:nvCxnSpPr>
          <p:spPr>
            <a:xfrm>
              <a:off x="7114658" y="5887347"/>
              <a:ext cx="922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41" name="Прямая соединительная линия 540"/>
            <p:cNvCxnSpPr/>
            <p:nvPr/>
          </p:nvCxnSpPr>
          <p:spPr>
            <a:xfrm>
              <a:off x="6975686" y="6242610"/>
              <a:ext cx="4428843" cy="37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Прямая соединительная линия 541"/>
            <p:cNvCxnSpPr/>
            <p:nvPr/>
          </p:nvCxnSpPr>
          <p:spPr>
            <a:xfrm>
              <a:off x="6984890" y="1276444"/>
              <a:ext cx="4428843" cy="37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Прямая соединительная линия 542"/>
            <p:cNvCxnSpPr>
              <a:stCxn id="544" idx="0"/>
            </p:cNvCxnSpPr>
            <p:nvPr/>
          </p:nvCxnSpPr>
          <p:spPr>
            <a:xfrm flipH="1" flipV="1">
              <a:off x="11240181" y="1949152"/>
              <a:ext cx="1" cy="41935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4" name="Стрелка вниз 543"/>
            <p:cNvSpPr/>
            <p:nvPr/>
          </p:nvSpPr>
          <p:spPr>
            <a:xfrm>
              <a:off x="11214978" y="6142692"/>
              <a:ext cx="50406" cy="78652"/>
            </a:xfrm>
            <a:prstGeom prst="down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545" name="Прямая соединительная линия 544"/>
            <p:cNvCxnSpPr>
              <a:stCxn id="546" idx="0"/>
              <a:endCxn id="547" idx="0"/>
            </p:cNvCxnSpPr>
            <p:nvPr/>
          </p:nvCxnSpPr>
          <p:spPr>
            <a:xfrm flipV="1">
              <a:off x="11240181" y="1381316"/>
              <a:ext cx="0" cy="800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6" name="TextBox 545"/>
            <p:cNvSpPr txBox="1"/>
            <p:nvPr/>
          </p:nvSpPr>
          <p:spPr>
            <a:xfrm>
              <a:off x="10597043" y="1461335"/>
              <a:ext cx="1286275" cy="544592"/>
            </a:xfrm>
            <a:prstGeom prst="rect">
              <a:avLst/>
            </a:prstGeom>
            <a:noFill/>
          </p:spPr>
          <p:txBody>
            <a:bodyPr wrap="none" rtlCol="0">
              <a:spAutoFit/>
            </a:bodyPr>
            <a:lstStyle/>
            <a:p>
              <a:pPr algn="ctr"/>
              <a:r>
                <a:rPr lang="ru-RU" sz="1200" b="1" dirty="0" smtClean="0"/>
                <a:t>Масса</a:t>
              </a:r>
              <a:r>
                <a:rPr lang="ru-RU" sz="900" b="1" dirty="0" smtClean="0"/>
                <a:t> </a:t>
              </a:r>
            </a:p>
            <a:p>
              <a:pPr algn="ctr"/>
              <a:r>
                <a:rPr lang="ru-RU" sz="1200" b="1" dirty="0" smtClean="0"/>
                <a:t>максимальная</a:t>
              </a:r>
              <a:endParaRPr lang="ru-RU" sz="1200" b="1" dirty="0"/>
            </a:p>
          </p:txBody>
        </p:sp>
        <p:sp>
          <p:nvSpPr>
            <p:cNvPr id="547" name="Стрелка вниз 546"/>
            <p:cNvSpPr/>
            <p:nvPr/>
          </p:nvSpPr>
          <p:spPr>
            <a:xfrm rot="10800000">
              <a:off x="11214978" y="1302663"/>
              <a:ext cx="50406" cy="78652"/>
            </a:xfrm>
            <a:prstGeom prst="down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48" name="TextBox 547"/>
            <p:cNvSpPr txBox="1"/>
            <p:nvPr/>
          </p:nvSpPr>
          <p:spPr>
            <a:xfrm>
              <a:off x="6928430" y="941034"/>
              <a:ext cx="4154432" cy="306560"/>
            </a:xfrm>
            <a:prstGeom prst="rect">
              <a:avLst/>
            </a:prstGeom>
            <a:noFill/>
          </p:spPr>
          <p:txBody>
            <a:bodyPr wrap="square" rtlCol="0">
              <a:spAutoFit/>
            </a:bodyPr>
            <a:lstStyle/>
            <a:p>
              <a:pPr algn="ctr"/>
              <a:r>
                <a:rPr lang="ru-RU" sz="1200" b="1" dirty="0" smtClean="0"/>
                <a:t>Уровень максимальный по градуировке</a:t>
              </a:r>
              <a:endParaRPr lang="ru-RU" sz="1200" b="1" dirty="0"/>
            </a:p>
          </p:txBody>
        </p:sp>
        <p:grpSp>
          <p:nvGrpSpPr>
            <p:cNvPr id="549" name="Группа 548"/>
            <p:cNvGrpSpPr/>
            <p:nvPr/>
          </p:nvGrpSpPr>
          <p:grpSpPr>
            <a:xfrm rot="19693606">
              <a:off x="3054744" y="6104208"/>
              <a:ext cx="491322" cy="0"/>
              <a:chOff x="3505653" y="5753662"/>
              <a:chExt cx="445635" cy="0"/>
            </a:xfrm>
          </p:grpSpPr>
          <p:cxnSp>
            <p:nvCxnSpPr>
              <p:cNvPr id="801" name="Прямая соединительная линия 800"/>
              <p:cNvCxnSpPr/>
              <p:nvPr/>
            </p:nvCxnSpPr>
            <p:spPr>
              <a:xfrm>
                <a:off x="3505653" y="5753662"/>
                <a:ext cx="8368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02" name="Прямая соединительная линия 801"/>
              <p:cNvCxnSpPr/>
              <p:nvPr/>
            </p:nvCxnSpPr>
            <p:spPr>
              <a:xfrm>
                <a:off x="3629478" y="5753662"/>
                <a:ext cx="8368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03" name="Прямая соединительная линия 802"/>
              <p:cNvCxnSpPr/>
              <p:nvPr/>
            </p:nvCxnSpPr>
            <p:spPr>
              <a:xfrm>
                <a:off x="3750922" y="5753662"/>
                <a:ext cx="8368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04" name="Прямая соединительная линия 803"/>
              <p:cNvCxnSpPr/>
              <p:nvPr/>
            </p:nvCxnSpPr>
            <p:spPr>
              <a:xfrm>
                <a:off x="3867603" y="5753662"/>
                <a:ext cx="83685"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50" name="Стрелка вниз 549"/>
            <p:cNvSpPr/>
            <p:nvPr/>
          </p:nvSpPr>
          <p:spPr>
            <a:xfrm rot="14100000">
              <a:off x="3534496" y="5887747"/>
              <a:ext cx="53931" cy="73511"/>
            </a:xfrm>
            <a:prstGeom prst="downArrow">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51" name="TextBox 550"/>
            <p:cNvSpPr txBox="1"/>
            <p:nvPr/>
          </p:nvSpPr>
          <p:spPr>
            <a:xfrm>
              <a:off x="196264" y="6264429"/>
              <a:ext cx="3764311" cy="338554"/>
            </a:xfrm>
            <a:prstGeom prst="rect">
              <a:avLst/>
            </a:prstGeom>
            <a:noFill/>
          </p:spPr>
          <p:txBody>
            <a:bodyPr wrap="square" rtlCol="0">
              <a:spAutoFit/>
            </a:bodyPr>
            <a:lstStyle/>
            <a:p>
              <a:pPr algn="ctr"/>
              <a:r>
                <a:rPr lang="ru-RU" sz="1600" b="1" dirty="0" smtClean="0">
                  <a:solidFill>
                    <a:schemeClr val="accent1"/>
                  </a:solidFill>
                </a:rPr>
                <a:t>Уровень мёртвой полости</a:t>
              </a:r>
              <a:endParaRPr lang="ru-RU" sz="1600" b="1" dirty="0">
                <a:solidFill>
                  <a:schemeClr val="accent1"/>
                </a:solidFill>
              </a:endParaRPr>
            </a:p>
          </p:txBody>
        </p:sp>
        <p:pic>
          <p:nvPicPr>
            <p:cNvPr id="552" name="Рисунок 551"/>
            <p:cNvPicPr>
              <a:picLocks noChangeAspect="1"/>
            </p:cNvPicPr>
            <p:nvPr/>
          </p:nvPicPr>
          <p:blipFill rotWithShape="1">
            <a:blip r:embed="rId4">
              <a:duotone>
                <a:prstClr val="black"/>
                <a:srgbClr val="00B0F0">
                  <a:tint val="45000"/>
                  <a:satMod val="400000"/>
                </a:srgbClr>
              </a:duotone>
              <a:extLst>
                <a:ext uri="{28A0092B-C50C-407E-A947-70E740481C1C}">
                  <a14:useLocalDpi xmlns:a14="http://schemas.microsoft.com/office/drawing/2010/main" val="0"/>
                </a:ext>
              </a:extLst>
            </a:blip>
            <a:srcRect r="2055"/>
            <a:stretch/>
          </p:blipFill>
          <p:spPr>
            <a:xfrm>
              <a:off x="1272609" y="5529336"/>
              <a:ext cx="2335921" cy="294857"/>
            </a:xfrm>
            <a:prstGeom prst="rect">
              <a:avLst/>
            </a:prstGeom>
          </p:spPr>
        </p:pic>
        <p:sp>
          <p:nvSpPr>
            <p:cNvPr id="553" name="TextBox 552"/>
            <p:cNvSpPr txBox="1"/>
            <p:nvPr/>
          </p:nvSpPr>
          <p:spPr>
            <a:xfrm>
              <a:off x="2107812" y="5513387"/>
              <a:ext cx="622318" cy="326755"/>
            </a:xfrm>
            <a:prstGeom prst="rect">
              <a:avLst/>
            </a:prstGeom>
            <a:noFill/>
          </p:spPr>
          <p:txBody>
            <a:bodyPr wrap="none" rtlCol="0">
              <a:spAutoFit/>
            </a:bodyPr>
            <a:lstStyle/>
            <a:p>
              <a:r>
                <a:rPr lang="ru-RU" sz="1200" b="1" dirty="0" smtClean="0"/>
                <a:t>Труба</a:t>
              </a:r>
              <a:endParaRPr lang="ru-RU" sz="1200" b="1" dirty="0"/>
            </a:p>
          </p:txBody>
        </p:sp>
        <p:cxnSp>
          <p:nvCxnSpPr>
            <p:cNvPr id="554" name="Прямая соединительная линия 553"/>
            <p:cNvCxnSpPr>
              <a:stCxn id="555" idx="0"/>
              <a:endCxn id="556" idx="0"/>
            </p:cNvCxnSpPr>
            <p:nvPr/>
          </p:nvCxnSpPr>
          <p:spPr>
            <a:xfrm flipH="1" flipV="1">
              <a:off x="7191170" y="5991797"/>
              <a:ext cx="1487" cy="14617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55" name="Стрелка вниз 554"/>
            <p:cNvSpPr/>
            <p:nvPr/>
          </p:nvSpPr>
          <p:spPr>
            <a:xfrm>
              <a:off x="7167454" y="6137968"/>
              <a:ext cx="50406" cy="78652"/>
            </a:xfrm>
            <a:prstGeom prst="downArrow">
              <a:avLst/>
            </a:prstGeom>
            <a:solidFill>
              <a:srgbClr val="5B9BD5"/>
            </a:solid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56" name="Стрелка вниз 555"/>
            <p:cNvSpPr/>
            <p:nvPr/>
          </p:nvSpPr>
          <p:spPr>
            <a:xfrm rot="10800000">
              <a:off x="7165968" y="5913145"/>
              <a:ext cx="50406" cy="78652"/>
            </a:xfrm>
            <a:prstGeom prst="downArrow">
              <a:avLst/>
            </a:prstGeom>
            <a:solidFill>
              <a:srgbClr val="5B9BD5"/>
            </a:solidFill>
            <a:ln w="19050">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57" name="TextBox 556"/>
            <p:cNvSpPr txBox="1"/>
            <p:nvPr/>
          </p:nvSpPr>
          <p:spPr>
            <a:xfrm>
              <a:off x="7257833" y="5543287"/>
              <a:ext cx="996719" cy="715306"/>
            </a:xfrm>
            <a:prstGeom prst="rect">
              <a:avLst/>
            </a:prstGeom>
            <a:noFill/>
          </p:spPr>
          <p:txBody>
            <a:bodyPr wrap="square" rtlCol="0">
              <a:spAutoFit/>
            </a:bodyPr>
            <a:lstStyle/>
            <a:p>
              <a:pPr algn="ctr"/>
              <a:r>
                <a:rPr lang="ru-RU" sz="1200" b="1" dirty="0" smtClean="0">
                  <a:solidFill>
                    <a:schemeClr val="accent1"/>
                  </a:solidFill>
                </a:rPr>
                <a:t>Масса мёртвой полости</a:t>
              </a:r>
              <a:endParaRPr lang="ru-RU" sz="1200" b="1" dirty="0">
                <a:solidFill>
                  <a:schemeClr val="accent1"/>
                </a:solidFill>
              </a:endParaRPr>
            </a:p>
          </p:txBody>
        </p:sp>
        <p:sp>
          <p:nvSpPr>
            <p:cNvPr id="558" name="TextBox 557"/>
            <p:cNvSpPr txBox="1"/>
            <p:nvPr/>
          </p:nvSpPr>
          <p:spPr>
            <a:xfrm>
              <a:off x="7191170" y="6299586"/>
              <a:ext cx="3764311" cy="326755"/>
            </a:xfrm>
            <a:prstGeom prst="rect">
              <a:avLst/>
            </a:prstGeom>
            <a:noFill/>
          </p:spPr>
          <p:txBody>
            <a:bodyPr wrap="square" rtlCol="0">
              <a:spAutoFit/>
            </a:bodyPr>
            <a:lstStyle/>
            <a:p>
              <a:pPr algn="ctr"/>
              <a:r>
                <a:rPr lang="ru-RU" sz="1200" b="1" dirty="0" smtClean="0"/>
                <a:t>Нулевой уровень по градуировке</a:t>
              </a:r>
              <a:endParaRPr lang="ru-RU" sz="1200" b="1" dirty="0"/>
            </a:p>
          </p:txBody>
        </p:sp>
        <p:cxnSp>
          <p:nvCxnSpPr>
            <p:cNvPr id="559" name="Прямая соединительная линия 558"/>
            <p:cNvCxnSpPr>
              <a:endCxn id="656" idx="0"/>
            </p:cNvCxnSpPr>
            <p:nvPr/>
          </p:nvCxnSpPr>
          <p:spPr>
            <a:xfrm flipV="1">
              <a:off x="2428249" y="2818884"/>
              <a:ext cx="1096642" cy="31589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0" name="Прямая соединительная линия 559"/>
            <p:cNvCxnSpPr/>
            <p:nvPr/>
          </p:nvCxnSpPr>
          <p:spPr>
            <a:xfrm flipV="1">
              <a:off x="3628471" y="478580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1" name="Прямая соединительная линия 560"/>
            <p:cNvCxnSpPr/>
            <p:nvPr/>
          </p:nvCxnSpPr>
          <p:spPr>
            <a:xfrm flipV="1">
              <a:off x="3688227" y="478537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2" name="Прямая соединительная линия 561"/>
            <p:cNvCxnSpPr/>
            <p:nvPr/>
          </p:nvCxnSpPr>
          <p:spPr>
            <a:xfrm flipV="1">
              <a:off x="3747078" y="478537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3" name="Прямая соединительная линия 562"/>
            <p:cNvCxnSpPr/>
            <p:nvPr/>
          </p:nvCxnSpPr>
          <p:spPr>
            <a:xfrm flipV="1">
              <a:off x="3804209" y="4787760"/>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4" name="Прямая соединительная линия 563"/>
            <p:cNvCxnSpPr/>
            <p:nvPr/>
          </p:nvCxnSpPr>
          <p:spPr>
            <a:xfrm flipV="1">
              <a:off x="3863752" y="4787760"/>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5" name="Прямая соединительная линия 564"/>
            <p:cNvCxnSpPr/>
            <p:nvPr/>
          </p:nvCxnSpPr>
          <p:spPr>
            <a:xfrm flipV="1">
              <a:off x="3920884"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6" name="Прямая соединительная линия 565"/>
            <p:cNvCxnSpPr/>
            <p:nvPr/>
          </p:nvCxnSpPr>
          <p:spPr>
            <a:xfrm flipV="1">
              <a:off x="3982359"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7" name="Прямая соединительная линия 566"/>
            <p:cNvCxnSpPr/>
            <p:nvPr/>
          </p:nvCxnSpPr>
          <p:spPr>
            <a:xfrm flipV="1">
              <a:off x="4039491"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8" name="Прямая соединительная линия 567"/>
            <p:cNvCxnSpPr/>
            <p:nvPr/>
          </p:nvCxnSpPr>
          <p:spPr>
            <a:xfrm flipV="1">
              <a:off x="4089911"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9" name="Прямая соединительная линия 568"/>
            <p:cNvCxnSpPr/>
            <p:nvPr/>
          </p:nvCxnSpPr>
          <p:spPr>
            <a:xfrm flipV="1">
              <a:off x="4147043"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0" name="Прямая соединительная линия 569"/>
            <p:cNvCxnSpPr/>
            <p:nvPr/>
          </p:nvCxnSpPr>
          <p:spPr>
            <a:xfrm flipV="1">
              <a:off x="4208518"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1" name="Прямая соединительная линия 570"/>
            <p:cNvCxnSpPr/>
            <p:nvPr/>
          </p:nvCxnSpPr>
          <p:spPr>
            <a:xfrm flipV="1">
              <a:off x="4265650"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2" name="Прямая соединительная линия 571"/>
            <p:cNvCxnSpPr/>
            <p:nvPr/>
          </p:nvCxnSpPr>
          <p:spPr>
            <a:xfrm flipV="1">
              <a:off x="4325193"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3" name="Прямая соединительная линия 572"/>
            <p:cNvCxnSpPr/>
            <p:nvPr/>
          </p:nvCxnSpPr>
          <p:spPr>
            <a:xfrm flipV="1">
              <a:off x="4392140" y="478537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4" name="Прямая соединительная линия 573"/>
            <p:cNvCxnSpPr/>
            <p:nvPr/>
          </p:nvCxnSpPr>
          <p:spPr>
            <a:xfrm flipV="1">
              <a:off x="4451897" y="478495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5" name="Прямая соединительная линия 574"/>
            <p:cNvCxnSpPr/>
            <p:nvPr/>
          </p:nvCxnSpPr>
          <p:spPr>
            <a:xfrm flipV="1">
              <a:off x="4510747" y="478495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6" name="Прямая соединительная линия 575"/>
            <p:cNvCxnSpPr/>
            <p:nvPr/>
          </p:nvCxnSpPr>
          <p:spPr>
            <a:xfrm flipV="1">
              <a:off x="4567879"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7" name="Прямая соединительная линия 576"/>
            <p:cNvCxnSpPr/>
            <p:nvPr/>
          </p:nvCxnSpPr>
          <p:spPr>
            <a:xfrm flipV="1">
              <a:off x="4627421"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8" name="Прямая соединительная линия 577"/>
            <p:cNvCxnSpPr/>
            <p:nvPr/>
          </p:nvCxnSpPr>
          <p:spPr>
            <a:xfrm flipV="1">
              <a:off x="4684553"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9" name="Прямая соединительная линия 578"/>
            <p:cNvCxnSpPr/>
            <p:nvPr/>
          </p:nvCxnSpPr>
          <p:spPr>
            <a:xfrm flipV="1">
              <a:off x="4746029"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0" name="Прямая соединительная линия 579"/>
            <p:cNvCxnSpPr/>
            <p:nvPr/>
          </p:nvCxnSpPr>
          <p:spPr>
            <a:xfrm flipV="1">
              <a:off x="4803160"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1" name="Прямая соединительная линия 580"/>
            <p:cNvCxnSpPr/>
            <p:nvPr/>
          </p:nvCxnSpPr>
          <p:spPr>
            <a:xfrm flipV="1">
              <a:off x="4853581"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2" name="Прямая соединительная линия 581"/>
            <p:cNvCxnSpPr/>
            <p:nvPr/>
          </p:nvCxnSpPr>
          <p:spPr>
            <a:xfrm flipV="1">
              <a:off x="4910712"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3" name="Прямая соединительная линия 582"/>
            <p:cNvCxnSpPr/>
            <p:nvPr/>
          </p:nvCxnSpPr>
          <p:spPr>
            <a:xfrm flipV="1">
              <a:off x="4972188"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4" name="Прямая соединительная линия 583"/>
            <p:cNvCxnSpPr/>
            <p:nvPr/>
          </p:nvCxnSpPr>
          <p:spPr>
            <a:xfrm flipV="1">
              <a:off x="5029319"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5" name="Прямая соединительная линия 584"/>
            <p:cNvCxnSpPr/>
            <p:nvPr/>
          </p:nvCxnSpPr>
          <p:spPr>
            <a:xfrm flipV="1">
              <a:off x="5088862"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6" name="Прямая соединительная линия 585"/>
            <p:cNvCxnSpPr/>
            <p:nvPr/>
          </p:nvCxnSpPr>
          <p:spPr>
            <a:xfrm flipV="1">
              <a:off x="5153190" y="478495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7" name="Прямая соединительная линия 586"/>
            <p:cNvCxnSpPr/>
            <p:nvPr/>
          </p:nvCxnSpPr>
          <p:spPr>
            <a:xfrm flipV="1">
              <a:off x="5212947" y="478452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8" name="Прямая соединительная линия 587"/>
            <p:cNvCxnSpPr/>
            <p:nvPr/>
          </p:nvCxnSpPr>
          <p:spPr>
            <a:xfrm flipV="1">
              <a:off x="5271797" y="478452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9" name="Прямая соединительная линия 588"/>
            <p:cNvCxnSpPr/>
            <p:nvPr/>
          </p:nvCxnSpPr>
          <p:spPr>
            <a:xfrm flipV="1">
              <a:off x="5328929"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0" name="Прямая соединительная линия 589"/>
            <p:cNvCxnSpPr/>
            <p:nvPr/>
          </p:nvCxnSpPr>
          <p:spPr>
            <a:xfrm flipV="1">
              <a:off x="5388471"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1" name="Прямая соединительная линия 590"/>
            <p:cNvCxnSpPr/>
            <p:nvPr/>
          </p:nvCxnSpPr>
          <p:spPr>
            <a:xfrm flipV="1">
              <a:off x="5445603"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2" name="Прямая соединительная линия 591"/>
            <p:cNvCxnSpPr/>
            <p:nvPr/>
          </p:nvCxnSpPr>
          <p:spPr>
            <a:xfrm flipV="1">
              <a:off x="5507078"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3" name="Прямая соединительная линия 592"/>
            <p:cNvCxnSpPr/>
            <p:nvPr/>
          </p:nvCxnSpPr>
          <p:spPr>
            <a:xfrm flipV="1">
              <a:off x="5564210"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4" name="Прямая соединительная линия 593"/>
            <p:cNvCxnSpPr/>
            <p:nvPr/>
          </p:nvCxnSpPr>
          <p:spPr>
            <a:xfrm flipV="1">
              <a:off x="5614630"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5" name="Прямая соединительная линия 594"/>
            <p:cNvCxnSpPr/>
            <p:nvPr/>
          </p:nvCxnSpPr>
          <p:spPr>
            <a:xfrm flipV="1">
              <a:off x="5671762"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6" name="Прямая соединительная линия 595"/>
            <p:cNvCxnSpPr/>
            <p:nvPr/>
          </p:nvCxnSpPr>
          <p:spPr>
            <a:xfrm flipV="1">
              <a:off x="5733238"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7" name="Прямая соединительная линия 596"/>
            <p:cNvCxnSpPr/>
            <p:nvPr/>
          </p:nvCxnSpPr>
          <p:spPr>
            <a:xfrm flipV="1">
              <a:off x="5790369" y="4785212"/>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8" name="Прямая соединительная линия 597"/>
            <p:cNvCxnSpPr/>
            <p:nvPr/>
          </p:nvCxnSpPr>
          <p:spPr>
            <a:xfrm flipV="1">
              <a:off x="5849912" y="4785212"/>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9" name="Прямая соединительная линия 598"/>
            <p:cNvCxnSpPr/>
            <p:nvPr/>
          </p:nvCxnSpPr>
          <p:spPr>
            <a:xfrm flipV="1">
              <a:off x="5916859"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0" name="Прямая соединительная линия 599"/>
            <p:cNvCxnSpPr/>
            <p:nvPr/>
          </p:nvCxnSpPr>
          <p:spPr>
            <a:xfrm flipV="1">
              <a:off x="5976616"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1" name="Прямая соединительная линия 600"/>
            <p:cNvCxnSpPr/>
            <p:nvPr/>
          </p:nvCxnSpPr>
          <p:spPr>
            <a:xfrm flipV="1">
              <a:off x="6035466"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2" name="Прямая соединительная линия 601"/>
            <p:cNvCxnSpPr/>
            <p:nvPr/>
          </p:nvCxnSpPr>
          <p:spPr>
            <a:xfrm flipV="1">
              <a:off x="6092598"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3" name="Прямая соединительная линия 602"/>
            <p:cNvCxnSpPr/>
            <p:nvPr/>
          </p:nvCxnSpPr>
          <p:spPr>
            <a:xfrm flipV="1">
              <a:off x="6152141"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4" name="Прямая соединительная линия 603"/>
            <p:cNvCxnSpPr/>
            <p:nvPr/>
          </p:nvCxnSpPr>
          <p:spPr>
            <a:xfrm flipV="1">
              <a:off x="6209272"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5" name="Прямая соединительная линия 604"/>
            <p:cNvCxnSpPr/>
            <p:nvPr/>
          </p:nvCxnSpPr>
          <p:spPr>
            <a:xfrm flipV="1">
              <a:off x="6270748"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6" name="Прямая соединительная линия 605"/>
            <p:cNvCxnSpPr/>
            <p:nvPr/>
          </p:nvCxnSpPr>
          <p:spPr>
            <a:xfrm flipV="1">
              <a:off x="6327879"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7" name="Прямая соединительная линия 606"/>
            <p:cNvCxnSpPr/>
            <p:nvPr/>
          </p:nvCxnSpPr>
          <p:spPr>
            <a:xfrm flipV="1">
              <a:off x="6378300"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8" name="Прямая соединительная линия 607"/>
            <p:cNvCxnSpPr/>
            <p:nvPr/>
          </p:nvCxnSpPr>
          <p:spPr>
            <a:xfrm flipV="1">
              <a:off x="6435432" y="4785212"/>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9" name="Прямая соединительная линия 608"/>
            <p:cNvCxnSpPr/>
            <p:nvPr/>
          </p:nvCxnSpPr>
          <p:spPr>
            <a:xfrm flipV="1">
              <a:off x="6496907" y="4785212"/>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0" name="Прямая соединительная линия 609"/>
            <p:cNvCxnSpPr/>
            <p:nvPr/>
          </p:nvCxnSpPr>
          <p:spPr>
            <a:xfrm flipV="1">
              <a:off x="6554039" y="478759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1" name="Прямая соединительная линия 610"/>
            <p:cNvCxnSpPr/>
            <p:nvPr/>
          </p:nvCxnSpPr>
          <p:spPr>
            <a:xfrm flipV="1">
              <a:off x="6613581" y="478759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2" name="Прямая соединительная линия 611"/>
            <p:cNvCxnSpPr/>
            <p:nvPr/>
          </p:nvCxnSpPr>
          <p:spPr>
            <a:xfrm flipV="1">
              <a:off x="6667406"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3" name="Прямая соединительная линия 612"/>
            <p:cNvCxnSpPr/>
            <p:nvPr/>
          </p:nvCxnSpPr>
          <p:spPr>
            <a:xfrm flipV="1">
              <a:off x="6724538"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4" name="Прямая соединительная линия 613"/>
            <p:cNvCxnSpPr/>
            <p:nvPr/>
          </p:nvCxnSpPr>
          <p:spPr>
            <a:xfrm flipV="1">
              <a:off x="6786014"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5" name="Прямая соединительная линия 614"/>
            <p:cNvCxnSpPr/>
            <p:nvPr/>
          </p:nvCxnSpPr>
          <p:spPr>
            <a:xfrm flipV="1">
              <a:off x="6843145"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6" name="Прямая соединительная линия 615"/>
            <p:cNvCxnSpPr/>
            <p:nvPr/>
          </p:nvCxnSpPr>
          <p:spPr>
            <a:xfrm flipV="1">
              <a:off x="6902688"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7" name="Прямая соединительная линия 616"/>
            <p:cNvCxnSpPr/>
            <p:nvPr/>
          </p:nvCxnSpPr>
          <p:spPr>
            <a:xfrm flipV="1">
              <a:off x="6969635" y="4788609"/>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8" name="Прямая соединительная линия 617"/>
            <p:cNvCxnSpPr/>
            <p:nvPr/>
          </p:nvCxnSpPr>
          <p:spPr>
            <a:xfrm flipV="1">
              <a:off x="7029392" y="478818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9" name="Прямая соединительная линия 618"/>
            <p:cNvCxnSpPr/>
            <p:nvPr/>
          </p:nvCxnSpPr>
          <p:spPr>
            <a:xfrm flipV="1">
              <a:off x="7088242" y="478818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0" name="Прямая соединительная линия 619"/>
            <p:cNvCxnSpPr/>
            <p:nvPr/>
          </p:nvCxnSpPr>
          <p:spPr>
            <a:xfrm flipV="1">
              <a:off x="7145374" y="4787760"/>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1" name="Прямая соединительная линия 620"/>
            <p:cNvCxnSpPr/>
            <p:nvPr/>
          </p:nvCxnSpPr>
          <p:spPr>
            <a:xfrm flipV="1">
              <a:off x="7204917" y="4787760"/>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2" name="Прямая соединительная линия 621"/>
            <p:cNvCxnSpPr/>
            <p:nvPr/>
          </p:nvCxnSpPr>
          <p:spPr>
            <a:xfrm flipV="1">
              <a:off x="7262048"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3" name="Прямая соединительная линия 622"/>
            <p:cNvCxnSpPr/>
            <p:nvPr/>
          </p:nvCxnSpPr>
          <p:spPr>
            <a:xfrm flipV="1">
              <a:off x="7323524"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4" name="Прямая соединительная линия 623"/>
            <p:cNvCxnSpPr/>
            <p:nvPr/>
          </p:nvCxnSpPr>
          <p:spPr>
            <a:xfrm flipV="1">
              <a:off x="7380655"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5" name="Прямая соединительная линия 624"/>
            <p:cNvCxnSpPr/>
            <p:nvPr/>
          </p:nvCxnSpPr>
          <p:spPr>
            <a:xfrm flipV="1">
              <a:off x="7431076"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6" name="Прямая соединительная линия 625"/>
            <p:cNvCxnSpPr/>
            <p:nvPr/>
          </p:nvCxnSpPr>
          <p:spPr>
            <a:xfrm flipV="1">
              <a:off x="7488208"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7" name="Прямая соединительная линия 626"/>
            <p:cNvCxnSpPr/>
            <p:nvPr/>
          </p:nvCxnSpPr>
          <p:spPr>
            <a:xfrm flipV="1">
              <a:off x="7549683"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8" name="Прямая соединительная линия 627"/>
            <p:cNvCxnSpPr/>
            <p:nvPr/>
          </p:nvCxnSpPr>
          <p:spPr>
            <a:xfrm flipV="1">
              <a:off x="7606815"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9" name="Прямая соединительная линия 628"/>
            <p:cNvCxnSpPr/>
            <p:nvPr/>
          </p:nvCxnSpPr>
          <p:spPr>
            <a:xfrm flipV="1">
              <a:off x="7666357"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0" name="Прямая соединительная линия 629"/>
            <p:cNvCxnSpPr/>
            <p:nvPr/>
          </p:nvCxnSpPr>
          <p:spPr>
            <a:xfrm flipV="1">
              <a:off x="7725117"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1" name="Прямая соединительная линия 630"/>
            <p:cNvCxnSpPr/>
            <p:nvPr/>
          </p:nvCxnSpPr>
          <p:spPr>
            <a:xfrm flipV="1">
              <a:off x="7783968" y="4787335"/>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2" name="Прямая соединительная линия 631"/>
            <p:cNvCxnSpPr/>
            <p:nvPr/>
          </p:nvCxnSpPr>
          <p:spPr>
            <a:xfrm flipV="1">
              <a:off x="7841099"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3" name="Прямая соединительная линия 632"/>
            <p:cNvCxnSpPr/>
            <p:nvPr/>
          </p:nvCxnSpPr>
          <p:spPr>
            <a:xfrm flipV="1">
              <a:off x="7900642" y="478691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4" name="Прямая соединительная линия 633"/>
            <p:cNvCxnSpPr/>
            <p:nvPr/>
          </p:nvCxnSpPr>
          <p:spPr>
            <a:xfrm flipV="1">
              <a:off x="7957774"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5" name="Прямая соединительная линия 634"/>
            <p:cNvCxnSpPr/>
            <p:nvPr/>
          </p:nvCxnSpPr>
          <p:spPr>
            <a:xfrm flipV="1">
              <a:off x="8019249" y="4786486"/>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6" name="Прямая соединительная линия 635"/>
            <p:cNvCxnSpPr/>
            <p:nvPr/>
          </p:nvCxnSpPr>
          <p:spPr>
            <a:xfrm flipV="1">
              <a:off x="8076381"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7" name="Прямая соединительная линия 636"/>
            <p:cNvCxnSpPr/>
            <p:nvPr/>
          </p:nvCxnSpPr>
          <p:spPr>
            <a:xfrm flipV="1">
              <a:off x="8126801" y="4786061"/>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8" name="Прямая соединительная линия 637"/>
            <p:cNvCxnSpPr/>
            <p:nvPr/>
          </p:nvCxnSpPr>
          <p:spPr>
            <a:xfrm flipV="1">
              <a:off x="8183933"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9" name="Прямая соединительная линия 638"/>
            <p:cNvCxnSpPr/>
            <p:nvPr/>
          </p:nvCxnSpPr>
          <p:spPr>
            <a:xfrm flipV="1">
              <a:off x="8245408" y="4785637"/>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40" name="Прямая соединительная линия 639"/>
            <p:cNvCxnSpPr/>
            <p:nvPr/>
          </p:nvCxnSpPr>
          <p:spPr>
            <a:xfrm flipV="1">
              <a:off x="8302540" y="4785212"/>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41" name="Прямая соединительная линия 640"/>
            <p:cNvCxnSpPr/>
            <p:nvPr/>
          </p:nvCxnSpPr>
          <p:spPr>
            <a:xfrm flipV="1">
              <a:off x="8362083" y="4785212"/>
              <a:ext cx="396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42" name="Прямая соединительная линия 641"/>
            <p:cNvCxnSpPr>
              <a:stCxn id="644" idx="0"/>
              <a:endCxn id="643" idx="0"/>
            </p:cNvCxnSpPr>
            <p:nvPr/>
          </p:nvCxnSpPr>
          <p:spPr>
            <a:xfrm>
              <a:off x="8259062" y="4888616"/>
              <a:ext cx="13170" cy="124524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43" name="Стрелка вниз 642"/>
            <p:cNvSpPr/>
            <p:nvPr/>
          </p:nvSpPr>
          <p:spPr>
            <a:xfrm>
              <a:off x="8247028" y="6133862"/>
              <a:ext cx="50406" cy="78652"/>
            </a:xfrm>
            <a:prstGeom prst="downArrow">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44" name="Стрелка вниз 643"/>
            <p:cNvSpPr/>
            <p:nvPr/>
          </p:nvSpPr>
          <p:spPr>
            <a:xfrm rot="10800000">
              <a:off x="8233860" y="4809964"/>
              <a:ext cx="50406" cy="78652"/>
            </a:xfrm>
            <a:prstGeom prst="downArrow">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45" name="TextBox 644"/>
            <p:cNvSpPr txBox="1"/>
            <p:nvPr/>
          </p:nvSpPr>
          <p:spPr>
            <a:xfrm>
              <a:off x="6775930" y="4830100"/>
              <a:ext cx="1683845" cy="442809"/>
            </a:xfrm>
            <a:prstGeom prst="rect">
              <a:avLst/>
            </a:prstGeom>
            <a:noFill/>
          </p:spPr>
          <p:txBody>
            <a:bodyPr wrap="square" rtlCol="0">
              <a:spAutoFit/>
            </a:bodyPr>
            <a:lstStyle/>
            <a:p>
              <a:pPr algn="ctr"/>
              <a:r>
                <a:rPr lang="ru-RU" sz="1000" b="1" dirty="0" smtClean="0">
                  <a:solidFill>
                    <a:schemeClr val="accent6"/>
                  </a:solidFill>
                </a:rPr>
                <a:t>Масса технологическая</a:t>
              </a:r>
              <a:endParaRPr lang="ru-RU" sz="1000" b="1" dirty="0">
                <a:solidFill>
                  <a:schemeClr val="accent6"/>
                </a:solidFill>
              </a:endParaRPr>
            </a:p>
          </p:txBody>
        </p:sp>
        <p:pic>
          <p:nvPicPr>
            <p:cNvPr id="646" name="Рисунок 645"/>
            <p:cNvPicPr>
              <a:picLocks noChangeAspect="1"/>
            </p:cNvPicPr>
            <p:nvPr/>
          </p:nvPicPr>
          <p:blipFill>
            <a:blip r:embed="rId5" cstate="print">
              <a:duotone>
                <a:prstClr val="black"/>
                <a:srgbClr val="00B0F0">
                  <a:tint val="45000"/>
                  <a:satMod val="400000"/>
                </a:srgbClr>
              </a:duotone>
              <a:extLst>
                <a:ext uri="{28A0092B-C50C-407E-A947-70E740481C1C}">
                  <a14:useLocalDpi xmlns:a14="http://schemas.microsoft.com/office/drawing/2010/main" val="0"/>
                </a:ext>
              </a:extLst>
            </a:blip>
            <a:stretch>
              <a:fillRect/>
            </a:stretch>
          </p:blipFill>
          <p:spPr>
            <a:xfrm>
              <a:off x="3515443" y="4678497"/>
              <a:ext cx="194014" cy="207582"/>
            </a:xfrm>
            <a:prstGeom prst="rect">
              <a:avLst/>
            </a:prstGeom>
          </p:spPr>
        </p:pic>
        <p:sp>
          <p:nvSpPr>
            <p:cNvPr id="647" name="Стрелка вниз 646"/>
            <p:cNvSpPr/>
            <p:nvPr/>
          </p:nvSpPr>
          <p:spPr>
            <a:xfrm rot="14580000">
              <a:off x="3856121" y="4827426"/>
              <a:ext cx="53931" cy="73511"/>
            </a:xfrm>
            <a:prstGeom prst="downArrow">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648" name="Группа 647"/>
            <p:cNvGrpSpPr/>
            <p:nvPr/>
          </p:nvGrpSpPr>
          <p:grpSpPr>
            <a:xfrm rot="20342785">
              <a:off x="2676951" y="5119197"/>
              <a:ext cx="1202638" cy="2809"/>
              <a:chOff x="5206885" y="4689622"/>
              <a:chExt cx="1090807" cy="2381"/>
            </a:xfrm>
          </p:grpSpPr>
          <p:cxnSp>
            <p:nvCxnSpPr>
              <p:cNvPr id="780" name="Прямая соединительная линия 779"/>
              <p:cNvCxnSpPr/>
              <p:nvPr/>
            </p:nvCxnSpPr>
            <p:spPr>
              <a:xfrm flipV="1">
                <a:off x="5206885" y="469200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1" name="Прямая соединительная линия 780"/>
              <p:cNvCxnSpPr/>
              <p:nvPr/>
            </p:nvCxnSpPr>
            <p:spPr>
              <a:xfrm flipV="1">
                <a:off x="5258704" y="469164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2" name="Прямая соединительная линия 781"/>
              <p:cNvCxnSpPr/>
              <p:nvPr/>
            </p:nvCxnSpPr>
            <p:spPr>
              <a:xfrm flipV="1">
                <a:off x="5314463" y="469164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3" name="Прямая соединительная линия 782"/>
              <p:cNvCxnSpPr/>
              <p:nvPr/>
            </p:nvCxnSpPr>
            <p:spPr>
              <a:xfrm flipV="1">
                <a:off x="5366282" y="469128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4" name="Прямая соединительная линия 783"/>
              <p:cNvCxnSpPr/>
              <p:nvPr/>
            </p:nvCxnSpPr>
            <p:spPr>
              <a:xfrm flipV="1">
                <a:off x="5412014" y="469128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5" name="Прямая соединительная линия 784"/>
              <p:cNvCxnSpPr/>
              <p:nvPr/>
            </p:nvCxnSpPr>
            <p:spPr>
              <a:xfrm flipV="1">
                <a:off x="5463833" y="469092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6" name="Прямая соединительная линия 785"/>
              <p:cNvCxnSpPr/>
              <p:nvPr/>
            </p:nvCxnSpPr>
            <p:spPr>
              <a:xfrm flipV="1">
                <a:off x="5519592" y="469092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7" name="Прямая соединительная линия 786"/>
              <p:cNvCxnSpPr/>
              <p:nvPr/>
            </p:nvCxnSpPr>
            <p:spPr>
              <a:xfrm flipV="1">
                <a:off x="5571411" y="469056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8" name="Прямая соединительная линия 787"/>
              <p:cNvCxnSpPr/>
              <p:nvPr/>
            </p:nvCxnSpPr>
            <p:spPr>
              <a:xfrm flipV="1">
                <a:off x="5625417" y="469056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9" name="Прямая соединительная линия 788"/>
              <p:cNvCxnSpPr/>
              <p:nvPr/>
            </p:nvCxnSpPr>
            <p:spPr>
              <a:xfrm flipV="1">
                <a:off x="5683763" y="4689982"/>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0" name="Прямая соединительная линия 789"/>
              <p:cNvCxnSpPr/>
              <p:nvPr/>
            </p:nvCxnSpPr>
            <p:spPr>
              <a:xfrm flipV="1">
                <a:off x="5737963" y="4689622"/>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1" name="Прямая соединительная линия 790"/>
              <p:cNvCxnSpPr/>
              <p:nvPr/>
            </p:nvCxnSpPr>
            <p:spPr>
              <a:xfrm flipV="1">
                <a:off x="5791341" y="4689622"/>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2" name="Прямая соединительная линия 791"/>
              <p:cNvCxnSpPr/>
              <p:nvPr/>
            </p:nvCxnSpPr>
            <p:spPr>
              <a:xfrm flipV="1">
                <a:off x="5843160" y="469164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3" name="Прямая соединительная линия 792"/>
              <p:cNvCxnSpPr/>
              <p:nvPr/>
            </p:nvCxnSpPr>
            <p:spPr>
              <a:xfrm flipV="1">
                <a:off x="5897166" y="469164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4" name="Прямая соединительная линия 793"/>
              <p:cNvCxnSpPr/>
              <p:nvPr/>
            </p:nvCxnSpPr>
            <p:spPr>
              <a:xfrm flipV="1">
                <a:off x="5948985" y="469128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5" name="Прямая соединительная линия 794"/>
              <p:cNvCxnSpPr/>
              <p:nvPr/>
            </p:nvCxnSpPr>
            <p:spPr>
              <a:xfrm flipV="1">
                <a:off x="6004744" y="469128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6" name="Прямая соединительная линия 795"/>
              <p:cNvCxnSpPr/>
              <p:nvPr/>
            </p:nvCxnSpPr>
            <p:spPr>
              <a:xfrm flipV="1">
                <a:off x="6056563" y="469092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7" name="Прямая соединительная линия 796"/>
              <p:cNvCxnSpPr/>
              <p:nvPr/>
            </p:nvCxnSpPr>
            <p:spPr>
              <a:xfrm flipV="1">
                <a:off x="6102295" y="469092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8" name="Прямая соединительная линия 797"/>
              <p:cNvCxnSpPr/>
              <p:nvPr/>
            </p:nvCxnSpPr>
            <p:spPr>
              <a:xfrm flipV="1">
                <a:off x="6154114" y="469056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9" name="Прямая соединительная линия 798"/>
              <p:cNvCxnSpPr/>
              <p:nvPr/>
            </p:nvCxnSpPr>
            <p:spPr>
              <a:xfrm flipV="1">
                <a:off x="6209873" y="469056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00" name="Прямая соединительная линия 799"/>
              <p:cNvCxnSpPr/>
              <p:nvPr/>
            </p:nvCxnSpPr>
            <p:spPr>
              <a:xfrm flipV="1">
                <a:off x="6261692" y="4690203"/>
                <a:ext cx="3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649" name="TextBox 648"/>
            <p:cNvSpPr txBox="1"/>
            <p:nvPr/>
          </p:nvSpPr>
          <p:spPr>
            <a:xfrm>
              <a:off x="301961" y="4910051"/>
              <a:ext cx="3122716" cy="584775"/>
            </a:xfrm>
            <a:prstGeom prst="rect">
              <a:avLst/>
            </a:prstGeom>
            <a:noFill/>
          </p:spPr>
          <p:txBody>
            <a:bodyPr wrap="square" rtlCol="0">
              <a:spAutoFit/>
            </a:bodyPr>
            <a:lstStyle/>
            <a:p>
              <a:pPr algn="ctr"/>
              <a:r>
                <a:rPr lang="ru-RU" sz="1600" b="1" dirty="0" smtClean="0">
                  <a:solidFill>
                    <a:schemeClr val="accent6"/>
                  </a:solidFill>
                </a:rPr>
                <a:t>Уровень минимальный технологический</a:t>
              </a:r>
              <a:endParaRPr lang="ru-RU" sz="1600" b="1" dirty="0">
                <a:solidFill>
                  <a:schemeClr val="accent6"/>
                </a:solidFill>
              </a:endParaRPr>
            </a:p>
          </p:txBody>
        </p:sp>
        <p:cxnSp>
          <p:nvCxnSpPr>
            <p:cNvPr id="650" name="Прямая соединительная линия 649"/>
            <p:cNvCxnSpPr/>
            <p:nvPr/>
          </p:nvCxnSpPr>
          <p:spPr>
            <a:xfrm>
              <a:off x="2418971" y="3256952"/>
              <a:ext cx="1306322" cy="139860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51" name="Стрелка вниз 650"/>
            <p:cNvSpPr/>
            <p:nvPr/>
          </p:nvSpPr>
          <p:spPr>
            <a:xfrm rot="18900000">
              <a:off x="3734953" y="4655197"/>
              <a:ext cx="50406" cy="78652"/>
            </a:xfrm>
            <a:prstGeom prst="downArrow">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52" name="TextBox 651"/>
            <p:cNvSpPr txBox="1"/>
            <p:nvPr/>
          </p:nvSpPr>
          <p:spPr>
            <a:xfrm>
              <a:off x="1361166" y="2993313"/>
              <a:ext cx="1187081" cy="374684"/>
            </a:xfrm>
            <a:prstGeom prst="rect">
              <a:avLst/>
            </a:prstGeom>
            <a:noFill/>
          </p:spPr>
          <p:txBody>
            <a:bodyPr wrap="square" rtlCol="0">
              <a:spAutoFit/>
            </a:bodyPr>
            <a:lstStyle/>
            <a:p>
              <a:pPr algn="ctr"/>
              <a:r>
                <a:rPr lang="ru-RU" sz="1600" b="1" dirty="0" smtClean="0">
                  <a:solidFill>
                    <a:schemeClr val="accent6"/>
                  </a:solidFill>
                </a:rPr>
                <a:t>Понтон</a:t>
              </a:r>
              <a:endParaRPr lang="ru-RU" sz="1600" b="1" dirty="0">
                <a:solidFill>
                  <a:schemeClr val="accent6"/>
                </a:solidFill>
              </a:endParaRPr>
            </a:p>
          </p:txBody>
        </p:sp>
        <p:cxnSp>
          <p:nvCxnSpPr>
            <p:cNvPr id="653" name="Прямая соединительная линия 652"/>
            <p:cNvCxnSpPr/>
            <p:nvPr/>
          </p:nvCxnSpPr>
          <p:spPr>
            <a:xfrm>
              <a:off x="2330339" y="4053843"/>
              <a:ext cx="1111708" cy="6309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4" name="Стрелка вниз 653"/>
            <p:cNvSpPr/>
            <p:nvPr/>
          </p:nvSpPr>
          <p:spPr>
            <a:xfrm rot="18120000">
              <a:off x="3456390" y="4674420"/>
              <a:ext cx="53931" cy="73511"/>
            </a:xfrm>
            <a:prstGeom prst="down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55" name="TextBox 654"/>
            <p:cNvSpPr txBox="1"/>
            <p:nvPr/>
          </p:nvSpPr>
          <p:spPr>
            <a:xfrm>
              <a:off x="1269314" y="3734310"/>
              <a:ext cx="1158778" cy="338554"/>
            </a:xfrm>
            <a:prstGeom prst="rect">
              <a:avLst/>
            </a:prstGeom>
            <a:noFill/>
          </p:spPr>
          <p:txBody>
            <a:bodyPr wrap="square" rtlCol="0">
              <a:spAutoFit/>
            </a:bodyPr>
            <a:lstStyle/>
            <a:p>
              <a:pPr algn="ctr"/>
              <a:r>
                <a:rPr lang="ru-RU" sz="1600" b="1" dirty="0" smtClean="0"/>
                <a:t>Прибор</a:t>
              </a:r>
              <a:endParaRPr lang="ru-RU" sz="1200" b="1" dirty="0"/>
            </a:p>
          </p:txBody>
        </p:sp>
        <p:sp>
          <p:nvSpPr>
            <p:cNvPr id="656" name="Стрелка вниз 655"/>
            <p:cNvSpPr/>
            <p:nvPr/>
          </p:nvSpPr>
          <p:spPr>
            <a:xfrm rot="14940000">
              <a:off x="3532240" y="2768036"/>
              <a:ext cx="53931" cy="73511"/>
            </a:xfrm>
            <a:prstGeom prst="downArrow">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657" name="Прямая соединительная линия 656"/>
            <p:cNvCxnSpPr>
              <a:stCxn id="659" idx="0"/>
              <a:endCxn id="658" idx="0"/>
            </p:cNvCxnSpPr>
            <p:nvPr/>
          </p:nvCxnSpPr>
          <p:spPr>
            <a:xfrm>
              <a:off x="8250264" y="2644354"/>
              <a:ext cx="7133" cy="202495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658" name="Стрелка вниз 657"/>
            <p:cNvSpPr/>
            <p:nvPr/>
          </p:nvSpPr>
          <p:spPr>
            <a:xfrm>
              <a:off x="8232194" y="4669311"/>
              <a:ext cx="50406" cy="78652"/>
            </a:xfrm>
            <a:prstGeom prst="downArrow">
              <a:avLst/>
            </a:prstGeom>
            <a:solidFill>
              <a:srgbClr val="FFFF0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59" name="Стрелка вниз 658"/>
            <p:cNvSpPr/>
            <p:nvPr/>
          </p:nvSpPr>
          <p:spPr>
            <a:xfrm rot="10800000">
              <a:off x="8225061" y="2565702"/>
              <a:ext cx="50406" cy="78652"/>
            </a:xfrm>
            <a:prstGeom prst="downArrow">
              <a:avLst/>
            </a:prstGeom>
            <a:solidFill>
              <a:srgbClr val="FFFF0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60" name="Стрелка вниз 659"/>
            <p:cNvSpPr/>
            <p:nvPr/>
          </p:nvSpPr>
          <p:spPr>
            <a:xfrm>
              <a:off x="9010532" y="6148910"/>
              <a:ext cx="50406" cy="78652"/>
            </a:xfrm>
            <a:prstGeom prst="downArrow">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61" name="Стрелка вниз 660"/>
            <p:cNvSpPr/>
            <p:nvPr/>
          </p:nvSpPr>
          <p:spPr>
            <a:xfrm rot="10800000">
              <a:off x="9003736" y="2568376"/>
              <a:ext cx="50406" cy="78652"/>
            </a:xfrm>
            <a:prstGeom prst="downArrow">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662" name="Прямая соединительная линия 661"/>
            <p:cNvCxnSpPr>
              <a:stCxn id="661" idx="0"/>
              <a:endCxn id="665" idx="0"/>
            </p:cNvCxnSpPr>
            <p:nvPr/>
          </p:nvCxnSpPr>
          <p:spPr>
            <a:xfrm>
              <a:off x="9028939" y="2647028"/>
              <a:ext cx="2663" cy="89110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3" name="Прямая соединительная линия 662"/>
            <p:cNvCxnSpPr>
              <a:stCxn id="665" idx="2"/>
              <a:endCxn id="660" idx="0"/>
            </p:cNvCxnSpPr>
            <p:nvPr/>
          </p:nvCxnSpPr>
          <p:spPr>
            <a:xfrm>
              <a:off x="9031601" y="4082728"/>
              <a:ext cx="4134" cy="206618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664" name="TextBox 663"/>
            <p:cNvSpPr txBox="1"/>
            <p:nvPr/>
          </p:nvSpPr>
          <p:spPr>
            <a:xfrm>
              <a:off x="7183103" y="3363881"/>
              <a:ext cx="1071450" cy="510933"/>
            </a:xfrm>
            <a:prstGeom prst="rect">
              <a:avLst/>
            </a:prstGeom>
            <a:noFill/>
          </p:spPr>
          <p:txBody>
            <a:bodyPr wrap="square" rtlCol="0">
              <a:spAutoFit/>
            </a:bodyPr>
            <a:lstStyle/>
            <a:p>
              <a:pPr algn="ctr"/>
              <a:r>
                <a:rPr lang="ru-RU" sz="1200" b="1" dirty="0" smtClean="0">
                  <a:solidFill>
                    <a:srgbClr val="0070C0"/>
                  </a:solidFill>
                </a:rPr>
                <a:t>Масса полезная</a:t>
              </a:r>
              <a:endParaRPr lang="ru-RU" sz="1200" b="1" dirty="0">
                <a:solidFill>
                  <a:srgbClr val="0070C0"/>
                </a:solidFill>
              </a:endParaRPr>
            </a:p>
          </p:txBody>
        </p:sp>
        <p:sp>
          <p:nvSpPr>
            <p:cNvPr id="665" name="TextBox 664"/>
            <p:cNvSpPr txBox="1"/>
            <p:nvPr/>
          </p:nvSpPr>
          <p:spPr>
            <a:xfrm>
              <a:off x="8553829" y="3538136"/>
              <a:ext cx="955544" cy="544592"/>
            </a:xfrm>
            <a:prstGeom prst="rect">
              <a:avLst/>
            </a:prstGeom>
            <a:noFill/>
          </p:spPr>
          <p:txBody>
            <a:bodyPr wrap="square" rtlCol="0">
              <a:spAutoFit/>
            </a:bodyPr>
            <a:lstStyle/>
            <a:p>
              <a:pPr algn="ctr"/>
              <a:r>
                <a:rPr lang="ru-RU" sz="1200" b="1" dirty="0" smtClean="0">
                  <a:solidFill>
                    <a:srgbClr val="FF0000"/>
                  </a:solidFill>
                </a:rPr>
                <a:t>Масса общая</a:t>
              </a:r>
              <a:endParaRPr lang="ru-RU" sz="1200" b="1" dirty="0">
                <a:solidFill>
                  <a:srgbClr val="FF0000"/>
                </a:solidFill>
              </a:endParaRPr>
            </a:p>
          </p:txBody>
        </p:sp>
        <p:cxnSp>
          <p:nvCxnSpPr>
            <p:cNvPr id="666" name="Прямая соединительная линия 665"/>
            <p:cNvCxnSpPr/>
            <p:nvPr/>
          </p:nvCxnSpPr>
          <p:spPr>
            <a:xfrm flipV="1">
              <a:off x="2391872" y="2557137"/>
              <a:ext cx="1111281" cy="1869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667" name="Стрелка вниз 666"/>
            <p:cNvSpPr/>
            <p:nvPr/>
          </p:nvSpPr>
          <p:spPr>
            <a:xfrm rot="16200000">
              <a:off x="3521553" y="2517718"/>
              <a:ext cx="53931" cy="73511"/>
            </a:xfrm>
            <a:prstGeom prst="downArrow">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68" name="TextBox 667"/>
            <p:cNvSpPr txBox="1"/>
            <p:nvPr/>
          </p:nvSpPr>
          <p:spPr>
            <a:xfrm>
              <a:off x="1029947" y="2367706"/>
              <a:ext cx="1256535" cy="374684"/>
            </a:xfrm>
            <a:prstGeom prst="rect">
              <a:avLst/>
            </a:prstGeom>
            <a:noFill/>
          </p:spPr>
          <p:txBody>
            <a:bodyPr wrap="square" rtlCol="0">
              <a:spAutoFit/>
            </a:bodyPr>
            <a:lstStyle/>
            <a:p>
              <a:pPr algn="ctr"/>
              <a:r>
                <a:rPr lang="ru-RU" sz="1600" b="1" dirty="0" smtClean="0">
                  <a:solidFill>
                    <a:srgbClr val="FF0000"/>
                  </a:solidFill>
                </a:rPr>
                <a:t>Уровень</a:t>
              </a:r>
              <a:endParaRPr lang="ru-RU" sz="1200" b="1" dirty="0">
                <a:solidFill>
                  <a:srgbClr val="FF0000"/>
                </a:solidFill>
              </a:endParaRPr>
            </a:p>
          </p:txBody>
        </p:sp>
        <p:cxnSp>
          <p:nvCxnSpPr>
            <p:cNvPr id="669" name="Прямая соединительная линия 668"/>
            <p:cNvCxnSpPr/>
            <p:nvPr/>
          </p:nvCxnSpPr>
          <p:spPr>
            <a:xfrm>
              <a:off x="364112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0" name="Прямая соединительная линия 669"/>
            <p:cNvCxnSpPr/>
            <p:nvPr/>
          </p:nvCxnSpPr>
          <p:spPr>
            <a:xfrm>
              <a:off x="3775014"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1" name="Прямая соединительная линия 670"/>
            <p:cNvCxnSpPr/>
            <p:nvPr/>
          </p:nvCxnSpPr>
          <p:spPr>
            <a:xfrm>
              <a:off x="3911534"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2" name="Прямая соединительная линия 671"/>
            <p:cNvCxnSpPr/>
            <p:nvPr/>
          </p:nvCxnSpPr>
          <p:spPr>
            <a:xfrm>
              <a:off x="4045429"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3" name="Прямая соединительная линия 672"/>
            <p:cNvCxnSpPr/>
            <p:nvPr/>
          </p:nvCxnSpPr>
          <p:spPr>
            <a:xfrm>
              <a:off x="4174072"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4" name="Прямая соединительная линия 673"/>
            <p:cNvCxnSpPr/>
            <p:nvPr/>
          </p:nvCxnSpPr>
          <p:spPr>
            <a:xfrm>
              <a:off x="4307967"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5" name="Прямая соединительная линия 674"/>
            <p:cNvCxnSpPr/>
            <p:nvPr/>
          </p:nvCxnSpPr>
          <p:spPr>
            <a:xfrm>
              <a:off x="4444487"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6" name="Прямая соединительная линия 675"/>
            <p:cNvCxnSpPr/>
            <p:nvPr/>
          </p:nvCxnSpPr>
          <p:spPr>
            <a:xfrm>
              <a:off x="4578381"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7" name="Прямая соединительная линия 676"/>
            <p:cNvCxnSpPr/>
            <p:nvPr/>
          </p:nvCxnSpPr>
          <p:spPr>
            <a:xfrm>
              <a:off x="4704398"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8" name="Прямая соединительная линия 677"/>
            <p:cNvCxnSpPr/>
            <p:nvPr/>
          </p:nvCxnSpPr>
          <p:spPr>
            <a:xfrm>
              <a:off x="4838293"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79" name="Прямая соединительная линия 678"/>
            <p:cNvCxnSpPr/>
            <p:nvPr/>
          </p:nvCxnSpPr>
          <p:spPr>
            <a:xfrm>
              <a:off x="4974813"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0" name="Прямая соединительная линия 679"/>
            <p:cNvCxnSpPr/>
            <p:nvPr/>
          </p:nvCxnSpPr>
          <p:spPr>
            <a:xfrm>
              <a:off x="5108708"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1" name="Прямая соединительная линия 680"/>
            <p:cNvCxnSpPr/>
            <p:nvPr/>
          </p:nvCxnSpPr>
          <p:spPr>
            <a:xfrm>
              <a:off x="5237351"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2" name="Прямая соединительная линия 681"/>
            <p:cNvCxnSpPr/>
            <p:nvPr/>
          </p:nvCxnSpPr>
          <p:spPr>
            <a:xfrm>
              <a:off x="5371246"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3" name="Прямая соединительная линия 682"/>
            <p:cNvCxnSpPr/>
            <p:nvPr/>
          </p:nvCxnSpPr>
          <p:spPr>
            <a:xfrm>
              <a:off x="5507765"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4" name="Прямая соединительная линия 683"/>
            <p:cNvCxnSpPr/>
            <p:nvPr/>
          </p:nvCxnSpPr>
          <p:spPr>
            <a:xfrm>
              <a:off x="564166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5" name="Прямая соединительная линия 684"/>
            <p:cNvCxnSpPr/>
            <p:nvPr/>
          </p:nvCxnSpPr>
          <p:spPr>
            <a:xfrm>
              <a:off x="5762801"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6" name="Прямая соединительная линия 685"/>
            <p:cNvCxnSpPr/>
            <p:nvPr/>
          </p:nvCxnSpPr>
          <p:spPr>
            <a:xfrm>
              <a:off x="5896695"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7" name="Прямая соединительная линия 686"/>
            <p:cNvCxnSpPr/>
            <p:nvPr/>
          </p:nvCxnSpPr>
          <p:spPr>
            <a:xfrm>
              <a:off x="6033215"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8" name="Прямая соединительная линия 687"/>
            <p:cNvCxnSpPr/>
            <p:nvPr/>
          </p:nvCxnSpPr>
          <p:spPr>
            <a:xfrm>
              <a:off x="616711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89" name="Прямая соединительная линия 688"/>
            <p:cNvCxnSpPr/>
            <p:nvPr/>
          </p:nvCxnSpPr>
          <p:spPr>
            <a:xfrm>
              <a:off x="6295753"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0" name="Прямая соединительная линия 689"/>
            <p:cNvCxnSpPr/>
            <p:nvPr/>
          </p:nvCxnSpPr>
          <p:spPr>
            <a:xfrm>
              <a:off x="6429648"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1" name="Прямая соединительная линия 690"/>
            <p:cNvCxnSpPr/>
            <p:nvPr/>
          </p:nvCxnSpPr>
          <p:spPr>
            <a:xfrm>
              <a:off x="6700062"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2" name="Прямая соединительная линия 691"/>
            <p:cNvCxnSpPr/>
            <p:nvPr/>
          </p:nvCxnSpPr>
          <p:spPr>
            <a:xfrm>
              <a:off x="682608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3" name="Прямая соединительная линия 692"/>
            <p:cNvCxnSpPr/>
            <p:nvPr/>
          </p:nvCxnSpPr>
          <p:spPr>
            <a:xfrm>
              <a:off x="6985538"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4" name="Прямая соединительная линия 693"/>
            <p:cNvCxnSpPr/>
            <p:nvPr/>
          </p:nvCxnSpPr>
          <p:spPr>
            <a:xfrm>
              <a:off x="7119433"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5" name="Прямая соединительная линия 694"/>
            <p:cNvCxnSpPr/>
            <p:nvPr/>
          </p:nvCxnSpPr>
          <p:spPr>
            <a:xfrm>
              <a:off x="7255952"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6" name="Прямая соединительная линия 695"/>
            <p:cNvCxnSpPr/>
            <p:nvPr/>
          </p:nvCxnSpPr>
          <p:spPr>
            <a:xfrm>
              <a:off x="7389847"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7" name="Прямая соединительная линия 696"/>
            <p:cNvCxnSpPr/>
            <p:nvPr/>
          </p:nvCxnSpPr>
          <p:spPr>
            <a:xfrm>
              <a:off x="751849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8" name="Прямая соединительная линия 697"/>
            <p:cNvCxnSpPr/>
            <p:nvPr/>
          </p:nvCxnSpPr>
          <p:spPr>
            <a:xfrm>
              <a:off x="7652385"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699" name="Прямая соединительная линия 698"/>
            <p:cNvCxnSpPr/>
            <p:nvPr/>
          </p:nvCxnSpPr>
          <p:spPr>
            <a:xfrm>
              <a:off x="7788905"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0" name="Прямая соединительная линия 699"/>
            <p:cNvCxnSpPr/>
            <p:nvPr/>
          </p:nvCxnSpPr>
          <p:spPr>
            <a:xfrm>
              <a:off x="792280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1" name="Прямая соединительная линия 700"/>
            <p:cNvCxnSpPr/>
            <p:nvPr/>
          </p:nvCxnSpPr>
          <p:spPr>
            <a:xfrm>
              <a:off x="8048817"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2" name="Прямая соединительная линия 701"/>
            <p:cNvCxnSpPr/>
            <p:nvPr/>
          </p:nvCxnSpPr>
          <p:spPr>
            <a:xfrm>
              <a:off x="8182711"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3" name="Прямая соединительная линия 702"/>
            <p:cNvCxnSpPr/>
            <p:nvPr/>
          </p:nvCxnSpPr>
          <p:spPr>
            <a:xfrm>
              <a:off x="8319231"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4" name="Прямая соединительная линия 703"/>
            <p:cNvCxnSpPr/>
            <p:nvPr/>
          </p:nvCxnSpPr>
          <p:spPr>
            <a:xfrm>
              <a:off x="8453126"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5" name="Прямая соединительная линия 704"/>
            <p:cNvCxnSpPr/>
            <p:nvPr/>
          </p:nvCxnSpPr>
          <p:spPr>
            <a:xfrm>
              <a:off x="8581769"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6" name="Прямая соединительная линия 705"/>
            <p:cNvCxnSpPr/>
            <p:nvPr/>
          </p:nvCxnSpPr>
          <p:spPr>
            <a:xfrm>
              <a:off x="8715664"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7" name="Прямая соединительная линия 706"/>
            <p:cNvCxnSpPr/>
            <p:nvPr/>
          </p:nvCxnSpPr>
          <p:spPr>
            <a:xfrm>
              <a:off x="8852184"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8" name="Прямая соединительная линия 707"/>
            <p:cNvCxnSpPr/>
            <p:nvPr/>
          </p:nvCxnSpPr>
          <p:spPr>
            <a:xfrm>
              <a:off x="8986078"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09" name="Прямая соединительная линия 708"/>
            <p:cNvCxnSpPr/>
            <p:nvPr/>
          </p:nvCxnSpPr>
          <p:spPr>
            <a:xfrm>
              <a:off x="9107219"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0" name="Прямая соединительная линия 709"/>
            <p:cNvCxnSpPr/>
            <p:nvPr/>
          </p:nvCxnSpPr>
          <p:spPr>
            <a:xfrm>
              <a:off x="9241114"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1" name="Прямая соединительная линия 710"/>
            <p:cNvCxnSpPr/>
            <p:nvPr/>
          </p:nvCxnSpPr>
          <p:spPr>
            <a:xfrm>
              <a:off x="9377633"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2" name="Прямая соединительная линия 711"/>
            <p:cNvCxnSpPr/>
            <p:nvPr/>
          </p:nvCxnSpPr>
          <p:spPr>
            <a:xfrm>
              <a:off x="9511528"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3" name="Прямая соединительная линия 712"/>
            <p:cNvCxnSpPr/>
            <p:nvPr/>
          </p:nvCxnSpPr>
          <p:spPr>
            <a:xfrm>
              <a:off x="9640171"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4" name="Прямая соединительная линия 713"/>
            <p:cNvCxnSpPr/>
            <p:nvPr/>
          </p:nvCxnSpPr>
          <p:spPr>
            <a:xfrm>
              <a:off x="9774066"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5" name="Прямая соединительная линия 714"/>
            <p:cNvCxnSpPr/>
            <p:nvPr/>
          </p:nvCxnSpPr>
          <p:spPr>
            <a:xfrm>
              <a:off x="9910586"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6" name="Прямая соединительная линия 715"/>
            <p:cNvCxnSpPr/>
            <p:nvPr/>
          </p:nvCxnSpPr>
          <p:spPr>
            <a:xfrm>
              <a:off x="10044480"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17" name="Прямая соединительная линия 716"/>
            <p:cNvCxnSpPr/>
            <p:nvPr/>
          </p:nvCxnSpPr>
          <p:spPr>
            <a:xfrm>
              <a:off x="10170499" y="2038696"/>
              <a:ext cx="92265" cy="0"/>
            </a:xfrm>
            <a:prstGeom prst="line">
              <a:avLst/>
            </a:prstGeom>
            <a:ln w="25400">
              <a:solidFill>
                <a:srgbClr val="A977B1"/>
              </a:solidFill>
            </a:ln>
          </p:spPr>
          <p:style>
            <a:lnRef idx="1">
              <a:schemeClr val="accent1"/>
            </a:lnRef>
            <a:fillRef idx="0">
              <a:schemeClr val="accent1"/>
            </a:fillRef>
            <a:effectRef idx="0">
              <a:schemeClr val="accent1"/>
            </a:effectRef>
            <a:fontRef idx="minor">
              <a:schemeClr val="tx1"/>
            </a:fontRef>
          </p:style>
        </p:cxnSp>
        <p:grpSp>
          <p:nvGrpSpPr>
            <p:cNvPr id="718" name="Группа 717"/>
            <p:cNvGrpSpPr/>
            <p:nvPr/>
          </p:nvGrpSpPr>
          <p:grpSpPr>
            <a:xfrm rot="1001560">
              <a:off x="2881616" y="1708727"/>
              <a:ext cx="864836" cy="2123"/>
              <a:chOff x="3177210" y="1930573"/>
              <a:chExt cx="784416" cy="1800"/>
            </a:xfrm>
          </p:grpSpPr>
          <p:cxnSp>
            <p:nvCxnSpPr>
              <p:cNvPr id="765" name="Прямая соединительная линия 764"/>
              <p:cNvCxnSpPr/>
              <p:nvPr/>
            </p:nvCxnSpPr>
            <p:spPr>
              <a:xfrm flipV="1">
                <a:off x="3177210" y="193165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66" name="Прямая соединительная линия 765"/>
              <p:cNvCxnSpPr/>
              <p:nvPr/>
            </p:nvCxnSpPr>
            <p:spPr>
              <a:xfrm flipV="1">
                <a:off x="3232969" y="193165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67" name="Прямая соединительная линия 766"/>
              <p:cNvCxnSpPr/>
              <p:nvPr/>
            </p:nvCxnSpPr>
            <p:spPr>
              <a:xfrm flipV="1">
                <a:off x="3284788" y="193129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68" name="Прямая соединительная линия 767"/>
              <p:cNvCxnSpPr/>
              <p:nvPr/>
            </p:nvCxnSpPr>
            <p:spPr>
              <a:xfrm flipV="1">
                <a:off x="3330520" y="193129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69" name="Прямая соединительная линия 768"/>
              <p:cNvCxnSpPr/>
              <p:nvPr/>
            </p:nvCxnSpPr>
            <p:spPr>
              <a:xfrm flipV="1">
                <a:off x="3382339" y="193093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0" name="Прямая соединительная линия 769"/>
              <p:cNvCxnSpPr/>
              <p:nvPr/>
            </p:nvCxnSpPr>
            <p:spPr>
              <a:xfrm flipV="1">
                <a:off x="3438098" y="193093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1" name="Прямая соединительная линия 770"/>
              <p:cNvCxnSpPr/>
              <p:nvPr/>
            </p:nvCxnSpPr>
            <p:spPr>
              <a:xfrm flipV="1">
                <a:off x="3489917" y="193057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2" name="Прямая соединительная линия 771"/>
              <p:cNvCxnSpPr/>
              <p:nvPr/>
            </p:nvCxnSpPr>
            <p:spPr>
              <a:xfrm flipV="1">
                <a:off x="3543923" y="193057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3" name="Прямая соединительная линия 772"/>
              <p:cNvCxnSpPr/>
              <p:nvPr/>
            </p:nvCxnSpPr>
            <p:spPr>
              <a:xfrm flipV="1">
                <a:off x="3604645" y="193237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4" name="Прямая соединительная линия 773"/>
              <p:cNvCxnSpPr/>
              <p:nvPr/>
            </p:nvCxnSpPr>
            <p:spPr>
              <a:xfrm flipV="1">
                <a:off x="3658845" y="193201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5" name="Прямая соединительная линия 774"/>
              <p:cNvCxnSpPr/>
              <p:nvPr/>
            </p:nvCxnSpPr>
            <p:spPr>
              <a:xfrm flipV="1">
                <a:off x="3712223" y="193201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6" name="Прямая соединительная линия 775"/>
              <p:cNvCxnSpPr/>
              <p:nvPr/>
            </p:nvCxnSpPr>
            <p:spPr>
              <a:xfrm flipV="1">
                <a:off x="3764042" y="193165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7" name="Прямая соединительная линия 776"/>
              <p:cNvCxnSpPr/>
              <p:nvPr/>
            </p:nvCxnSpPr>
            <p:spPr>
              <a:xfrm flipV="1">
                <a:off x="3818048" y="193165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8" name="Прямая соединительная линия 777"/>
              <p:cNvCxnSpPr/>
              <p:nvPr/>
            </p:nvCxnSpPr>
            <p:spPr>
              <a:xfrm flipV="1">
                <a:off x="3869867" y="193129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cxnSp>
            <p:nvCxnSpPr>
              <p:cNvPr id="779" name="Прямая соединительная линия 778"/>
              <p:cNvCxnSpPr/>
              <p:nvPr/>
            </p:nvCxnSpPr>
            <p:spPr>
              <a:xfrm flipV="1">
                <a:off x="3925626" y="1931293"/>
                <a:ext cx="36000" cy="0"/>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grpSp>
        <p:cxnSp>
          <p:nvCxnSpPr>
            <p:cNvPr id="719" name="Прямая соединительная линия 718"/>
            <p:cNvCxnSpPr/>
            <p:nvPr/>
          </p:nvCxnSpPr>
          <p:spPr>
            <a:xfrm flipH="1" flipV="1">
              <a:off x="10080790" y="3656833"/>
              <a:ext cx="10694" cy="2497178"/>
            </a:xfrm>
            <a:prstGeom prst="line">
              <a:avLst/>
            </a:prstGeom>
            <a:ln w="19050">
              <a:solidFill>
                <a:srgbClr val="A977B1"/>
              </a:solidFill>
            </a:ln>
          </p:spPr>
          <p:style>
            <a:lnRef idx="1">
              <a:schemeClr val="accent1"/>
            </a:lnRef>
            <a:fillRef idx="0">
              <a:schemeClr val="accent1"/>
            </a:fillRef>
            <a:effectRef idx="0">
              <a:schemeClr val="accent1"/>
            </a:effectRef>
            <a:fontRef idx="minor">
              <a:schemeClr val="tx1"/>
            </a:fontRef>
          </p:style>
        </p:cxnSp>
        <p:sp>
          <p:nvSpPr>
            <p:cNvPr id="720" name="Стрелка вниз 719"/>
            <p:cNvSpPr/>
            <p:nvPr/>
          </p:nvSpPr>
          <p:spPr>
            <a:xfrm>
              <a:off x="10062075" y="6142692"/>
              <a:ext cx="50406" cy="78652"/>
            </a:xfrm>
            <a:prstGeom prst="downArrow">
              <a:avLst/>
            </a:prstGeom>
            <a:solidFill>
              <a:srgbClr val="A977B1"/>
            </a:solidFill>
            <a:ln w="19050">
              <a:solidFill>
                <a:srgbClr val="A97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21" name="Стрелка вниз 720"/>
            <p:cNvSpPr/>
            <p:nvPr/>
          </p:nvSpPr>
          <p:spPr>
            <a:xfrm rot="10800000">
              <a:off x="10066805" y="2077404"/>
              <a:ext cx="50406" cy="78652"/>
            </a:xfrm>
            <a:prstGeom prst="downArrow">
              <a:avLst/>
            </a:prstGeom>
            <a:solidFill>
              <a:srgbClr val="A977B1"/>
            </a:solidFill>
            <a:ln w="19050">
              <a:solidFill>
                <a:srgbClr val="A97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722" name="Прямая соединительная линия 721"/>
            <p:cNvCxnSpPr>
              <a:stCxn id="721" idx="0"/>
            </p:cNvCxnSpPr>
            <p:nvPr/>
          </p:nvCxnSpPr>
          <p:spPr>
            <a:xfrm flipH="1">
              <a:off x="10091482" y="2156056"/>
              <a:ext cx="526" cy="688004"/>
            </a:xfrm>
            <a:prstGeom prst="line">
              <a:avLst/>
            </a:prstGeom>
            <a:ln w="12700">
              <a:solidFill>
                <a:srgbClr val="A977B1"/>
              </a:solidFill>
            </a:ln>
          </p:spPr>
          <p:style>
            <a:lnRef idx="1">
              <a:schemeClr val="accent1"/>
            </a:lnRef>
            <a:fillRef idx="0">
              <a:schemeClr val="accent1"/>
            </a:fillRef>
            <a:effectRef idx="0">
              <a:schemeClr val="accent1"/>
            </a:effectRef>
            <a:fontRef idx="minor">
              <a:schemeClr val="tx1"/>
            </a:fontRef>
          </p:style>
        </p:cxnSp>
        <p:sp>
          <p:nvSpPr>
            <p:cNvPr id="723" name="TextBox 722"/>
            <p:cNvSpPr txBox="1"/>
            <p:nvPr/>
          </p:nvSpPr>
          <p:spPr>
            <a:xfrm>
              <a:off x="9250943" y="2851471"/>
              <a:ext cx="1749228" cy="715306"/>
            </a:xfrm>
            <a:prstGeom prst="rect">
              <a:avLst/>
            </a:prstGeom>
            <a:noFill/>
          </p:spPr>
          <p:txBody>
            <a:bodyPr wrap="square" rtlCol="0">
              <a:spAutoFit/>
            </a:bodyPr>
            <a:lstStyle/>
            <a:p>
              <a:pPr algn="ctr"/>
              <a:r>
                <a:rPr lang="ru-RU" sz="1200" b="1" dirty="0" smtClean="0">
                  <a:solidFill>
                    <a:srgbClr val="A977B1"/>
                  </a:solidFill>
                </a:rPr>
                <a:t>Масса максимальная технологическая</a:t>
              </a:r>
              <a:endParaRPr lang="ru-RU" sz="1200" b="1" dirty="0">
                <a:solidFill>
                  <a:srgbClr val="A977B1"/>
                </a:solidFill>
              </a:endParaRPr>
            </a:p>
          </p:txBody>
        </p:sp>
        <p:sp>
          <p:nvSpPr>
            <p:cNvPr id="724" name="Стрелка вниз 723"/>
            <p:cNvSpPr/>
            <p:nvPr/>
          </p:nvSpPr>
          <p:spPr>
            <a:xfrm rot="10800000">
              <a:off x="9004195" y="2074303"/>
              <a:ext cx="50406" cy="78652"/>
            </a:xfrm>
            <a:prstGeom prst="down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725" name="Прямая соединительная линия 724"/>
            <p:cNvCxnSpPr>
              <a:stCxn id="724" idx="0"/>
              <a:endCxn id="726" idx="0"/>
            </p:cNvCxnSpPr>
            <p:nvPr/>
          </p:nvCxnSpPr>
          <p:spPr>
            <a:xfrm flipH="1">
              <a:off x="9028939" y="2152955"/>
              <a:ext cx="459" cy="2900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26" name="Стрелка вниз 725"/>
            <p:cNvSpPr/>
            <p:nvPr/>
          </p:nvSpPr>
          <p:spPr>
            <a:xfrm>
              <a:off x="9003735" y="2442970"/>
              <a:ext cx="50406" cy="78652"/>
            </a:xfrm>
            <a:prstGeom prst="down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27" name="TextBox 726"/>
            <p:cNvSpPr txBox="1"/>
            <p:nvPr/>
          </p:nvSpPr>
          <p:spPr>
            <a:xfrm>
              <a:off x="7866728" y="2033492"/>
              <a:ext cx="1220957" cy="544592"/>
            </a:xfrm>
            <a:prstGeom prst="rect">
              <a:avLst/>
            </a:prstGeom>
            <a:noFill/>
          </p:spPr>
          <p:txBody>
            <a:bodyPr wrap="square" rtlCol="0">
              <a:spAutoFit/>
            </a:bodyPr>
            <a:lstStyle/>
            <a:p>
              <a:pPr algn="ctr"/>
              <a:r>
                <a:rPr lang="ru-RU" sz="1200" b="1" dirty="0" smtClean="0"/>
                <a:t>Масса свободная</a:t>
              </a:r>
              <a:endParaRPr lang="ru-RU" sz="1200" b="1" dirty="0"/>
            </a:p>
          </p:txBody>
        </p:sp>
        <p:pic>
          <p:nvPicPr>
            <p:cNvPr id="728" name="Рисунок 727"/>
            <p:cNvPicPr>
              <a:picLocks noChangeAspect="1"/>
            </p:cNvPicPr>
            <p:nvPr/>
          </p:nvPicPr>
          <p:blipFill>
            <a:blip r:embed="rId5" cstate="print">
              <a:duotone>
                <a:prstClr val="black"/>
                <a:srgbClr val="00B0F0">
                  <a:tint val="45000"/>
                  <a:satMod val="400000"/>
                </a:srgbClr>
              </a:duotone>
              <a:extLst>
                <a:ext uri="{28A0092B-C50C-407E-A947-70E740481C1C}">
                  <a14:useLocalDpi xmlns:a14="http://schemas.microsoft.com/office/drawing/2010/main" val="0"/>
                </a:ext>
              </a:extLst>
            </a:blip>
            <a:stretch>
              <a:fillRect/>
            </a:stretch>
          </p:blipFill>
          <p:spPr>
            <a:xfrm>
              <a:off x="3483682" y="1917761"/>
              <a:ext cx="194014" cy="207582"/>
            </a:xfrm>
            <a:prstGeom prst="rect">
              <a:avLst/>
            </a:prstGeom>
          </p:spPr>
        </p:pic>
        <p:grpSp>
          <p:nvGrpSpPr>
            <p:cNvPr id="729" name="Группа 728"/>
            <p:cNvGrpSpPr/>
            <p:nvPr/>
          </p:nvGrpSpPr>
          <p:grpSpPr>
            <a:xfrm rot="16554601">
              <a:off x="2039518" y="2474759"/>
              <a:ext cx="1759444" cy="995035"/>
              <a:chOff x="3123405" y="4070202"/>
              <a:chExt cx="1079137" cy="580098"/>
            </a:xfrm>
          </p:grpSpPr>
          <p:cxnSp>
            <p:nvCxnSpPr>
              <p:cNvPr id="763" name="Прямая соединительная линия 762"/>
              <p:cNvCxnSpPr/>
              <p:nvPr/>
            </p:nvCxnSpPr>
            <p:spPr>
              <a:xfrm>
                <a:off x="3123405" y="4070202"/>
                <a:ext cx="1008332" cy="5348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4" name="Стрелка вниз 763"/>
              <p:cNvSpPr/>
              <p:nvPr/>
            </p:nvSpPr>
            <p:spPr>
              <a:xfrm rot="-3480000">
                <a:off x="4146345" y="4594103"/>
                <a:ext cx="45719" cy="66675"/>
              </a:xfrm>
              <a:prstGeom prst="down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sp>
          <p:nvSpPr>
            <p:cNvPr id="730" name="TextBox 729"/>
            <p:cNvSpPr txBox="1"/>
            <p:nvPr/>
          </p:nvSpPr>
          <p:spPr>
            <a:xfrm>
              <a:off x="627124" y="1159980"/>
              <a:ext cx="2794144" cy="584775"/>
            </a:xfrm>
            <a:prstGeom prst="rect">
              <a:avLst/>
            </a:prstGeom>
            <a:noFill/>
          </p:spPr>
          <p:txBody>
            <a:bodyPr wrap="square" rtlCol="0">
              <a:spAutoFit/>
            </a:bodyPr>
            <a:lstStyle/>
            <a:p>
              <a:pPr algn="ctr"/>
              <a:r>
                <a:rPr lang="ru-RU" sz="1600" b="1" dirty="0" smtClean="0">
                  <a:solidFill>
                    <a:srgbClr val="A977B1"/>
                  </a:solidFill>
                </a:rPr>
                <a:t>Уровень максимальный технологический</a:t>
              </a:r>
              <a:endParaRPr lang="ru-RU" sz="1600" b="1" dirty="0">
                <a:solidFill>
                  <a:srgbClr val="A977B1"/>
                </a:solidFill>
              </a:endParaRPr>
            </a:p>
          </p:txBody>
        </p:sp>
        <p:cxnSp>
          <p:nvCxnSpPr>
            <p:cNvPr id="731" name="Прямая соединительная линия 730"/>
            <p:cNvCxnSpPr>
              <a:cxnSpLocks noChangeAspect="1"/>
            </p:cNvCxnSpPr>
            <p:nvPr/>
          </p:nvCxnSpPr>
          <p:spPr>
            <a:xfrm flipH="1">
              <a:off x="3634337" y="2556107"/>
              <a:ext cx="222664" cy="199098"/>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2" name="Прямая соединительная линия 731"/>
            <p:cNvCxnSpPr>
              <a:cxnSpLocks noChangeAspect="1"/>
            </p:cNvCxnSpPr>
            <p:nvPr/>
          </p:nvCxnSpPr>
          <p:spPr>
            <a:xfrm flipH="1">
              <a:off x="3638453" y="2552510"/>
              <a:ext cx="343328" cy="306993"/>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3" name="Прямая соединительная линия 732"/>
            <p:cNvCxnSpPr>
              <a:cxnSpLocks noChangeAspect="1"/>
            </p:cNvCxnSpPr>
            <p:nvPr/>
          </p:nvCxnSpPr>
          <p:spPr>
            <a:xfrm flipH="1">
              <a:off x="3634211" y="2554394"/>
              <a:ext cx="486415" cy="434924"/>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4" name="Прямая соединительная линия 733"/>
            <p:cNvCxnSpPr>
              <a:cxnSpLocks noChangeAspect="1"/>
            </p:cNvCxnSpPr>
            <p:nvPr/>
          </p:nvCxnSpPr>
          <p:spPr>
            <a:xfrm flipH="1">
              <a:off x="3638286" y="2550827"/>
              <a:ext cx="749982" cy="670615"/>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5" name="Прямая соединительная линия 734"/>
            <p:cNvCxnSpPr>
              <a:cxnSpLocks noChangeAspect="1"/>
            </p:cNvCxnSpPr>
            <p:nvPr/>
          </p:nvCxnSpPr>
          <p:spPr>
            <a:xfrm flipH="1">
              <a:off x="3638769" y="2555627"/>
              <a:ext cx="613457" cy="548414"/>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6" name="Прямая соединительная линия 735"/>
            <p:cNvCxnSpPr>
              <a:cxnSpLocks noChangeAspect="1"/>
            </p:cNvCxnSpPr>
            <p:nvPr/>
          </p:nvCxnSpPr>
          <p:spPr>
            <a:xfrm flipH="1">
              <a:off x="3641423" y="2563682"/>
              <a:ext cx="946631" cy="846465"/>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7" name="Прямая соединительная линия 736"/>
            <p:cNvCxnSpPr>
              <a:cxnSpLocks noChangeAspect="1"/>
            </p:cNvCxnSpPr>
            <p:nvPr/>
          </p:nvCxnSpPr>
          <p:spPr>
            <a:xfrm flipH="1">
              <a:off x="3636409" y="2551337"/>
              <a:ext cx="1306677" cy="116836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8" name="Прямая соединительная линия 737"/>
            <p:cNvCxnSpPr>
              <a:cxnSpLocks noChangeAspect="1"/>
            </p:cNvCxnSpPr>
            <p:nvPr/>
          </p:nvCxnSpPr>
          <p:spPr>
            <a:xfrm flipH="1">
              <a:off x="3631358" y="2557066"/>
              <a:ext cx="1135957" cy="101573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39" name="Прямая соединительная линия 738"/>
            <p:cNvCxnSpPr>
              <a:cxnSpLocks noChangeAspect="1"/>
            </p:cNvCxnSpPr>
            <p:nvPr/>
          </p:nvCxnSpPr>
          <p:spPr>
            <a:xfrm flipH="1">
              <a:off x="3637335" y="2551282"/>
              <a:ext cx="1716640" cy="1534965"/>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0" name="Прямая соединительная линия 739"/>
            <p:cNvCxnSpPr>
              <a:cxnSpLocks noChangeAspect="1"/>
            </p:cNvCxnSpPr>
            <p:nvPr/>
          </p:nvCxnSpPr>
          <p:spPr>
            <a:xfrm flipH="1">
              <a:off x="4629572" y="4509767"/>
              <a:ext cx="2319275" cy="2073839"/>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1" name="Прямая соединительная линия 740"/>
            <p:cNvCxnSpPr>
              <a:cxnSpLocks noChangeAspect="1"/>
            </p:cNvCxnSpPr>
            <p:nvPr/>
          </p:nvCxnSpPr>
          <p:spPr>
            <a:xfrm flipH="1">
              <a:off x="3898191" y="3693647"/>
              <a:ext cx="3067285" cy="274207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2" name="Прямая соединительная линия 741"/>
            <p:cNvCxnSpPr>
              <a:cxnSpLocks noChangeAspect="1"/>
            </p:cNvCxnSpPr>
            <p:nvPr/>
          </p:nvCxnSpPr>
          <p:spPr>
            <a:xfrm flipH="1">
              <a:off x="3637344" y="2563999"/>
              <a:ext cx="1893301" cy="169293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3" name="Прямая соединительная линия 742"/>
            <p:cNvCxnSpPr>
              <a:cxnSpLocks noChangeAspect="1"/>
            </p:cNvCxnSpPr>
            <p:nvPr/>
          </p:nvCxnSpPr>
          <p:spPr>
            <a:xfrm flipH="1">
              <a:off x="3632494" y="2556953"/>
              <a:ext cx="1514641" cy="1354344"/>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4" name="Прямая соединительная линия 743"/>
            <p:cNvCxnSpPr>
              <a:cxnSpLocks noChangeAspect="1"/>
            </p:cNvCxnSpPr>
            <p:nvPr/>
          </p:nvCxnSpPr>
          <p:spPr>
            <a:xfrm flipH="1">
              <a:off x="3627714" y="2563045"/>
              <a:ext cx="2129964" cy="1904546"/>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5" name="Прямая соединительная линия 744"/>
            <p:cNvCxnSpPr>
              <a:cxnSpLocks noChangeAspect="1"/>
            </p:cNvCxnSpPr>
            <p:nvPr/>
          </p:nvCxnSpPr>
          <p:spPr>
            <a:xfrm flipH="1">
              <a:off x="3639392" y="2554667"/>
              <a:ext cx="2675283" cy="2392082"/>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6" name="Прямая соединительная линия 745"/>
            <p:cNvCxnSpPr>
              <a:cxnSpLocks noChangeAspect="1"/>
            </p:cNvCxnSpPr>
            <p:nvPr/>
          </p:nvCxnSpPr>
          <p:spPr>
            <a:xfrm flipH="1">
              <a:off x="3649289" y="2559666"/>
              <a:ext cx="2942811" cy="263129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7" name="Прямая соединительная линия 746"/>
            <p:cNvCxnSpPr>
              <a:cxnSpLocks noChangeAspect="1"/>
            </p:cNvCxnSpPr>
            <p:nvPr/>
          </p:nvCxnSpPr>
          <p:spPr>
            <a:xfrm flipH="1">
              <a:off x="3644599" y="2561340"/>
              <a:ext cx="3237092" cy="2894419"/>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8" name="Прямая соединительная линия 747"/>
            <p:cNvCxnSpPr>
              <a:cxnSpLocks noChangeAspect="1"/>
            </p:cNvCxnSpPr>
            <p:nvPr/>
          </p:nvCxnSpPr>
          <p:spPr>
            <a:xfrm flipH="1">
              <a:off x="3644572" y="2756787"/>
              <a:ext cx="3334205" cy="2981252"/>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49" name="Прямая соединительная линия 748"/>
            <p:cNvCxnSpPr>
              <a:cxnSpLocks noChangeAspect="1"/>
            </p:cNvCxnSpPr>
            <p:nvPr/>
          </p:nvCxnSpPr>
          <p:spPr>
            <a:xfrm flipH="1">
              <a:off x="4165163" y="4037562"/>
              <a:ext cx="2791887" cy="2496436"/>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0" name="Прямая соединительная линия 749"/>
            <p:cNvCxnSpPr>
              <a:cxnSpLocks noChangeAspect="1"/>
            </p:cNvCxnSpPr>
            <p:nvPr/>
          </p:nvCxnSpPr>
          <p:spPr>
            <a:xfrm flipH="1">
              <a:off x="4409372" y="4295460"/>
              <a:ext cx="2536974" cy="2268500"/>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1" name="Прямая соединительная линия 750"/>
            <p:cNvCxnSpPr>
              <a:cxnSpLocks noChangeAspect="1"/>
            </p:cNvCxnSpPr>
            <p:nvPr/>
          </p:nvCxnSpPr>
          <p:spPr>
            <a:xfrm flipH="1">
              <a:off x="3705182" y="3455091"/>
              <a:ext cx="3251322" cy="2906594"/>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2" name="Прямая соединительная линия 751"/>
            <p:cNvCxnSpPr>
              <a:cxnSpLocks noChangeAspect="1"/>
            </p:cNvCxnSpPr>
            <p:nvPr/>
          </p:nvCxnSpPr>
          <p:spPr>
            <a:xfrm flipH="1">
              <a:off x="3614336" y="3251067"/>
              <a:ext cx="3348861" cy="2993792"/>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3" name="Прямая соединительная линия 752"/>
            <p:cNvCxnSpPr>
              <a:cxnSpLocks noChangeAspect="1"/>
            </p:cNvCxnSpPr>
            <p:nvPr/>
          </p:nvCxnSpPr>
          <p:spPr>
            <a:xfrm flipH="1">
              <a:off x="3638369" y="2989682"/>
              <a:ext cx="3315372" cy="2963854"/>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4" name="Прямая соединительная линия 753"/>
            <p:cNvCxnSpPr>
              <a:cxnSpLocks noChangeAspect="1"/>
            </p:cNvCxnSpPr>
            <p:nvPr/>
          </p:nvCxnSpPr>
          <p:spPr>
            <a:xfrm flipH="1">
              <a:off x="4781977" y="4662168"/>
              <a:ext cx="2180376" cy="1949639"/>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5" name="Прямая соединительная линия 754"/>
            <p:cNvCxnSpPr>
              <a:cxnSpLocks noChangeAspect="1"/>
            </p:cNvCxnSpPr>
            <p:nvPr/>
          </p:nvCxnSpPr>
          <p:spPr>
            <a:xfrm flipH="1">
              <a:off x="4967513" y="4830100"/>
              <a:ext cx="2005946" cy="1793668"/>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6" name="Прямая соединительная линия 755"/>
            <p:cNvCxnSpPr>
              <a:cxnSpLocks noChangeAspect="1"/>
            </p:cNvCxnSpPr>
            <p:nvPr/>
          </p:nvCxnSpPr>
          <p:spPr>
            <a:xfrm flipH="1">
              <a:off x="5191501" y="5045340"/>
              <a:ext cx="1765231" cy="1578428"/>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7" name="Прямая соединительная линия 756"/>
            <p:cNvCxnSpPr>
              <a:cxnSpLocks noChangeAspect="1"/>
            </p:cNvCxnSpPr>
            <p:nvPr/>
          </p:nvCxnSpPr>
          <p:spPr>
            <a:xfrm flipH="1">
              <a:off x="5406770" y="5249724"/>
              <a:ext cx="1553403" cy="1389017"/>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8" name="Прямая соединительная линия 757"/>
            <p:cNvCxnSpPr>
              <a:cxnSpLocks noChangeAspect="1"/>
            </p:cNvCxnSpPr>
            <p:nvPr/>
          </p:nvCxnSpPr>
          <p:spPr>
            <a:xfrm flipH="1">
              <a:off x="5588259" y="5411236"/>
              <a:ext cx="1366995" cy="1222335"/>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59" name="Прямая соединительная линия 758"/>
            <p:cNvCxnSpPr>
              <a:cxnSpLocks noChangeAspect="1"/>
            </p:cNvCxnSpPr>
            <p:nvPr/>
          </p:nvCxnSpPr>
          <p:spPr>
            <a:xfrm flipH="1">
              <a:off x="5864479" y="5624551"/>
              <a:ext cx="1093596" cy="977868"/>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60" name="Прямая соединительная линия 759"/>
            <p:cNvCxnSpPr>
              <a:cxnSpLocks noChangeAspect="1"/>
            </p:cNvCxnSpPr>
            <p:nvPr/>
          </p:nvCxnSpPr>
          <p:spPr>
            <a:xfrm flipH="1">
              <a:off x="6064685" y="5802918"/>
              <a:ext cx="874877" cy="782294"/>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61" name="Прямая соединительная линия 760"/>
            <p:cNvCxnSpPr>
              <a:cxnSpLocks noChangeAspect="1"/>
            </p:cNvCxnSpPr>
            <p:nvPr/>
          </p:nvCxnSpPr>
          <p:spPr>
            <a:xfrm flipH="1">
              <a:off x="6298005" y="5964226"/>
              <a:ext cx="656158" cy="586721"/>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cxnSp>
          <p:nvCxnSpPr>
            <p:cNvPr id="762" name="Прямая соединительная линия 761"/>
            <p:cNvCxnSpPr>
              <a:cxnSpLocks noChangeAspect="1"/>
            </p:cNvCxnSpPr>
            <p:nvPr/>
          </p:nvCxnSpPr>
          <p:spPr>
            <a:xfrm flipH="1">
              <a:off x="6543745" y="6130847"/>
              <a:ext cx="393695" cy="352033"/>
            </a:xfrm>
            <a:prstGeom prst="line">
              <a:avLst/>
            </a:prstGeom>
            <a:ln w="9525">
              <a:solidFill>
                <a:srgbClr val="FF4747">
                  <a:alpha val="50000"/>
                </a:srgbClr>
              </a:solidFill>
            </a:ln>
          </p:spPr>
          <p:style>
            <a:lnRef idx="1">
              <a:schemeClr val="accent1"/>
            </a:lnRef>
            <a:fillRef idx="0">
              <a:schemeClr val="accent1"/>
            </a:fillRef>
            <a:effectRef idx="0">
              <a:schemeClr val="accent1"/>
            </a:effectRef>
            <a:fontRef idx="minor">
              <a:schemeClr val="tx1"/>
            </a:fontRef>
          </p:style>
        </p:cxnSp>
      </p:grpSp>
      <p:sp>
        <p:nvSpPr>
          <p:cNvPr id="303" name="Номер слайда 2"/>
          <p:cNvSpPr>
            <a:spLocks noGrp="1"/>
          </p:cNvSpPr>
          <p:nvPr>
            <p:ph type="sldNum" sz="quarter" idx="12"/>
          </p:nvPr>
        </p:nvSpPr>
        <p:spPr>
          <a:xfrm>
            <a:off x="9489504" y="6741368"/>
            <a:ext cx="372948" cy="116632"/>
          </a:xfrm>
        </p:spPr>
        <p:txBody>
          <a:bodyPr/>
          <a:lstStyle/>
          <a:p>
            <a:r>
              <a:rPr lang="en-US" dirty="0" smtClean="0"/>
              <a:t>12</a:t>
            </a:r>
            <a:endParaRPr lang="ru-RU" dirty="0"/>
          </a:p>
        </p:txBody>
      </p:sp>
    </p:spTree>
    <p:extLst>
      <p:ext uri="{BB962C8B-B14F-4D97-AF65-F5344CB8AC3E}">
        <p14:creationId xmlns:p14="http://schemas.microsoft.com/office/powerpoint/2010/main" val="61712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Представление объектов и временных рядов в </a:t>
            </a:r>
            <a:r>
              <a:rPr lang="ru-RU" dirty="0" smtClean="0"/>
              <a:t>приложениях</a:t>
            </a:r>
            <a:endParaRPr lang="ru-RU" dirty="0"/>
          </a:p>
        </p:txBody>
      </p:sp>
      <p:sp>
        <p:nvSpPr>
          <p:cNvPr id="3" name="Номер слайда 2"/>
          <p:cNvSpPr>
            <a:spLocks noGrp="1"/>
          </p:cNvSpPr>
          <p:nvPr>
            <p:ph type="sldNum" sz="quarter" idx="12"/>
          </p:nvPr>
        </p:nvSpPr>
        <p:spPr>
          <a:xfrm>
            <a:off x="9489504" y="6741368"/>
            <a:ext cx="372948" cy="116632"/>
          </a:xfrm>
        </p:spPr>
        <p:txBody>
          <a:bodyPr/>
          <a:lstStyle/>
          <a:p>
            <a:fld id="{5100B139-BD82-4293-9FDA-44725340297B}" type="slidenum">
              <a:rPr lang="ru-RU" smtClean="0"/>
              <a:pPr/>
              <a:t>13</a:t>
            </a:fld>
            <a:endParaRPr lang="ru-RU" dirty="0"/>
          </a:p>
        </p:txBody>
      </p:sp>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56" y="2671282"/>
            <a:ext cx="5269458" cy="3450686"/>
          </a:xfrm>
          <a:prstGeom prst="rect">
            <a:avLst/>
          </a:prstGeom>
          <a:ln>
            <a:solidFill>
              <a:srgbClr val="475B79"/>
            </a:solidFill>
          </a:ln>
        </p:spPr>
      </p:pic>
      <p:pic>
        <p:nvPicPr>
          <p:cNvPr id="5" name="Рисунок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9317" y="2671282"/>
            <a:ext cx="4403136" cy="3450685"/>
          </a:xfrm>
          <a:prstGeom prst="rect">
            <a:avLst/>
          </a:prstGeom>
          <a:ln>
            <a:solidFill>
              <a:srgbClr val="475B79"/>
            </a:solidFill>
          </a:ln>
        </p:spPr>
      </p:pic>
      <p:sp>
        <p:nvSpPr>
          <p:cNvPr id="6" name="TextBox 5"/>
          <p:cNvSpPr txBox="1"/>
          <p:nvPr/>
        </p:nvSpPr>
        <p:spPr>
          <a:xfrm>
            <a:off x="770178" y="1476739"/>
            <a:ext cx="3842014" cy="830997"/>
          </a:xfrm>
          <a:prstGeom prst="rect">
            <a:avLst/>
          </a:prstGeom>
          <a:noFill/>
        </p:spPr>
        <p:txBody>
          <a:bodyPr wrap="none" rtlCol="0">
            <a:spAutoFit/>
          </a:bodyPr>
          <a:lstStyle/>
          <a:p>
            <a:pPr algn="ctr"/>
            <a:r>
              <a:rPr lang="ru-RU" sz="2400" b="1" dirty="0" smtClean="0">
                <a:solidFill>
                  <a:srgbClr val="000000"/>
                </a:solidFill>
                <a:latin typeface="Times New Roman" panose="02020603050405020304" pitchFamily="18" charset="0"/>
                <a:cs typeface="Times New Roman" panose="02020603050405020304" pitchFamily="18" charset="0"/>
              </a:rPr>
              <a:t>Объекты и их параметры </a:t>
            </a:r>
            <a:br>
              <a:rPr lang="ru-RU" sz="2400" b="1" dirty="0" smtClean="0">
                <a:solidFill>
                  <a:srgbClr val="000000"/>
                </a:solidFill>
                <a:latin typeface="Times New Roman" panose="02020603050405020304" pitchFamily="18" charset="0"/>
                <a:cs typeface="Times New Roman" panose="02020603050405020304" pitchFamily="18" charset="0"/>
              </a:rPr>
            </a:br>
            <a:r>
              <a:rPr lang="ru-RU" sz="2400" b="1" dirty="0" smtClean="0">
                <a:solidFill>
                  <a:srgbClr val="000000"/>
                </a:solidFill>
                <a:latin typeface="Times New Roman" panose="02020603050405020304" pitchFamily="18" charset="0"/>
                <a:cs typeface="Times New Roman" panose="02020603050405020304" pitchFamily="18" charset="0"/>
              </a:rPr>
              <a:t>в модульной БД</a:t>
            </a:r>
            <a:endParaRPr lang="ru-RU" sz="2400" b="1" dirty="0">
              <a:solidFill>
                <a:srgbClr val="00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5848313" y="1476739"/>
            <a:ext cx="3774880" cy="461665"/>
          </a:xfrm>
          <a:prstGeom prst="rect">
            <a:avLst/>
          </a:prstGeom>
          <a:noFill/>
        </p:spPr>
        <p:txBody>
          <a:bodyPr wrap="none" rtlCol="0">
            <a:spAutoFit/>
          </a:bodyPr>
          <a:lstStyle/>
          <a:p>
            <a:r>
              <a:rPr lang="ru-RU" sz="2400" b="1" dirty="0" smtClean="0">
                <a:solidFill>
                  <a:srgbClr val="000000"/>
                </a:solidFill>
                <a:latin typeface="Times New Roman" panose="02020603050405020304" pitchFamily="18" charset="0"/>
                <a:cs typeface="Times New Roman" panose="02020603050405020304" pitchFamily="18" charset="0"/>
              </a:rPr>
              <a:t>Пример выгрузки уровня</a:t>
            </a:r>
            <a:endParaRPr lang="ru-RU" sz="24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35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Как мы </a:t>
            </a:r>
            <a:r>
              <a:rPr lang="ru-RU" dirty="0" smtClean="0"/>
              <a:t>видим</a:t>
            </a:r>
            <a:r>
              <a:rPr lang="en-US" dirty="0" smtClean="0"/>
              <a:t> </a:t>
            </a:r>
            <a:r>
              <a:rPr lang="ru-RU" dirty="0" smtClean="0"/>
              <a:t>сопровождение системы PI</a:t>
            </a:r>
            <a:r>
              <a:rPr lang="en-US" dirty="0" smtClean="0"/>
              <a:t>-</a:t>
            </a:r>
            <a:r>
              <a:rPr lang="ru-RU" dirty="0" err="1" smtClean="0"/>
              <a:t>System</a:t>
            </a:r>
            <a:r>
              <a:rPr lang="ru-RU" dirty="0" smtClean="0"/>
              <a:t>?</a:t>
            </a:r>
            <a:endParaRPr lang="ru-RU" dirty="0"/>
          </a:p>
        </p:txBody>
      </p:sp>
      <p:sp>
        <p:nvSpPr>
          <p:cNvPr id="3" name="Номер слайда 2"/>
          <p:cNvSpPr>
            <a:spLocks noGrp="1"/>
          </p:cNvSpPr>
          <p:nvPr>
            <p:ph type="sldNum" sz="quarter" idx="12"/>
          </p:nvPr>
        </p:nvSpPr>
        <p:spPr>
          <a:xfrm>
            <a:off x="9489504" y="6714000"/>
            <a:ext cx="372948" cy="144000"/>
          </a:xfrm>
        </p:spPr>
        <p:txBody>
          <a:bodyPr/>
          <a:lstStyle/>
          <a:p>
            <a:fld id="{5100B139-BD82-4293-9FDA-44725340297B}" type="slidenum">
              <a:rPr lang="ru-RU" smtClean="0"/>
              <a:pPr/>
              <a:t>14</a:t>
            </a:fld>
            <a:endParaRPr lang="ru-RU" dirty="0"/>
          </a:p>
        </p:txBody>
      </p:sp>
      <p:cxnSp>
        <p:nvCxnSpPr>
          <p:cNvPr id="50" name="Прямая соединительная линия 49"/>
          <p:cNvCxnSpPr/>
          <p:nvPr/>
        </p:nvCxnSpPr>
        <p:spPr>
          <a:xfrm>
            <a:off x="6956946" y="1678136"/>
            <a:ext cx="0" cy="41687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p:cNvCxnSpPr/>
          <p:nvPr/>
        </p:nvCxnSpPr>
        <p:spPr>
          <a:xfrm>
            <a:off x="8242821" y="1686074"/>
            <a:ext cx="0" cy="4160837"/>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a:off x="4394721" y="1703536"/>
            <a:ext cx="15875" cy="413385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5693296" y="1703536"/>
            <a:ext cx="0" cy="41433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54" name="Нашивка 53"/>
          <p:cNvSpPr/>
          <p:nvPr/>
        </p:nvSpPr>
        <p:spPr>
          <a:xfrm>
            <a:off x="8149159" y="5007124"/>
            <a:ext cx="317500" cy="830262"/>
          </a:xfrm>
          <a:prstGeom prst="chevron">
            <a:avLst>
              <a:gd name="adj" fmla="val 67011"/>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chemeClr val="tx1"/>
              </a:solidFill>
            </a:endParaRPr>
          </a:p>
        </p:txBody>
      </p:sp>
      <p:sp>
        <p:nvSpPr>
          <p:cNvPr id="55" name="Пятиугольник 54"/>
          <p:cNvSpPr/>
          <p:nvPr/>
        </p:nvSpPr>
        <p:spPr>
          <a:xfrm>
            <a:off x="4016896" y="1844824"/>
            <a:ext cx="1676400" cy="839787"/>
          </a:xfrm>
          <a:prstGeom prst="homePlate">
            <a:avLst>
              <a:gd name="adj" fmla="val 2883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p>
        </p:txBody>
      </p:sp>
      <p:sp>
        <p:nvSpPr>
          <p:cNvPr id="56" name="Прямоугольник 55"/>
          <p:cNvSpPr>
            <a:spLocks noChangeArrowheads="1"/>
          </p:cNvSpPr>
          <p:nvPr/>
        </p:nvSpPr>
        <p:spPr bwMode="auto">
          <a:xfrm>
            <a:off x="4075634" y="1844824"/>
            <a:ext cx="13922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SzTx/>
              <a:buFontTx/>
              <a:buNone/>
            </a:pPr>
            <a:r>
              <a:rPr kumimoji="0" lang="ru-RU" altLang="ru-RU" sz="1200" dirty="0">
                <a:solidFill>
                  <a:srgbClr val="000000"/>
                </a:solidFill>
                <a:latin typeface="Arial" panose="020B0604020202020204" pitchFamily="34" charset="0"/>
              </a:rPr>
              <a:t>Новшество, требование, обнаружение ошибки</a:t>
            </a:r>
          </a:p>
        </p:txBody>
      </p:sp>
      <p:sp>
        <p:nvSpPr>
          <p:cNvPr id="57" name="Пятиугольник 56"/>
          <p:cNvSpPr/>
          <p:nvPr/>
        </p:nvSpPr>
        <p:spPr>
          <a:xfrm>
            <a:off x="4016896" y="2871936"/>
            <a:ext cx="1676400" cy="842963"/>
          </a:xfrm>
          <a:prstGeom prst="homePlate">
            <a:avLst>
              <a:gd name="adj" fmla="val 27893"/>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sz="1400" dirty="0"/>
          </a:p>
        </p:txBody>
      </p:sp>
      <p:sp>
        <p:nvSpPr>
          <p:cNvPr id="58" name="Прямоугольник 57"/>
          <p:cNvSpPr>
            <a:spLocks noChangeArrowheads="1"/>
          </p:cNvSpPr>
          <p:nvPr/>
        </p:nvSpPr>
        <p:spPr bwMode="auto">
          <a:xfrm>
            <a:off x="4075634" y="2995761"/>
            <a:ext cx="142143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SzTx/>
              <a:buFontTx/>
              <a:buNone/>
            </a:pPr>
            <a:r>
              <a:rPr lang="ru-RU" altLang="ru-RU" sz="1200" dirty="0">
                <a:solidFill>
                  <a:srgbClr val="000000"/>
                </a:solidFill>
              </a:rPr>
              <a:t>Изучение</a:t>
            </a:r>
            <a:r>
              <a:rPr kumimoji="0" lang="ru-RU" altLang="ru-RU" sz="1000" dirty="0">
                <a:solidFill>
                  <a:srgbClr val="000000"/>
                </a:solidFill>
                <a:latin typeface="Arial" panose="020B0604020202020204" pitchFamily="34" charset="0"/>
              </a:rPr>
              <a:t>, </a:t>
            </a:r>
            <a:r>
              <a:rPr lang="ru-RU" altLang="ru-RU" sz="1200" dirty="0">
                <a:solidFill>
                  <a:srgbClr val="000000"/>
                </a:solidFill>
              </a:rPr>
              <a:t>уточнение, макетирование</a:t>
            </a:r>
          </a:p>
        </p:txBody>
      </p:sp>
      <p:sp>
        <p:nvSpPr>
          <p:cNvPr id="59" name="Пятиугольник 58"/>
          <p:cNvSpPr/>
          <p:nvPr/>
        </p:nvSpPr>
        <p:spPr>
          <a:xfrm>
            <a:off x="5272609" y="3906986"/>
            <a:ext cx="1714500" cy="839788"/>
          </a:xfrm>
          <a:prstGeom prst="homePlate">
            <a:avLst>
              <a:gd name="adj" fmla="val 27823"/>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sz="1400" dirty="0"/>
          </a:p>
        </p:txBody>
      </p:sp>
      <p:sp>
        <p:nvSpPr>
          <p:cNvPr id="60" name="Прямоугольник 59"/>
          <p:cNvSpPr>
            <a:spLocks noChangeArrowheads="1"/>
          </p:cNvSpPr>
          <p:nvPr/>
        </p:nvSpPr>
        <p:spPr bwMode="auto">
          <a:xfrm>
            <a:off x="5311502" y="3934610"/>
            <a:ext cx="15255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SzTx/>
              <a:buFontTx/>
              <a:buNone/>
            </a:pPr>
            <a:r>
              <a:rPr lang="ru-RU" altLang="ru-RU" sz="1200" dirty="0">
                <a:solidFill>
                  <a:srgbClr val="000000"/>
                </a:solidFill>
              </a:rPr>
              <a:t>Выбор средств реализации, самая лучшая работа в мире</a:t>
            </a:r>
          </a:p>
        </p:txBody>
      </p:sp>
      <p:sp>
        <p:nvSpPr>
          <p:cNvPr id="61" name="Пятиугольник 60"/>
          <p:cNvSpPr/>
          <p:nvPr/>
        </p:nvSpPr>
        <p:spPr>
          <a:xfrm>
            <a:off x="6545784" y="4986486"/>
            <a:ext cx="1717675" cy="850900"/>
          </a:xfrm>
          <a:prstGeom prst="homePlate">
            <a:avLst>
              <a:gd name="adj" fmla="val 27823"/>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sz="1400" dirty="0"/>
          </a:p>
        </p:txBody>
      </p:sp>
      <p:sp>
        <p:nvSpPr>
          <p:cNvPr id="62" name="Прямоугольник 61"/>
          <p:cNvSpPr>
            <a:spLocks noChangeArrowheads="1"/>
          </p:cNvSpPr>
          <p:nvPr/>
        </p:nvSpPr>
        <p:spPr bwMode="auto">
          <a:xfrm>
            <a:off x="6581503" y="5020676"/>
            <a:ext cx="1520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SzTx/>
              <a:buFontTx/>
              <a:buNone/>
            </a:pPr>
            <a:r>
              <a:rPr lang="ru-RU" altLang="ru-RU" sz="1200" dirty="0">
                <a:solidFill>
                  <a:srgbClr val="000000"/>
                </a:solidFill>
              </a:rPr>
              <a:t>Нет предела совершенству, все переделать как надо</a:t>
            </a:r>
          </a:p>
        </p:txBody>
      </p:sp>
      <p:grpSp>
        <p:nvGrpSpPr>
          <p:cNvPr id="63" name="Группа 62"/>
          <p:cNvGrpSpPr>
            <a:grpSpLocks/>
          </p:cNvGrpSpPr>
          <p:nvPr/>
        </p:nvGrpSpPr>
        <p:grpSpPr bwMode="auto">
          <a:xfrm>
            <a:off x="3084239" y="1867049"/>
            <a:ext cx="506413" cy="887413"/>
            <a:chOff x="1932464" y="1474154"/>
            <a:chExt cx="505936" cy="888160"/>
          </a:xfrm>
          <a:solidFill>
            <a:schemeClr val="bg1"/>
          </a:solidFill>
        </p:grpSpPr>
        <p:grpSp>
          <p:nvGrpSpPr>
            <p:cNvPr id="64" name="Группа 63"/>
            <p:cNvGrpSpPr>
              <a:grpSpLocks/>
            </p:cNvGrpSpPr>
            <p:nvPr/>
          </p:nvGrpSpPr>
          <p:grpSpPr bwMode="auto">
            <a:xfrm>
              <a:off x="1932464" y="1474154"/>
              <a:ext cx="505936" cy="883393"/>
              <a:chOff x="1932464" y="1474154"/>
              <a:chExt cx="505936" cy="883393"/>
            </a:xfrm>
            <a:grpFill/>
          </p:grpSpPr>
          <p:sp>
            <p:nvSpPr>
              <p:cNvPr id="67" name="Пятиугольник 66"/>
              <p:cNvSpPr/>
              <p:nvPr/>
            </p:nvSpPr>
            <p:spPr bwMode="auto">
              <a:xfrm>
                <a:off x="2046657" y="1496398"/>
                <a:ext cx="391743" cy="840495"/>
              </a:xfrm>
              <a:prstGeom prst="homePlate">
                <a:avLst/>
              </a:prstGeom>
              <a:grpFill/>
              <a:ln>
                <a:solidFill>
                  <a:schemeClr val="accent2"/>
                </a:solidFill>
              </a:ln>
            </p:spPr>
            <p:style>
              <a:lnRef idx="2">
                <a:schemeClr val="accent6"/>
              </a:lnRef>
              <a:fillRef idx="1">
                <a:schemeClr val="lt1"/>
              </a:fillRef>
              <a:effectRef idx="0">
                <a:schemeClr val="accent6"/>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sp>
            <p:nvSpPr>
              <p:cNvPr id="68" name="Прямоугольник 67"/>
              <p:cNvSpPr/>
              <p:nvPr/>
            </p:nvSpPr>
            <p:spPr bwMode="auto">
              <a:xfrm>
                <a:off x="1932464" y="1474154"/>
                <a:ext cx="228385" cy="883393"/>
              </a:xfrm>
              <a:prstGeom prst="rect">
                <a:avLst/>
              </a:prstGeom>
              <a:grpFill/>
              <a:ln>
                <a:noFill/>
              </a:ln>
            </p:spPr>
            <p:style>
              <a:lnRef idx="2">
                <a:schemeClr val="accent3"/>
              </a:lnRef>
              <a:fillRef idx="1">
                <a:schemeClr val="lt1"/>
              </a:fillRef>
              <a:effectRef idx="0">
                <a:schemeClr val="accent3"/>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grpSp>
        <p:sp>
          <p:nvSpPr>
            <p:cNvPr id="65" name="Овал 64"/>
            <p:cNvSpPr/>
            <p:nvPr/>
          </p:nvSpPr>
          <p:spPr>
            <a:xfrm>
              <a:off x="2135473" y="2309882"/>
              <a:ext cx="52338" cy="52432"/>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sp>
          <p:nvSpPr>
            <p:cNvPr id="66" name="Овал 65"/>
            <p:cNvSpPr/>
            <p:nvPr/>
          </p:nvSpPr>
          <p:spPr>
            <a:xfrm>
              <a:off x="2114854" y="1474154"/>
              <a:ext cx="52339" cy="52432"/>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grpSp>
      <p:grpSp>
        <p:nvGrpSpPr>
          <p:cNvPr id="69" name="Группа 68"/>
          <p:cNvGrpSpPr>
            <a:grpSpLocks/>
          </p:cNvGrpSpPr>
          <p:nvPr/>
        </p:nvGrpSpPr>
        <p:grpSpPr bwMode="auto">
          <a:xfrm>
            <a:off x="3096939" y="2914799"/>
            <a:ext cx="506413" cy="887413"/>
            <a:chOff x="1932464" y="1474154"/>
            <a:chExt cx="505936" cy="888160"/>
          </a:xfrm>
          <a:solidFill>
            <a:schemeClr val="bg1"/>
          </a:solidFill>
        </p:grpSpPr>
        <p:grpSp>
          <p:nvGrpSpPr>
            <p:cNvPr id="70" name="Группа 69"/>
            <p:cNvGrpSpPr>
              <a:grpSpLocks/>
            </p:cNvGrpSpPr>
            <p:nvPr/>
          </p:nvGrpSpPr>
          <p:grpSpPr bwMode="auto">
            <a:xfrm>
              <a:off x="1932464" y="1474154"/>
              <a:ext cx="505936" cy="883393"/>
              <a:chOff x="1932464" y="1474154"/>
              <a:chExt cx="505936" cy="883393"/>
            </a:xfrm>
            <a:grpFill/>
          </p:grpSpPr>
          <p:sp>
            <p:nvSpPr>
              <p:cNvPr id="73" name="Пятиугольник 72"/>
              <p:cNvSpPr/>
              <p:nvPr/>
            </p:nvSpPr>
            <p:spPr bwMode="auto">
              <a:xfrm>
                <a:off x="2046657" y="1496398"/>
                <a:ext cx="391743" cy="840495"/>
              </a:xfrm>
              <a:prstGeom prst="homePlate">
                <a:avLst/>
              </a:prstGeom>
              <a:grpFill/>
              <a:ln>
                <a:solidFill>
                  <a:schemeClr val="accent2"/>
                </a:solidFill>
              </a:ln>
            </p:spPr>
            <p:style>
              <a:lnRef idx="2">
                <a:schemeClr val="accent6"/>
              </a:lnRef>
              <a:fillRef idx="1">
                <a:schemeClr val="lt1"/>
              </a:fillRef>
              <a:effectRef idx="0">
                <a:schemeClr val="accent6"/>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sp>
            <p:nvSpPr>
              <p:cNvPr id="74" name="Прямоугольник 73"/>
              <p:cNvSpPr/>
              <p:nvPr/>
            </p:nvSpPr>
            <p:spPr bwMode="auto">
              <a:xfrm>
                <a:off x="1932464" y="1474154"/>
                <a:ext cx="228385" cy="883393"/>
              </a:xfrm>
              <a:prstGeom prst="rect">
                <a:avLst/>
              </a:prstGeom>
              <a:grpFill/>
              <a:ln>
                <a:noFill/>
              </a:ln>
            </p:spPr>
            <p:style>
              <a:lnRef idx="2">
                <a:schemeClr val="accent3"/>
              </a:lnRef>
              <a:fillRef idx="1">
                <a:schemeClr val="lt1"/>
              </a:fillRef>
              <a:effectRef idx="0">
                <a:schemeClr val="accent3"/>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grpSp>
        <p:sp>
          <p:nvSpPr>
            <p:cNvPr id="71" name="Овал 70"/>
            <p:cNvSpPr/>
            <p:nvPr/>
          </p:nvSpPr>
          <p:spPr>
            <a:xfrm>
              <a:off x="2135473" y="2309882"/>
              <a:ext cx="52338" cy="52432"/>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sp>
          <p:nvSpPr>
            <p:cNvPr id="72" name="Овал 71"/>
            <p:cNvSpPr/>
            <p:nvPr/>
          </p:nvSpPr>
          <p:spPr>
            <a:xfrm>
              <a:off x="2114854" y="1474154"/>
              <a:ext cx="52339" cy="52432"/>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grpSp>
      <p:grpSp>
        <p:nvGrpSpPr>
          <p:cNvPr id="75" name="Группа 74"/>
          <p:cNvGrpSpPr>
            <a:grpSpLocks/>
          </p:cNvGrpSpPr>
          <p:nvPr/>
        </p:nvGrpSpPr>
        <p:grpSpPr bwMode="auto">
          <a:xfrm>
            <a:off x="3117572" y="3927624"/>
            <a:ext cx="506413" cy="889000"/>
            <a:chOff x="1932464" y="1474154"/>
            <a:chExt cx="505936" cy="888160"/>
          </a:xfrm>
          <a:solidFill>
            <a:schemeClr val="bg1"/>
          </a:solidFill>
        </p:grpSpPr>
        <p:grpSp>
          <p:nvGrpSpPr>
            <p:cNvPr id="76" name="Группа 75"/>
            <p:cNvGrpSpPr>
              <a:grpSpLocks/>
            </p:cNvGrpSpPr>
            <p:nvPr/>
          </p:nvGrpSpPr>
          <p:grpSpPr bwMode="auto">
            <a:xfrm>
              <a:off x="1932464" y="1474154"/>
              <a:ext cx="505936" cy="883402"/>
              <a:chOff x="1932464" y="1474154"/>
              <a:chExt cx="505936" cy="883402"/>
            </a:xfrm>
            <a:grpFill/>
          </p:grpSpPr>
          <p:sp>
            <p:nvSpPr>
              <p:cNvPr id="79" name="Пятиугольник 78"/>
              <p:cNvSpPr/>
              <p:nvPr/>
            </p:nvSpPr>
            <p:spPr bwMode="auto">
              <a:xfrm>
                <a:off x="2046656" y="1496358"/>
                <a:ext cx="391744" cy="840580"/>
              </a:xfrm>
              <a:prstGeom prst="homePlate">
                <a:avLst/>
              </a:prstGeom>
              <a:grpFill/>
              <a:ln>
                <a:solidFill>
                  <a:schemeClr val="accent2"/>
                </a:solidFill>
              </a:ln>
            </p:spPr>
            <p:style>
              <a:lnRef idx="2">
                <a:schemeClr val="accent6"/>
              </a:lnRef>
              <a:fillRef idx="1">
                <a:schemeClr val="lt1"/>
              </a:fillRef>
              <a:effectRef idx="0">
                <a:schemeClr val="accent6"/>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sp>
            <p:nvSpPr>
              <p:cNvPr id="80" name="Прямоугольник 79"/>
              <p:cNvSpPr/>
              <p:nvPr/>
            </p:nvSpPr>
            <p:spPr bwMode="auto">
              <a:xfrm>
                <a:off x="1932464" y="1474154"/>
                <a:ext cx="228385" cy="883402"/>
              </a:xfrm>
              <a:prstGeom prst="rect">
                <a:avLst/>
              </a:prstGeom>
              <a:grpFill/>
              <a:ln>
                <a:noFill/>
              </a:ln>
            </p:spPr>
            <p:style>
              <a:lnRef idx="2">
                <a:schemeClr val="accent3"/>
              </a:lnRef>
              <a:fillRef idx="1">
                <a:schemeClr val="lt1"/>
              </a:fillRef>
              <a:effectRef idx="0">
                <a:schemeClr val="accent3"/>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grpSp>
        <p:sp>
          <p:nvSpPr>
            <p:cNvPr id="77" name="Овал 76"/>
            <p:cNvSpPr/>
            <p:nvPr/>
          </p:nvSpPr>
          <p:spPr>
            <a:xfrm>
              <a:off x="2135473" y="2309976"/>
              <a:ext cx="52339" cy="52338"/>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sp>
          <p:nvSpPr>
            <p:cNvPr id="78" name="Овал 77"/>
            <p:cNvSpPr/>
            <p:nvPr/>
          </p:nvSpPr>
          <p:spPr>
            <a:xfrm>
              <a:off x="2114855" y="1474154"/>
              <a:ext cx="52338" cy="52338"/>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grpSp>
      <p:grpSp>
        <p:nvGrpSpPr>
          <p:cNvPr id="81" name="Группа 80"/>
          <p:cNvGrpSpPr>
            <a:grpSpLocks/>
          </p:cNvGrpSpPr>
          <p:nvPr/>
        </p:nvGrpSpPr>
        <p:grpSpPr bwMode="auto">
          <a:xfrm>
            <a:off x="3090589" y="5015062"/>
            <a:ext cx="506413" cy="889000"/>
            <a:chOff x="1932464" y="1474154"/>
            <a:chExt cx="505936" cy="888160"/>
          </a:xfrm>
          <a:solidFill>
            <a:schemeClr val="bg1"/>
          </a:solidFill>
        </p:grpSpPr>
        <p:grpSp>
          <p:nvGrpSpPr>
            <p:cNvPr id="82" name="Группа 81"/>
            <p:cNvGrpSpPr>
              <a:grpSpLocks/>
            </p:cNvGrpSpPr>
            <p:nvPr/>
          </p:nvGrpSpPr>
          <p:grpSpPr bwMode="auto">
            <a:xfrm>
              <a:off x="1932464" y="1474154"/>
              <a:ext cx="505936" cy="883401"/>
              <a:chOff x="1932464" y="1474154"/>
              <a:chExt cx="505936" cy="883401"/>
            </a:xfrm>
            <a:grpFill/>
          </p:grpSpPr>
          <p:sp>
            <p:nvSpPr>
              <p:cNvPr id="85" name="Пятиугольник 84"/>
              <p:cNvSpPr/>
              <p:nvPr/>
            </p:nvSpPr>
            <p:spPr bwMode="auto">
              <a:xfrm>
                <a:off x="2046657" y="1496358"/>
                <a:ext cx="391743" cy="840580"/>
              </a:xfrm>
              <a:prstGeom prst="homePlate">
                <a:avLst/>
              </a:prstGeom>
              <a:grpFill/>
              <a:ln>
                <a:solidFill>
                  <a:schemeClr val="accent2"/>
                </a:solidFill>
              </a:ln>
            </p:spPr>
            <p:style>
              <a:lnRef idx="2">
                <a:schemeClr val="accent6"/>
              </a:lnRef>
              <a:fillRef idx="1">
                <a:schemeClr val="lt1"/>
              </a:fillRef>
              <a:effectRef idx="0">
                <a:schemeClr val="accent6"/>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sp>
            <p:nvSpPr>
              <p:cNvPr id="86" name="Прямоугольник 85"/>
              <p:cNvSpPr/>
              <p:nvPr/>
            </p:nvSpPr>
            <p:spPr bwMode="auto">
              <a:xfrm>
                <a:off x="1932464" y="1474154"/>
                <a:ext cx="228385" cy="883401"/>
              </a:xfrm>
              <a:prstGeom prst="rect">
                <a:avLst/>
              </a:prstGeom>
              <a:grpFill/>
              <a:ln>
                <a:noFill/>
              </a:ln>
            </p:spPr>
            <p:style>
              <a:lnRef idx="2">
                <a:schemeClr val="accent3"/>
              </a:lnRef>
              <a:fillRef idx="1">
                <a:schemeClr val="lt1"/>
              </a:fillRef>
              <a:effectRef idx="0">
                <a:schemeClr val="accent3"/>
              </a:effectRef>
              <a:fontRef idx="minor">
                <a:schemeClr val="dk1"/>
              </a:fontRef>
            </p:style>
            <p:txBody>
              <a:bodyPr anchor="ctr"/>
              <a:lstStyle>
                <a:defPPr>
                  <a:defRPr lang="ru-RU"/>
                </a:defPPr>
                <a:lvl1pPr algn="l" rtl="0" eaLnBrk="0" fontAlgn="base" hangingPunct="0">
                  <a:spcBef>
                    <a:spcPct val="0"/>
                  </a:spcBef>
                  <a:spcAft>
                    <a:spcPct val="0"/>
                  </a:spcAft>
                  <a:defRPr sz="8400" kern="1200">
                    <a:solidFill>
                      <a:schemeClr val="dk1"/>
                    </a:solidFill>
                    <a:latin typeface="+mn-lt"/>
                    <a:ea typeface="+mn-ea"/>
                    <a:cs typeface="+mn-cs"/>
                  </a:defRPr>
                </a:lvl1pPr>
                <a:lvl2pPr marL="455613" indent="1588" algn="l" rtl="0" eaLnBrk="0" fontAlgn="base" hangingPunct="0">
                  <a:spcBef>
                    <a:spcPct val="0"/>
                  </a:spcBef>
                  <a:spcAft>
                    <a:spcPct val="0"/>
                  </a:spcAft>
                  <a:defRPr sz="8400" kern="1200">
                    <a:solidFill>
                      <a:schemeClr val="dk1"/>
                    </a:solidFill>
                    <a:latin typeface="+mn-lt"/>
                    <a:ea typeface="+mn-ea"/>
                    <a:cs typeface="+mn-cs"/>
                  </a:defRPr>
                </a:lvl2pPr>
                <a:lvl3pPr marL="912813" indent="1588" algn="l" rtl="0" eaLnBrk="0" fontAlgn="base" hangingPunct="0">
                  <a:spcBef>
                    <a:spcPct val="0"/>
                  </a:spcBef>
                  <a:spcAft>
                    <a:spcPct val="0"/>
                  </a:spcAft>
                  <a:defRPr sz="8400" kern="1200">
                    <a:solidFill>
                      <a:schemeClr val="dk1"/>
                    </a:solidFill>
                    <a:latin typeface="+mn-lt"/>
                    <a:ea typeface="+mn-ea"/>
                    <a:cs typeface="+mn-cs"/>
                  </a:defRPr>
                </a:lvl3pPr>
                <a:lvl4pPr marL="1370013" indent="1588" algn="l" rtl="0" eaLnBrk="0" fontAlgn="base" hangingPunct="0">
                  <a:spcBef>
                    <a:spcPct val="0"/>
                  </a:spcBef>
                  <a:spcAft>
                    <a:spcPct val="0"/>
                  </a:spcAft>
                  <a:defRPr sz="8400" kern="1200">
                    <a:solidFill>
                      <a:schemeClr val="dk1"/>
                    </a:solidFill>
                    <a:latin typeface="+mn-lt"/>
                    <a:ea typeface="+mn-ea"/>
                    <a:cs typeface="+mn-cs"/>
                  </a:defRPr>
                </a:lvl4pPr>
                <a:lvl5pPr marL="1827213" indent="1588" algn="l" rtl="0" eaLnBrk="0" fontAlgn="base" hangingPunct="0">
                  <a:spcBef>
                    <a:spcPct val="0"/>
                  </a:spcBef>
                  <a:spcAft>
                    <a:spcPct val="0"/>
                  </a:spcAft>
                  <a:defRPr sz="8400" kern="1200">
                    <a:solidFill>
                      <a:schemeClr val="dk1"/>
                    </a:solidFill>
                    <a:latin typeface="+mn-lt"/>
                    <a:ea typeface="+mn-ea"/>
                    <a:cs typeface="+mn-cs"/>
                  </a:defRPr>
                </a:lvl5pPr>
                <a:lvl6pPr marL="2286000" algn="l" defTabSz="914400" rtl="0" eaLnBrk="1" latinLnBrk="0" hangingPunct="1">
                  <a:defRPr sz="8400" kern="1200">
                    <a:solidFill>
                      <a:schemeClr val="dk1"/>
                    </a:solidFill>
                    <a:latin typeface="+mn-lt"/>
                    <a:ea typeface="+mn-ea"/>
                    <a:cs typeface="+mn-cs"/>
                  </a:defRPr>
                </a:lvl6pPr>
                <a:lvl7pPr marL="2743200" algn="l" defTabSz="914400" rtl="0" eaLnBrk="1" latinLnBrk="0" hangingPunct="1">
                  <a:defRPr sz="8400" kern="1200">
                    <a:solidFill>
                      <a:schemeClr val="dk1"/>
                    </a:solidFill>
                    <a:latin typeface="+mn-lt"/>
                    <a:ea typeface="+mn-ea"/>
                    <a:cs typeface="+mn-cs"/>
                  </a:defRPr>
                </a:lvl7pPr>
                <a:lvl8pPr marL="3200400" algn="l" defTabSz="914400" rtl="0" eaLnBrk="1" latinLnBrk="0" hangingPunct="1">
                  <a:defRPr sz="8400" kern="1200">
                    <a:solidFill>
                      <a:schemeClr val="dk1"/>
                    </a:solidFill>
                    <a:latin typeface="+mn-lt"/>
                    <a:ea typeface="+mn-ea"/>
                    <a:cs typeface="+mn-cs"/>
                  </a:defRPr>
                </a:lvl8pPr>
                <a:lvl9pPr marL="3657600" algn="l" defTabSz="914400" rtl="0" eaLnBrk="1" latinLnBrk="0" hangingPunct="1">
                  <a:defRPr sz="8400" kern="1200">
                    <a:solidFill>
                      <a:schemeClr val="dk1"/>
                    </a:solidFill>
                    <a:latin typeface="+mn-lt"/>
                    <a:ea typeface="+mn-ea"/>
                    <a:cs typeface="+mn-cs"/>
                  </a:defRPr>
                </a:lvl9pPr>
              </a:lstStyle>
              <a:p>
                <a:pPr algn="ctr" eaLnBrk="1" hangingPunct="1">
                  <a:defRPr/>
                </a:pPr>
                <a:endParaRPr lang="ru-RU" dirty="0">
                  <a:solidFill>
                    <a:srgbClr val="EF6B01"/>
                  </a:solidFill>
                </a:endParaRPr>
              </a:p>
            </p:txBody>
          </p:sp>
        </p:grpSp>
        <p:sp>
          <p:nvSpPr>
            <p:cNvPr id="83" name="Овал 82"/>
            <p:cNvSpPr/>
            <p:nvPr/>
          </p:nvSpPr>
          <p:spPr>
            <a:xfrm>
              <a:off x="2135473" y="2309976"/>
              <a:ext cx="52338" cy="52338"/>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sp>
          <p:nvSpPr>
            <p:cNvPr id="84" name="Овал 83"/>
            <p:cNvSpPr/>
            <p:nvPr/>
          </p:nvSpPr>
          <p:spPr>
            <a:xfrm>
              <a:off x="2114854" y="1474154"/>
              <a:ext cx="52339" cy="52338"/>
            </a:xfrm>
            <a:prstGeom prst="ellipse">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endParaRPr lang="ru-RU" dirty="0">
                <a:solidFill>
                  <a:srgbClr val="EF6B01"/>
                </a:solidFill>
              </a:endParaRPr>
            </a:p>
          </p:txBody>
        </p:sp>
      </p:grpSp>
      <p:sp>
        <p:nvSpPr>
          <p:cNvPr id="87" name="Прямоугольник 86"/>
          <p:cNvSpPr/>
          <p:nvPr/>
        </p:nvSpPr>
        <p:spPr>
          <a:xfrm>
            <a:off x="2360712" y="1261763"/>
            <a:ext cx="1505225" cy="263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r>
              <a:rPr lang="ru-RU" sz="1800" dirty="0" smtClean="0">
                <a:solidFill>
                  <a:srgbClr val="000000"/>
                </a:solidFill>
                <a:cs typeface="Arial" panose="020B0604020202020204" pitchFamily="34" charset="0"/>
              </a:rPr>
              <a:t>Отрицание</a:t>
            </a:r>
            <a:endParaRPr lang="ru-RU" sz="1800" dirty="0">
              <a:solidFill>
                <a:srgbClr val="000000"/>
              </a:solidFill>
              <a:cs typeface="Arial" panose="020B0604020202020204" pitchFamily="34" charset="0"/>
            </a:endParaRPr>
          </a:p>
        </p:txBody>
      </p:sp>
      <p:sp>
        <p:nvSpPr>
          <p:cNvPr id="88" name="Прямоугольник 87"/>
          <p:cNvSpPr/>
          <p:nvPr/>
        </p:nvSpPr>
        <p:spPr>
          <a:xfrm>
            <a:off x="4026143" y="1273956"/>
            <a:ext cx="1190625"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r>
              <a:rPr lang="ru-RU" sz="1800" dirty="0" smtClean="0">
                <a:solidFill>
                  <a:srgbClr val="000000"/>
                </a:solidFill>
                <a:cs typeface="Arial" panose="020B0604020202020204" pitchFamily="34" charset="0"/>
              </a:rPr>
              <a:t>Гнев</a:t>
            </a:r>
            <a:endParaRPr lang="ru-RU" sz="1800" dirty="0">
              <a:solidFill>
                <a:srgbClr val="000000"/>
              </a:solidFill>
              <a:cs typeface="Arial" panose="020B0604020202020204" pitchFamily="34" charset="0"/>
            </a:endParaRPr>
          </a:p>
        </p:txBody>
      </p:sp>
      <p:sp>
        <p:nvSpPr>
          <p:cNvPr id="89" name="Прямоугольник 88"/>
          <p:cNvSpPr/>
          <p:nvPr/>
        </p:nvSpPr>
        <p:spPr>
          <a:xfrm>
            <a:off x="7913164" y="1290092"/>
            <a:ext cx="1310712"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r>
              <a:rPr lang="ru-RU" sz="1800" dirty="0" smtClean="0">
                <a:solidFill>
                  <a:srgbClr val="000000"/>
                </a:solidFill>
                <a:cs typeface="Arial" panose="020B0604020202020204" pitchFamily="34" charset="0"/>
              </a:rPr>
              <a:t>Принятие</a:t>
            </a:r>
            <a:endParaRPr lang="ru-RU" sz="1800" dirty="0">
              <a:solidFill>
                <a:srgbClr val="000000"/>
              </a:solidFill>
              <a:cs typeface="Arial" panose="020B0604020202020204" pitchFamily="34" charset="0"/>
            </a:endParaRPr>
          </a:p>
        </p:txBody>
      </p:sp>
      <p:sp>
        <p:nvSpPr>
          <p:cNvPr id="90" name="Прямоугольник 89"/>
          <p:cNvSpPr/>
          <p:nvPr/>
        </p:nvSpPr>
        <p:spPr>
          <a:xfrm>
            <a:off x="6454134" y="1261763"/>
            <a:ext cx="1442981" cy="271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r>
              <a:rPr lang="ru-RU" sz="1800" dirty="0" smtClean="0">
                <a:solidFill>
                  <a:srgbClr val="000000"/>
                </a:solidFill>
                <a:cs typeface="Arial" panose="020B0604020202020204" pitchFamily="34" charset="0"/>
              </a:rPr>
              <a:t>Депрессия</a:t>
            </a:r>
            <a:endParaRPr lang="ru-RU" sz="1800" dirty="0">
              <a:solidFill>
                <a:srgbClr val="000000"/>
              </a:solidFill>
              <a:cs typeface="Arial" panose="020B0604020202020204" pitchFamily="34" charset="0"/>
            </a:endParaRPr>
          </a:p>
        </p:txBody>
      </p:sp>
      <p:sp>
        <p:nvSpPr>
          <p:cNvPr id="91" name="Прямоугольник 90"/>
          <p:cNvSpPr/>
          <p:nvPr/>
        </p:nvSpPr>
        <p:spPr>
          <a:xfrm>
            <a:off x="5294238" y="1267335"/>
            <a:ext cx="1190625"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ru-RU"/>
            </a:defPPr>
            <a:lvl1pPr algn="l" rtl="0" eaLnBrk="0" fontAlgn="base" hangingPunct="0">
              <a:spcBef>
                <a:spcPct val="0"/>
              </a:spcBef>
              <a:spcAft>
                <a:spcPct val="0"/>
              </a:spcAft>
              <a:defRPr sz="8400" kern="1200">
                <a:solidFill>
                  <a:schemeClr val="lt1"/>
                </a:solidFill>
                <a:latin typeface="+mn-lt"/>
                <a:ea typeface="+mn-ea"/>
                <a:cs typeface="+mn-cs"/>
              </a:defRPr>
            </a:lvl1pPr>
            <a:lvl2pPr marL="455613" indent="1588" algn="l" rtl="0" eaLnBrk="0" fontAlgn="base" hangingPunct="0">
              <a:spcBef>
                <a:spcPct val="0"/>
              </a:spcBef>
              <a:spcAft>
                <a:spcPct val="0"/>
              </a:spcAft>
              <a:defRPr sz="8400" kern="1200">
                <a:solidFill>
                  <a:schemeClr val="lt1"/>
                </a:solidFill>
                <a:latin typeface="+mn-lt"/>
                <a:ea typeface="+mn-ea"/>
                <a:cs typeface="+mn-cs"/>
              </a:defRPr>
            </a:lvl2pPr>
            <a:lvl3pPr marL="912813" indent="1588" algn="l" rtl="0" eaLnBrk="0" fontAlgn="base" hangingPunct="0">
              <a:spcBef>
                <a:spcPct val="0"/>
              </a:spcBef>
              <a:spcAft>
                <a:spcPct val="0"/>
              </a:spcAft>
              <a:defRPr sz="8400" kern="1200">
                <a:solidFill>
                  <a:schemeClr val="lt1"/>
                </a:solidFill>
                <a:latin typeface="+mn-lt"/>
                <a:ea typeface="+mn-ea"/>
                <a:cs typeface="+mn-cs"/>
              </a:defRPr>
            </a:lvl3pPr>
            <a:lvl4pPr marL="1370013" indent="1588" algn="l" rtl="0" eaLnBrk="0" fontAlgn="base" hangingPunct="0">
              <a:spcBef>
                <a:spcPct val="0"/>
              </a:spcBef>
              <a:spcAft>
                <a:spcPct val="0"/>
              </a:spcAft>
              <a:defRPr sz="8400" kern="1200">
                <a:solidFill>
                  <a:schemeClr val="lt1"/>
                </a:solidFill>
                <a:latin typeface="+mn-lt"/>
                <a:ea typeface="+mn-ea"/>
                <a:cs typeface="+mn-cs"/>
              </a:defRPr>
            </a:lvl4pPr>
            <a:lvl5pPr marL="1827213" indent="1588" algn="l" rtl="0" eaLnBrk="0" fontAlgn="base" hangingPunct="0">
              <a:spcBef>
                <a:spcPct val="0"/>
              </a:spcBef>
              <a:spcAft>
                <a:spcPct val="0"/>
              </a:spcAft>
              <a:defRPr sz="8400" kern="1200">
                <a:solidFill>
                  <a:schemeClr val="lt1"/>
                </a:solidFill>
                <a:latin typeface="+mn-lt"/>
                <a:ea typeface="+mn-ea"/>
                <a:cs typeface="+mn-cs"/>
              </a:defRPr>
            </a:lvl5pPr>
            <a:lvl6pPr marL="2286000" algn="l" defTabSz="914400" rtl="0" eaLnBrk="1" latinLnBrk="0" hangingPunct="1">
              <a:defRPr sz="8400" kern="1200">
                <a:solidFill>
                  <a:schemeClr val="lt1"/>
                </a:solidFill>
                <a:latin typeface="+mn-lt"/>
                <a:ea typeface="+mn-ea"/>
                <a:cs typeface="+mn-cs"/>
              </a:defRPr>
            </a:lvl6pPr>
            <a:lvl7pPr marL="2743200" algn="l" defTabSz="914400" rtl="0" eaLnBrk="1" latinLnBrk="0" hangingPunct="1">
              <a:defRPr sz="8400" kern="1200">
                <a:solidFill>
                  <a:schemeClr val="lt1"/>
                </a:solidFill>
                <a:latin typeface="+mn-lt"/>
                <a:ea typeface="+mn-ea"/>
                <a:cs typeface="+mn-cs"/>
              </a:defRPr>
            </a:lvl7pPr>
            <a:lvl8pPr marL="3200400" algn="l" defTabSz="914400" rtl="0" eaLnBrk="1" latinLnBrk="0" hangingPunct="1">
              <a:defRPr sz="8400" kern="1200">
                <a:solidFill>
                  <a:schemeClr val="lt1"/>
                </a:solidFill>
                <a:latin typeface="+mn-lt"/>
                <a:ea typeface="+mn-ea"/>
                <a:cs typeface="+mn-cs"/>
              </a:defRPr>
            </a:lvl8pPr>
            <a:lvl9pPr marL="3657600" algn="l" defTabSz="914400" rtl="0" eaLnBrk="1" latinLnBrk="0" hangingPunct="1">
              <a:defRPr sz="8400" kern="1200">
                <a:solidFill>
                  <a:schemeClr val="lt1"/>
                </a:solidFill>
                <a:latin typeface="+mn-lt"/>
                <a:ea typeface="+mn-ea"/>
                <a:cs typeface="+mn-cs"/>
              </a:defRPr>
            </a:lvl9pPr>
          </a:lstStyle>
          <a:p>
            <a:pPr algn="ctr" eaLnBrk="1" hangingPunct="1">
              <a:defRPr/>
            </a:pPr>
            <a:r>
              <a:rPr lang="ru-RU" sz="1800" dirty="0" smtClean="0">
                <a:solidFill>
                  <a:srgbClr val="000000"/>
                </a:solidFill>
                <a:cs typeface="Arial" panose="020B0604020202020204" pitchFamily="34" charset="0"/>
              </a:rPr>
              <a:t>Торг</a:t>
            </a:r>
            <a:endParaRPr lang="ru-RU" sz="1800" dirty="0">
              <a:solidFill>
                <a:srgbClr val="000000"/>
              </a:solidFill>
              <a:cs typeface="Arial" panose="020B0604020202020204" pitchFamily="34" charset="0"/>
            </a:endParaRPr>
          </a:p>
        </p:txBody>
      </p:sp>
      <p:sp>
        <p:nvSpPr>
          <p:cNvPr id="92" name="Прямоугольник 91"/>
          <p:cNvSpPr>
            <a:spLocks noChangeArrowheads="1"/>
          </p:cNvSpPr>
          <p:nvPr/>
        </p:nvSpPr>
        <p:spPr bwMode="auto">
          <a:xfrm>
            <a:off x="344437" y="1903890"/>
            <a:ext cx="17987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a:buFontTx/>
              <a:buNone/>
            </a:pPr>
            <a:r>
              <a:rPr lang="ru-RU" altLang="ru-RU" sz="2800" b="1" dirty="0" smtClean="0">
                <a:solidFill>
                  <a:srgbClr val="000000"/>
                </a:solidFill>
                <a:latin typeface="Arial" panose="020B0604020202020204" pitchFamily="34" charset="0"/>
              </a:rPr>
              <a:t>Заявка</a:t>
            </a:r>
            <a:endParaRPr lang="ru-RU" altLang="ru-RU" sz="2800" dirty="0">
              <a:solidFill>
                <a:srgbClr val="000000"/>
              </a:solidFill>
              <a:latin typeface="Arial" panose="020B0604020202020204" pitchFamily="34" charset="0"/>
            </a:endParaRPr>
          </a:p>
        </p:txBody>
      </p:sp>
      <p:sp>
        <p:nvSpPr>
          <p:cNvPr id="93" name="Прямоугольник 92"/>
          <p:cNvSpPr>
            <a:spLocks noChangeArrowheads="1"/>
          </p:cNvSpPr>
          <p:nvPr/>
        </p:nvSpPr>
        <p:spPr bwMode="auto">
          <a:xfrm>
            <a:off x="292598" y="2979160"/>
            <a:ext cx="32592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a:buFontTx/>
              <a:buNone/>
            </a:pPr>
            <a:r>
              <a:rPr lang="ru-RU" altLang="ru-RU" sz="2800" b="1" dirty="0" smtClean="0">
                <a:solidFill>
                  <a:srgbClr val="000000"/>
                </a:solidFill>
              </a:rPr>
              <a:t>Планирование</a:t>
            </a:r>
            <a:endParaRPr lang="ru-RU" altLang="ru-RU" sz="2800" b="1" dirty="0">
              <a:solidFill>
                <a:srgbClr val="000000"/>
              </a:solidFill>
            </a:endParaRPr>
          </a:p>
        </p:txBody>
      </p:sp>
      <p:sp>
        <p:nvSpPr>
          <p:cNvPr id="94" name="Прямоугольник 93"/>
          <p:cNvSpPr>
            <a:spLocks noChangeArrowheads="1"/>
          </p:cNvSpPr>
          <p:nvPr/>
        </p:nvSpPr>
        <p:spPr bwMode="auto">
          <a:xfrm>
            <a:off x="299161" y="4137814"/>
            <a:ext cx="28411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a:buFontTx/>
              <a:buNone/>
            </a:pPr>
            <a:r>
              <a:rPr lang="ru-RU" altLang="ru-RU" sz="2800" b="1" dirty="0">
                <a:solidFill>
                  <a:srgbClr val="000000"/>
                </a:solidFill>
              </a:rPr>
              <a:t>Реализация</a:t>
            </a:r>
          </a:p>
        </p:txBody>
      </p:sp>
      <p:sp>
        <p:nvSpPr>
          <p:cNvPr id="95" name="Прямоугольник 94"/>
          <p:cNvSpPr>
            <a:spLocks noChangeArrowheads="1"/>
          </p:cNvSpPr>
          <p:nvPr/>
        </p:nvSpPr>
        <p:spPr bwMode="auto">
          <a:xfrm>
            <a:off x="302436" y="5137147"/>
            <a:ext cx="27177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ru-RU"/>
            </a:defPPr>
            <a:lvl1pPr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1pPr>
            <a:lvl2pPr marL="4556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2pPr>
            <a:lvl3pPr marL="9128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3pPr>
            <a:lvl4pPr marL="13700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4pPr>
            <a:lvl5pPr marL="1827213" indent="1588" algn="l" rtl="0" eaLnBrk="0" fontAlgn="base" hangingPunct="0">
              <a:spcBef>
                <a:spcPct val="0"/>
              </a:spcBef>
              <a:spcAft>
                <a:spcPct val="0"/>
              </a:spcAft>
              <a:defRPr sz="8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8400" kern="1200">
                <a:solidFill>
                  <a:schemeClr val="tx1"/>
                </a:solidFill>
                <a:latin typeface="Arial" panose="020B0604020202020204" pitchFamily="34" charset="0"/>
                <a:ea typeface="+mn-ea"/>
                <a:cs typeface="Arial" panose="020B0604020202020204" pitchFamily="34" charset="0"/>
              </a:defRPr>
            </a:lvl9pPr>
          </a:lstStyle>
          <a:p>
            <a:pPr>
              <a:buFontTx/>
              <a:buNone/>
            </a:pPr>
            <a:r>
              <a:rPr lang="ru-RU" altLang="ru-RU" sz="2800" b="1" dirty="0">
                <a:solidFill>
                  <a:srgbClr val="000000"/>
                </a:solidFill>
              </a:rPr>
              <a:t>Внедрение</a:t>
            </a:r>
          </a:p>
        </p:txBody>
      </p:sp>
    </p:spTree>
    <p:extLst>
      <p:ext uri="{BB962C8B-B14F-4D97-AF65-F5344CB8AC3E}">
        <p14:creationId xmlns:p14="http://schemas.microsoft.com/office/powerpoint/2010/main" val="513119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Схема расчёта до </a:t>
            </a:r>
            <a:r>
              <a:rPr lang="ru-RU" dirty="0" smtClean="0"/>
              <a:t>перехода</a:t>
            </a:r>
            <a:endParaRPr lang="ru-RU" dirty="0"/>
          </a:p>
        </p:txBody>
      </p:sp>
      <p:sp>
        <p:nvSpPr>
          <p:cNvPr id="3" name="Номер слайда 2"/>
          <p:cNvSpPr>
            <a:spLocks noGrp="1"/>
          </p:cNvSpPr>
          <p:nvPr>
            <p:ph type="sldNum" sz="quarter" idx="12"/>
          </p:nvPr>
        </p:nvSpPr>
        <p:spPr>
          <a:xfrm>
            <a:off x="9489504" y="6743064"/>
            <a:ext cx="372948" cy="114936"/>
          </a:xfrm>
        </p:spPr>
        <p:txBody>
          <a:bodyPr/>
          <a:lstStyle/>
          <a:p>
            <a:fld id="{5100B139-BD82-4293-9FDA-44725340297B}" type="slidenum">
              <a:rPr lang="ru-RU" smtClean="0"/>
              <a:pPr/>
              <a:t>15</a:t>
            </a:fld>
            <a:endParaRPr lang="ru-RU" dirty="0"/>
          </a:p>
        </p:txBody>
      </p:sp>
      <p:sp>
        <p:nvSpPr>
          <p:cNvPr id="5" name="Заголовок 1"/>
          <p:cNvSpPr txBox="1">
            <a:spLocks/>
          </p:cNvSpPr>
          <p:nvPr/>
        </p:nvSpPr>
        <p:spPr>
          <a:xfrm>
            <a:off x="560512" y="939740"/>
            <a:ext cx="1525895" cy="3290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en-US" sz="1400" dirty="0" smtClean="0">
                <a:solidFill>
                  <a:schemeClr val="tx1"/>
                </a:solidFill>
              </a:rPr>
              <a:t>Module DB</a:t>
            </a:r>
            <a:endParaRPr lang="ru-RU" sz="1400" dirty="0">
              <a:solidFill>
                <a:schemeClr val="tx1"/>
              </a:solidFill>
            </a:endParaRPr>
          </a:p>
        </p:txBody>
      </p:sp>
      <p:pic>
        <p:nvPicPr>
          <p:cNvPr id="6" name="Рисунок 5"/>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2288705" y="1223050"/>
            <a:ext cx="975668" cy="546203"/>
          </a:xfrm>
          <a:prstGeom prst="rect">
            <a:avLst/>
          </a:prstGeom>
        </p:spPr>
      </p:pic>
      <p:sp>
        <p:nvSpPr>
          <p:cNvPr id="7" name="Прямоугольник с одним вырезанным углом 6"/>
          <p:cNvSpPr/>
          <p:nvPr/>
        </p:nvSpPr>
        <p:spPr>
          <a:xfrm rot="10800000" flipV="1">
            <a:off x="88427" y="1358717"/>
            <a:ext cx="2212634" cy="4856577"/>
          </a:xfrm>
          <a:prstGeom prst="snip1Rect">
            <a:avLst>
              <a:gd name="adj" fmla="val 0"/>
            </a:avLst>
          </a:prstGeom>
          <a:solidFill>
            <a:srgbClr val="E2E2E2"/>
          </a:solidFill>
          <a:ln w="9525">
            <a:solidFill>
              <a:srgbClr val="FFAF17"/>
            </a:solidFill>
            <a:miter lim="800000"/>
            <a:headEnd/>
            <a:tailEnd/>
          </a:ln>
        </p:spPr>
        <p:txBody>
          <a:bodyPr wrap="none" lIns="97707" tIns="48854" rIns="97707" bIns="48854" anchor="t"/>
          <a:lstStyle/>
          <a:p>
            <a:pPr algn="ctr">
              <a:defRPr/>
            </a:pPr>
            <a:r>
              <a:rPr lang="ru-RU" sz="1600" b="1" u="sng" dirty="0" smtClean="0">
                <a:solidFill>
                  <a:srgbClr val="000000"/>
                </a:solidFill>
              </a:rPr>
              <a:t>Резервуар №52</a:t>
            </a:r>
            <a:endParaRPr lang="en-US" sz="1600" b="1" u="sng" dirty="0" smtClean="0">
              <a:solidFill>
                <a:srgbClr val="000000"/>
              </a:solidFill>
            </a:endParaRPr>
          </a:p>
          <a:p>
            <a:pPr algn="ctr">
              <a:defRPr/>
            </a:pPr>
            <a:endParaRPr lang="en-US" sz="1600" b="1" dirty="0" smtClean="0">
              <a:solidFill>
                <a:srgbClr val="000000"/>
              </a:solidFill>
            </a:endParaRPr>
          </a:p>
          <a:p>
            <a:pPr>
              <a:defRPr/>
            </a:pPr>
            <a:r>
              <a:rPr lang="en-US" sz="1600" dirty="0" smtClean="0">
                <a:solidFill>
                  <a:srgbClr val="000000"/>
                </a:solidFill>
              </a:rPr>
              <a:t>Tag|</a:t>
            </a:r>
            <a:r>
              <a:rPr lang="ru-RU" sz="1600" dirty="0" smtClean="0">
                <a:solidFill>
                  <a:srgbClr val="000000"/>
                </a:solidFill>
              </a:rPr>
              <a:t> Уровень</a:t>
            </a:r>
            <a:endParaRPr lang="en-US" sz="1600" dirty="0" smtClean="0">
              <a:solidFill>
                <a:srgbClr val="000000"/>
              </a:solidFill>
            </a:endParaRPr>
          </a:p>
          <a:p>
            <a:pPr>
              <a:defRPr/>
            </a:pPr>
            <a:r>
              <a:rPr lang="en-US" sz="1600" dirty="0" smtClean="0">
                <a:solidFill>
                  <a:srgbClr val="000000"/>
                </a:solidFill>
              </a:rPr>
              <a:t>Tag| </a:t>
            </a:r>
            <a:r>
              <a:rPr lang="ru-RU" sz="1600" dirty="0">
                <a:solidFill>
                  <a:srgbClr val="000000"/>
                </a:solidFill>
              </a:rPr>
              <a:t>Т</a:t>
            </a:r>
            <a:r>
              <a:rPr lang="ru-RU" sz="1600" dirty="0" smtClean="0">
                <a:solidFill>
                  <a:srgbClr val="000000"/>
                </a:solidFill>
              </a:rPr>
              <a:t>емпература</a:t>
            </a:r>
            <a:endParaRPr lang="en-US" sz="1600" dirty="0" smtClean="0">
              <a:solidFill>
                <a:srgbClr val="000000"/>
              </a:solidFill>
            </a:endParaRPr>
          </a:p>
          <a:p>
            <a:pPr>
              <a:defRPr/>
            </a:pPr>
            <a:r>
              <a:rPr lang="en-US" sz="1600" dirty="0" smtClean="0">
                <a:solidFill>
                  <a:srgbClr val="000000"/>
                </a:solidFill>
              </a:rPr>
              <a:t>Tag| </a:t>
            </a:r>
            <a:r>
              <a:rPr lang="ru-RU" sz="1600" dirty="0" smtClean="0">
                <a:solidFill>
                  <a:srgbClr val="000000"/>
                </a:solidFill>
              </a:rPr>
              <a:t>Плотность</a:t>
            </a:r>
            <a:endParaRPr lang="en-US" sz="1600" dirty="0" smtClean="0">
              <a:solidFill>
                <a:srgbClr val="000000"/>
              </a:solidFill>
            </a:endParaRPr>
          </a:p>
          <a:p>
            <a:pPr>
              <a:defRPr/>
            </a:pPr>
            <a:r>
              <a:rPr lang="en-US" sz="1600" dirty="0" smtClean="0">
                <a:solidFill>
                  <a:srgbClr val="000000"/>
                </a:solidFill>
              </a:rPr>
              <a:t>Tag|</a:t>
            </a:r>
            <a:r>
              <a:rPr lang="ru-RU" sz="1600" dirty="0" smtClean="0">
                <a:solidFill>
                  <a:srgbClr val="000000"/>
                </a:solidFill>
              </a:rPr>
              <a:t> Масса общая</a:t>
            </a:r>
            <a:r>
              <a:rPr lang="en-US" sz="1600" dirty="0" smtClean="0">
                <a:solidFill>
                  <a:srgbClr val="000000"/>
                </a:solidFill>
              </a:rPr>
              <a:t> </a:t>
            </a:r>
          </a:p>
          <a:p>
            <a:pPr>
              <a:defRPr/>
            </a:pPr>
            <a:r>
              <a:rPr lang="en-US" sz="1600" dirty="0" smtClean="0">
                <a:solidFill>
                  <a:srgbClr val="000000"/>
                </a:solidFill>
              </a:rPr>
              <a:t>Tag|</a:t>
            </a:r>
            <a:r>
              <a:rPr lang="ru-RU" sz="1600" dirty="0" smtClean="0">
                <a:solidFill>
                  <a:srgbClr val="000000"/>
                </a:solidFill>
              </a:rPr>
              <a:t> Объём общий</a:t>
            </a:r>
            <a:endParaRPr lang="en-US" sz="1600" dirty="0" smtClean="0">
              <a:solidFill>
                <a:srgbClr val="000000"/>
              </a:solidFill>
            </a:endParaRPr>
          </a:p>
          <a:p>
            <a:pPr>
              <a:defRPr/>
            </a:pPr>
            <a:endParaRPr lang="en-US" sz="1600" dirty="0">
              <a:solidFill>
                <a:srgbClr val="000000"/>
              </a:solidFill>
            </a:endParaRPr>
          </a:p>
          <a:p>
            <a:pPr>
              <a:defRPr/>
            </a:pPr>
            <a:r>
              <a:rPr lang="en-US" sz="1600" dirty="0" smtClean="0">
                <a:solidFill>
                  <a:srgbClr val="000000"/>
                </a:solidFill>
              </a:rPr>
              <a:t>Property| </a:t>
            </a:r>
            <a:r>
              <a:rPr lang="ru-RU" sz="1600" dirty="0" smtClean="0">
                <a:solidFill>
                  <a:srgbClr val="000000"/>
                </a:solidFill>
              </a:rPr>
              <a:t>Град</a:t>
            </a:r>
            <a:endParaRPr lang="en-US" sz="1600" dirty="0" smtClean="0">
              <a:solidFill>
                <a:srgbClr val="000000"/>
              </a:solidFill>
            </a:endParaRPr>
          </a:p>
          <a:p>
            <a:pPr>
              <a:defRPr/>
            </a:pPr>
            <a:r>
              <a:rPr lang="en-US" sz="1600" dirty="0" smtClean="0">
                <a:solidFill>
                  <a:srgbClr val="000000"/>
                </a:solidFill>
              </a:rPr>
              <a:t>Property| </a:t>
            </a:r>
            <a:r>
              <a:rPr lang="ru-RU" sz="1600" dirty="0" smtClean="0">
                <a:solidFill>
                  <a:srgbClr val="000000"/>
                </a:solidFill>
              </a:rPr>
              <a:t>Понтон</a:t>
            </a:r>
            <a:endParaRPr lang="en-US" sz="1600" dirty="0" smtClean="0">
              <a:solidFill>
                <a:srgbClr val="000000"/>
              </a:solidFill>
            </a:endParaRPr>
          </a:p>
          <a:p>
            <a:pPr>
              <a:defRPr/>
            </a:pPr>
            <a:r>
              <a:rPr lang="en-US" sz="1600" dirty="0" smtClean="0">
                <a:solidFill>
                  <a:srgbClr val="000000"/>
                </a:solidFill>
              </a:rPr>
              <a:t>Property| </a:t>
            </a:r>
            <a:r>
              <a:rPr lang="ru-RU" sz="1600" dirty="0" smtClean="0">
                <a:solidFill>
                  <a:srgbClr val="000000"/>
                </a:solidFill>
              </a:rPr>
              <a:t>Уровень м.п.</a:t>
            </a:r>
            <a:endParaRPr lang="en-US" sz="1600" dirty="0" smtClean="0">
              <a:solidFill>
                <a:srgbClr val="000000"/>
              </a:solidFill>
            </a:endParaRPr>
          </a:p>
          <a:p>
            <a:pPr>
              <a:defRPr/>
            </a:pPr>
            <a:endParaRPr lang="en-US" sz="1600" dirty="0">
              <a:solidFill>
                <a:srgbClr val="000000"/>
              </a:solidFill>
            </a:endParaRPr>
          </a:p>
          <a:p>
            <a:pPr>
              <a:defRPr/>
            </a:pPr>
            <a:r>
              <a:rPr lang="en-US" sz="1600" dirty="0" smtClean="0">
                <a:solidFill>
                  <a:srgbClr val="000000"/>
                </a:solidFill>
              </a:rPr>
              <a:t>Const| 1</a:t>
            </a:r>
          </a:p>
          <a:p>
            <a:pPr>
              <a:defRPr/>
            </a:pPr>
            <a:r>
              <a:rPr lang="en-US" sz="1600" dirty="0" smtClean="0">
                <a:solidFill>
                  <a:srgbClr val="000000"/>
                </a:solidFill>
              </a:rPr>
              <a:t>Const| 2</a:t>
            </a:r>
          </a:p>
          <a:p>
            <a:pPr>
              <a:defRPr/>
            </a:pPr>
            <a:r>
              <a:rPr lang="en-US" sz="1600" dirty="0" smtClean="0">
                <a:solidFill>
                  <a:srgbClr val="000000"/>
                </a:solidFill>
              </a:rPr>
              <a:t>Const| 3</a:t>
            </a:r>
          </a:p>
          <a:p>
            <a:pPr>
              <a:defRPr/>
            </a:pPr>
            <a:r>
              <a:rPr lang="en-US" sz="1600" dirty="0" smtClean="0">
                <a:solidFill>
                  <a:srgbClr val="000000"/>
                </a:solidFill>
              </a:rPr>
              <a:t>Const| 4</a:t>
            </a:r>
            <a:endParaRPr lang="ru-RU" sz="1600" dirty="0" smtClean="0">
              <a:solidFill>
                <a:srgbClr val="000000"/>
              </a:solidFill>
            </a:endParaRPr>
          </a:p>
          <a:p>
            <a:pPr>
              <a:defRPr/>
            </a:pPr>
            <a:endParaRPr lang="en-US" sz="1600" dirty="0" smtClean="0">
              <a:solidFill>
                <a:srgbClr val="000000"/>
              </a:solidFill>
            </a:endParaRPr>
          </a:p>
          <a:p>
            <a:pPr>
              <a:defRPr/>
            </a:pPr>
            <a:endParaRPr lang="ru-RU" sz="1600" dirty="0" smtClean="0">
              <a:solidFill>
                <a:srgbClr val="000000"/>
              </a:solidFill>
            </a:endParaRPr>
          </a:p>
          <a:p>
            <a:pPr>
              <a:defRPr/>
            </a:pPr>
            <a:endParaRPr lang="ru-RU" sz="1600" dirty="0">
              <a:solidFill>
                <a:srgbClr val="000000"/>
              </a:solidFill>
            </a:endParaRPr>
          </a:p>
        </p:txBody>
      </p:sp>
      <p:sp>
        <p:nvSpPr>
          <p:cNvPr id="8" name="Заголовок 1"/>
          <p:cNvSpPr txBox="1">
            <a:spLocks/>
          </p:cNvSpPr>
          <p:nvPr/>
        </p:nvSpPr>
        <p:spPr>
          <a:xfrm>
            <a:off x="3268193" y="874156"/>
            <a:ext cx="2633616" cy="43993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ru-RU" sz="1400" dirty="0" smtClean="0">
                <a:solidFill>
                  <a:schemeClr val="tx1"/>
                </a:solidFill>
              </a:rPr>
              <a:t>Входные параметры</a:t>
            </a:r>
            <a:endParaRPr lang="ru-RU" sz="1400" dirty="0">
              <a:solidFill>
                <a:schemeClr val="tx1"/>
              </a:solidFill>
            </a:endParaRPr>
          </a:p>
        </p:txBody>
      </p:sp>
      <p:sp>
        <p:nvSpPr>
          <p:cNvPr id="9" name="Прямоугольник с одним вырезанным углом 8"/>
          <p:cNvSpPr/>
          <p:nvPr/>
        </p:nvSpPr>
        <p:spPr>
          <a:xfrm rot="10800000" flipV="1">
            <a:off x="3268539" y="1293195"/>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800" dirty="0" smtClean="0"/>
              <a:t>Tag| </a:t>
            </a:r>
            <a:r>
              <a:rPr lang="ru-RU" sz="1800" dirty="0"/>
              <a:t>У</a:t>
            </a:r>
            <a:r>
              <a:rPr lang="ru-RU" sz="1800" dirty="0" smtClean="0"/>
              <a:t>ровень</a:t>
            </a:r>
            <a:endParaRPr lang="ru-RU" sz="1800" dirty="0"/>
          </a:p>
        </p:txBody>
      </p:sp>
      <p:sp>
        <p:nvSpPr>
          <p:cNvPr id="10" name="Прямоугольник с одним вырезанным углом 9"/>
          <p:cNvSpPr/>
          <p:nvPr/>
        </p:nvSpPr>
        <p:spPr>
          <a:xfrm rot="10800000" flipV="1">
            <a:off x="3270425" y="2221030"/>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800" dirty="0" smtClean="0"/>
              <a:t>Property| </a:t>
            </a:r>
            <a:r>
              <a:rPr lang="ru-RU" sz="1800" dirty="0" smtClean="0"/>
              <a:t>Град. Табл.</a:t>
            </a:r>
            <a:endParaRPr lang="ru-RU" sz="1800" dirty="0"/>
          </a:p>
        </p:txBody>
      </p:sp>
      <p:pic>
        <p:nvPicPr>
          <p:cNvPr id="11" name="Рисунок 10"/>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2299727" y="2131677"/>
            <a:ext cx="966532" cy="546203"/>
          </a:xfrm>
          <a:prstGeom prst="rect">
            <a:avLst/>
          </a:prstGeom>
        </p:spPr>
      </p:pic>
      <p:sp>
        <p:nvSpPr>
          <p:cNvPr id="12" name="Заголовок 1"/>
          <p:cNvSpPr txBox="1">
            <a:spLocks/>
          </p:cNvSpPr>
          <p:nvPr/>
        </p:nvSpPr>
        <p:spPr>
          <a:xfrm>
            <a:off x="7099136" y="874156"/>
            <a:ext cx="2633616" cy="43993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ru-RU" sz="1400" dirty="0" smtClean="0">
                <a:solidFill>
                  <a:schemeClr val="tx1"/>
                </a:solidFill>
              </a:rPr>
              <a:t>В</a:t>
            </a:r>
            <a:r>
              <a:rPr lang="ru-RU" sz="1400" dirty="0">
                <a:solidFill>
                  <a:schemeClr val="tx1"/>
                </a:solidFill>
              </a:rPr>
              <a:t>ы</a:t>
            </a:r>
            <a:r>
              <a:rPr lang="ru-RU" sz="1400" dirty="0" smtClean="0">
                <a:solidFill>
                  <a:schemeClr val="tx1"/>
                </a:solidFill>
              </a:rPr>
              <a:t>ходные параметры</a:t>
            </a:r>
            <a:endParaRPr lang="ru-RU" sz="1400" dirty="0">
              <a:solidFill>
                <a:schemeClr val="tx1"/>
              </a:solidFill>
            </a:endParaRPr>
          </a:p>
        </p:txBody>
      </p:sp>
      <p:sp>
        <p:nvSpPr>
          <p:cNvPr id="13" name="Прямоугольник с одним вырезанным углом 12"/>
          <p:cNvSpPr/>
          <p:nvPr/>
        </p:nvSpPr>
        <p:spPr>
          <a:xfrm rot="10800000" flipV="1">
            <a:off x="7401273" y="3603586"/>
            <a:ext cx="2399698"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t>Tag| </a:t>
            </a:r>
            <a:r>
              <a:rPr lang="ru-RU" sz="1600" dirty="0" smtClean="0"/>
              <a:t>Масса общая</a:t>
            </a:r>
            <a:endParaRPr lang="ru-RU" sz="1600" dirty="0"/>
          </a:p>
        </p:txBody>
      </p:sp>
      <p:sp>
        <p:nvSpPr>
          <p:cNvPr id="14" name="Прямоугольник с одним вырезанным углом 13"/>
          <p:cNvSpPr/>
          <p:nvPr/>
        </p:nvSpPr>
        <p:spPr>
          <a:xfrm rot="10800000" flipV="1">
            <a:off x="7401272" y="4073293"/>
            <a:ext cx="2399699"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t>Tag</a:t>
            </a:r>
            <a:r>
              <a:rPr lang="en-US" sz="1600" dirty="0" smtClean="0"/>
              <a:t>|</a:t>
            </a:r>
            <a:r>
              <a:rPr lang="ru-RU" sz="1600" dirty="0" smtClean="0"/>
              <a:t> Масса полезная</a:t>
            </a:r>
            <a:endParaRPr lang="ru-RU" sz="1600" dirty="0"/>
          </a:p>
        </p:txBody>
      </p:sp>
      <p:pic>
        <p:nvPicPr>
          <p:cNvPr id="15" name="Рисунок 14"/>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5975196" y="3491152"/>
            <a:ext cx="1242889" cy="546203"/>
          </a:xfrm>
          <a:prstGeom prst="rect">
            <a:avLst/>
          </a:prstGeom>
        </p:spPr>
      </p:pic>
      <p:pic>
        <p:nvPicPr>
          <p:cNvPr id="16" name="Рисунок 15"/>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5991107" y="3983857"/>
            <a:ext cx="1242889" cy="546203"/>
          </a:xfrm>
          <a:prstGeom prst="rect">
            <a:avLst/>
          </a:prstGeom>
        </p:spPr>
      </p:pic>
      <p:grpSp>
        <p:nvGrpSpPr>
          <p:cNvPr id="17" name="Группа 16"/>
          <p:cNvGrpSpPr/>
          <p:nvPr/>
        </p:nvGrpSpPr>
        <p:grpSpPr>
          <a:xfrm>
            <a:off x="5876402" y="1384387"/>
            <a:ext cx="12702" cy="5201054"/>
            <a:chOff x="6922181" y="1284608"/>
            <a:chExt cx="12702" cy="5201054"/>
          </a:xfrm>
        </p:grpSpPr>
        <p:cxnSp>
          <p:nvCxnSpPr>
            <p:cNvPr id="18" name="Прямая соединительная линия 17"/>
            <p:cNvCxnSpPr/>
            <p:nvPr/>
          </p:nvCxnSpPr>
          <p:spPr>
            <a:xfrm>
              <a:off x="6922181" y="163135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6930119" y="1967108"/>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6930119" y="2302864"/>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6930119" y="2667196"/>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6934883" y="3036290"/>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6930119" y="1284608"/>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p:nvPr/>
          </p:nvCxnSpPr>
          <p:spPr>
            <a:xfrm>
              <a:off x="6930437" y="338395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a:off x="6930119" y="6242774"/>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6922181" y="4144876"/>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6930119" y="448063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a:off x="6930119" y="4816388"/>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Прямая соединительная линия 28"/>
            <p:cNvCxnSpPr/>
            <p:nvPr/>
          </p:nvCxnSpPr>
          <p:spPr>
            <a:xfrm>
              <a:off x="6930119" y="5180720"/>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6934883" y="5549814"/>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6930119" y="379813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6930437" y="5897476"/>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3" name="Заголовок 1"/>
          <p:cNvSpPr txBox="1">
            <a:spLocks/>
          </p:cNvSpPr>
          <p:nvPr/>
        </p:nvSpPr>
        <p:spPr>
          <a:xfrm>
            <a:off x="5489779" y="882907"/>
            <a:ext cx="1225467" cy="43993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ru-RU" sz="1400" dirty="0" smtClean="0">
                <a:solidFill>
                  <a:schemeClr val="tx1"/>
                </a:solidFill>
              </a:rPr>
              <a:t>Расчёт</a:t>
            </a:r>
            <a:endParaRPr lang="ru-RU" sz="1400" dirty="0">
              <a:solidFill>
                <a:schemeClr val="tx1"/>
              </a:solidFill>
            </a:endParaRPr>
          </a:p>
        </p:txBody>
      </p:sp>
      <p:sp>
        <p:nvSpPr>
          <p:cNvPr id="34" name="Прямоугольник с одним вырезанным углом 33"/>
          <p:cNvSpPr/>
          <p:nvPr/>
        </p:nvSpPr>
        <p:spPr>
          <a:xfrm rot="10800000" flipV="1">
            <a:off x="7404412" y="4527046"/>
            <a:ext cx="2396560"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t>Tag</a:t>
            </a:r>
            <a:r>
              <a:rPr lang="en-US" sz="1600" dirty="0" smtClean="0"/>
              <a:t>|</a:t>
            </a:r>
            <a:r>
              <a:rPr lang="ru-RU" sz="1600" dirty="0" smtClean="0"/>
              <a:t> Масса свободная</a:t>
            </a:r>
            <a:endParaRPr lang="ru-RU" sz="1600" dirty="0"/>
          </a:p>
        </p:txBody>
      </p:sp>
      <p:pic>
        <p:nvPicPr>
          <p:cNvPr id="35" name="Рисунок 34"/>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5994246" y="4437610"/>
            <a:ext cx="1242889" cy="546203"/>
          </a:xfrm>
          <a:prstGeom prst="rect">
            <a:avLst/>
          </a:prstGeom>
        </p:spPr>
      </p:pic>
      <p:sp>
        <p:nvSpPr>
          <p:cNvPr id="36" name="Прямоугольник с одним вырезанным углом 35"/>
          <p:cNvSpPr/>
          <p:nvPr/>
        </p:nvSpPr>
        <p:spPr>
          <a:xfrm rot="10800000" flipV="1">
            <a:off x="7424533" y="5930500"/>
            <a:ext cx="2376439"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t>Tag</a:t>
            </a:r>
            <a:r>
              <a:rPr lang="en-US" sz="1600" dirty="0" smtClean="0"/>
              <a:t>|</a:t>
            </a:r>
            <a:r>
              <a:rPr lang="ru-RU" sz="1600" dirty="0" smtClean="0"/>
              <a:t> Объём свободный</a:t>
            </a:r>
            <a:endParaRPr lang="ru-RU" sz="1600" dirty="0"/>
          </a:p>
        </p:txBody>
      </p:sp>
      <p:pic>
        <p:nvPicPr>
          <p:cNvPr id="37" name="Рисунок 36"/>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014367" y="5841064"/>
            <a:ext cx="1242889" cy="546203"/>
          </a:xfrm>
          <a:prstGeom prst="rect">
            <a:avLst/>
          </a:prstGeom>
        </p:spPr>
      </p:pic>
      <p:sp>
        <p:nvSpPr>
          <p:cNvPr id="38" name="Прямоугольник с одним вырезанным углом 37"/>
          <p:cNvSpPr/>
          <p:nvPr/>
        </p:nvSpPr>
        <p:spPr>
          <a:xfrm rot="10800000" flipV="1">
            <a:off x="7424532" y="5456959"/>
            <a:ext cx="2376441"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t>Tag</a:t>
            </a:r>
            <a:r>
              <a:rPr lang="en-US" sz="1600" dirty="0" smtClean="0"/>
              <a:t>|</a:t>
            </a:r>
            <a:r>
              <a:rPr lang="ru-RU" sz="1600" dirty="0" smtClean="0"/>
              <a:t> Объём полезный	</a:t>
            </a:r>
            <a:endParaRPr lang="ru-RU" sz="1600" dirty="0"/>
          </a:p>
        </p:txBody>
      </p:sp>
      <p:pic>
        <p:nvPicPr>
          <p:cNvPr id="39" name="Рисунок 38"/>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014367" y="5367523"/>
            <a:ext cx="1242889" cy="546203"/>
          </a:xfrm>
          <a:prstGeom prst="rect">
            <a:avLst/>
          </a:prstGeom>
        </p:spPr>
      </p:pic>
      <p:sp>
        <p:nvSpPr>
          <p:cNvPr id="40" name="Прямоугольник с одним вырезанным углом 39"/>
          <p:cNvSpPr/>
          <p:nvPr/>
        </p:nvSpPr>
        <p:spPr>
          <a:xfrm rot="10800000" flipV="1">
            <a:off x="7412349" y="4983418"/>
            <a:ext cx="2388623"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t>Tag</a:t>
            </a:r>
            <a:r>
              <a:rPr lang="en-US" sz="1600" dirty="0" smtClean="0"/>
              <a:t>|</a:t>
            </a:r>
            <a:r>
              <a:rPr lang="ru-RU" sz="1600" dirty="0" smtClean="0"/>
              <a:t> Объём общий</a:t>
            </a:r>
            <a:endParaRPr lang="ru-RU" sz="1600" dirty="0"/>
          </a:p>
        </p:txBody>
      </p:sp>
      <p:pic>
        <p:nvPicPr>
          <p:cNvPr id="41" name="Рисунок 40"/>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002184" y="4893982"/>
            <a:ext cx="1242889" cy="546203"/>
          </a:xfrm>
          <a:prstGeom prst="rect">
            <a:avLst/>
          </a:prstGeom>
        </p:spPr>
      </p:pic>
      <p:pic>
        <p:nvPicPr>
          <p:cNvPr id="42" name="Рисунок 41"/>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2288705" y="1681239"/>
            <a:ext cx="975668" cy="546203"/>
          </a:xfrm>
          <a:prstGeom prst="rect">
            <a:avLst/>
          </a:prstGeom>
        </p:spPr>
      </p:pic>
      <p:sp>
        <p:nvSpPr>
          <p:cNvPr id="43" name="Прямоугольник с одним вырезанным углом 42"/>
          <p:cNvSpPr/>
          <p:nvPr/>
        </p:nvSpPr>
        <p:spPr>
          <a:xfrm rot="10800000" flipV="1">
            <a:off x="3268539" y="1751384"/>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800" dirty="0" smtClean="0"/>
              <a:t>Tag| </a:t>
            </a:r>
            <a:r>
              <a:rPr lang="ru-RU" sz="1800" dirty="0" smtClean="0"/>
              <a:t>Температра</a:t>
            </a:r>
            <a:endParaRPr lang="ru-RU" sz="1800" dirty="0"/>
          </a:p>
        </p:txBody>
      </p:sp>
      <p:sp>
        <p:nvSpPr>
          <p:cNvPr id="44" name="Прямоугольник с одним вырезанным углом 43"/>
          <p:cNvSpPr/>
          <p:nvPr/>
        </p:nvSpPr>
        <p:spPr>
          <a:xfrm rot="10800000" flipV="1">
            <a:off x="3270425" y="2679219"/>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800" dirty="0" smtClean="0"/>
              <a:t>Const| x</a:t>
            </a:r>
            <a:endParaRPr lang="ru-RU" sz="1800" dirty="0"/>
          </a:p>
        </p:txBody>
      </p:sp>
      <p:pic>
        <p:nvPicPr>
          <p:cNvPr id="45" name="Рисунок 44"/>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2299727" y="2589866"/>
            <a:ext cx="966532" cy="546203"/>
          </a:xfrm>
          <a:prstGeom prst="rect">
            <a:avLst/>
          </a:prstGeom>
        </p:spPr>
      </p:pic>
    </p:spTree>
    <p:extLst>
      <p:ext uri="{BB962C8B-B14F-4D97-AF65-F5344CB8AC3E}">
        <p14:creationId xmlns:p14="http://schemas.microsoft.com/office/powerpoint/2010/main" val="413310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Схема расчёта после перехода с </a:t>
            </a:r>
            <a:r>
              <a:rPr lang="ru-RU" dirty="0" smtClean="0"/>
              <a:t>оптимизацией</a:t>
            </a:r>
            <a:endParaRPr lang="ru-RU" dirty="0"/>
          </a:p>
        </p:txBody>
      </p:sp>
      <p:sp>
        <p:nvSpPr>
          <p:cNvPr id="3" name="Номер слайда 2"/>
          <p:cNvSpPr>
            <a:spLocks noGrp="1"/>
          </p:cNvSpPr>
          <p:nvPr>
            <p:ph type="sldNum" sz="quarter" idx="12"/>
          </p:nvPr>
        </p:nvSpPr>
        <p:spPr>
          <a:xfrm>
            <a:off x="9489504" y="6725672"/>
            <a:ext cx="372948" cy="132328"/>
          </a:xfrm>
        </p:spPr>
        <p:txBody>
          <a:bodyPr/>
          <a:lstStyle/>
          <a:p>
            <a:fld id="{5100B139-BD82-4293-9FDA-44725340297B}" type="slidenum">
              <a:rPr lang="ru-RU" smtClean="0"/>
              <a:pPr/>
              <a:t>16</a:t>
            </a:fld>
            <a:endParaRPr lang="ru-RU"/>
          </a:p>
        </p:txBody>
      </p:sp>
      <p:sp>
        <p:nvSpPr>
          <p:cNvPr id="4" name="Заголовок 1"/>
          <p:cNvSpPr txBox="1">
            <a:spLocks/>
          </p:cNvSpPr>
          <p:nvPr/>
        </p:nvSpPr>
        <p:spPr>
          <a:xfrm>
            <a:off x="576707" y="932823"/>
            <a:ext cx="1525895" cy="32902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en-US" sz="1400" dirty="0" smtClean="0">
                <a:solidFill>
                  <a:schemeClr val="tx1"/>
                </a:solidFill>
              </a:rPr>
              <a:t>Module DB</a:t>
            </a:r>
            <a:endParaRPr lang="ru-RU" sz="1400" dirty="0">
              <a:solidFill>
                <a:schemeClr val="tx1"/>
              </a:solidFill>
            </a:endParaRPr>
          </a:p>
        </p:txBody>
      </p:sp>
      <p:sp>
        <p:nvSpPr>
          <p:cNvPr id="5" name="Прямоугольник с одним вырезанным углом 4"/>
          <p:cNvSpPr/>
          <p:nvPr/>
        </p:nvSpPr>
        <p:spPr>
          <a:xfrm rot="10800000" flipV="1">
            <a:off x="88885" y="1380735"/>
            <a:ext cx="2223292" cy="4856577"/>
          </a:xfrm>
          <a:prstGeom prst="snip1Rect">
            <a:avLst>
              <a:gd name="adj" fmla="val 0"/>
            </a:avLst>
          </a:prstGeom>
          <a:solidFill>
            <a:srgbClr val="E2E2E2"/>
          </a:solidFill>
          <a:ln w="9525">
            <a:solidFill>
              <a:srgbClr val="FFAF17"/>
            </a:solidFill>
            <a:miter lim="800000"/>
            <a:headEnd/>
            <a:tailEnd/>
          </a:ln>
        </p:spPr>
        <p:txBody>
          <a:bodyPr wrap="none" lIns="97707" tIns="48854" rIns="97707" bIns="48854" anchor="t"/>
          <a:lstStyle/>
          <a:p>
            <a:pPr algn="ctr">
              <a:defRPr/>
            </a:pPr>
            <a:r>
              <a:rPr lang="ru-RU" sz="1600" b="1" u="sng" dirty="0" smtClean="0">
                <a:solidFill>
                  <a:srgbClr val="000000"/>
                </a:solidFill>
              </a:rPr>
              <a:t>Резервуар №52</a:t>
            </a:r>
            <a:endParaRPr lang="en-US" sz="1600" b="1" u="sng" dirty="0" smtClean="0">
              <a:solidFill>
                <a:srgbClr val="000000"/>
              </a:solidFill>
            </a:endParaRPr>
          </a:p>
          <a:p>
            <a:pPr algn="ctr">
              <a:defRPr/>
            </a:pPr>
            <a:endParaRPr lang="en-US" sz="1600" b="1" dirty="0" smtClean="0">
              <a:solidFill>
                <a:srgbClr val="000000"/>
              </a:solidFill>
            </a:endParaRPr>
          </a:p>
          <a:p>
            <a:pPr>
              <a:defRPr/>
            </a:pPr>
            <a:r>
              <a:rPr lang="en-US" sz="1600" dirty="0" smtClean="0">
                <a:solidFill>
                  <a:srgbClr val="000000"/>
                </a:solidFill>
              </a:rPr>
              <a:t>Tag|</a:t>
            </a:r>
            <a:r>
              <a:rPr lang="ru-RU" sz="1600" dirty="0" smtClean="0">
                <a:solidFill>
                  <a:srgbClr val="000000"/>
                </a:solidFill>
              </a:rPr>
              <a:t> Уровень</a:t>
            </a:r>
            <a:endParaRPr lang="en-US" sz="1600" dirty="0" smtClean="0">
              <a:solidFill>
                <a:srgbClr val="000000"/>
              </a:solidFill>
            </a:endParaRPr>
          </a:p>
          <a:p>
            <a:pPr>
              <a:defRPr/>
            </a:pPr>
            <a:r>
              <a:rPr lang="en-US" sz="1600" dirty="0" smtClean="0">
                <a:solidFill>
                  <a:srgbClr val="000000"/>
                </a:solidFill>
              </a:rPr>
              <a:t>Tag| </a:t>
            </a:r>
            <a:r>
              <a:rPr lang="ru-RU" sz="1600" dirty="0">
                <a:solidFill>
                  <a:srgbClr val="000000"/>
                </a:solidFill>
              </a:rPr>
              <a:t>Т</a:t>
            </a:r>
            <a:r>
              <a:rPr lang="ru-RU" sz="1600" dirty="0" smtClean="0">
                <a:solidFill>
                  <a:srgbClr val="000000"/>
                </a:solidFill>
              </a:rPr>
              <a:t>емпература</a:t>
            </a:r>
            <a:endParaRPr lang="en-US" sz="1600" dirty="0" smtClean="0">
              <a:solidFill>
                <a:srgbClr val="000000"/>
              </a:solidFill>
            </a:endParaRPr>
          </a:p>
          <a:p>
            <a:pPr>
              <a:defRPr/>
            </a:pPr>
            <a:r>
              <a:rPr lang="en-US" sz="1600" dirty="0" smtClean="0">
                <a:solidFill>
                  <a:srgbClr val="000000"/>
                </a:solidFill>
              </a:rPr>
              <a:t>Tag| </a:t>
            </a:r>
            <a:r>
              <a:rPr lang="ru-RU" sz="1600" dirty="0" smtClean="0">
                <a:solidFill>
                  <a:srgbClr val="000000"/>
                </a:solidFill>
              </a:rPr>
              <a:t>Плотность</a:t>
            </a:r>
            <a:endParaRPr lang="en-US" sz="1600" dirty="0" smtClean="0">
              <a:solidFill>
                <a:srgbClr val="000000"/>
              </a:solidFill>
            </a:endParaRPr>
          </a:p>
          <a:p>
            <a:pPr>
              <a:defRPr/>
            </a:pPr>
            <a:r>
              <a:rPr lang="en-US" sz="1600" dirty="0" smtClean="0">
                <a:solidFill>
                  <a:srgbClr val="000000"/>
                </a:solidFill>
              </a:rPr>
              <a:t>Tag|</a:t>
            </a:r>
            <a:r>
              <a:rPr lang="ru-RU" sz="1600" dirty="0" smtClean="0">
                <a:solidFill>
                  <a:srgbClr val="000000"/>
                </a:solidFill>
              </a:rPr>
              <a:t> Масса общая</a:t>
            </a:r>
            <a:r>
              <a:rPr lang="en-US" sz="1600" dirty="0" smtClean="0">
                <a:solidFill>
                  <a:srgbClr val="000000"/>
                </a:solidFill>
              </a:rPr>
              <a:t> </a:t>
            </a:r>
          </a:p>
          <a:p>
            <a:pPr>
              <a:defRPr/>
            </a:pPr>
            <a:r>
              <a:rPr lang="en-US" sz="1600" dirty="0" smtClean="0">
                <a:solidFill>
                  <a:srgbClr val="000000"/>
                </a:solidFill>
              </a:rPr>
              <a:t>Tag|</a:t>
            </a:r>
            <a:r>
              <a:rPr lang="ru-RU" sz="1600" dirty="0" smtClean="0">
                <a:solidFill>
                  <a:srgbClr val="000000"/>
                </a:solidFill>
              </a:rPr>
              <a:t> Объём общий</a:t>
            </a:r>
            <a:endParaRPr lang="en-US" sz="1600" dirty="0" smtClean="0">
              <a:solidFill>
                <a:srgbClr val="000000"/>
              </a:solidFill>
            </a:endParaRPr>
          </a:p>
          <a:p>
            <a:pPr>
              <a:defRPr/>
            </a:pPr>
            <a:endParaRPr lang="en-US" sz="1600" dirty="0">
              <a:solidFill>
                <a:srgbClr val="000000"/>
              </a:solidFill>
            </a:endParaRPr>
          </a:p>
          <a:p>
            <a:pPr>
              <a:defRPr/>
            </a:pPr>
            <a:r>
              <a:rPr lang="en-US" sz="1600" dirty="0" smtClean="0">
                <a:solidFill>
                  <a:srgbClr val="000000"/>
                </a:solidFill>
              </a:rPr>
              <a:t>Property| </a:t>
            </a:r>
            <a:r>
              <a:rPr lang="ru-RU" sz="1600" dirty="0" smtClean="0">
                <a:solidFill>
                  <a:srgbClr val="000000"/>
                </a:solidFill>
              </a:rPr>
              <a:t>Град</a:t>
            </a:r>
            <a:endParaRPr lang="en-US" sz="1600" dirty="0" smtClean="0">
              <a:solidFill>
                <a:srgbClr val="000000"/>
              </a:solidFill>
            </a:endParaRPr>
          </a:p>
          <a:p>
            <a:pPr>
              <a:defRPr/>
            </a:pPr>
            <a:r>
              <a:rPr lang="en-US" sz="1600" dirty="0" smtClean="0">
                <a:solidFill>
                  <a:srgbClr val="000000"/>
                </a:solidFill>
              </a:rPr>
              <a:t>Property| </a:t>
            </a:r>
            <a:r>
              <a:rPr lang="ru-RU" sz="1600" dirty="0" smtClean="0">
                <a:solidFill>
                  <a:srgbClr val="000000"/>
                </a:solidFill>
              </a:rPr>
              <a:t>Понтон</a:t>
            </a:r>
            <a:endParaRPr lang="en-US" sz="1600" dirty="0" smtClean="0">
              <a:solidFill>
                <a:srgbClr val="000000"/>
              </a:solidFill>
            </a:endParaRPr>
          </a:p>
          <a:p>
            <a:pPr>
              <a:defRPr/>
            </a:pPr>
            <a:r>
              <a:rPr lang="en-US" sz="1600" dirty="0" smtClean="0">
                <a:solidFill>
                  <a:srgbClr val="000000"/>
                </a:solidFill>
              </a:rPr>
              <a:t>Property| </a:t>
            </a:r>
            <a:r>
              <a:rPr lang="ru-RU" sz="1600" dirty="0" smtClean="0">
                <a:solidFill>
                  <a:srgbClr val="000000"/>
                </a:solidFill>
              </a:rPr>
              <a:t>Уровень м.п.</a:t>
            </a:r>
            <a:endParaRPr lang="en-US" sz="1600" dirty="0" smtClean="0">
              <a:solidFill>
                <a:srgbClr val="000000"/>
              </a:solidFill>
            </a:endParaRPr>
          </a:p>
          <a:p>
            <a:pPr>
              <a:defRPr/>
            </a:pPr>
            <a:endParaRPr lang="en-US" sz="1600" dirty="0">
              <a:solidFill>
                <a:srgbClr val="000000"/>
              </a:solidFill>
            </a:endParaRPr>
          </a:p>
          <a:p>
            <a:pPr>
              <a:defRPr/>
            </a:pPr>
            <a:r>
              <a:rPr lang="en-US" sz="1600" dirty="0" smtClean="0">
                <a:solidFill>
                  <a:srgbClr val="000000"/>
                </a:solidFill>
              </a:rPr>
              <a:t>Const| 1</a:t>
            </a:r>
          </a:p>
          <a:p>
            <a:pPr>
              <a:defRPr/>
            </a:pPr>
            <a:r>
              <a:rPr lang="en-US" sz="1600" dirty="0" smtClean="0">
                <a:solidFill>
                  <a:srgbClr val="000000"/>
                </a:solidFill>
              </a:rPr>
              <a:t>Const| 2</a:t>
            </a:r>
          </a:p>
          <a:p>
            <a:pPr>
              <a:defRPr/>
            </a:pPr>
            <a:r>
              <a:rPr lang="en-US" sz="1600" dirty="0" smtClean="0">
                <a:solidFill>
                  <a:srgbClr val="000000"/>
                </a:solidFill>
              </a:rPr>
              <a:t>Const| 3</a:t>
            </a:r>
          </a:p>
          <a:p>
            <a:pPr>
              <a:defRPr/>
            </a:pPr>
            <a:r>
              <a:rPr lang="en-US" sz="1600" dirty="0" smtClean="0">
                <a:solidFill>
                  <a:srgbClr val="000000"/>
                </a:solidFill>
              </a:rPr>
              <a:t>Const| 4</a:t>
            </a:r>
            <a:endParaRPr lang="ru-RU" sz="1600" dirty="0" smtClean="0">
              <a:solidFill>
                <a:srgbClr val="000000"/>
              </a:solidFill>
            </a:endParaRPr>
          </a:p>
          <a:p>
            <a:pPr>
              <a:defRPr/>
            </a:pPr>
            <a:endParaRPr lang="en-US" sz="1600" dirty="0" smtClean="0">
              <a:solidFill>
                <a:srgbClr val="000000"/>
              </a:solidFill>
            </a:endParaRPr>
          </a:p>
          <a:p>
            <a:pPr>
              <a:defRPr/>
            </a:pPr>
            <a:endParaRPr lang="ru-RU" sz="1600" dirty="0" smtClean="0">
              <a:solidFill>
                <a:srgbClr val="000000"/>
              </a:solidFill>
            </a:endParaRPr>
          </a:p>
          <a:p>
            <a:pPr>
              <a:defRPr/>
            </a:pPr>
            <a:endParaRPr lang="ru-RU" sz="1600" dirty="0">
              <a:solidFill>
                <a:srgbClr val="000000"/>
              </a:solidFill>
            </a:endParaRPr>
          </a:p>
        </p:txBody>
      </p:sp>
      <p:sp>
        <p:nvSpPr>
          <p:cNvPr id="6" name="Заголовок 1"/>
          <p:cNvSpPr txBox="1">
            <a:spLocks/>
          </p:cNvSpPr>
          <p:nvPr/>
        </p:nvSpPr>
        <p:spPr>
          <a:xfrm>
            <a:off x="4065503" y="876640"/>
            <a:ext cx="2633616" cy="43993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ru-RU" sz="1400" dirty="0" smtClean="0">
                <a:solidFill>
                  <a:schemeClr val="tx1"/>
                </a:solidFill>
              </a:rPr>
              <a:t>Входные параметры</a:t>
            </a:r>
            <a:endParaRPr lang="ru-RU" sz="1400" dirty="0">
              <a:solidFill>
                <a:schemeClr val="tx1"/>
              </a:solidFill>
            </a:endParaRPr>
          </a:p>
        </p:txBody>
      </p:sp>
      <p:sp>
        <p:nvSpPr>
          <p:cNvPr id="7" name="Заголовок 1"/>
          <p:cNvSpPr txBox="1">
            <a:spLocks/>
          </p:cNvSpPr>
          <p:nvPr/>
        </p:nvSpPr>
        <p:spPr>
          <a:xfrm>
            <a:off x="7212305" y="877296"/>
            <a:ext cx="2633616" cy="43993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ru-RU" sz="1400" dirty="0" smtClean="0">
                <a:solidFill>
                  <a:schemeClr val="tx1"/>
                </a:solidFill>
              </a:rPr>
              <a:t>В</a:t>
            </a:r>
            <a:r>
              <a:rPr lang="ru-RU" sz="1400" dirty="0">
                <a:solidFill>
                  <a:schemeClr val="tx1"/>
                </a:solidFill>
              </a:rPr>
              <a:t>ы</a:t>
            </a:r>
            <a:r>
              <a:rPr lang="ru-RU" sz="1400" dirty="0" smtClean="0">
                <a:solidFill>
                  <a:schemeClr val="tx1"/>
                </a:solidFill>
              </a:rPr>
              <a:t>ходные параметры</a:t>
            </a:r>
            <a:endParaRPr lang="ru-RU" sz="1400" dirty="0">
              <a:solidFill>
                <a:schemeClr val="tx1"/>
              </a:solidFill>
            </a:endParaRPr>
          </a:p>
        </p:txBody>
      </p:sp>
      <p:grpSp>
        <p:nvGrpSpPr>
          <p:cNvPr id="8" name="Группа 7"/>
          <p:cNvGrpSpPr/>
          <p:nvPr/>
        </p:nvGrpSpPr>
        <p:grpSpPr>
          <a:xfrm>
            <a:off x="6537176" y="1330349"/>
            <a:ext cx="12702" cy="5201054"/>
            <a:chOff x="6922181" y="1284608"/>
            <a:chExt cx="12702" cy="5201054"/>
          </a:xfrm>
        </p:grpSpPr>
        <p:cxnSp>
          <p:nvCxnSpPr>
            <p:cNvPr id="9" name="Прямая соединительная линия 8"/>
            <p:cNvCxnSpPr/>
            <p:nvPr/>
          </p:nvCxnSpPr>
          <p:spPr>
            <a:xfrm>
              <a:off x="6922181" y="163135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p:nvPr/>
          </p:nvCxnSpPr>
          <p:spPr>
            <a:xfrm>
              <a:off x="6930119" y="1967108"/>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a:off x="6930119" y="2302864"/>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a:off x="6930119" y="2667196"/>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p:nvPr/>
          </p:nvCxnSpPr>
          <p:spPr>
            <a:xfrm>
              <a:off x="6934883" y="3036290"/>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a:off x="6930119" y="1284608"/>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p:nvPr/>
          </p:nvCxnSpPr>
          <p:spPr>
            <a:xfrm>
              <a:off x="6930437" y="338395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6930119" y="6242774"/>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6922181" y="4144876"/>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p:cNvCxnSpPr/>
            <p:nvPr/>
          </p:nvCxnSpPr>
          <p:spPr>
            <a:xfrm>
              <a:off x="6930119" y="448063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6930119" y="4816388"/>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a:off x="6930119" y="5180720"/>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6934883" y="5549814"/>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p:nvPr/>
          </p:nvCxnSpPr>
          <p:spPr>
            <a:xfrm>
              <a:off x="6930119" y="3798132"/>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p:nvPr/>
          </p:nvCxnSpPr>
          <p:spPr>
            <a:xfrm>
              <a:off x="6930437" y="5897476"/>
              <a:ext cx="0" cy="2428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Заголовок 1"/>
          <p:cNvSpPr txBox="1">
            <a:spLocks/>
          </p:cNvSpPr>
          <p:nvPr/>
        </p:nvSpPr>
        <p:spPr>
          <a:xfrm>
            <a:off x="6283626" y="877842"/>
            <a:ext cx="1225467" cy="43993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000" kern="1200">
                <a:solidFill>
                  <a:schemeClr val="bg1"/>
                </a:solidFill>
                <a:latin typeface="Arial Black" panose="020B0A04020102020204" pitchFamily="34" charset="0"/>
                <a:ea typeface="+mj-ea"/>
                <a:cs typeface="Arial" panose="020B0604020202020204" pitchFamily="34" charset="0"/>
              </a:defRPr>
            </a:lvl1pPr>
          </a:lstStyle>
          <a:p>
            <a:r>
              <a:rPr lang="ru-RU" sz="1400" dirty="0" smtClean="0">
                <a:solidFill>
                  <a:schemeClr val="tx1"/>
                </a:solidFill>
              </a:rPr>
              <a:t>Расчёт</a:t>
            </a:r>
            <a:endParaRPr lang="ru-RU" sz="1400" dirty="0">
              <a:solidFill>
                <a:schemeClr val="tx1"/>
              </a:solidFill>
            </a:endParaRPr>
          </a:p>
        </p:txBody>
      </p:sp>
      <p:pic>
        <p:nvPicPr>
          <p:cNvPr id="25" name="Рисунок 24"/>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288704" y="2766491"/>
            <a:ext cx="510548" cy="546203"/>
          </a:xfrm>
          <a:prstGeom prst="rect">
            <a:avLst/>
          </a:prstGeom>
        </p:spPr>
      </p:pic>
      <p:sp>
        <p:nvSpPr>
          <p:cNvPr id="26" name="Прямоугольник с одним вырезанным углом 25"/>
          <p:cNvSpPr/>
          <p:nvPr/>
        </p:nvSpPr>
        <p:spPr bwMode="auto">
          <a:xfrm rot="10800000" flipV="1">
            <a:off x="2792760" y="1330349"/>
            <a:ext cx="703164" cy="2575393"/>
          </a:xfrm>
          <a:prstGeom prst="snip1Rect">
            <a:avLst>
              <a:gd name="adj" fmla="val 0"/>
            </a:avLst>
          </a:prstGeom>
          <a:solidFill>
            <a:srgbClr val="FFD2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7707" tIns="48854" rIns="97707" bIns="48854" anchor="ctr"/>
          <a:lstStyle/>
          <a:p>
            <a:pPr algn="ctr">
              <a:defRPr/>
            </a:pPr>
            <a:r>
              <a:rPr lang="en-US" sz="2000" b="1" dirty="0" smtClean="0"/>
              <a:t>List</a:t>
            </a:r>
            <a:endParaRPr lang="ru-RU" sz="2000" b="1" dirty="0"/>
          </a:p>
        </p:txBody>
      </p:sp>
      <p:pic>
        <p:nvPicPr>
          <p:cNvPr id="27" name="Рисунок 26"/>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3514103" y="1179800"/>
            <a:ext cx="557886" cy="546203"/>
          </a:xfrm>
          <a:prstGeom prst="rect">
            <a:avLst/>
          </a:prstGeom>
        </p:spPr>
      </p:pic>
      <p:sp>
        <p:nvSpPr>
          <p:cNvPr id="28" name="Прямоугольник с одним вырезанным углом 27"/>
          <p:cNvSpPr/>
          <p:nvPr/>
        </p:nvSpPr>
        <p:spPr>
          <a:xfrm rot="10800000" flipV="1">
            <a:off x="4101189" y="1375967"/>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solidFill>
                  <a:srgbClr val="000000"/>
                </a:solidFill>
              </a:rPr>
              <a:t>Tag| </a:t>
            </a:r>
            <a:r>
              <a:rPr lang="ru-RU" sz="1600" dirty="0">
                <a:solidFill>
                  <a:srgbClr val="000000"/>
                </a:solidFill>
              </a:rPr>
              <a:t>У</a:t>
            </a:r>
            <a:r>
              <a:rPr lang="ru-RU" sz="1600" dirty="0" smtClean="0">
                <a:solidFill>
                  <a:srgbClr val="000000"/>
                </a:solidFill>
              </a:rPr>
              <a:t>ровень</a:t>
            </a:r>
            <a:endParaRPr lang="ru-RU" sz="1600" dirty="0">
              <a:solidFill>
                <a:srgbClr val="000000"/>
              </a:solidFill>
            </a:endParaRPr>
          </a:p>
        </p:txBody>
      </p:sp>
      <p:sp>
        <p:nvSpPr>
          <p:cNvPr id="29" name="Прямоугольник с одним вырезанным углом 28"/>
          <p:cNvSpPr/>
          <p:nvPr/>
        </p:nvSpPr>
        <p:spPr>
          <a:xfrm rot="10800000" flipV="1">
            <a:off x="4103075" y="2303802"/>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solidFill>
                  <a:srgbClr val="000000"/>
                </a:solidFill>
              </a:rPr>
              <a:t>Property| </a:t>
            </a:r>
            <a:r>
              <a:rPr lang="ru-RU" sz="1600" dirty="0" smtClean="0">
                <a:solidFill>
                  <a:srgbClr val="000000"/>
                </a:solidFill>
              </a:rPr>
              <a:t>Град. Табл.</a:t>
            </a:r>
            <a:endParaRPr lang="ru-RU" sz="1600" dirty="0">
              <a:solidFill>
                <a:srgbClr val="000000"/>
              </a:solidFill>
            </a:endParaRPr>
          </a:p>
        </p:txBody>
      </p:sp>
      <p:pic>
        <p:nvPicPr>
          <p:cNvPr id="30" name="Рисунок 29"/>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3525125" y="2088427"/>
            <a:ext cx="552662" cy="546203"/>
          </a:xfrm>
          <a:prstGeom prst="rect">
            <a:avLst/>
          </a:prstGeom>
        </p:spPr>
      </p:pic>
      <p:pic>
        <p:nvPicPr>
          <p:cNvPr id="31" name="Рисунок 30"/>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3514103" y="1637989"/>
            <a:ext cx="557886" cy="546203"/>
          </a:xfrm>
          <a:prstGeom prst="rect">
            <a:avLst/>
          </a:prstGeom>
        </p:spPr>
      </p:pic>
      <p:sp>
        <p:nvSpPr>
          <p:cNvPr id="32" name="Прямоугольник с одним вырезанным углом 31"/>
          <p:cNvSpPr/>
          <p:nvPr/>
        </p:nvSpPr>
        <p:spPr>
          <a:xfrm rot="10800000" flipV="1">
            <a:off x="4101189" y="1834156"/>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solidFill>
                  <a:srgbClr val="000000"/>
                </a:solidFill>
              </a:rPr>
              <a:t>Tag| </a:t>
            </a:r>
            <a:r>
              <a:rPr lang="ru-RU" sz="1600" dirty="0" smtClean="0">
                <a:solidFill>
                  <a:srgbClr val="000000"/>
                </a:solidFill>
              </a:rPr>
              <a:t>Температра</a:t>
            </a:r>
            <a:endParaRPr lang="ru-RU" sz="1600" dirty="0">
              <a:solidFill>
                <a:srgbClr val="000000"/>
              </a:solidFill>
            </a:endParaRPr>
          </a:p>
        </p:txBody>
      </p:sp>
      <p:sp>
        <p:nvSpPr>
          <p:cNvPr id="33" name="Прямоугольник с одним вырезанным углом 32"/>
          <p:cNvSpPr/>
          <p:nvPr/>
        </p:nvSpPr>
        <p:spPr>
          <a:xfrm rot="10800000" flipV="1">
            <a:off x="4103075" y="2761991"/>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solidFill>
                  <a:srgbClr val="000000"/>
                </a:solidFill>
              </a:rPr>
              <a:t>Property| </a:t>
            </a:r>
            <a:r>
              <a:rPr lang="ru-RU" sz="1600" dirty="0" smtClean="0">
                <a:solidFill>
                  <a:srgbClr val="000000"/>
                </a:solidFill>
              </a:rPr>
              <a:t>Уровень м.п.</a:t>
            </a:r>
            <a:endParaRPr lang="ru-RU" sz="1600" dirty="0">
              <a:solidFill>
                <a:srgbClr val="000000"/>
              </a:solidFill>
            </a:endParaRPr>
          </a:p>
        </p:txBody>
      </p:sp>
      <p:sp>
        <p:nvSpPr>
          <p:cNvPr id="35" name="Прямоугольник с одним вырезанным углом 34"/>
          <p:cNvSpPr/>
          <p:nvPr/>
        </p:nvSpPr>
        <p:spPr>
          <a:xfrm rot="10800000" flipV="1">
            <a:off x="4101189" y="3645140"/>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solidFill>
                  <a:srgbClr val="000000"/>
                </a:solidFill>
              </a:rPr>
              <a:t>Const| </a:t>
            </a:r>
            <a:r>
              <a:rPr lang="en-US" sz="1600" dirty="0">
                <a:solidFill>
                  <a:srgbClr val="000000"/>
                </a:solidFill>
              </a:rPr>
              <a:t>y</a:t>
            </a:r>
            <a:endParaRPr lang="ru-RU" sz="1600" dirty="0">
              <a:solidFill>
                <a:srgbClr val="000000"/>
              </a:solidFill>
            </a:endParaRPr>
          </a:p>
        </p:txBody>
      </p:sp>
      <p:sp>
        <p:nvSpPr>
          <p:cNvPr id="37" name="Прямоугольник с одним вырезанным углом 36"/>
          <p:cNvSpPr/>
          <p:nvPr/>
        </p:nvSpPr>
        <p:spPr>
          <a:xfrm rot="10800000" flipV="1">
            <a:off x="4101189" y="3212489"/>
            <a:ext cx="2333962"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solidFill>
                  <a:srgbClr val="000000"/>
                </a:solidFill>
              </a:rPr>
              <a:t>Const| x</a:t>
            </a:r>
            <a:endParaRPr lang="ru-RU" sz="1600" dirty="0">
              <a:solidFill>
                <a:srgbClr val="000000"/>
              </a:solidFill>
            </a:endParaRPr>
          </a:p>
        </p:txBody>
      </p:sp>
      <p:sp>
        <p:nvSpPr>
          <p:cNvPr id="39" name="Прямоугольник с одним вырезанным углом 38"/>
          <p:cNvSpPr/>
          <p:nvPr/>
        </p:nvSpPr>
        <p:spPr>
          <a:xfrm rot="10800000" flipV="1">
            <a:off x="7329265" y="3962174"/>
            <a:ext cx="2399698"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smtClean="0">
                <a:solidFill>
                  <a:srgbClr val="000000"/>
                </a:solidFill>
              </a:rPr>
              <a:t>Tag| </a:t>
            </a:r>
            <a:r>
              <a:rPr lang="ru-RU" sz="1600" dirty="0" smtClean="0">
                <a:solidFill>
                  <a:srgbClr val="000000"/>
                </a:solidFill>
              </a:rPr>
              <a:t>Масса общая</a:t>
            </a:r>
            <a:endParaRPr lang="ru-RU" sz="1600" dirty="0">
              <a:solidFill>
                <a:srgbClr val="000000"/>
              </a:solidFill>
            </a:endParaRPr>
          </a:p>
        </p:txBody>
      </p:sp>
      <p:sp>
        <p:nvSpPr>
          <p:cNvPr id="40" name="Прямоугольник с одним вырезанным углом 39"/>
          <p:cNvSpPr/>
          <p:nvPr/>
        </p:nvSpPr>
        <p:spPr>
          <a:xfrm rot="10800000" flipV="1">
            <a:off x="7329264" y="4431881"/>
            <a:ext cx="2399699"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solidFill>
                  <a:srgbClr val="000000"/>
                </a:solidFill>
              </a:rPr>
              <a:t>Tag</a:t>
            </a:r>
            <a:r>
              <a:rPr lang="en-US" sz="1600" dirty="0" smtClean="0">
                <a:solidFill>
                  <a:srgbClr val="000000"/>
                </a:solidFill>
              </a:rPr>
              <a:t>|</a:t>
            </a:r>
            <a:r>
              <a:rPr lang="ru-RU" sz="1600" dirty="0" smtClean="0">
                <a:solidFill>
                  <a:srgbClr val="000000"/>
                </a:solidFill>
              </a:rPr>
              <a:t> Масса полезная</a:t>
            </a:r>
            <a:endParaRPr lang="ru-RU" sz="1600" dirty="0">
              <a:solidFill>
                <a:srgbClr val="000000"/>
              </a:solidFill>
            </a:endParaRPr>
          </a:p>
        </p:txBody>
      </p:sp>
      <p:pic>
        <p:nvPicPr>
          <p:cNvPr id="41" name="Рисунок 40"/>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537177" y="3845252"/>
            <a:ext cx="718368" cy="546203"/>
          </a:xfrm>
          <a:prstGeom prst="rect">
            <a:avLst/>
          </a:prstGeom>
        </p:spPr>
      </p:pic>
      <p:pic>
        <p:nvPicPr>
          <p:cNvPr id="42" name="Рисунок 41"/>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553088" y="4337957"/>
            <a:ext cx="718368" cy="546203"/>
          </a:xfrm>
          <a:prstGeom prst="rect">
            <a:avLst/>
          </a:prstGeom>
        </p:spPr>
      </p:pic>
      <p:sp>
        <p:nvSpPr>
          <p:cNvPr id="43" name="Прямоугольник с одним вырезанным углом 42"/>
          <p:cNvSpPr/>
          <p:nvPr/>
        </p:nvSpPr>
        <p:spPr>
          <a:xfrm rot="10800000" flipV="1">
            <a:off x="7332404" y="4885634"/>
            <a:ext cx="2396560"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solidFill>
                  <a:srgbClr val="000000"/>
                </a:solidFill>
              </a:rPr>
              <a:t>Tag</a:t>
            </a:r>
            <a:r>
              <a:rPr lang="en-US" sz="1600" dirty="0" smtClean="0">
                <a:solidFill>
                  <a:srgbClr val="000000"/>
                </a:solidFill>
              </a:rPr>
              <a:t>|</a:t>
            </a:r>
            <a:r>
              <a:rPr lang="ru-RU" sz="1600" dirty="0" smtClean="0">
                <a:solidFill>
                  <a:srgbClr val="000000"/>
                </a:solidFill>
              </a:rPr>
              <a:t> Масса свободная</a:t>
            </a:r>
            <a:endParaRPr lang="ru-RU" sz="1600" dirty="0">
              <a:solidFill>
                <a:srgbClr val="000000"/>
              </a:solidFill>
            </a:endParaRPr>
          </a:p>
        </p:txBody>
      </p:sp>
      <p:pic>
        <p:nvPicPr>
          <p:cNvPr id="44" name="Рисунок 43"/>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556227" y="4791710"/>
            <a:ext cx="718368" cy="546203"/>
          </a:xfrm>
          <a:prstGeom prst="rect">
            <a:avLst/>
          </a:prstGeom>
        </p:spPr>
      </p:pic>
      <p:sp>
        <p:nvSpPr>
          <p:cNvPr id="45" name="Прямоугольник с одним вырезанным углом 44"/>
          <p:cNvSpPr/>
          <p:nvPr/>
        </p:nvSpPr>
        <p:spPr>
          <a:xfrm rot="10800000" flipV="1">
            <a:off x="7352525" y="6289088"/>
            <a:ext cx="2376439"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solidFill>
                  <a:srgbClr val="000000"/>
                </a:solidFill>
              </a:rPr>
              <a:t>Tag</a:t>
            </a:r>
            <a:r>
              <a:rPr lang="en-US" sz="1600" dirty="0" smtClean="0">
                <a:solidFill>
                  <a:srgbClr val="000000"/>
                </a:solidFill>
              </a:rPr>
              <a:t>|</a:t>
            </a:r>
            <a:r>
              <a:rPr lang="ru-RU" sz="1600" dirty="0" smtClean="0">
                <a:solidFill>
                  <a:srgbClr val="000000"/>
                </a:solidFill>
              </a:rPr>
              <a:t> Объём свободный</a:t>
            </a:r>
            <a:endParaRPr lang="ru-RU" sz="1600" dirty="0">
              <a:solidFill>
                <a:srgbClr val="000000"/>
              </a:solidFill>
            </a:endParaRPr>
          </a:p>
        </p:txBody>
      </p:sp>
      <p:pic>
        <p:nvPicPr>
          <p:cNvPr id="46" name="Рисунок 45"/>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576348" y="6195164"/>
            <a:ext cx="718368" cy="546203"/>
          </a:xfrm>
          <a:prstGeom prst="rect">
            <a:avLst/>
          </a:prstGeom>
        </p:spPr>
      </p:pic>
      <p:sp>
        <p:nvSpPr>
          <p:cNvPr id="47" name="Прямоугольник с одним вырезанным углом 46"/>
          <p:cNvSpPr/>
          <p:nvPr/>
        </p:nvSpPr>
        <p:spPr>
          <a:xfrm rot="10800000" flipV="1">
            <a:off x="7352524" y="5815547"/>
            <a:ext cx="2376441"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solidFill>
                  <a:srgbClr val="000000"/>
                </a:solidFill>
              </a:rPr>
              <a:t>Tag</a:t>
            </a:r>
            <a:r>
              <a:rPr lang="en-US" sz="1600" dirty="0" smtClean="0">
                <a:solidFill>
                  <a:srgbClr val="000000"/>
                </a:solidFill>
              </a:rPr>
              <a:t>|</a:t>
            </a:r>
            <a:r>
              <a:rPr lang="ru-RU" sz="1600" dirty="0" smtClean="0">
                <a:solidFill>
                  <a:srgbClr val="000000"/>
                </a:solidFill>
              </a:rPr>
              <a:t> Объём полезный	</a:t>
            </a:r>
            <a:endParaRPr lang="ru-RU" sz="1600" dirty="0">
              <a:solidFill>
                <a:srgbClr val="000000"/>
              </a:solidFill>
            </a:endParaRPr>
          </a:p>
        </p:txBody>
      </p:sp>
      <p:pic>
        <p:nvPicPr>
          <p:cNvPr id="48" name="Рисунок 47"/>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576348" y="5721623"/>
            <a:ext cx="718368" cy="546203"/>
          </a:xfrm>
          <a:prstGeom prst="rect">
            <a:avLst/>
          </a:prstGeom>
        </p:spPr>
      </p:pic>
      <p:sp>
        <p:nvSpPr>
          <p:cNvPr id="49" name="Прямоугольник с одним вырезанным углом 48"/>
          <p:cNvSpPr/>
          <p:nvPr/>
        </p:nvSpPr>
        <p:spPr>
          <a:xfrm rot="10800000" flipV="1">
            <a:off x="7340341" y="5342006"/>
            <a:ext cx="2388623" cy="380271"/>
          </a:xfrm>
          <a:prstGeom prst="snip1Rect">
            <a:avLst>
              <a:gd name="adj" fmla="val 0"/>
            </a:avLst>
          </a:prstGeom>
          <a:solidFill>
            <a:srgbClr val="E2E2E2"/>
          </a:solidFill>
          <a:ln>
            <a:noFill/>
          </a:ln>
          <a:extLst/>
        </p:spPr>
        <p:txBody>
          <a:bodyPr wrap="none" lIns="97707" tIns="48854" rIns="97707" bIns="48854" anchor="ctr"/>
          <a:lstStyle/>
          <a:p>
            <a:pPr>
              <a:defRPr/>
            </a:pPr>
            <a:r>
              <a:rPr lang="en-US" sz="1600" dirty="0">
                <a:solidFill>
                  <a:srgbClr val="000000"/>
                </a:solidFill>
              </a:rPr>
              <a:t>Tag</a:t>
            </a:r>
            <a:r>
              <a:rPr lang="en-US" sz="1600" dirty="0" smtClean="0">
                <a:solidFill>
                  <a:srgbClr val="000000"/>
                </a:solidFill>
              </a:rPr>
              <a:t>|</a:t>
            </a:r>
            <a:r>
              <a:rPr lang="ru-RU" sz="1600" dirty="0" smtClean="0">
                <a:solidFill>
                  <a:srgbClr val="000000"/>
                </a:solidFill>
              </a:rPr>
              <a:t> Объём общий</a:t>
            </a:r>
            <a:endParaRPr lang="ru-RU" sz="1600" dirty="0">
              <a:solidFill>
                <a:srgbClr val="000000"/>
              </a:solidFill>
            </a:endParaRPr>
          </a:p>
        </p:txBody>
      </p:sp>
      <p:pic>
        <p:nvPicPr>
          <p:cNvPr id="50" name="Рисунок 49"/>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6564165" y="5248082"/>
            <a:ext cx="718368" cy="546203"/>
          </a:xfrm>
          <a:prstGeom prst="rect">
            <a:avLst/>
          </a:prstGeom>
        </p:spPr>
      </p:pic>
      <p:pic>
        <p:nvPicPr>
          <p:cNvPr id="51" name="Рисунок 50"/>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3514727" y="2535827"/>
            <a:ext cx="552662" cy="546203"/>
          </a:xfrm>
          <a:prstGeom prst="rect">
            <a:avLst/>
          </a:prstGeom>
        </p:spPr>
      </p:pic>
      <p:pic>
        <p:nvPicPr>
          <p:cNvPr id="52" name="Рисунок 51"/>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3512841" y="3418976"/>
            <a:ext cx="552662" cy="546203"/>
          </a:xfrm>
          <a:prstGeom prst="rect">
            <a:avLst/>
          </a:prstGeom>
        </p:spPr>
      </p:pic>
      <p:pic>
        <p:nvPicPr>
          <p:cNvPr id="53" name="Рисунок 52"/>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0800000">
            <a:off x="3512841" y="2986325"/>
            <a:ext cx="552662" cy="546203"/>
          </a:xfrm>
          <a:prstGeom prst="rect">
            <a:avLst/>
          </a:prstGeom>
        </p:spPr>
      </p:pic>
    </p:spTree>
    <p:extLst>
      <p:ext uri="{BB962C8B-B14F-4D97-AF65-F5344CB8AC3E}">
        <p14:creationId xmlns:p14="http://schemas.microsoft.com/office/powerpoint/2010/main" val="3148405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p:cNvSpPr>
            <a:spLocks noGrp="1"/>
          </p:cNvSpPr>
          <p:nvPr>
            <p:ph type="sldNum" sz="quarter" idx="12"/>
          </p:nvPr>
        </p:nvSpPr>
        <p:spPr>
          <a:xfrm>
            <a:off x="9489504" y="6741368"/>
            <a:ext cx="372948" cy="116632"/>
          </a:xfrm>
        </p:spPr>
        <p:txBody>
          <a:bodyPr/>
          <a:lstStyle/>
          <a:p>
            <a:fld id="{5100B139-BD82-4293-9FDA-44725340297B}" type="slidenum">
              <a:rPr lang="ru-RU" smtClean="0"/>
              <a:pPr/>
              <a:t>17</a:t>
            </a:fld>
            <a:endParaRPr lang="ru-RU" dirty="0"/>
          </a:p>
        </p:txBody>
      </p:sp>
      <p:sp>
        <p:nvSpPr>
          <p:cNvPr id="4" name="Прямоугольник 3">
            <a:extLst>
              <a:ext uri="{FF2B5EF4-FFF2-40B4-BE49-F238E27FC236}">
                <a16:creationId xmlns="" xmlns:a16="http://schemas.microsoft.com/office/drawing/2014/main" id="{AFE97D96-A1CC-0518-5A06-B18D9A06A285}"/>
              </a:ext>
            </a:extLst>
          </p:cNvPr>
          <p:cNvSpPr/>
          <p:nvPr/>
        </p:nvSpPr>
        <p:spPr>
          <a:xfrm>
            <a:off x="1496616" y="2636912"/>
            <a:ext cx="2585120" cy="1836850"/>
          </a:xfrm>
          <a:prstGeom prst="rect">
            <a:avLst/>
          </a:prstGeom>
        </p:spPr>
        <p:txBody>
          <a:bodyPr wrap="square" lIns="0" tIns="0" rIns="0" bIns="0">
            <a:spAutoFit/>
          </a:bodyPr>
          <a:lstStyle/>
          <a:p>
            <a:pPr marL="213750" indent="-213750">
              <a:lnSpc>
                <a:spcPct val="107000"/>
              </a:lnSpc>
              <a:spcAft>
                <a:spcPts val="1200"/>
              </a:spcAft>
              <a:buFont typeface="Wingdings" panose="05000000000000000000" pitchFamily="2" charset="2"/>
              <a:buChar char="§"/>
            </a:pPr>
            <a: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t>Стать профи в ИТ</a:t>
            </a:r>
          </a:p>
          <a:p>
            <a:pPr marL="213750" indent="-213750">
              <a:lnSpc>
                <a:spcPct val="107000"/>
              </a:lnSpc>
              <a:spcAft>
                <a:spcPts val="1200"/>
              </a:spcAft>
              <a:buFont typeface="Wingdings" panose="05000000000000000000" pitchFamily="2" charset="2"/>
              <a:buChar char="§"/>
            </a:pPr>
            <a: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t>Быть участником </a:t>
            </a:r>
            <a:b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br>
            <a: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t>масштабных проектов</a:t>
            </a:r>
          </a:p>
          <a:p>
            <a:pPr marL="213750" indent="-213750">
              <a:spcAft>
                <a:spcPts val="1200"/>
              </a:spcAft>
              <a:buFont typeface="Wingdings" panose="05000000000000000000" pitchFamily="2" charset="2"/>
              <a:buChar char="§"/>
            </a:pPr>
            <a: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t>Решать интересные </a:t>
            </a:r>
            <a:b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br>
            <a: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t>задачи и ставить</a:t>
            </a:r>
            <a:b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br>
            <a:r>
              <a:rPr lang="ru-RU" sz="1600" b="1" dirty="0">
                <a:solidFill>
                  <a:srgbClr val="000000"/>
                </a:solidFill>
                <a:latin typeface="Arial" panose="020B0604020202020204" pitchFamily="34" charset="0"/>
                <a:ea typeface="Calibri" panose="020F0502020204030204" pitchFamily="34" charset="0"/>
                <a:cs typeface="Arial" panose="020B0604020202020204" pitchFamily="34" charset="0"/>
              </a:rPr>
              <a:t>амбициозные цели</a:t>
            </a:r>
            <a:endParaRPr lang="ru-RU" sz="1600" b="1" dirty="0">
              <a:solidFill>
                <a:srgbClr val="000000"/>
              </a:solidFill>
              <a:latin typeface="Arial" panose="020B0604020202020204" pitchFamily="34" charset="0"/>
              <a:cs typeface="Arial" panose="020B0604020202020204" pitchFamily="34" charset="0"/>
            </a:endParaRPr>
          </a:p>
        </p:txBody>
      </p:sp>
      <p:sp>
        <p:nvSpPr>
          <p:cNvPr id="5" name="Подзаголовок 4">
            <a:extLst>
              <a:ext uri="{FF2B5EF4-FFF2-40B4-BE49-F238E27FC236}">
                <a16:creationId xmlns="" xmlns:a16="http://schemas.microsoft.com/office/drawing/2014/main" id="{F219CCB2-C584-EFF7-5B74-114C6B092950}"/>
              </a:ext>
            </a:extLst>
          </p:cNvPr>
          <p:cNvSpPr txBox="1">
            <a:spLocks/>
          </p:cNvSpPr>
          <p:nvPr/>
        </p:nvSpPr>
        <p:spPr>
          <a:xfrm>
            <a:off x="704528" y="1268760"/>
            <a:ext cx="8536603" cy="1655762"/>
          </a:xfrm>
          <a:prstGeom prst="rect">
            <a:avLst/>
          </a:prstGeom>
        </p:spPr>
        <p:txBody>
          <a:bodyPr>
            <a:normAutofit/>
          </a:bodyPr>
          <a:lstStyle>
            <a:lvl1pPr marL="163289" indent="-163289" algn="l" defTabSz="653156" rtl="0" eaLnBrk="1" latinLnBrk="0" hangingPunct="1">
              <a:lnSpc>
                <a:spcPct val="90000"/>
              </a:lnSpc>
              <a:spcBef>
                <a:spcPts val="714"/>
              </a:spcBef>
              <a:buFont typeface="Arial" panose="020B0604020202020204" pitchFamily="34" charset="0"/>
              <a:buChar char="•"/>
              <a:defRPr sz="2000" kern="1200">
                <a:solidFill>
                  <a:schemeClr val="tx1"/>
                </a:solidFill>
                <a:latin typeface="+mn-lt"/>
                <a:ea typeface="+mn-ea"/>
                <a:cs typeface="+mn-cs"/>
              </a:defRPr>
            </a:lvl1pPr>
            <a:lvl2pPr marL="489867" indent="-163289" algn="l" defTabSz="653156" rtl="0" eaLnBrk="1" latinLnBrk="0" hangingPunct="1">
              <a:lnSpc>
                <a:spcPct val="90000"/>
              </a:lnSpc>
              <a:spcBef>
                <a:spcPts val="357"/>
              </a:spcBef>
              <a:buFont typeface="Arial" panose="020B0604020202020204" pitchFamily="34" charset="0"/>
              <a:buChar char="•"/>
              <a:defRPr sz="1714" kern="1200">
                <a:solidFill>
                  <a:schemeClr val="tx1"/>
                </a:solidFill>
                <a:latin typeface="+mn-lt"/>
                <a:ea typeface="+mn-ea"/>
                <a:cs typeface="+mn-cs"/>
              </a:defRPr>
            </a:lvl2pPr>
            <a:lvl3pPr marL="816445" indent="-163289" algn="l" defTabSz="653156" rtl="0" eaLnBrk="1" latinLnBrk="0" hangingPunct="1">
              <a:lnSpc>
                <a:spcPct val="90000"/>
              </a:lnSpc>
              <a:spcBef>
                <a:spcPts val="357"/>
              </a:spcBef>
              <a:buFont typeface="Arial" panose="020B0604020202020204" pitchFamily="34" charset="0"/>
              <a:buChar char="•"/>
              <a:defRPr sz="1429" kern="1200">
                <a:solidFill>
                  <a:schemeClr val="tx1"/>
                </a:solidFill>
                <a:latin typeface="+mn-lt"/>
                <a:ea typeface="+mn-ea"/>
                <a:cs typeface="+mn-cs"/>
              </a:defRPr>
            </a:lvl3pPr>
            <a:lvl4pPr marL="1143023"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4pPr>
            <a:lvl5pPr marL="1469601"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5pPr>
            <a:lvl6pPr marL="1796179"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6pPr>
            <a:lvl7pPr marL="2122757"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7pPr>
            <a:lvl8pPr marL="2449335"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8pPr>
            <a:lvl9pPr marL="2775913" indent="-163289" algn="l" defTabSz="653156" rtl="0" eaLnBrk="1" latinLnBrk="0" hangingPunct="1">
              <a:lnSpc>
                <a:spcPct val="90000"/>
              </a:lnSpc>
              <a:spcBef>
                <a:spcPts val="357"/>
              </a:spcBef>
              <a:buFont typeface="Arial" panose="020B0604020202020204" pitchFamily="34" charset="0"/>
              <a:buChar char="•"/>
              <a:defRPr sz="1286" kern="1200">
                <a:solidFill>
                  <a:schemeClr val="tx1"/>
                </a:solidFill>
                <a:latin typeface="+mn-lt"/>
                <a:ea typeface="+mn-ea"/>
                <a:cs typeface="+mn-cs"/>
              </a:defRPr>
            </a:lvl9pPr>
          </a:lstStyle>
          <a:p>
            <a:pPr marL="0" indent="0">
              <a:buNone/>
            </a:pPr>
            <a:r>
              <a:rPr lang="ru-RU" sz="3600" b="1" dirty="0" smtClean="0">
                <a:solidFill>
                  <a:srgbClr val="000000"/>
                </a:solidFill>
                <a:latin typeface="Arial Black" panose="020B0604020202020204" pitchFamily="34" charset="0"/>
                <a:ea typeface="Calibri" panose="020F0502020204030204" pitchFamily="34" charset="0"/>
                <a:cs typeface="Arial Black" panose="020B0604020202020204" pitchFamily="34" charset="0"/>
              </a:rPr>
              <a:t>ПРИСОЕДИНЯЙСЯ К КОМАНДЕ </a:t>
            </a:r>
            <a:br>
              <a:rPr lang="ru-RU" sz="3600" b="1" dirty="0" smtClean="0">
                <a:solidFill>
                  <a:srgbClr val="000000"/>
                </a:solidFill>
                <a:latin typeface="Arial Black" panose="020B0604020202020204" pitchFamily="34" charset="0"/>
                <a:ea typeface="Calibri" panose="020F0502020204030204" pitchFamily="34" charset="0"/>
                <a:cs typeface="Arial Black" panose="020B0604020202020204" pitchFamily="34" charset="0"/>
              </a:rPr>
            </a:br>
            <a:r>
              <a:rPr lang="ru-RU" sz="3600" b="1" dirty="0" smtClean="0">
                <a:solidFill>
                  <a:srgbClr val="000000"/>
                </a:solidFill>
                <a:latin typeface="Arial Black" panose="020B0604020202020204" pitchFamily="34" charset="0"/>
                <a:ea typeface="Times New Roman" panose="02020603050405020304" pitchFamily="18" charset="0"/>
                <a:cs typeface="Arial Black" panose="020B0604020202020204" pitchFamily="34" charset="0"/>
              </a:rPr>
              <a:t>ООО «СИБИНТЕК-СОФТ»</a:t>
            </a:r>
            <a:endParaRPr lang="ru-RU" sz="3600" b="1" dirty="0">
              <a:solidFill>
                <a:srgbClr val="000000"/>
              </a:solidFill>
              <a:latin typeface="Arial Black" panose="020B0604020202020204" pitchFamily="34" charset="0"/>
              <a:ea typeface="Calibri" panose="020F0502020204030204" pitchFamily="34" charset="0"/>
              <a:cs typeface="Arial Black" panose="020B0604020202020204" pitchFamily="34" charset="0"/>
            </a:endParaRPr>
          </a:p>
        </p:txBody>
      </p:sp>
      <p:grpSp>
        <p:nvGrpSpPr>
          <p:cNvPr id="6" name="Группа 5">
            <a:extLst>
              <a:ext uri="{FF2B5EF4-FFF2-40B4-BE49-F238E27FC236}">
                <a16:creationId xmlns="" xmlns:a16="http://schemas.microsoft.com/office/drawing/2014/main" id="{5EF6551D-40E8-B14C-1313-5C182947B321}"/>
              </a:ext>
            </a:extLst>
          </p:cNvPr>
          <p:cNvGrpSpPr/>
          <p:nvPr/>
        </p:nvGrpSpPr>
        <p:grpSpPr>
          <a:xfrm>
            <a:off x="727444" y="2420888"/>
            <a:ext cx="5645357" cy="90377"/>
            <a:chOff x="732560" y="3657191"/>
            <a:chExt cx="5645357" cy="90377"/>
          </a:xfrm>
        </p:grpSpPr>
        <p:sp>
          <p:nvSpPr>
            <p:cNvPr id="7" name="Овал 6">
              <a:extLst>
                <a:ext uri="{FF2B5EF4-FFF2-40B4-BE49-F238E27FC236}">
                  <a16:creationId xmlns="" xmlns:a16="http://schemas.microsoft.com/office/drawing/2014/main" id="{06434458-EBAC-6C31-B1CE-906290784192}"/>
                </a:ext>
              </a:extLst>
            </p:cNvPr>
            <p:cNvSpPr/>
            <p:nvPr/>
          </p:nvSpPr>
          <p:spPr>
            <a:xfrm>
              <a:off x="732560" y="3657191"/>
              <a:ext cx="90377" cy="90377"/>
            </a:xfrm>
            <a:prstGeom prst="ellipse">
              <a:avLst/>
            </a:prstGeom>
            <a:noFill/>
            <a:ln w="28575">
              <a:solidFill>
                <a:srgbClr val="F6CF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cxnSp>
          <p:nvCxnSpPr>
            <p:cNvPr id="8" name="Прямая соединительная линия 7">
              <a:extLst>
                <a:ext uri="{FF2B5EF4-FFF2-40B4-BE49-F238E27FC236}">
                  <a16:creationId xmlns="" xmlns:a16="http://schemas.microsoft.com/office/drawing/2014/main" id="{78984701-7F92-134B-7F69-4F088685ED10}"/>
                </a:ext>
              </a:extLst>
            </p:cNvPr>
            <p:cNvCxnSpPr>
              <a:cxnSpLocks/>
              <a:stCxn id="7" idx="6"/>
            </p:cNvCxnSpPr>
            <p:nvPr/>
          </p:nvCxnSpPr>
          <p:spPr>
            <a:xfrm>
              <a:off x="822937" y="3702380"/>
              <a:ext cx="5554980" cy="0"/>
            </a:xfrm>
            <a:prstGeom prst="line">
              <a:avLst/>
            </a:prstGeom>
            <a:ln w="19050">
              <a:solidFill>
                <a:srgbClr val="F6CF4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86553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ugldd8Y0Sruv6Tqs3vCxJ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ugldd8Y0Sruv6Tqs3vCxJ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Специальное оформление">
  <a:themeElements>
    <a:clrScheme name="Другая 20">
      <a:dk1>
        <a:srgbClr val="161616"/>
      </a:dk1>
      <a:lt1>
        <a:srgbClr val="FFFFFF"/>
      </a:lt1>
      <a:dk2>
        <a:srgbClr val="2E2E2E"/>
      </a:dk2>
      <a:lt2>
        <a:srgbClr val="FFD200"/>
      </a:lt2>
      <a:accent1>
        <a:srgbClr val="6B6B6B"/>
      </a:accent1>
      <a:accent2>
        <a:srgbClr val="FCAF17"/>
      </a:accent2>
      <a:accent3>
        <a:srgbClr val="F99D1C"/>
      </a:accent3>
      <a:accent4>
        <a:srgbClr val="FCAF17"/>
      </a:accent4>
      <a:accent5>
        <a:srgbClr val="F8DD56"/>
      </a:accent5>
      <a:accent6>
        <a:srgbClr val="3D464A"/>
      </a:accent6>
      <a:hlink>
        <a:srgbClr val="505050"/>
      </a:hlink>
      <a:folHlink>
        <a:srgbClr val="7B7B7B"/>
      </a:folHlink>
    </a:clrScheme>
    <a:fontScheme name="Другая 1">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36630</TotalTime>
  <Words>3989</Words>
  <Application>Microsoft Office PowerPoint</Application>
  <PresentationFormat>Лист A4 (210x297 мм)</PresentationFormat>
  <Paragraphs>554</Paragraphs>
  <Slides>17</Slides>
  <Notes>16</Notes>
  <HiddenSlides>0</HiddenSlides>
  <MMClips>0</MMClips>
  <ScaleCrop>false</ScaleCrop>
  <HeadingPairs>
    <vt:vector size="8" baseType="variant">
      <vt:variant>
        <vt:lpstr>Использованные шрифты</vt:lpstr>
      </vt:variant>
      <vt:variant>
        <vt:i4>9</vt:i4>
      </vt:variant>
      <vt:variant>
        <vt:lpstr>Тема</vt:lpstr>
      </vt:variant>
      <vt:variant>
        <vt:i4>1</vt:i4>
      </vt:variant>
      <vt:variant>
        <vt:lpstr>Внедренные серверы OLE</vt:lpstr>
      </vt:variant>
      <vt:variant>
        <vt:i4>2</vt:i4>
      </vt:variant>
      <vt:variant>
        <vt:lpstr>Заголовки слайдов</vt:lpstr>
      </vt:variant>
      <vt:variant>
        <vt:i4>17</vt:i4>
      </vt:variant>
    </vt:vector>
  </HeadingPairs>
  <TitlesOfParts>
    <vt:vector size="29" baseType="lpstr">
      <vt:lpstr>ＭＳ Ｐゴシック</vt:lpstr>
      <vt:lpstr>Arial</vt:lpstr>
      <vt:lpstr>Arial Black</vt:lpstr>
      <vt:lpstr>Calibri</vt:lpstr>
      <vt:lpstr>Europe</vt:lpstr>
      <vt:lpstr>Segoe UI Symbol</vt:lpstr>
      <vt:lpstr>Symbol</vt:lpstr>
      <vt:lpstr>Times New Roman</vt:lpstr>
      <vt:lpstr>Wingdings</vt:lpstr>
      <vt:lpstr>Специальное оформление</vt:lpstr>
      <vt:lpstr>think-cell Slide</vt:lpstr>
      <vt:lpstr>Clip</vt:lpstr>
      <vt:lpstr>Производственные и бизнес системы на примере одной из систем</vt:lpstr>
      <vt:lpstr>Сибинтек сегодня</vt:lpstr>
      <vt:lpstr>Структура технической поддержки производственных систем</vt:lpstr>
      <vt:lpstr>Автоматизация бизнес-процессов  нефтеперерабатывающего завода</vt:lpstr>
      <vt:lpstr>Где мы в пирамиде CIM</vt:lpstr>
      <vt:lpstr>Интегрированная система управления предприятием</vt:lpstr>
      <vt:lpstr>Представление информации реального времени на производстве</vt:lpstr>
      <vt:lpstr>Зачем нужен PI System</vt:lpstr>
      <vt:lpstr>Компоненты системы</vt:lpstr>
      <vt:lpstr>Польза для производства</vt:lpstr>
      <vt:lpstr>Используемые технологии и инструменты</vt:lpstr>
      <vt:lpstr>Схема расположений уровней и масс в РВС</vt:lpstr>
      <vt:lpstr>Представление объектов и временных рядов в приложениях</vt:lpstr>
      <vt:lpstr>Как мы видим сопровождение системы PI-System?</vt:lpstr>
      <vt:lpstr>Схема расчёта до перехода</vt:lpstr>
      <vt:lpstr>Схема расчёта после перехода с оптимизацией</vt:lpstr>
      <vt:lpstr>Презентация PowerPoint</vt:lpstr>
    </vt:vector>
  </TitlesOfParts>
  <Company>IT Organization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AnisimovaAO@sibintek.ru</dc:creator>
  <cp:lastModifiedBy>Шишилин Даниил Игоревич</cp:lastModifiedBy>
  <cp:revision>2517</cp:revision>
  <cp:lastPrinted>2019-06-11T08:47:24Z</cp:lastPrinted>
  <dcterms:created xsi:type="dcterms:W3CDTF">2019-01-25T08:51:34Z</dcterms:created>
  <dcterms:modified xsi:type="dcterms:W3CDTF">2025-05-06T11:41:06Z</dcterms:modified>
</cp:coreProperties>
</file>